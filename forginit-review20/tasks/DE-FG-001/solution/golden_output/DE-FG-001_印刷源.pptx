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76B70"/>
            </a:solidFill>
            <a:ln>
              <a:solidFill>
                <a:srgbClr val="176B70"/>
              </a:solidFill>
            </a:ln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299.899</c:v>
                </c:pt>
                <c:pt idx="1">
                  <c:v>301.551</c:v>
                </c:pt>
                <c:pt idx="2">
                  <c:v>302.257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B74659"/>
            </a:solidFill>
            <a:ln>
              <a:solidFill>
                <a:srgbClr val="B74659"/>
              </a:solidFill>
            </a:ln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308.501</c:v>
                </c:pt>
                <c:pt idx="1">
                  <c:v>308.64</c:v>
                </c:pt>
                <c:pt idx="2">
                  <c:v>309.046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0">
                  <a:solidFill>
                    <a:srgbClr val="24272B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24272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0.0"/>
          <c:min val="0.0"/>
        </c:scaling>
        <c:delete val="0"/>
        <c:axPos val="l"/>
        <c:majorGridlines>
          <c:spPr>
            <a:ln>
              <a:solidFill>
                <a:srgbClr val="DDE2E4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24272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 b="0">
              <a:solidFill>
                <a:srgbClr val="24272B"/>
              </a:solidFill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各自口径的变动</c:v>
                </c:pt>
              </c:strCache>
            </c:strRef>
          </c:tx>
          <c:spPr>
            <a:solidFill>
              <a:srgbClr val="176B70"/>
            </a:solidFill>
            <a:ln>
              <a:solidFill>
                <a:srgbClr val="176B70"/>
              </a:solidFill>
            </a:ln>
          </c:spPr>
          <c:cat>
            <c:strRef>
              <c:f>Sheet1!$A$2:$A$4</c:f>
              <c:strCache>
                <c:ptCount val="3"/>
                <c:pt idx="0">
                  <c:v>COLA｜2023Q3至2024Q3</c:v>
                </c:pt>
                <c:pt idx="1">
                  <c:v>工资指数｜2022至2023年</c:v>
                </c:pt>
                <c:pt idx="2">
                  <c:v>OASDI基数｜2024至2025年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0.025</c:v>
                </c:pt>
                <c:pt idx="1">
                  <c:v>0.04430855458716065</c:v>
                </c:pt>
                <c:pt idx="2">
                  <c:v>0.04448398576512447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000" b="0">
                  <a:solidFill>
                    <a:srgbClr val="24272B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24272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"/>
          <c:min val="0.0"/>
        </c:scaling>
        <c:delete val="0"/>
        <c:axPos val="b"/>
        <c:majorGridlines>
          <c:spPr>
            <a:ln>
              <a:solidFill>
                <a:srgbClr val="DDE2E4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24272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432000" y="251999"/>
            <a:ext cx="9792000" cy="468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4272B"/>
                </a:solidFill>
                <a:latin typeface="Noto Sans CJK SC"/>
              </a:defRPr>
            </a:pPr>
            <a:r>
              <a:t>2025年社会保障数据｜阅读版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32000" y="720000"/>
            <a:ext cx="9720000" cy="288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4272B"/>
                </a:solidFill>
                <a:latin typeface="Noto Sans CJK SC"/>
              </a:defRPr>
            </a:pPr>
            <a:r>
              <a:t>2024-10-25官方公告；资料截点2024-10-28 14:00 America/New_York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000" y="1116000"/>
          <a:ext cx="9828000" cy="30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"/>
          <p:cNvSpPr txBox="1"/>
          <p:nvPr/>
        </p:nvSpPr>
        <p:spPr>
          <a:xfrm>
            <a:off x="432000" y="4248000"/>
            <a:ext cx="9720000" cy="324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72B"/>
                </a:solidFill>
                <a:latin typeface="Noto Sans CJK SC"/>
              </a:defRPr>
            </a:pPr>
            <a:r>
              <a:t>CPI-W指数，不是美元。Q3均值先保留三位；2023为301.236，2024为308.729。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4680000"/>
          <a:ext cx="9756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000"/>
                <a:gridCol w="3252000"/>
                <a:gridCol w="3252000"/>
              </a:tblGrid>
              <a:tr h="306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月份</a:t>
                      </a:r>
                    </a:p>
                  </a:txBody>
                  <a:tcPr marL="43200" marR="43200" marT="36000" marB="36000">
                    <a:solidFill>
                      <a:srgbClr val="E8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2023 CPI-W</a:t>
                      </a:r>
                    </a:p>
                  </a:txBody>
                  <a:tcPr marL="43200" marR="43200" marT="36000" marB="36000">
                    <a:solidFill>
                      <a:srgbClr val="E8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2024 CPI-W</a:t>
                      </a:r>
                    </a:p>
                  </a:txBody>
                  <a:tcPr marL="43200" marR="43200" marT="36000" marB="36000">
                    <a:solidFill>
                      <a:srgbClr val="E8EFE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7月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299.899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308.501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8月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301.551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308.640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9月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302.257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309.046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/>
          <p:cNvSpPr txBox="1"/>
          <p:nvPr/>
        </p:nvSpPr>
        <p:spPr>
          <a:xfrm>
            <a:off x="432000" y="6156000"/>
            <a:ext cx="9720000" cy="432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72B"/>
                </a:solidFill>
                <a:latin typeface="Noto Sans CJK SC"/>
              </a:defRPr>
            </a:pPr>
            <a:r>
              <a:t>季度比值增加约2.4874%，公告COLA为2.5%。两者是计算过程与最终公告值的区别。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32000" y="6840000"/>
            <a:ext cx="9720000" cy="324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4272B"/>
                </a:solidFill>
                <a:latin typeface="Noto Sans CJK SC"/>
              </a:defRPr>
            </a:pPr>
            <a:r>
              <a:t>来源：SSA 89 FR 85277，Computation。图表保留可编辑数据；本页A4横向。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432000" y="251999"/>
            <a:ext cx="9720000" cy="468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4272B"/>
                </a:solidFill>
                <a:latin typeface="Noto Sans CJK SC"/>
              </a:defRPr>
            </a:pPr>
            <a:r>
              <a:t>三种变化的基数、期间与交接说明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0000" y="864000"/>
          <a:ext cx="9828000" cy="223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3276000"/>
          <a:ext cx="9756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2000"/>
                <a:gridCol w="3252000"/>
                <a:gridCol w="3252000"/>
              </a:tblGrid>
              <a:tr h="324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指标及期间</a:t>
                      </a:r>
                    </a:p>
                  </a:txBody>
                  <a:tcPr marL="43200" marR="43200" marT="36000" marB="36000">
                    <a:solidFill>
                      <a:srgbClr val="E8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基数→结果</a:t>
                      </a:r>
                    </a:p>
                  </a:txBody>
                  <a:tcPr marL="43200" marR="43200" marT="36000" marB="36000">
                    <a:solidFill>
                      <a:srgbClr val="E8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变化</a:t>
                      </a:r>
                    </a:p>
                  </a:txBody>
                  <a:tcPr marL="43200" marR="43200" marT="36000" marB="36000">
                    <a:solidFill>
                      <a:srgbClr val="E8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CPI-W季度均值｜2023Q3→2024Q3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301.236→308.729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约2.4874%；公告COLA2.5%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全国平均工资指数｜2022→2023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$63,795.13→$66,621.80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约4.43%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OASDI年度基数｜2024→2025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$168,600→$176,100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4272B"/>
                          </a:solidFill>
                          <a:latin typeface="Noto Sans CJK SC"/>
                        </a:defRPr>
                      </a:pPr>
                      <a:r>
                        <a:t>+$7,500；约4.45%</a:t>
                      </a:r>
                    </a:p>
                  </a:txBody>
                  <a:tcPr marL="43200" marR="43200" marT="36000" marB="3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"/>
          <p:cNvSpPr txBox="1"/>
          <p:nvPr/>
        </p:nvSpPr>
        <p:spPr>
          <a:xfrm>
            <a:off x="432000" y="4752000"/>
            <a:ext cx="9720000" cy="396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4272B"/>
                </a:solidFill>
                <a:latin typeface="Noto Sans CJK SC"/>
              </a:defRPr>
            </a:pPr>
            <a:r>
              <a:t>工资指数并非原始平均工资：$61,220.07与$63,932.64不能替换此处指数值。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32000" y="5292000"/>
            <a:ext cx="9720000" cy="432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72B"/>
                </a:solidFill>
                <a:latin typeface="Noto Sans CJK SC"/>
              </a:defRPr>
            </a:pPr>
            <a:r>
              <a:t>OASDI：2024年12月待遇，2025年1月起支付。联邦SSI：2025年1月款，2024年12月31日支付。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32000" y="5868000"/>
            <a:ext cx="9720000" cy="324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4272B"/>
                </a:solidFill>
                <a:latin typeface="Noto Sans CJK SC"/>
              </a:defRPr>
            </a:pPr>
            <a:r>
              <a:t>基数对应2025年工资及2025年开始税年的自雇收入，不是税率/个人获益估计。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32000" y="6300000"/>
            <a:ext cx="9720000" cy="3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24272B"/>
                </a:solidFill>
                <a:latin typeface="Noto Sans CJK SC"/>
              </a:defRPr>
            </a:pPr>
            <a:r>
              <a:t>资料截点2024-10-28 14:00；V2有效，V3截点后到达且无批准。不使用政府印章或声称官方背书。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32000" y="6876000"/>
            <a:ext cx="9720000" cy="288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24272B"/>
                </a:solidFill>
                <a:latin typeface="Noto Sans CJK SC"/>
              </a:defRPr>
            </a:pPr>
            <a:r>
              <a:t>来源：SSA 89 FR 85277–85279。版式方法参考Rougier等2014，Rules3/4/6/7/8；本设计原创。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2025年社会保障数据讲义源</dc:title>
  <dc:subject/>
  <dc:creator>forginit-author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