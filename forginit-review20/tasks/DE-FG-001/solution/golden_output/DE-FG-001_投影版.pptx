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76B70"/>
            </a:solidFill>
            <a:ln>
              <a:solidFill>
                <a:srgbClr val="176B70"/>
              </a:solidFill>
            </a:ln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299.899</c:v>
                </c:pt>
                <c:pt idx="1">
                  <c:v>301.551</c:v>
                </c:pt>
                <c:pt idx="2">
                  <c:v>302.257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B74659"/>
            </a:solidFill>
            <a:ln>
              <a:solidFill>
                <a:srgbClr val="B74659"/>
              </a:solidFill>
            </a:ln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308.501</c:v>
                </c:pt>
                <c:pt idx="1">
                  <c:v>308.64</c:v>
                </c:pt>
                <c:pt idx="2">
                  <c:v>309.046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 b="0">
                  <a:solidFill>
                    <a:srgbClr val="24272B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 b="0">
                <a:solidFill>
                  <a:srgbClr val="24272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0.0"/>
          <c:min val="0.0"/>
        </c:scaling>
        <c:delete val="0"/>
        <c:axPos val="l"/>
        <c:majorGridlines>
          <c:spPr>
            <a:ln>
              <a:solidFill>
                <a:srgbClr val="DDE2E4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700" b="0">
                <a:solidFill>
                  <a:srgbClr val="24272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700" b="0">
              <a:solidFill>
                <a:srgbClr val="24272B"/>
              </a:solidFill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各自口径的变动</c:v>
                </c:pt>
              </c:strCache>
            </c:strRef>
          </c:tx>
          <c:spPr>
            <a:solidFill>
              <a:srgbClr val="176B70"/>
            </a:solidFill>
            <a:ln>
              <a:solidFill>
                <a:srgbClr val="176B70"/>
              </a:solidFill>
            </a:ln>
          </c:spPr>
          <c:cat>
            <c:strRef>
              <c:f>Sheet1!$A$2:$A$4</c:f>
              <c:strCache>
                <c:ptCount val="3"/>
                <c:pt idx="0">
                  <c:v>COLA｜2023Q3至2024Q3</c:v>
                </c:pt>
                <c:pt idx="1">
                  <c:v>工资指数｜2022至2023年</c:v>
                </c:pt>
                <c:pt idx="2">
                  <c:v>OASDI基数｜2024至2025年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0.025</c:v>
                </c:pt>
                <c:pt idx="1">
                  <c:v>0.04430855458716065</c:v>
                </c:pt>
                <c:pt idx="2">
                  <c:v>0.04448398576512447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700" b="0">
                  <a:solidFill>
                    <a:srgbClr val="24272B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 b="0">
                <a:solidFill>
                  <a:srgbClr val="24272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"/>
          <c:min val="0.0"/>
        </c:scaling>
        <c:delete val="0"/>
        <c:axPos val="b"/>
        <c:majorGridlines>
          <c:spPr>
            <a:ln>
              <a:solidFill>
                <a:srgbClr val="DDE2E4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500" b="0">
                <a:solidFill>
                  <a:srgbClr val="24272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六个柱值可在PowerPoint中编辑。两系列按年份分组并直接标数；允许其他不误导的等价设计。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工资指数63,795.13→66,621.80美元；不能换成61,220.07→63,932.64的原始平均工资序列。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使用已接收并确认的V2委托。V3于截点后收到，不回填；不使用政府印章或宣称SSA背书。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432000" y="288000"/>
            <a:ext cx="11160000" cy="503999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4272B"/>
                </a:solidFill>
                <a:latin typeface="Noto Sans CJK SC"/>
              </a:defRPr>
            </a:pPr>
            <a:r>
              <a:t>2025年社会保障数据｜先看清比较口径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32000" y="864000"/>
            <a:ext cx="11160000" cy="39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272B"/>
                </a:solidFill>
                <a:latin typeface="Noto Sans CJK SC"/>
              </a:defRPr>
            </a:pPr>
            <a:r>
              <a:t>CPI-W月度指数；2023与2024年的第三季度，不是美元或个人支出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2000" y="1404000"/>
          <a:ext cx="11160000" cy="385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"/>
          <p:cNvSpPr txBox="1"/>
          <p:nvPr/>
        </p:nvSpPr>
        <p:spPr>
          <a:xfrm>
            <a:off x="432000" y="5436000"/>
            <a:ext cx="11160000" cy="39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272B"/>
                </a:solidFill>
                <a:latin typeface="Noto Sans CJK SC"/>
              </a:defRPr>
            </a:pPr>
            <a:r>
              <a:t>Q3均值：2023年301.236；2024年308.729。季度均值按公告保留三位小数。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32000" y="6120000"/>
            <a:ext cx="11160000" cy="3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272B"/>
                </a:solidFill>
                <a:latin typeface="Noto Sans CJK SC"/>
              </a:defRPr>
            </a:pPr>
            <a:r>
              <a:t>来源：SSA 89 FR 85277，2024-10-25；CPI-W。纵轴从0开始，精确值见讲义。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432000" y="288000"/>
            <a:ext cx="11160000" cy="54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4272B"/>
                </a:solidFill>
                <a:latin typeface="Noto Sans CJK SC"/>
              </a:defRPr>
            </a:pPr>
            <a:r>
              <a:t>三种变化，三个口径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32000" y="900000"/>
            <a:ext cx="11160000" cy="39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272B"/>
                </a:solidFill>
                <a:latin typeface="Noto Sans CJK SC"/>
              </a:defRPr>
            </a:pPr>
            <a:r>
              <a:t>可以同用百分比表达，不能解释为同一时期的个人收入增幅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000" y="1440000"/>
          <a:ext cx="11160000" cy="392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"/>
          <p:cNvSpPr txBox="1"/>
          <p:nvPr/>
        </p:nvSpPr>
        <p:spPr>
          <a:xfrm>
            <a:off x="432000" y="5544000"/>
            <a:ext cx="11160000" cy="3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272B"/>
                </a:solidFill>
                <a:latin typeface="Noto Sans CJK SC"/>
              </a:defRPr>
            </a:pPr>
            <a:r>
              <a:t>COLA：季度CPI比值约2.4874%，按公告取2.5%；工资指数约4.43%。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32000" y="5940000"/>
            <a:ext cx="11160000" cy="3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272B"/>
                </a:solidFill>
                <a:latin typeface="Noto Sans CJK SC"/>
              </a:defRPr>
            </a:pPr>
            <a:r>
              <a:t>OASDI基数168,600→176,100美元，增7,500美元，约4.45%；不是税率。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32000" y="6480000"/>
            <a:ext cx="11160000" cy="251999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72B"/>
                </a:solidFill>
                <a:latin typeface="Noto Sans CJK SC"/>
              </a:defRPr>
            </a:pPr>
            <a:r>
              <a:t>来源：SSA 89 FR 85277–85279；计算与适用范围见讲义。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432000" y="288000"/>
            <a:ext cx="11160000" cy="54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4272B"/>
                </a:solidFill>
                <a:latin typeface="Noto Sans CJK SC"/>
              </a:defRPr>
            </a:pPr>
            <a:r>
              <a:t>生效月份与支付月份应分开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32000" y="1152000"/>
            <a:ext cx="11160000" cy="75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24272B"/>
                </a:solidFill>
                <a:latin typeface="Noto Sans CJK SC"/>
              </a:defRPr>
            </a:pPr>
            <a:r>
              <a:t>OASDI：2024年12月待遇适用2.5%调整，2025年1月起支付。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32000" y="2304000"/>
            <a:ext cx="11160000" cy="75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24272B"/>
                </a:solidFill>
                <a:latin typeface="Noto Sans CJK SC"/>
              </a:defRPr>
            </a:pPr>
            <a:r>
              <a:t>联邦SSI：2025年1月款项按新标准，2024年12月31日支付。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32000" y="3456000"/>
            <a:ext cx="11160000" cy="1007999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24272B"/>
                </a:solidFill>
                <a:latin typeface="Noto Sans CJK SC"/>
              </a:defRPr>
            </a:pPr>
            <a:r>
              <a:t>OASDI基数176,100美元：对应2025年支付的工资，以及2025年开始税年的自雇收入。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32000" y="5076000"/>
            <a:ext cx="11160000" cy="612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272B"/>
                </a:solidFill>
                <a:latin typeface="Noto Sans CJK SC"/>
              </a:defRPr>
            </a:pPr>
            <a:r>
              <a:t>这不是个人福利或税款测算；适格性和个人金额不在本次资料范围。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32000" y="6192000"/>
            <a:ext cx="11160000" cy="39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272B"/>
                </a:solidFill>
                <a:latin typeface="Noto Sans CJK SC"/>
              </a:defRPr>
            </a:pPr>
            <a:r>
              <a:t>资料截点：2024-10-28 14:00 America/New_York；正式公告发布于2024-10-25。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2025年社会保障数据投影</dc:title>
  <dc:subject/>
  <dc:creator>forginit-author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