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174B60"/>
                </a:solidFill>
                <a:latin typeface="Noto Sans CJK SC"/>
              </a:defRPr>
            </a:pPr>
            <a:r>
              <a:t>WCAG 2.2 AA：把新增项变成验收动作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产品 / 前端 / QA · 30分钟内部培训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本次只处理2.1→2.2增量；旧版完整审核仍未完成。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案例为合成观察，不代表已检查真实产品。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65660"/>
                </a:solidFill>
                <a:latin typeface="Noto Sans CJK SC"/>
              </a:defRPr>
            </a:pPr>
            <a:r>
              <a:t>1 / 10  |  委托；WCAG22 §5.2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174B60"/>
                </a:solidFill>
                <a:latin typeface="Noto Sans CJK SC"/>
              </a:defRPr>
            </a:pPr>
            <a:r>
              <a:t>九项新增 ≠ 九项都属于AA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AA范围新增：2.4.11、2.5.7、2.5.8、3.3.8（AA）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同时包含：3.2.6、3.3.7（A）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增强项：2.4.12、2.4.13、3.3.9（AAA）；可改善，不强加。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4.1.1在2.2删除；不要把旧版清单直接沿用。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65660"/>
                </a:solidFill>
                <a:latin typeface="Noto Sans CJK SC"/>
              </a:defRPr>
            </a:pPr>
            <a:r>
              <a:t>2 / 10  |  2018 WCAG21 #parsing；2024 WCAG22 各新增项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174B60"/>
                </a:solidFill>
                <a:latin typeface="Noto Sans CJK SC"/>
              </a:defRPr>
            </a:pPr>
            <a:r>
              <a:t>遮挡：最低项与增强项的分界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C3：按钮下半被作者页脚遮住，上半可见。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2.4.11禁止完全隐藏；不能由部分遮挡认定此项失败。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2.4.12要求任何部分不被遮挡，这是AAA。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仍检查键盘路径与其他焦点要求；单项通过不是全页通过。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65660"/>
                </a:solidFill>
                <a:latin typeface="Noto Sans CJK SC"/>
              </a:defRPr>
            </a:pPr>
            <a:r>
              <a:t>3 / 10  |  WCAG22 #focus-not-obscured-minimum / -enhanced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174B60"/>
                </a:solidFill>
                <a:latin typeface="Noto Sans CJK SC"/>
              </a:defRPr>
            </a:pPr>
            <a:r>
              <a:t>练习：16像素目标一定失败吗？</a:t>
            </a:r>
          </a:p>
        </p:txBody>
      </p:sp>
      <p:pic>
        <p:nvPicPr>
          <p:cNvPr id="3" name="Picture 2" descr="工具栏几何示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789920" cy="39563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3035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0252B"/>
                </a:solidFill>
                <a:latin typeface="Noto Sans CJK SC"/>
              </a:defRPr>
            </a:pPr>
            <a:r>
              <a:t>C1中心距20：直径24圆相交，失败。C2中心距28且无其他目标：间距例外成立。</a:t>
            </a:r>
          </a:p>
          <a:p>
            <a:pPr>
              <a:spcAft>
                <a:spcPts val="1600"/>
              </a:spcAft>
              <a:defRPr sz="2000">
                <a:solidFill>
                  <a:srgbClr val="20252B"/>
                </a:solidFill>
                <a:latin typeface="Noto Sans CJK SC"/>
              </a:defRPr>
            </a:pPr>
            <a:r>
              <a:t>CSS像素≠设备像素；示意图仅按比例放大，不用图片像素作规范尺寸。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65660"/>
                </a:solidFill>
                <a:latin typeface="Noto Sans CJK SC"/>
              </a:defRPr>
            </a:pPr>
            <a:r>
              <a:t>4 / 10  |  WCAG22 #target-size-minimum；合成几何案例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174B60"/>
                </a:solidFill>
                <a:latin typeface="Noto Sans CJK SC"/>
              </a:defRPr>
            </a:pPr>
            <a:r>
              <a:t>目标尺寸：先检查尺寸，再检查例外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2.5.8的最低尺寸为24×24 CSS像素，并非44×44。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例外：间距、同页等价控制、行内、UA控制、必要。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C2既需两圆不相交，也需每圆不与其他目标相交。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QA记录边界框、圆和邻近目标；扩大目标是可选整改方法。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65660"/>
                </a:solidFill>
                <a:latin typeface="Noto Sans CJK SC"/>
              </a:defRPr>
            </a:pPr>
            <a:r>
              <a:t>5 / 10  |  WCAG22 #target-size-minimum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174B60"/>
                </a:solidFill>
                <a:latin typeface="Noto Sans CJK SC"/>
              </a:defRPr>
            </a:pPr>
            <a:r>
              <a:t>拖拽：键盘支持还不够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C4只有拖拽和键盘排序，不满足2.5.7。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新增点击上移/下移，验证所有排序结果都可用单指针达到。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键盘方案仍保留；键盘和单指针两种验证分别做。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必要拖拽、未修改的UA功能例外必须有事实，不能默认套用。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65660"/>
                </a:solidFill>
                <a:latin typeface="Noto Sans CJK SC"/>
              </a:defRPr>
            </a:pPr>
            <a:r>
              <a:t>6 / 10  |  WCAG22 #dragging-movements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174B60"/>
                </a:solidFill>
                <a:latin typeface="Noto Sans CJK SC"/>
              </a:defRPr>
            </a:pPr>
            <a:r>
              <a:t>认证：允许辅助，不能一刀切禁口令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C5允许密码管理器和粘贴，属于3.3.8辅助机制路径。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AA四分支：非认知替代、辅助机制、对象识别、个人内容。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C8对象识别可满足AA例外；AAA 3.3.9只留前两类。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逐认证步骤检查；任何一例都不等于全站或全部验证码合规。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65660"/>
                </a:solidFill>
                <a:latin typeface="Noto Sans CJK SC"/>
              </a:defRPr>
            </a:pPr>
            <a:r>
              <a:t>7 / 10  |  WCAG22 #accessible-authentication-minimum / -enhanced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174B60"/>
                </a:solidFill>
                <a:latin typeface="Noto Sans CJK SC"/>
              </a:defRPr>
            </a:pPr>
            <a:r>
              <a:t>重复输入与帮助顺序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C6同一流程重复地址且无例外：自动填充或提供选择。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3.3.7例外：必要、安全、之前信息失效；不能无依据声称安全。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C7帮助机制序列顺序相同：横向位置不同本身不构成3.2.6失败。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比较同一页面变体的相对内容顺序，不能只看截图。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65660"/>
                </a:solidFill>
                <a:latin typeface="Noto Sans CJK SC"/>
              </a:defRPr>
            </a:pPr>
            <a:r>
              <a:t>8 / 10  |  WCAG22 #redundant-entry / #consistent-help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174B60"/>
                </a:solidFill>
                <a:latin typeface="Noto Sans CJK SC"/>
              </a:defRPr>
            </a:pPr>
            <a:r>
              <a:t>小组练习与讲解路线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4分钟：分别判断C1/C2，画24直径圆并检查与方框交叠。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3分钟：C3和C8，分别写AA结论、AAA差异及待验证内容。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3分钟：为C4/C6写一项整改和一条可复现测试。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讲解答案见配套矩阵；不以照抄措辞评分，检查证据与逻辑。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65660"/>
                </a:solidFill>
                <a:latin typeface="Noto Sans CJK SC"/>
              </a:defRPr>
            </a:pPr>
            <a:r>
              <a:t>9 / 10  |  配套案例矩阵；培训合成案例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000">
                <a:solidFill>
                  <a:srgbClr val="174B60"/>
                </a:solidFill>
                <a:latin typeface="Noto Sans CJK SC"/>
              </a:defRPr>
            </a:pPr>
            <a:r>
              <a:t>发布前：培训完成与合规证明分开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设计确认交互；前端实现；QA逐项保留测试步骤、观察及版本。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本次矩阵只证明给定观察下的条款判断，实际页面需要复测。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AA要求全部A与AA；还要核查完整页面、完整流程等声明条件。</a:t>
            </a:r>
          </a:p>
          <a:p>
            <a:pPr>
              <a:spcAft>
                <a:spcPts val="1600"/>
              </a:spcAft>
              <a:defRPr sz="2300">
                <a:solidFill>
                  <a:srgbClr val="20252B"/>
                </a:solidFill>
                <a:latin typeface="Noto Sans CJK SC"/>
              </a:defRPr>
            </a:pPr>
            <a:r>
              <a:t>本交付没有访问生产网站或签发证书；发布负责人据完整证据决策。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100">
                <a:solidFill>
                  <a:srgbClr val="465660"/>
                </a:solidFill>
                <a:latin typeface="Noto Sans CJK SC"/>
              </a:defRPr>
            </a:pPr>
            <a:r>
              <a:t>10 / 10  |  WCAG22 §5.2.1–5.2.5；内部委托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