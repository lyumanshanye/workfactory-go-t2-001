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合格受理</c:v>
                </c:pt>
              </c:strCache>
            </c:strRef>
          </c:tx>
          <c:spPr>
            <a:solidFill>
              <a:srgbClr val="006C7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</c:v>
                </c:pt>
                <c:pt idx="1">
                  <c:v>360</c:v>
                </c:pt>
                <c:pt idx="2">
                  <c:v>420</c:v>
                </c:pt>
                <c:pt idx="3">
                  <c:v>540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合格完成</c:v>
                </c:pt>
              </c:strCache>
            </c:strRef>
          </c:tx>
          <c:spPr>
            <a:solidFill>
              <a:srgbClr val="A74B2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260</c:v>
                </c:pt>
                <c:pt idx="1">
                  <c:v>314</c:v>
                </c:pt>
                <c:pt idx="2">
                  <c:v>373</c:v>
                </c:pt>
                <c:pt idx="3">
                  <c:v>480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R1：受理1620、完成1427；全部无障碍测试已通过，可直接发布。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1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S01 · R2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2025年度原创虚构记录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2026-10-20 内部设计复核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没有真实服务成效或上线认证声明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S02 · R2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目的：修复阅读顺序与版本传播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保留可编辑图表、表格和流程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外部发布、PowerPoint与真实读屏另验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S03 · R2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原始受理1620，原始完成1427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重复完成0同时从分子与分母剔除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合格完成1427 / 合格受理1620 = 88.09%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S04 · R2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5623560"/>
            <a:ext cx="10698480" cy="4572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73C45"/>
                </a:solidFill>
                <a:latin typeface="Noto Sans CJK SC"/>
              </a:rPr>
              <a:t>同一去重口径；只描述记录，不推断改版效果。</a:t>
            </a:r>
          </a:p>
        </p:txBody>
      </p:sp>
      <p:graphicFrame>
        <p:nvGraphicFramePr>
          <p:cNvPr id="3" name="quarter_chart"/>
          <p:cNvGraphicFramePr>
            <a:graphicFrameLocks noGrp="1"/>
          </p:cNvGraphicFramePr>
          <p:nvPr/>
        </p:nvGraphicFramePr>
        <p:xfrm>
          <a:off x="822960" y="1417320"/>
          <a:ext cx="10515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S05 · R2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73C45"/>
                </a:solidFill>
                <a:latin typeface="Noto Sans CJK SC"/>
              </a:rPr>
              <a:t>全年按总完成/总受理：88.09%；不简单平均季度率。</a:t>
            </a:r>
          </a:p>
        </p:txBody>
      </p:sp>
      <p:graphicFrame>
        <p:nvGraphicFramePr>
          <p:cNvPr id="3" name="quarter_table"/>
          <p:cNvGraphicFramePr>
            <a:graphicFrameLocks noGrp="1"/>
          </p:cNvGraphicFramePr>
          <p:nvPr/>
        </p:nvGraphicFramePr>
        <p:xfrm>
          <a:off x="822960" y="150876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FFFFFF"/>
                          </a:solidFill>
                          <a:latin typeface="Noto Sans CJK SC"/>
                        </a:rPr>
                        <a:t>季度</a:t>
                      </a:r>
                    </a:p>
                  </a:txBody>
                  <a:tcPr>
                    <a:solidFill>
                      <a:srgbClr val="173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FFFFFF"/>
                          </a:solidFill>
                          <a:latin typeface="Noto Sans CJK SC"/>
                        </a:rPr>
                        <a:t>合格受理</a:t>
                      </a:r>
                    </a:p>
                  </a:txBody>
                  <a:tcPr>
                    <a:solidFill>
                      <a:srgbClr val="173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FFFFFF"/>
                          </a:solidFill>
                          <a:latin typeface="Noto Sans CJK SC"/>
                        </a:rPr>
                        <a:t>合格完成</a:t>
                      </a:r>
                    </a:p>
                  </a:txBody>
                  <a:tcPr>
                    <a:solidFill>
                      <a:srgbClr val="173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FFFFFF"/>
                          </a:solidFill>
                          <a:latin typeface="Noto Sans CJK SC"/>
                        </a:rPr>
                        <a:t>完成率</a:t>
                      </a:r>
                    </a:p>
                  </a:txBody>
                  <a:tcPr>
                    <a:solidFill>
                      <a:srgbClr val="173C4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86.67%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87.22%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88.81%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88.89%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S06 · R2</a:t>
            </a:r>
          </a:p>
        </p:txBody>
      </p:sp>
      <p:sp>
        <p:nvSpPr>
          <p:cNvPr id="18" name="body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73C45"/>
                </a:solidFill>
                <a:latin typeface="Noto Sans CJK SC"/>
              </a:rPr>
              <a:t>按1→6阅读；第3步如有疑问，暂停并转人工核查。</a:t>
            </a:r>
          </a:p>
        </p:txBody>
      </p:sp>
      <p:grpSp>
        <p:nvGrpSpPr>
          <p:cNvPr id="3" name="service_flow"/>
          <p:cNvGrpSpPr/>
          <p:nvPr/>
        </p:nvGrpSpPr>
        <p:grpSpPr>
          <a:xfrm>
            <a:off x="822960" y="1645920"/>
            <a:ext cx="10561320" cy="2880359"/>
            <a:chOff x="822960" y="1645920"/>
            <a:chExt cx="10561320" cy="2880359"/>
          </a:xfrm>
        </p:grpSpPr>
        <p:sp>
          <p:nvSpPr>
            <p:cNvPr id="4" name="F1"/>
            <p:cNvSpPr/>
            <p:nvPr/>
          </p:nvSpPr>
          <p:spPr>
            <a:xfrm>
              <a:off x="822960" y="1645920"/>
              <a:ext cx="3063240" cy="1005840"/>
            </a:xfrm>
            <a:prstGeom prst="roundRect">
              <a:avLst/>
            </a:prstGeom>
            <a:solidFill>
              <a:srgbClr val="E1EEEB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1 接收材料</a:t>
              </a:r>
            </a:p>
          </p:txBody>
        </p:sp>
        <p:sp>
          <p:nvSpPr>
            <p:cNvPr id="5" name="F2"/>
            <p:cNvSpPr/>
            <p:nvPr/>
          </p:nvSpPr>
          <p:spPr>
            <a:xfrm>
              <a:off x="4572000" y="1645920"/>
              <a:ext cx="3063240" cy="1005840"/>
            </a:xfrm>
            <a:prstGeom prst="roundRect">
              <a:avLst/>
            </a:prstGeom>
            <a:solidFill>
              <a:srgbClr val="E1EEEB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2 核对字段</a:t>
              </a:r>
            </a:p>
          </p:txBody>
        </p:sp>
        <p:sp>
          <p:nvSpPr>
            <p:cNvPr id="6" name="F3"/>
            <p:cNvSpPr/>
            <p:nvPr/>
          </p:nvSpPr>
          <p:spPr>
            <a:xfrm>
              <a:off x="8321040" y="1645920"/>
              <a:ext cx="3063240" cy="1005840"/>
            </a:xfrm>
            <a:prstGeom prst="roundRect">
              <a:avLst/>
            </a:prstGeom>
            <a:solidFill>
              <a:srgbClr val="E1EEEB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3 人工疑问处理</a:t>
              </a:r>
            </a:p>
          </p:txBody>
        </p:sp>
        <p:sp>
          <p:nvSpPr>
            <p:cNvPr id="7" name="F4"/>
            <p:cNvSpPr/>
            <p:nvPr/>
          </p:nvSpPr>
          <p:spPr>
            <a:xfrm>
              <a:off x="822960" y="3520439"/>
              <a:ext cx="3063240" cy="1005840"/>
            </a:xfrm>
            <a:prstGeom prst="roundRect">
              <a:avLst/>
            </a:prstGeom>
            <a:solidFill>
              <a:srgbClr val="E1EEEB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4 本机生成预览</a:t>
              </a:r>
            </a:p>
          </p:txBody>
        </p:sp>
        <p:sp>
          <p:nvSpPr>
            <p:cNvPr id="8" name="F5"/>
            <p:cNvSpPr/>
            <p:nvPr/>
          </p:nvSpPr>
          <p:spPr>
            <a:xfrm>
              <a:off x="4572000" y="3520439"/>
              <a:ext cx="3063240" cy="1005840"/>
            </a:xfrm>
            <a:prstGeom prst="roundRect">
              <a:avLst/>
            </a:prstGeom>
            <a:solidFill>
              <a:srgbClr val="E1EEEB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5 内部复核</a:t>
              </a:r>
            </a:p>
          </p:txBody>
        </p:sp>
        <p:sp>
          <p:nvSpPr>
            <p:cNvPr id="9" name="F6"/>
            <p:cNvSpPr/>
            <p:nvPr/>
          </p:nvSpPr>
          <p:spPr>
            <a:xfrm>
              <a:off x="8321040" y="3520439"/>
              <a:ext cx="3063240" cy="1005840"/>
            </a:xfrm>
            <a:prstGeom prst="roundRect">
              <a:avLst/>
            </a:prstGeom>
            <a:solidFill>
              <a:srgbClr val="E1EEEB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6 有权决定下一步</a:t>
              </a:r>
            </a:p>
          </p:txBody>
        </p:sp>
        <p:sp>
          <p:nvSpPr>
            <p:cNvPr id="10" name="F1_F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7639" y="1920240"/>
              <a:ext cx="411480" cy="365760"/>
            </a:xfrm>
            <a:prstGeom prst="chevron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2_F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26679" y="1920240"/>
              <a:ext cx="411480" cy="365760"/>
            </a:xfrm>
            <a:prstGeom prst="chevron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F3_F4_segment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848088" y="2651760"/>
              <a:ext cx="0" cy="411480"/>
            </a:xfrm>
            <a:prstGeom prst="line">
              <a:avLst/>
            </a:prstGeom>
            <a:ln w="25400">
              <a:solidFill>
                <a:srgbClr val="006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F3_F4_segment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2350008" y="3063240"/>
              <a:ext cx="7498080" cy="0"/>
            </a:xfrm>
            <a:prstGeom prst="line">
              <a:avLst/>
            </a:prstGeom>
            <a:ln w="25400">
              <a:solidFill>
                <a:srgbClr val="006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F3_F4_segment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2350008" y="3063240"/>
              <a:ext cx="0" cy="274320"/>
            </a:xfrm>
            <a:prstGeom prst="line">
              <a:avLst/>
            </a:prstGeom>
            <a:ln w="25400">
              <a:solidFill>
                <a:srgbClr val="006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3_F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4560" y="3236976"/>
              <a:ext cx="310896" cy="256032"/>
            </a:xfrm>
            <a:prstGeom prst="downArrow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4_F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7639" y="3794760"/>
              <a:ext cx="411480" cy="365760"/>
            </a:xfrm>
            <a:prstGeom prst="chevron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5_F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26679" y="3794760"/>
              <a:ext cx="411480" cy="365760"/>
            </a:xfrm>
            <a:prstGeom prst="chevron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S07 · R2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无有效审核证据：保留“待人工复核”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材料补充：更新引用与受影响交付物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不得把联络消息当有权批准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8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S08 · R2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内容负责人：批准题内口径，不代表批准发布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设计师：修复并留结构/视觉证据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发布负责人：收到原生/读屏复核后再决定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S09 · R2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73C45"/>
                </a:solidFill>
                <a:latin typeface="Noto Sans CJK SC"/>
              </a:rPr>
              <a:t>示意界面不是上线截图；预览不发送、不批准。</a:t>
            </a:r>
          </a:p>
        </p:txBody>
      </p:sp>
      <p:pic>
        <p:nvPicPr>
          <p:cNvPr id="3" name="interface_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63040"/>
            <a:ext cx="9601200" cy="403250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1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S10 · R2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源数据变化：新目录全量重建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结构/几何检查不等于真实读屏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待测结果不得填“已通过”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11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S11 · R2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数据负责人：核对去重与冻结材料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设计师：逐页检查遮挡、顺序与替代描述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有权复核者：目标应用测试后决定下一步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1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S12 · R2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微软官方资料：阅读顺序、alt与原生格式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业务、角色、界面和服务记录均原创虚构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当前为内部待审，不是无障碍认证或发布批准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服务复盘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