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>
                <a:solidFill>
                  <a:srgbClr val="173C45"/>
                </a:solidFill>
                <a:latin typeface="Noto Sans CJK SC"/>
              </a:defRPr>
            </a:pPr>
            <a:r>
              <a:t>伦理培训更新｜两规范并行，不能见新废旧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109728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受众：医疗研究人员、学生、科研管理/伦理办公室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2023-03-01 10:00 Asia/Shanghai｜原创教学情境；待机构审阅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74720"/>
            <a:ext cx="109728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本课是培训材料和内部核查路线，不是伦理批准、入组许可或系统已上传。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8636B"/>
                </a:solidFill>
                <a:latin typeface="Noto Sans CJK SC"/>
              </a:defRPr>
            </a:pPr>
            <a:r>
              <a:t>S01/S02官方公报；S03官方索引转录；源抓取2026-10-20不是业务时点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>
                <a:solidFill>
                  <a:srgbClr val="173C45"/>
                </a:solidFill>
                <a:latin typeface="Noto Sans CJK SC"/>
              </a:defRPr>
            </a:pPr>
            <a:r>
              <a:t>版本、机构与时间：先问依据和权限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109728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2016十一号令：2016-10-12公布，2016-12-01起施。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2023四部门办法：落款2月18日，自发布起施；2月27日是本题官方解读发布日期，不冒称通知准确发布时刻。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74720"/>
            <a:ext cx="109728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官方解读第七问明确并行：实践可按2023办法指导；医疗违规可据11号令处理。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3月1日负责人R2补充有效，较晚营销便笺无权覆盖。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8636B"/>
                </a:solidFill>
                <a:latin typeface="Noto Sans CJK SC"/>
              </a:defRPr>
            </a:pPr>
            <a:r>
              <a:t>S01印刷1/7页；S02第54条；S03七；S05/S06原创权限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>
                <a:solidFill>
                  <a:srgbClr val="173C45"/>
                </a:solidFill>
                <a:latin typeface="Noto Sans CJK SC"/>
              </a:defRPr>
            </a:pPr>
            <a:r>
              <a:t>三条常混边界，先讲清再做案例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109728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简易≠免审：主任指定两个或以上委员，分歧等转会议。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免审≠免除签署同意：32条先核无伤害/无敏感个人信息或商业利益等前提。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74720"/>
            <a:ext cx="109728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牵头意见≠参与点免程序；秘书路线建议≠委员会决定。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新设3个月、既设过渡6个月、既批研究9个月不是一个起点。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8636B"/>
                </a:solidFill>
                <a:latin typeface="Noto Sans CJK SC"/>
              </a:defRPr>
            </a:pPr>
            <a:r>
              <a:t>S02第13/27/31/32/33/54条；S01第39条（医疗机构范围）；S08仅内部核定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>
                <a:solidFill>
                  <a:srgbClr val="173C45"/>
                </a:solidFill>
                <a:latin typeface="Noto Sans CJK SC"/>
              </a:defRPr>
            </a:pPr>
            <a:r>
              <a:t>案例讨论 A /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109728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A｜新申请风险资料缺失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二级医院拟开展非干预访谈；仅负责人称风险小，风险评估/防控材料未交。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RISK_INFO_HOLD｜补风险与科学性等申请材料，由委员会判断程序，秘书不得从无干预推定最小风险。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74720"/>
            <a:ext cx="109728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B｜合法公开数据的前提核查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高校使用合法公开聚合健康统计；无人体伤害、不涉及敏感个人信息或商业利益。 本轮采用commercial_interest=false。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EXEMPTION_CANDIDATE｜给定前提可提出32(一)免审候选，按本团队流程交机构核定；不是秘书已作伦理批准。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8636B"/>
                </a:solidFill>
                <a:latin typeface="Noto Sans CJK SC"/>
              </a:defRPr>
            </a:pPr>
            <a:r>
              <a:t>A: S02第18/19/31条；B: S02第32条；S08原创内部核定流程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>
                <a:solidFill>
                  <a:srgbClr val="173C45"/>
                </a:solidFill>
                <a:latin typeface="Noto Sans CJK SC"/>
              </a:defRPr>
            </a:pPr>
            <a:r>
              <a:t>案例讨论 C /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109728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C｜有映射钥匙不是已匿名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高校称匿名数据，但原提供方保留可回识别映射钥匙；无商业利益，个体健康信息属性未核清。 本轮采用commercial_interest=false。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ANONYMITY_NOT_ESTABLISHED｜保留映射钥匙不能当已匿名；补数据可识别性/来源/用途资料，不直接免审。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74720"/>
            <a:ext cx="109728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D｜获批方案的小改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医院已获批项目仅调整访谈时间；材料明确小改且不影响风险受益比，无委员分歧。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SIMPLE_CANDIDATE｜符合给定小改/不影响风险受益条件，可申请简易，由主任指定两个或以上委员并向会议报告。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8636B"/>
                </a:solidFill>
                <a:latin typeface="Noto Sans CJK SC"/>
              </a:defRPr>
            </a:pPr>
            <a:r>
              <a:t>C: S02第32条；S08原创内部核定流程；S03术语旁注个保法第73条；D: S02第23/31条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>
                <a:solidFill>
                  <a:srgbClr val="173C45"/>
                </a:solidFill>
                <a:latin typeface="Noto Sans CJK SC"/>
              </a:defRPr>
            </a:pPr>
            <a:r>
              <a:t>案例讨论 E / 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109728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E｜简易审查出现分歧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已在简易程序中，两位审查委员对风险判断意见不一致，项目负责人要求主任直接签。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MEETING_REVIEW｜简易中委员意见不一致，转会议审查；不得按多数或主任单签强过。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74720"/>
            <a:ext cx="109728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F｜牵头批件不能替本点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多机构研究牵头已出具意见，本参与点尚未组织任何确认或审查；研究负责人拟直接启动。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LOCAL_REVIEW_REQUIRED｜牵头已批不代本机构审查/跟踪；可依法走参与机构简易确认，不能直接开研。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8636B"/>
                </a:solidFill>
                <a:latin typeface="Noto Sans CJK SC"/>
              </a:defRPr>
            </a:pPr>
            <a:r>
              <a:t>E: S02第23/31条；F: S02第27/31(四)条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>
                <a:solidFill>
                  <a:srgbClr val="173C45"/>
                </a:solidFill>
                <a:latin typeface="Noto Sans CJK SC"/>
              </a:defRPr>
            </a:pPr>
            <a:r>
              <a:t>案例讨论 G / 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109728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G｜独立企业拟委托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独立企业开展涉及人的生命科学研究，尚无本单位委员会，拟寻求有能力委员会书面受托。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WRITTEN_DELEGATION｜独立企业可书面委托有能力机构委员会或区域委员会，受托需跟踪；不编企业医院等级要求或伪造已受托。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74720"/>
            <a:ext cx="109728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H｜受托医院等级低于委托方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三级医院本委无法胜任本研究，拟书面委托有能力的二级医院委员会；尚未签委托。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DELEGATION_SCOPE_HOLD｜拟受托医院等级低于委托方，改选不低等级的有能力医疗委员会或区域委员会；书面委托、跟踪及本机构设委责任均待落实。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8636B"/>
                </a:solidFill>
                <a:latin typeface="Noto Sans CJK SC"/>
              </a:defRPr>
            </a:pPr>
            <a:r>
              <a:t>G: S02第5/14条；S03第七问的机构/监管边界；H: S02第5/14条；S03第七问的机构/监管边界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>
                <a:solidFill>
                  <a:srgbClr val="173C45"/>
                </a:solidFill>
                <a:latin typeface="Noto Sans CJK SC"/>
              </a:defRPr>
            </a:pPr>
            <a:r>
              <a:t>案例讨论 I / 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109728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I｜监护签字不等全程同意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参与者为给定限制民事行为能力人；监护人已签，但尚未在参与者可理解范围告知/征得同意。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CONSENT_SUPPLEMENT｜除监护人书面同意外，还须在参与者可理解范围告知并征得其同意；本题未完成，不宣布可入组。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74720"/>
            <a:ext cx="109728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J｜公开数据的用途补充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高校使用合法公开聚合数据，是否涉及商业利益以受控补充字段为准；不涉及敏感个体信息。 本轮采用commercial_interest=true。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REVIEW_NOT_EXEMPT｜不能仅因公开/匿名主张第32条免审；提交机构按事实核定审查路径。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8636B"/>
                </a:solidFill>
                <a:latin typeface="Noto Sans CJK SC"/>
              </a:defRPr>
            </a:pPr>
            <a:r>
              <a:t>I: S02第34条；J: S02第32条；S08原创内部核定流程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>
                <a:solidFill>
                  <a:srgbClr val="173C45"/>
                </a:solidFill>
                <a:latin typeface="Noto Sans CJK SC"/>
              </a:defRPr>
            </a:pPr>
            <a:r>
              <a:t>案例讨论 K / 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109728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K｜施行前既设委员会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高校委员会2023-02-01已设立；培训只辨过渡6个月规则，不计算未核起点的精确日期。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LEGACY_COMMITTEE｜既设委员会按54条过渡6个月办理并上传，不套新设3个月；不在未核发布起点时伪算精确截止日。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74720"/>
            <a:ext cx="109728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L｜施行后新设委员会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医疗委员会2023-03-01设立；需辨新设3个月与年度报告，不能套既设过渡规则。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NEW_COMMITTEE｜新设委员会按设立起3个月备案/上传；医疗向执业登记机关，其他按隶属向上级主管；年度报告另看3月31日。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8636B"/>
                </a:solidFill>
                <a:latin typeface="Noto Sans CJK SC"/>
              </a:defRPr>
            </a:pPr>
            <a:r>
              <a:t>K: S02第13/54条；L: S02第13/54条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>
                <a:solidFill>
                  <a:srgbClr val="173C45"/>
                </a:solidFill>
                <a:latin typeface="Noto Sans CJK SC"/>
              </a:defRPr>
            </a:pPr>
            <a:r>
              <a:t>讲师收束：更新必须穿透全部产物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109728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先冻结源 → 并行核规则/有权补充 → 合并案例 → 课件/底稿/讲师说明 → 勾稽 → 待审回执。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J按受控R2：商业利益，不按32条免审，不能静默沿用旧事实。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74720"/>
            <a:ext cx="109728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出现新补充：旧快照/节点/产物即过期，重跑并核全部SHA。</a:t>
            </a:r>
          </a:p>
          <a:p>
            <a:pPr>
              <a:defRPr sz="1900">
                <a:solidFill>
                  <a:srgbClr val="173C45"/>
                </a:solidFill>
                <a:latin typeface="Noto Sans CJK SC"/>
              </a:defRPr>
            </a:pPr>
            <a:r>
              <a:t>机构伦理办公室与负责人审阅，未完成真实审查/备案/上传；不上线、不发给参与者。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8636B"/>
                </a:solidFill>
                <a:latin typeface="Noto Sans CJK SC"/>
              </a:defRPr>
            </a:pPr>
            <a:r>
              <a:t>S08原创依赖合同；S05/S06；workflow.py与build_receipt.json实际执行证据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