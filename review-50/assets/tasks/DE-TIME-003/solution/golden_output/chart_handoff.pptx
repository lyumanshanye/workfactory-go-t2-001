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2023家庭收入中位数</c:v>
                </c:pt>
              </c:strCache>
            </c:strRef>
          </c:tx>
          <c:spPr>
            <a:solidFill>
              <a:srgbClr val="006F76"/>
            </a:solidFill>
            <a:ln>
              <a:noFill/>
            </a:ln>
          </c:spPr>
          <c:errBars>
            <c:errBarType val="both"/>
            <c:errValType val="cust"/>
            <c:noEndCap val="0"/>
            <c:plus>
              <c:numRef>
                <c:f>Sheet1!$C$2:$C$5</c:f>
                <c:numCache>
                  <c:formatCode>0</c:formatCode>
                  <c:ptCount val="4"/>
                  <c:pt idx="0">
                    <c:v>611</c:v>
                  </c:pt>
                  <c:pt idx="1">
                    <c:v>500</c:v>
                  </c:pt>
                  <c:pt idx="2">
                    <c:v>472</c:v>
                  </c:pt>
                  <c:pt idx="3">
                    <c:v>577</c:v>
                  </c:pt>
                </c:numCache>
              </c:numRef>
            </c:plus>
            <c:minus>
              <c:numRef>
                <c:f>Sheet1!$C$2:$C$5</c:f>
                <c:numCache>
                  <c:formatCode>0</c:formatCode>
                  <c:ptCount val="4"/>
                  <c:pt idx="0">
                    <c:v>611</c:v>
                  </c:pt>
                  <c:pt idx="1">
                    <c:v>500</c:v>
                  </c:pt>
                  <c:pt idx="2">
                    <c:v>472</c:v>
                  </c:pt>
                  <c:pt idx="3">
                    <c:v>577</c:v>
                  </c:pt>
                </c:numCache>
              </c:numRef>
            </c:minus>
            <c:spPr>
              <a:ln w="25400">
                <a:solidFill>
                  <a:srgbClr val="000000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加利福尼亚 CA</c:v>
                </c:pt>
                <c:pt idx="1">
                  <c:v>纽约州 NY</c:v>
                </c:pt>
                <c:pt idx="2">
                  <c:v>得克萨斯 TX</c:v>
                </c:pt>
                <c:pt idx="3">
                  <c:v>佛罗里达 FL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95521</c:v>
                </c:pt>
                <c:pt idx="1">
                  <c:v>82095</c:v>
                </c:pt>
                <c:pt idx="2">
                  <c:v>75780</c:v>
                </c:pt>
                <c:pt idx="3">
                  <c:v>73311</c:v>
                </c:pt>
              </c:numCache>
            </c:numRef>
          </c:val>
        </c:ser>
        <c:dLbls>
          <c:numFmt formatCode="&quot;   &quot;$#,##0" sourceLinked="0"/>
          <c:txPr>
            <a:bodyPr/>
            <a:lstStyle/>
            <a:p>
              <a:pPr>
                <a:defRPr sz="15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0.0"/>
          <c:min val="0.0"/>
        </c:scaling>
        <c:delete val="0"/>
        <c:axPos val="b"/>
        <c:majorGridlines>
          <c:spPr>
            <a:ln>
              <a:solidFill>
                <a:srgbClr val="DCE5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  <c:majorUnit val="20000.0"/>
      </c:valAx>
    </c:plotArea>
    <c:dispBlanksAs val="gap"/>
  </c:chart>
  <c:txPr>
    <a:bodyPr/>
    <a:lstStyle/>
    <a:p>
      <a:pPr>
        <a:defRPr sz="1600">
          <a:latin typeface="Noto Sans CJK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  <a:latin typeface="Noto Sans CJK SC"/>
              </a:defRPr>
            </a:pPr>
            <a:r>
              <a:t>四州家庭收入：点估计与不确定性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C6278"/>
                </a:solidFill>
                <a:latin typeface="Noto Sans CJK SC"/>
              </a:defRPr>
            </a:pPr>
            <a:r>
              <a:t>2023 ACS 1年估计 · 2023美元 · 黑线为90%置信区间</a:t>
            </a:r>
          </a:p>
        </p:txBody>
      </p:sp>
      <p:graphicFrame>
        <p:nvGraphicFramePr>
          <p:cNvPr id="4" name="Income2023NativeChart" descr="短替代文本：2023年四州家庭收入中位数；横向柱状图，黑线表示90%置信区间。完整数值、误差幅度和限定见下文。&#10;&#10;完整文字说明&#10;这是2023 ACS 1年家庭收入估计的横截面对照，不是同比趋势，也不是人均或个人收入。单位为2023年通胀调整后美元。四州按点估计从高到低排列；条形从0起算。区间为点估计加减原表90%误差幅度（MOE），不是数据最小/最大值、95%区间或排名确定性。&#10;&#10;州（代码）&#9;2023点估计（美元）&#9;90%MOE（±美元）&#9;90%下限&#9;90%上限&#10;加利福尼亚 California (CA)&#9;95521&#9;611&#9;94910&#9;96132&#10;纽约州 New York (NY)&#9;82095&#9;500&#9;81595&#9;82595&#10;得克萨斯 Texas (TX)&#9;75780&#9;472&#9;75308&#9;76252&#10;佛罗里达 Florida (FL)&#9;73311&#9;577&#9;72734&#9;73888&#10;&#10;四州中，加利福尼亚的点估计最高，佛罗里达最低。这里仅描述图中点估计，不宣称州际差异已经统计检验；也不能把区间是否重叠直接当成全部显著性检验。没有调整各州生活成本，不能据此推导政策成效或个人境遇。&#10;来源：U.S. Census Bureau, Household Income in States and Metropolitan Areas: 2023, ACSBR-023，September 2024，印刷页3 Table 1；报告准确发布日期未给，不能把目录时间或数据年当发布日期。https://www2.census.gov/library/publications/2024/demo/acsbr-023.pdf&#10;报告说明：1年ACS；收入为访问前12个月，2023调查并非精确的完整自然年收入，部分可能发生于2022。原表两期收入已统一为2023美元，本次不再调通胀；主图只用2023，不把2022行、Gini、全国/DC/PR或inactive行混入。&#10;业务基准：2025-02-03 10:00 Asia/Shanghai。R2是原创最终设计合同，替代R1旧图和之后未获批准的营销建议；本文件/设计不代表Census/W3C/ONS背书。取证日期2026-10-20不是报告发布/规范施行日。&#10;设计与交接：单色条形配直接州名/数值和黑色区间，不能只靠红绿区分。SVG含title/desc且文字未转路径；PNG自身没有可导航表格，使用时应同时提供本完整文字版或相邻可读数据表。PPTX第1页为原生可编辑图表，第2页为方法和数值表；嵌入工作簿含点估计与MOE，误差条引用C列，不是把PNG当可编辑图表。&#10;R1更正：撤回截断基线、2022错贴2023、缺MOE/完整说明、低对比红绿和夸大结论；R2同步SVG/PNG/PPTX/文字，不只换颜色。&#10;检查范围：本地核数值、几何/文字、源色对比、原生图表/嵌入工作簿与实际导出；非完整WCAG符合性认证、屏幕阅读器全矩阵测试、人工专家签字或真实发布。外部发布未执行。&#10;参考：W3C WCAG2.2（2024-12-12固定版） https://www.w3.org/TR/2024/REC-WCAG22-20241212/ ；WAI复杂图像说明 https://www.w3.org/WAI/tutorials/images/complex/ ；ONS用色说明 https://service-manual.ons.gov.uk/data-visualisation/colours/using-colours-in-charts 。采用作者归纳及原创R2，不复制其示例图或把ONS品牌色当法律要求。&#10;"/>
          <p:cNvGraphicFramePr>
            <a:graphicFrameLocks noGrp="1"/>
          </p:cNvGraphicFramePr>
          <p:nvPr/>
        </p:nvGraphicFramePr>
        <p:xfrm>
          <a:off x="548640" y="1463040"/>
          <a:ext cx="1106424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96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02A43"/>
                </a:solidFill>
                <a:latin typeface="Noto Sans CJK SC"/>
              </a:defRPr>
            </a:pPr>
            <a:r>
              <a:t>黑线：估计 ± 90%MOE（各州数值见第2页）。点值排序不等于州际显著性检验。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C6278"/>
                </a:solidFill>
                <a:latin typeface="Noto Sans CJK SC"/>
              </a:defRPr>
            </a:pPr>
            <a:r>
              <a:t>Census ACSBR-023，September 2024，Table 1 p.3 · 完整文字：chart_text.txt · 待审稿，未发布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A43"/>
                </a:solidFill>
                <a:latin typeface="Noto Sans CJK SC"/>
              </a:defRPr>
            </a:pPr>
            <a:r>
              <a:t>数值、方法与使用边界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24712"/>
          <a:ext cx="11064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8463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州</a:t>
                      </a:r>
                    </a:p>
                  </a:txBody>
                  <a:tcPr>
                    <a:solidFill>
                      <a:srgbClr val="006F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2023点估计 $</a:t>
                      </a:r>
                    </a:p>
                  </a:txBody>
                  <a:tcPr>
                    <a:solidFill>
                      <a:srgbClr val="006F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90%MOE ±$</a:t>
                      </a:r>
                    </a:p>
                  </a:txBody>
                  <a:tcPr>
                    <a:solidFill>
                      <a:srgbClr val="006F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90%下限 $</a:t>
                      </a:r>
                    </a:p>
                  </a:txBody>
                  <a:tcPr>
                    <a:solidFill>
                      <a:srgbClr val="006F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90%上限 $</a:t>
                      </a:r>
                    </a:p>
                  </a:txBody>
                  <a:tcPr>
                    <a:solidFill>
                      <a:srgbClr val="006F7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加利福尼亚 CA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95,521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611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94,910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96,132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纽约州 NY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82,095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81,595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82,595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得克萨斯 TX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75,780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472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75,308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76,252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佛罗里达 FL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73,311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577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72,734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02A43"/>
                          </a:solidFill>
                          <a:latin typeface="Noto Sans CJK SC"/>
                        </a:defRPr>
                      </a:pPr>
                      <a:r>
                        <a:t>73,888</a:t>
                      </a:r>
                    </a:p>
                  </a:txBody>
                  <a:tcPr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49039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A43"/>
                </a:solidFill>
                <a:latin typeface="Noto Sans CJK SC"/>
              </a:defRPr>
            </a:pPr>
            <a:r>
              <a:t>口径：仅2023 ACS 1年家庭收入中位数，原表已为2023美元；不混入2022、Gini、全国/DC/PR或inactive行，也不重复调通胀。</a:t>
            </a:r>
          </a:p>
          <a:p>
            <a:pPr>
              <a:defRPr sz="1700" b="0">
                <a:solidFill>
                  <a:srgbClr val="102A43"/>
                </a:solidFill>
                <a:latin typeface="Noto Sans CJK SC"/>
              </a:defRPr>
            </a:pPr>
            <a:r>
              <a:t>边界：访问前12个月收入不等于精确自然年；未做州际显著性检验或生活成本调整。单图/导出检查不等于完整WCAG认证。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9320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C6278"/>
                </a:solidFill>
                <a:latin typeface="Noto Sans CJK SC"/>
              </a:defRPr>
            </a:pPr>
            <a:r>
              <a:t>来源：U.S. Census Bureau，ACSBR-023（2024年9月，准确日未标），Table 1 p.3。</a:t>
            </a:r>
          </a:p>
          <a:p>
            <a:pPr>
              <a:defRPr sz="1300" b="0">
                <a:solidFill>
                  <a:srgbClr val="4C6278"/>
                </a:solidFill>
                <a:latin typeface="Noto Sans CJK SC"/>
              </a:defRPr>
            </a:pPr>
            <a:r>
              <a:t>https://www2.census.gov/library/publications/2024/demo/acsbr-023.pdf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533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4C6278"/>
                </a:solidFill>
                <a:latin typeface="Noto Sans CJK SC"/>
              </a:defRPr>
            </a:pPr>
            <a:r>
              <a:t>R2原创交接 · 2025-02-03 10:00 Asia/Shanghai · 只供内部复核，未实际发布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