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authorize the full-capacity hybrid plan. The following slides explain the current vehicle capacity assumption, evidence, staffing, transition procedure, and exception controls.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deliberately selects the current client revision for capacity, not admission. The Board is not being asked to choose between six and eight after approval.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least two staffing/check-in alternatives are viable. The selected model is Plan A. The deck does not make the apparent speed of the lean option a substitute for safety or legal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metric comparison is deliberately not a claim that mobile is uniformly better. It supports a hybrid transition: faster acknowledgement with stronger closed-loop controls.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must-versus-preferred boundary. Accepted is actively prohibited as a clearance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staffing sum is 7 sworn plus 1 dispatcher = 8 positions. It provides the functions required across the full operating window, including practical relief.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procedural sequence for a normal planned vehicle, including the separate gate and movement release decisions. It also establishes the pre-arrival owner and timing.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fallback is not simply leaving a radio on. It has triggers, a declaration, ownership, record handling, and a way to reconcile back into mobile.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Board-facing authorization language. It identifies activation, plan owner, the practice being modified, two workflow horizons, and concrete closeout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execution card is intended for the supervisor, dispatcher, and gate post. It resolves the normal, additional, mismatch, and outage cases without needing clarification.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7"/>
          </a:solidFill>
          <a:ln>
            <a:solidFill>
              <a:srgbClr val="F3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10607040" cy="256032"/>
          </a:xfrm>
          <a:prstGeom prst="rect">
            <a:avLst/>
          </a:prstGeom>
          <a:noFill/>
        </p:spPr>
        <p:txBody>
          <a:bodyPr wrap="square" lIns="18288" rIns="18288" tIns="18288" bIns="18288" anchor="t">
            <a:spAutoFit/>
          </a:bodyPr>
          <a:lstStyle/>
          <a:p>
            <a:pPr algn="l">
              <a:spcBef>
                <a:spcPts val="0"/>
              </a:spcBef>
              <a:spcAft>
                <a:spcPts val="0"/>
              </a:spcAft>
            </a:pPr>
            <a:r>
              <a:rPr sz="1000" b="1" i="0">
                <a:solidFill>
                  <a:srgbClr val="087E78"/>
                </a:solidFill>
                <a:latin typeface="Arial"/>
              </a:rPr>
              <a:t>CINDERHALL LOGISTICS BOARD | DECISION BRIEF</a:t>
            </a:r>
          </a:p>
        </p:txBody>
      </p:sp>
      <p:sp>
        <p:nvSpPr>
          <p:cNvPr id="5" name="TextBox 4"/>
          <p:cNvSpPr txBox="1"/>
          <p:nvPr/>
        </p:nvSpPr>
        <p:spPr>
          <a:xfrm>
            <a:off x="502920" y="713232"/>
            <a:ext cx="9966960" cy="868680"/>
          </a:xfrm>
          <a:prstGeom prst="rect">
            <a:avLst/>
          </a:prstGeom>
          <a:noFill/>
        </p:spPr>
        <p:txBody>
          <a:bodyPr wrap="square" lIns="18288" rIns="18288" tIns="18288" bIns="18288" anchor="t">
            <a:spAutoFit/>
          </a:bodyPr>
          <a:lstStyle/>
          <a:p>
            <a:pPr algn="l">
              <a:spcBef>
                <a:spcPts val="0"/>
              </a:spcBef>
              <a:spcAft>
                <a:spcPts val="0"/>
              </a:spcAft>
            </a:pPr>
            <a:r>
              <a:rPr sz="2900" b="1" i="0">
                <a:solidFill>
                  <a:srgbClr val="17324D"/>
                </a:solidFill>
                <a:latin typeface="Arial"/>
              </a:rPr>
              <a:t>Authorize the Thursday Everstead high-risk chemical delivery operating plan</a:t>
            </a:r>
          </a:p>
        </p:txBody>
      </p:sp>
      <p:sp>
        <p:nvSpPr>
          <p:cNvPr id="6" name="TextBox 5"/>
          <p:cNvSpPr txBox="1"/>
          <p:nvPr/>
        </p:nvSpPr>
        <p:spPr>
          <a:xfrm>
            <a:off x="530352" y="1609344"/>
            <a:ext cx="10698480" cy="283464"/>
          </a:xfrm>
          <a:prstGeom prst="rect">
            <a:avLst/>
          </a:prstGeom>
          <a:noFill/>
        </p:spPr>
        <p:txBody>
          <a:bodyPr wrap="square" lIns="18288" rIns="18288" tIns="18288" bIns="18288" anchor="t">
            <a:spAutoFit/>
          </a:bodyPr>
          <a:lstStyle/>
          <a:p>
            <a:pPr algn="l">
              <a:spcBef>
                <a:spcPts val="0"/>
              </a:spcBef>
              <a:spcAft>
                <a:spcPts val="0"/>
              </a:spcAft>
            </a:pPr>
            <a:r>
              <a:rPr sz="1320" b="0" i="0">
                <a:solidFill>
                  <a:srgbClr val="202B33"/>
                </a:solidFill>
                <a:latin typeface="Arial"/>
              </a:rPr>
              <a:t>Full-capacity hybrid serves current 8-vehicle capacity; positive verification is non-waivable.</a:t>
            </a:r>
          </a:p>
        </p:txBody>
      </p:sp>
      <p:sp>
        <p:nvSpPr>
          <p:cNvPr id="7" name="Rectangle 6"/>
          <p:cNvSpPr/>
          <p:nvPr/>
        </p:nvSpPr>
        <p:spPr>
          <a:xfrm>
            <a:off x="502920" y="1993392"/>
            <a:ext cx="11201400" cy="932688"/>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94560"/>
            <a:ext cx="1920240" cy="182880"/>
          </a:xfrm>
          <a:prstGeom prst="rect">
            <a:avLst/>
          </a:prstGeom>
          <a:noFill/>
        </p:spPr>
        <p:txBody>
          <a:bodyPr wrap="square" lIns="18288" rIns="18288" tIns="18288" bIns="18288" anchor="t">
            <a:spAutoFit/>
          </a:bodyPr>
          <a:lstStyle/>
          <a:p>
            <a:pPr algn="l">
              <a:spcBef>
                <a:spcPts val="0"/>
              </a:spcBef>
              <a:spcAft>
                <a:spcPts val="0"/>
              </a:spcAft>
            </a:pPr>
            <a:r>
              <a:rPr sz="950" b="1" i="0">
                <a:solidFill>
                  <a:srgbClr val="B7DDF0"/>
                </a:solidFill>
                <a:latin typeface="Arial"/>
              </a:rPr>
              <a:t>BOARD ACTION</a:t>
            </a:r>
          </a:p>
        </p:txBody>
      </p:sp>
      <p:sp>
        <p:nvSpPr>
          <p:cNvPr id="9" name="TextBox 8"/>
          <p:cNvSpPr txBox="1"/>
          <p:nvPr/>
        </p:nvSpPr>
        <p:spPr>
          <a:xfrm>
            <a:off x="749808" y="2432304"/>
            <a:ext cx="10469880" cy="310896"/>
          </a:xfrm>
          <a:prstGeom prst="rect">
            <a:avLst/>
          </a:prstGeom>
          <a:noFill/>
        </p:spPr>
        <p:txBody>
          <a:bodyPr wrap="square" lIns="18288" rIns="18288" tIns="18288" bIns="18288" anchor="t">
            <a:spAutoFit/>
          </a:bodyPr>
          <a:lstStyle/>
          <a:p>
            <a:pPr algn="l">
              <a:spcBef>
                <a:spcPts val="0"/>
              </a:spcBef>
              <a:spcAft>
                <a:spcPts val="0"/>
              </a:spcAft>
            </a:pPr>
            <a:r>
              <a:rPr sz="1600" b="1" i="0">
                <a:solidFill>
                  <a:srgbClr val="FFFFFF"/>
                </a:solidFill>
                <a:latin typeface="Arial"/>
              </a:rPr>
              <a:t>Authorize Plan A - Full-capacity hybrid - for Thursday 23 Oct 2025; approve activation by 05:15.</a:t>
            </a:r>
          </a:p>
        </p:txBody>
      </p:sp>
      <p:sp>
        <p:nvSpPr>
          <p:cNvPr id="10" name="Rectangle 9"/>
          <p:cNvSpPr/>
          <p:nvPr/>
        </p:nvSpPr>
        <p:spPr>
          <a:xfrm>
            <a:off x="502920" y="3182112"/>
            <a:ext cx="2606040" cy="960120"/>
          </a:xfrm>
          <a:prstGeom prst="rect">
            <a:avLst/>
          </a:prstGeom>
          <a:solidFill>
            <a:srgbClr val="E8F1F7"/>
          </a:solidFill>
          <a:ln>
            <a:solidFill>
              <a:srgbClr val="E8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82112"/>
            <a:ext cx="54864" cy="960120"/>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328416"/>
            <a:ext cx="2313432" cy="173736"/>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4727C"/>
                </a:solidFill>
                <a:latin typeface="Arial"/>
              </a:rPr>
              <a:t>Event</a:t>
            </a:r>
          </a:p>
        </p:txBody>
      </p:sp>
      <p:sp>
        <p:nvSpPr>
          <p:cNvPr id="13" name="TextBox 12"/>
          <p:cNvSpPr txBox="1"/>
          <p:nvPr/>
        </p:nvSpPr>
        <p:spPr>
          <a:xfrm>
            <a:off x="667512" y="3575304"/>
            <a:ext cx="2313432" cy="457200"/>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580" b="1" i="0">
                <a:solidFill>
                  <a:srgbClr val="202B33"/>
                </a:solidFill>
                <a:latin typeface="Arial"/>
              </a:rPr>
              <a:t>Everstead delivery</a:t>
            </a:r>
          </a:p>
        </p:txBody>
      </p:sp>
      <p:sp>
        <p:nvSpPr>
          <p:cNvPr id="14" name="Rectangle 13"/>
          <p:cNvSpPr/>
          <p:nvPr/>
        </p:nvSpPr>
        <p:spPr>
          <a:xfrm>
            <a:off x="3310128" y="3182112"/>
            <a:ext cx="2606040" cy="960120"/>
          </a:xfrm>
          <a:prstGeom prst="rect">
            <a:avLst/>
          </a:prstGeom>
          <a:solidFill>
            <a:srgbClr val="E7F3F0"/>
          </a:solidFill>
          <a:ln>
            <a:solidFill>
              <a:srgbClr val="E7F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10128" y="3182112"/>
            <a:ext cx="54864" cy="960120"/>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328416"/>
            <a:ext cx="2313432" cy="173736"/>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4727C"/>
                </a:solidFill>
                <a:latin typeface="Arial"/>
              </a:rPr>
              <a:t>Venue</a:t>
            </a:r>
          </a:p>
        </p:txBody>
      </p:sp>
      <p:sp>
        <p:nvSpPr>
          <p:cNvPr id="17" name="TextBox 16"/>
          <p:cNvSpPr txBox="1"/>
          <p:nvPr/>
        </p:nvSpPr>
        <p:spPr>
          <a:xfrm>
            <a:off x="3474720" y="3575304"/>
            <a:ext cx="2313432" cy="457200"/>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580" b="1" i="0">
                <a:solidFill>
                  <a:srgbClr val="202B33"/>
                </a:solidFill>
                <a:latin typeface="Arial"/>
              </a:rPr>
              <a:t>Gate 3 controlled area</a:t>
            </a:r>
          </a:p>
        </p:txBody>
      </p:sp>
      <p:sp>
        <p:nvSpPr>
          <p:cNvPr id="18" name="Rectangle 17"/>
          <p:cNvSpPr/>
          <p:nvPr/>
        </p:nvSpPr>
        <p:spPr>
          <a:xfrm>
            <a:off x="6117336" y="3182112"/>
            <a:ext cx="2606040" cy="960120"/>
          </a:xfrm>
          <a:prstGeom prst="rect">
            <a:avLst/>
          </a:prstGeom>
          <a:solidFill>
            <a:srgbClr val="FBF2E3"/>
          </a:solidFill>
          <a:ln>
            <a:solidFill>
              <a:srgbClr val="FBF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17336" y="3182112"/>
            <a:ext cx="54864" cy="960120"/>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3328416"/>
            <a:ext cx="2313432" cy="173736"/>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4727C"/>
                </a:solidFill>
                <a:latin typeface="Arial"/>
              </a:rPr>
              <a:t>Movement window</a:t>
            </a:r>
          </a:p>
        </p:txBody>
      </p:sp>
      <p:sp>
        <p:nvSpPr>
          <p:cNvPr id="21" name="TextBox 20"/>
          <p:cNvSpPr txBox="1"/>
          <p:nvPr/>
        </p:nvSpPr>
        <p:spPr>
          <a:xfrm>
            <a:off x="6281928" y="3575304"/>
            <a:ext cx="2313432" cy="457200"/>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580" b="1" i="0">
                <a:solidFill>
                  <a:srgbClr val="202B33"/>
                </a:solidFill>
                <a:latin typeface="Arial"/>
              </a:rPr>
              <a:t>06:30-10:30</a:t>
            </a:r>
          </a:p>
        </p:txBody>
      </p:sp>
      <p:sp>
        <p:nvSpPr>
          <p:cNvPr id="22" name="Rectangle 21"/>
          <p:cNvSpPr/>
          <p:nvPr/>
        </p:nvSpPr>
        <p:spPr>
          <a:xfrm>
            <a:off x="8924544" y="3182112"/>
            <a:ext cx="2779776" cy="960120"/>
          </a:xfrm>
          <a:prstGeom prst="rect">
            <a:avLst/>
          </a:prstGeom>
          <a:solidFill>
            <a:srgbClr val="F9EAEA"/>
          </a:solidFill>
          <a:ln>
            <a:solidFill>
              <a:srgbClr val="F9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24544" y="3182112"/>
            <a:ext cx="54864" cy="960120"/>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89136" y="3328416"/>
            <a:ext cx="2487168" cy="173736"/>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64727C"/>
                </a:solidFill>
                <a:latin typeface="Arial"/>
              </a:rPr>
              <a:t>Coverage / closeout</a:t>
            </a:r>
          </a:p>
        </p:txBody>
      </p:sp>
      <p:sp>
        <p:nvSpPr>
          <p:cNvPr id="25" name="TextBox 24"/>
          <p:cNvSpPr txBox="1"/>
          <p:nvPr/>
        </p:nvSpPr>
        <p:spPr>
          <a:xfrm>
            <a:off x="9089136" y="3575304"/>
            <a:ext cx="2487168" cy="457200"/>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580" b="1" i="0">
                <a:solidFill>
                  <a:srgbClr val="202B33"/>
                </a:solidFill>
                <a:latin typeface="Arial"/>
              </a:rPr>
              <a:t>05:45-12:15</a:t>
            </a:r>
          </a:p>
        </p:txBody>
      </p:sp>
      <p:sp>
        <p:nvSpPr>
          <p:cNvPr id="26" name="Rectangle 25"/>
          <p:cNvSpPr/>
          <p:nvPr/>
        </p:nvSpPr>
        <p:spPr>
          <a:xfrm>
            <a:off x="502920" y="4407408"/>
            <a:ext cx="7114032" cy="128016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407408"/>
            <a:ext cx="7114032" cy="1280160"/>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087E78"/>
                </a:solidFill>
                <a:latin typeface="Arial"/>
              </a:rPr>
              <a:t>Operating audience</a:t>
            </a:r>
          </a:p>
          <a:p>
            <a:pPr algn="l">
              <a:lnSpc>
                <a:spcPct val="100000"/>
              </a:lnSpc>
              <a:spcBef>
                <a:spcPts val="500"/>
              </a:spcBef>
              <a:spcAft>
                <a:spcPts val="0"/>
              </a:spcAft>
            </a:pPr>
            <a:r>
              <a:rPr sz="1600" b="0" i="0">
                <a:solidFill>
                  <a:srgbClr val="17324D"/>
                </a:solidFill>
                <a:latin typeface="Arial"/>
              </a:rPr>
              <a:t>Board members; watch commanders; dispatch; Gate 3 personnel; escort/response personnel; and staff new to mobile dispatch.</a:t>
            </a:r>
          </a:p>
          <a:p>
            <a:pPr algn="l">
              <a:lnSpc>
                <a:spcPct val="100000"/>
              </a:lnSpc>
              <a:spcBef>
                <a:spcPts val="800"/>
              </a:spcBef>
              <a:spcAft>
                <a:spcPts val="0"/>
              </a:spcAft>
            </a:pPr>
            <a:r>
              <a:rPr sz="1150" b="0" i="0">
                <a:solidFill>
                  <a:srgbClr val="64727C"/>
                </a:solidFill>
                <a:latin typeface="Arial"/>
              </a:rPr>
              <a:t>Operational owner: Jelena Skarsgard, Watch Operations Lieutenant.</a:t>
            </a:r>
          </a:p>
        </p:txBody>
      </p:sp>
      <p:sp>
        <p:nvSpPr>
          <p:cNvPr id="28" name="Rectangle 27"/>
          <p:cNvSpPr/>
          <p:nvPr/>
        </p:nvSpPr>
        <p:spPr>
          <a:xfrm>
            <a:off x="7818120" y="4407408"/>
            <a:ext cx="3886200" cy="128016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4407408"/>
            <a:ext cx="3886200" cy="1280160"/>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087E78"/>
                </a:solidFill>
                <a:latin typeface="Arial"/>
              </a:rPr>
              <a:t>Governing frame</a:t>
            </a:r>
          </a:p>
          <a:p>
            <a:pPr algn="l">
              <a:lnSpc>
                <a:spcPct val="100000"/>
              </a:lnSpc>
              <a:spcBef>
                <a:spcPts val="500"/>
              </a:spcBef>
              <a:spcAft>
                <a:spcPts val="0"/>
              </a:spcAft>
            </a:pPr>
            <a:r>
              <a:rPr sz="1600" b="1" i="0">
                <a:solidFill>
                  <a:srgbClr val="17324D"/>
                </a:solidFill>
                <a:latin typeface="Arial"/>
              </a:rPr>
              <a:t>Maryland jurisdiction</a:t>
            </a:r>
          </a:p>
          <a:p>
            <a:pPr algn="l">
              <a:lnSpc>
                <a:spcPct val="100000"/>
              </a:lnSpc>
              <a:spcBef>
                <a:spcPts val="400"/>
              </a:spcBef>
              <a:spcAft>
                <a:spcPts val="0"/>
              </a:spcAft>
            </a:pPr>
            <a:r>
              <a:rPr sz="1030" b="0" i="0">
                <a:solidFill>
                  <a:srgbClr val="64727C"/>
                </a:solidFill>
                <a:latin typeface="Arial"/>
              </a:rPr>
              <a:t>Maryland and Cinderhall local-policy snapshot frozen as of 15 Oct 2025</a:t>
            </a:r>
          </a:p>
        </p:txBody>
      </p:sp>
      <p:sp>
        <p:nvSpPr>
          <p:cNvPr id="30" name="TextBox 29"/>
          <p:cNvSpPr txBox="1"/>
          <p:nvPr/>
        </p:nvSpPr>
        <p:spPr>
          <a:xfrm>
            <a:off x="502920" y="5870448"/>
            <a:ext cx="11155680" cy="246888"/>
          </a:xfrm>
          <a:prstGeom prst="rect">
            <a:avLst/>
          </a:prstGeom>
          <a:noFill/>
        </p:spPr>
        <p:txBody>
          <a:bodyPr wrap="square" lIns="18288" rIns="18288" tIns="18288" bIns="18288" anchor="t">
            <a:spAutoFit/>
          </a:bodyPr>
          <a:lstStyle/>
          <a:p>
            <a:pPr algn="l">
              <a:spcBef>
                <a:spcPts val="0"/>
              </a:spcBef>
              <a:spcAft>
                <a:spcPts val="0"/>
              </a:spcAft>
            </a:pPr>
            <a:r>
              <a:rPr sz="1050" b="0" i="1">
                <a:solidFill>
                  <a:srgbClr val="64727C"/>
                </a:solidFill>
                <a:latin typeface="Arial"/>
              </a:rPr>
              <a:t>Decision purpose: authorize an executable delivery operation, not a later study. This deck gives the Board and posts one operating model and one control boundary.</a:t>
            </a:r>
          </a:p>
        </p:txBody>
      </p:sp>
      <p:sp>
        <p:nvSpPr>
          <p:cNvPr id="31" name="Rectangle 30"/>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Maryland snapshot frozen as of 15 Oct 2025</a:t>
            </a:r>
          </a:p>
        </p:txBody>
      </p:sp>
      <p:sp>
        <p:nvSpPr>
          <p:cNvPr id="33" name="TextBox 32"/>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DECISION BASIS</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Capacity planning has one source; admission has a separate authority</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02</a:t>
            </a:r>
          </a:p>
        </p:txBody>
      </p:sp>
      <p:sp>
        <p:nvSpPr>
          <p:cNvPr id="8" name="Rectangle 7"/>
          <p:cNvSpPr/>
          <p:nvPr/>
        </p:nvSpPr>
        <p:spPr>
          <a:xfrm>
            <a:off x="438912" y="1225296"/>
            <a:ext cx="3675887" cy="1828800"/>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225296"/>
            <a:ext cx="3675887" cy="1828800"/>
          </a:xfrm>
          <a:prstGeom prst="rect">
            <a:avLst/>
          </a:prstGeom>
          <a:noFill/>
        </p:spPr>
        <p:txBody>
          <a:bodyPr wrap="square" lIns="54864" rIns="54864" tIns="54864" bIns="54864">
            <a:spAutoFit/>
          </a:bodyPr>
          <a:lstStyle/>
          <a:p>
            <a:pPr algn="l">
              <a:lnSpc>
                <a:spcPct val="100000"/>
              </a:lnSpc>
              <a:spcBef>
                <a:spcPts val="0"/>
              </a:spcBef>
              <a:spcAft>
                <a:spcPts val="0"/>
              </a:spcAft>
            </a:pPr>
            <a:r>
              <a:rPr sz="900" b="1" i="0">
                <a:solidFill>
                  <a:srgbClr val="087E78"/>
                </a:solidFill>
                <a:latin typeface="Arial"/>
              </a:rPr>
              <a:t>CURRENT CLIENT RECORD</a:t>
            </a:r>
          </a:p>
          <a:p>
            <a:pPr algn="l">
              <a:lnSpc>
                <a:spcPct val="100000"/>
              </a:lnSpc>
              <a:spcBef>
                <a:spcPts val="500"/>
              </a:spcBef>
              <a:spcAft>
                <a:spcPts val="0"/>
              </a:spcAft>
            </a:pPr>
            <a:r>
              <a:rPr sz="3000" b="1" i="0">
                <a:solidFill>
                  <a:srgbClr val="17324D"/>
                </a:solidFill>
                <a:latin typeface="Arial"/>
              </a:rPr>
              <a:t>8 vehicles</a:t>
            </a:r>
          </a:p>
          <a:p>
            <a:pPr algn="l">
              <a:lnSpc>
                <a:spcPct val="100000"/>
              </a:lnSpc>
              <a:spcBef>
                <a:spcPts val="200"/>
              </a:spcBef>
              <a:spcAft>
                <a:spcPts val="0"/>
              </a:spcAft>
            </a:pPr>
            <a:r>
              <a:rPr sz="1250" b="1" i="0">
                <a:solidFill>
                  <a:srgbClr val="202B33"/>
                </a:solidFill>
                <a:latin typeface="Arial"/>
              </a:rPr>
              <a:t>Everstead client manifest, Revision 3</a:t>
            </a:r>
          </a:p>
          <a:p>
            <a:pPr algn="l">
              <a:lnSpc>
                <a:spcPct val="100000"/>
              </a:lnSpc>
              <a:spcBef>
                <a:spcPts val="500"/>
              </a:spcBef>
              <a:spcAft>
                <a:spcPts val="0"/>
              </a:spcAft>
            </a:pPr>
            <a:r>
              <a:rPr sz="960" b="0" i="0">
                <a:solidFill>
                  <a:srgbClr val="64727C"/>
                </a:solidFill>
                <a:latin typeface="Arial"/>
              </a:rPr>
              <a:t>Received from Everstead Industries Dispatch: 15 Oct 2025 16:20. Owner: Everstead Industries Dispatch.</a:t>
            </a:r>
          </a:p>
        </p:txBody>
      </p:sp>
      <p:sp>
        <p:nvSpPr>
          <p:cNvPr id="10" name="Rectangle 9"/>
          <p:cNvSpPr/>
          <p:nvPr/>
        </p:nvSpPr>
        <p:spPr>
          <a:xfrm>
            <a:off x="4261104" y="1225296"/>
            <a:ext cx="3675887" cy="1828800"/>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61104" y="1225296"/>
            <a:ext cx="3675887" cy="1828800"/>
          </a:xfrm>
          <a:prstGeom prst="rect">
            <a:avLst/>
          </a:prstGeom>
          <a:noFill/>
        </p:spPr>
        <p:txBody>
          <a:bodyPr wrap="square" lIns="54864" rIns="54864" tIns="54864" bIns="54864">
            <a:spAutoFit/>
          </a:bodyPr>
          <a:lstStyle/>
          <a:p>
            <a:pPr algn="l">
              <a:lnSpc>
                <a:spcPct val="100000"/>
              </a:lnSpc>
              <a:spcBef>
                <a:spcPts val="0"/>
              </a:spcBef>
              <a:spcAft>
                <a:spcPts val="0"/>
              </a:spcAft>
            </a:pPr>
            <a:r>
              <a:rPr sz="900" b="1" i="0">
                <a:solidFill>
                  <a:srgbClr val="C98518"/>
                </a:solidFill>
                <a:latin typeface="Arial"/>
              </a:rPr>
              <a:t>FROZEN POLICE RECORD</a:t>
            </a:r>
          </a:p>
          <a:p>
            <a:pPr algn="l">
              <a:lnSpc>
                <a:spcPct val="100000"/>
              </a:lnSpc>
              <a:spcBef>
                <a:spcPts val="500"/>
              </a:spcBef>
              <a:spcAft>
                <a:spcPts val="0"/>
              </a:spcAft>
            </a:pPr>
            <a:r>
              <a:rPr sz="3000" b="1" i="0">
                <a:solidFill>
                  <a:srgbClr val="17324D"/>
                </a:solidFill>
                <a:latin typeface="Arial"/>
              </a:rPr>
              <a:t>6 vehicles</a:t>
            </a:r>
          </a:p>
          <a:p>
            <a:pPr algn="l">
              <a:lnSpc>
                <a:spcPct val="100000"/>
              </a:lnSpc>
              <a:spcBef>
                <a:spcPts val="200"/>
              </a:spcBef>
              <a:spcAft>
                <a:spcPts val="0"/>
              </a:spcAft>
            </a:pPr>
            <a:r>
              <a:rPr sz="1250" b="1" i="0">
                <a:solidFill>
                  <a:srgbClr val="202B33"/>
                </a:solidFill>
                <a:latin typeface="Arial"/>
              </a:rPr>
              <a:t>CLPD logistics sheet, Revision 1</a:t>
            </a:r>
          </a:p>
          <a:p>
            <a:pPr algn="l">
              <a:lnSpc>
                <a:spcPct val="100000"/>
              </a:lnSpc>
              <a:spcBef>
                <a:spcPts val="500"/>
              </a:spcBef>
              <a:spcAft>
                <a:spcPts val="0"/>
              </a:spcAft>
            </a:pPr>
            <a:r>
              <a:rPr sz="919" b="0" i="0">
                <a:solidFill>
                  <a:srgbClr val="64727C"/>
                </a:solidFill>
                <a:latin typeface="Arial"/>
              </a:rPr>
              <a:t>Cinderhall Logistics Police Division logistics sheet, frozen 13 Oct 2025 14:00. Owner: Watch Operations logistics desk. The frozen sheet was prepared before the current client Revision 3 was received.</a:t>
            </a:r>
          </a:p>
        </p:txBody>
      </p:sp>
      <p:sp>
        <p:nvSpPr>
          <p:cNvPr id="12" name="Rectangle 11"/>
          <p:cNvSpPr/>
          <p:nvPr/>
        </p:nvSpPr>
        <p:spPr>
          <a:xfrm>
            <a:off x="8083296" y="1225296"/>
            <a:ext cx="3621024" cy="1828800"/>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83296" y="1225296"/>
            <a:ext cx="3621024" cy="1828800"/>
          </a:xfrm>
          <a:prstGeom prst="rect">
            <a:avLst/>
          </a:prstGeom>
          <a:noFill/>
        </p:spPr>
        <p:txBody>
          <a:bodyPr wrap="square" lIns="54864" rIns="54864" tIns="54864" bIns="54864">
            <a:spAutoFit/>
          </a:bodyPr>
          <a:lstStyle/>
          <a:p>
            <a:pPr algn="l">
              <a:lnSpc>
                <a:spcPct val="100000"/>
              </a:lnSpc>
              <a:spcBef>
                <a:spcPts val="0"/>
              </a:spcBef>
              <a:spcAft>
                <a:spcPts val="0"/>
              </a:spcAft>
            </a:pPr>
            <a:r>
              <a:rPr sz="900" b="1" i="0">
                <a:solidFill>
                  <a:srgbClr val="FFFFFF"/>
                </a:solidFill>
                <a:latin typeface="Arial"/>
              </a:rPr>
              <a:t>AUTHORIZED PLANNING RULE</a:t>
            </a:r>
          </a:p>
          <a:p>
            <a:pPr algn="l">
              <a:lnSpc>
                <a:spcPct val="100000"/>
              </a:lnSpc>
              <a:spcBef>
                <a:spcPts val="700"/>
              </a:spcBef>
              <a:spcAft>
                <a:spcPts val="0"/>
              </a:spcAft>
            </a:pPr>
            <a:r>
              <a:rPr sz="1620" b="1" i="0">
                <a:solidFill>
                  <a:srgbClr val="FFFFFF"/>
                </a:solidFill>
                <a:latin typeface="Arial"/>
              </a:rPr>
              <a:t>Plan capacity to the current eight-vehicle client manifest.</a:t>
            </a:r>
          </a:p>
          <a:p>
            <a:pPr algn="l">
              <a:lnSpc>
                <a:spcPct val="100000"/>
              </a:lnSpc>
              <a:spcBef>
                <a:spcPts val="700"/>
              </a:spcBef>
              <a:spcAft>
                <a:spcPts val="0"/>
              </a:spcAft>
            </a:pPr>
            <a:r>
              <a:rPr sz="1010" b="0" i="0">
                <a:solidFill>
                  <a:srgbClr val="D7E8F1"/>
                </a:solidFill>
                <a:latin typeface="Arial"/>
              </a:rPr>
              <a:t>Revision currency and client ownership avoid under-planning. The older police sheet stays in the reconciliation file.</a:t>
            </a:r>
          </a:p>
        </p:txBody>
      </p:sp>
      <p:sp>
        <p:nvSpPr>
          <p:cNvPr id="14" name="Rectangle 13"/>
          <p:cNvSpPr/>
          <p:nvPr/>
        </p:nvSpPr>
        <p:spPr>
          <a:xfrm>
            <a:off x="438912" y="3310128"/>
            <a:ext cx="11265408" cy="1298448"/>
          </a:xfrm>
          <a:prstGeom prst="rect">
            <a:avLst/>
          </a:prstGeom>
          <a:solidFill>
            <a:srgbClr val="F9EAEA"/>
          </a:solidFill>
          <a:ln>
            <a:solidFill>
              <a:srgbClr val="E4B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3310128"/>
            <a:ext cx="11265408" cy="1298448"/>
          </a:xfrm>
          <a:prstGeom prst="rect">
            <a:avLst/>
          </a:prstGeom>
          <a:noFill/>
        </p:spPr>
        <p:txBody>
          <a:bodyPr wrap="square" lIns="54864" rIns="54864" tIns="54864" bIns="54864">
            <a:spAutoFit/>
          </a:bodyPr>
          <a:lstStyle/>
          <a:p>
            <a:pPr algn="l">
              <a:lnSpc>
                <a:spcPct val="100000"/>
              </a:lnSpc>
              <a:spcBef>
                <a:spcPts val="0"/>
              </a:spcBef>
              <a:spcAft>
                <a:spcPts val="0"/>
              </a:spcAft>
            </a:pPr>
            <a:r>
              <a:rPr sz="1100" b="1" i="0">
                <a:solidFill>
                  <a:srgbClr val="B54845"/>
                </a:solidFill>
                <a:latin typeface="Arial"/>
              </a:rPr>
              <a:t>Planning capacity does not grant entry</a:t>
            </a:r>
          </a:p>
          <a:p>
            <a:pPr algn="l">
              <a:lnSpc>
                <a:spcPct val="100000"/>
              </a:lnSpc>
              <a:spcBef>
                <a:spcPts val="600"/>
              </a:spcBef>
              <a:spcAft>
                <a:spcPts val="0"/>
              </a:spcAft>
            </a:pPr>
            <a:r>
              <a:rPr sz="1430" b="0" i="0">
                <a:solidFill>
                  <a:srgbClr val="17324D"/>
                </a:solidFill>
                <a:latin typeface="Arial"/>
              </a:rPr>
              <a:t>At 05:45, the Watch Commander and Everstead Dispatch reconcile Revision 3 into the final gate roster. Each arriving vehicle and driver must still positively link to the authorized current delivery record before Gate Cleared or Released status. A planned eighth vehicle is not automatically admitted.</a:t>
            </a:r>
          </a:p>
        </p:txBody>
      </p:sp>
      <p:sp>
        <p:nvSpPr>
          <p:cNvPr id="16" name="Rectangle 15"/>
          <p:cNvSpPr/>
          <p:nvPr/>
        </p:nvSpPr>
        <p:spPr>
          <a:xfrm>
            <a:off x="438912" y="4864608"/>
            <a:ext cx="5440680" cy="1170432"/>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4864608"/>
            <a:ext cx="5440680" cy="1170432"/>
          </a:xfrm>
          <a:prstGeom prst="rect">
            <a:avLst/>
          </a:prstGeom>
          <a:noFill/>
        </p:spPr>
        <p:txBody>
          <a:bodyPr wrap="square" lIns="54864" rIns="54864" tIns="54864" bIns="54864">
            <a:spAutoFit/>
          </a:bodyPr>
          <a:lstStyle/>
          <a:p>
            <a:pPr algn="l">
              <a:lnSpc>
                <a:spcPct val="100000"/>
              </a:lnSpc>
              <a:spcBef>
                <a:spcPts val="0"/>
              </a:spcBef>
              <a:spcAft>
                <a:spcPts val="0"/>
              </a:spcAft>
            </a:pPr>
            <a:r>
              <a:rPr sz="950" b="1" i="0">
                <a:solidFill>
                  <a:srgbClr val="B54845"/>
                </a:solidFill>
                <a:latin typeface="Arial"/>
              </a:rPr>
              <a:t>Informal assurance</a:t>
            </a:r>
          </a:p>
          <a:p>
            <a:pPr algn="l">
              <a:lnSpc>
                <a:spcPct val="100000"/>
              </a:lnSpc>
              <a:spcBef>
                <a:spcPts val="500"/>
              </a:spcBef>
              <a:spcAft>
                <a:spcPts val="0"/>
              </a:spcAft>
            </a:pPr>
            <a:r>
              <a:rPr sz="1400" b="1" i="0">
                <a:solidFill>
                  <a:srgbClr val="17324D"/>
                </a:solidFill>
                <a:latin typeface="Arial"/>
              </a:rPr>
              <a:t>Rhodri Gauthier's no-delay assurance is not operational authority to waive verification.</a:t>
            </a:r>
          </a:p>
          <a:p>
            <a:pPr algn="l">
              <a:lnSpc>
                <a:spcPct val="100000"/>
              </a:lnSpc>
              <a:spcBef>
                <a:spcPts val="500"/>
              </a:spcBef>
              <a:spcAft>
                <a:spcPts val="0"/>
              </a:spcAft>
            </a:pPr>
            <a:r>
              <a:rPr sz="980" b="0" i="0">
                <a:solidFill>
                  <a:srgbClr val="64727C"/>
                </a:solidFill>
                <a:latin typeface="Arial"/>
              </a:rPr>
              <a:t>Service objective: orderly staged arrivals and the fastest practical verified processing - not zero delay at any cost.</a:t>
            </a:r>
          </a:p>
        </p:txBody>
      </p:sp>
      <p:sp>
        <p:nvSpPr>
          <p:cNvPr id="18" name="Rectangle 17"/>
          <p:cNvSpPr/>
          <p:nvPr/>
        </p:nvSpPr>
        <p:spPr>
          <a:xfrm>
            <a:off x="6099048" y="4864608"/>
            <a:ext cx="5605272" cy="1170432"/>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8" y="4864608"/>
            <a:ext cx="5605272" cy="1170432"/>
          </a:xfrm>
          <a:prstGeom prst="rect">
            <a:avLst/>
          </a:prstGeom>
          <a:noFill/>
        </p:spPr>
        <p:txBody>
          <a:bodyPr wrap="square" lIns="54864" rIns="54864" tIns="54864" bIns="54864">
            <a:spAutoFit/>
          </a:bodyPr>
          <a:lstStyle/>
          <a:p>
            <a:pPr algn="l">
              <a:lnSpc>
                <a:spcPct val="100000"/>
              </a:lnSpc>
              <a:spcBef>
                <a:spcPts val="0"/>
              </a:spcBef>
              <a:spcAft>
                <a:spcPts val="0"/>
              </a:spcAft>
            </a:pPr>
            <a:r>
              <a:rPr sz="950" b="1" i="0">
                <a:solidFill>
                  <a:srgbClr val="087E78"/>
                </a:solidFill>
                <a:latin typeface="Arial"/>
              </a:rPr>
              <a:t>Record discipline</a:t>
            </a:r>
          </a:p>
          <a:p>
            <a:pPr algn="l">
              <a:lnSpc>
                <a:spcPct val="100000"/>
              </a:lnSpc>
              <a:spcBef>
                <a:spcPts val="500"/>
              </a:spcBef>
              <a:spcAft>
                <a:spcPts val="0"/>
              </a:spcAft>
            </a:pPr>
            <a:r>
              <a:rPr sz="1250" b="0" i="0">
                <a:solidFill>
                  <a:srgbClr val="17324D"/>
                </a:solidFill>
                <a:latin typeface="Arial"/>
              </a:rPr>
              <a:t>The forwarded 14 Oct chain is one correspondence source, not independent corroboration. Revision 3 is the operative planning revision; the reconciled gate roster controls an individual arrival.</a:t>
            </a:r>
          </a:p>
        </p:txBody>
      </p:sp>
      <p:sp>
        <p:nvSpPr>
          <p:cNvPr id="20" name="Rectangle 19"/>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Packet refs: client manifest Rev 3; frozen CLPD logistics Rev 1; correspondence; Gate 3 record</a:t>
            </a:r>
          </a:p>
        </p:txBody>
      </p:sp>
      <p:sp>
        <p:nvSpPr>
          <p:cNvPr id="22" name="TextBox 21"/>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7"/>
          </a:solidFill>
          <a:ln>
            <a:solidFill>
              <a:srgbClr val="F3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OPTIONS COMPARED</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Authorize the full-capacity hybrid; preserve verified flow through the transition</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03</a:t>
            </a:r>
          </a:p>
        </p:txBody>
      </p:sp>
      <p:sp>
        <p:nvSpPr>
          <p:cNvPr id="8" name="Rectangle 7"/>
          <p:cNvSpPr/>
          <p:nvPr/>
        </p:nvSpPr>
        <p:spPr>
          <a:xfrm>
            <a:off x="475488" y="1225296"/>
            <a:ext cx="1847088"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307592"/>
            <a:ext cx="1737360" cy="128016"/>
          </a:xfrm>
          <a:prstGeom prst="rect">
            <a:avLst/>
          </a:prstGeom>
          <a:noFill/>
        </p:spPr>
        <p:txBody>
          <a:bodyPr wrap="square" lIns="18288" rIns="18288" tIns="18288" bIns="18288" anchor="t">
            <a:spAutoFit/>
          </a:bodyPr>
          <a:lstStyle/>
          <a:p>
            <a:pPr algn="l">
              <a:spcBef>
                <a:spcPts val="0"/>
              </a:spcBef>
              <a:spcAft>
                <a:spcPts val="0"/>
              </a:spcAft>
            </a:pPr>
            <a:r>
              <a:rPr sz="750" b="1" i="0">
                <a:solidFill>
                  <a:srgbClr val="FFFFFF"/>
                </a:solidFill>
                <a:latin typeface="Arial"/>
              </a:rPr>
              <a:t>MODEL</a:t>
            </a:r>
          </a:p>
        </p:txBody>
      </p:sp>
      <p:sp>
        <p:nvSpPr>
          <p:cNvPr id="10" name="Rectangle 9"/>
          <p:cNvSpPr/>
          <p:nvPr/>
        </p:nvSpPr>
        <p:spPr>
          <a:xfrm>
            <a:off x="2377440" y="1225296"/>
            <a:ext cx="1965960"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32304" y="1307592"/>
            <a:ext cx="1856231" cy="128016"/>
          </a:xfrm>
          <a:prstGeom prst="rect">
            <a:avLst/>
          </a:prstGeom>
          <a:noFill/>
        </p:spPr>
        <p:txBody>
          <a:bodyPr wrap="square" lIns="18288" rIns="18288" tIns="18288" bIns="18288" anchor="t">
            <a:spAutoFit/>
          </a:bodyPr>
          <a:lstStyle/>
          <a:p>
            <a:pPr algn="l">
              <a:spcBef>
                <a:spcPts val="0"/>
              </a:spcBef>
              <a:spcAft>
                <a:spcPts val="0"/>
              </a:spcAft>
            </a:pPr>
            <a:r>
              <a:rPr sz="750" b="1" i="0">
                <a:solidFill>
                  <a:srgbClr val="FFFFFF"/>
                </a:solidFill>
                <a:latin typeface="Arial"/>
              </a:rPr>
              <a:t>CAPACITY / STAFFING</a:t>
            </a:r>
          </a:p>
        </p:txBody>
      </p:sp>
      <p:sp>
        <p:nvSpPr>
          <p:cNvPr id="12" name="Rectangle 11"/>
          <p:cNvSpPr/>
          <p:nvPr/>
        </p:nvSpPr>
        <p:spPr>
          <a:xfrm>
            <a:off x="4407408" y="1225296"/>
            <a:ext cx="2194560"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307592"/>
            <a:ext cx="2084831" cy="128016"/>
          </a:xfrm>
          <a:prstGeom prst="rect">
            <a:avLst/>
          </a:prstGeom>
          <a:noFill/>
        </p:spPr>
        <p:txBody>
          <a:bodyPr wrap="square" lIns="18288" rIns="18288" tIns="18288" bIns="18288" anchor="t">
            <a:spAutoFit/>
          </a:bodyPr>
          <a:lstStyle/>
          <a:p>
            <a:pPr algn="l">
              <a:spcBef>
                <a:spcPts val="0"/>
              </a:spcBef>
              <a:spcAft>
                <a:spcPts val="0"/>
              </a:spcAft>
            </a:pPr>
            <a:r>
              <a:rPr sz="750" b="1" i="0">
                <a:solidFill>
                  <a:srgbClr val="FFFFFF"/>
                </a:solidFill>
                <a:latin typeface="Arial"/>
              </a:rPr>
              <a:t>CHECK-IN MODEL</a:t>
            </a:r>
          </a:p>
        </p:txBody>
      </p:sp>
      <p:sp>
        <p:nvSpPr>
          <p:cNvPr id="14" name="Rectangle 13"/>
          <p:cNvSpPr/>
          <p:nvPr/>
        </p:nvSpPr>
        <p:spPr>
          <a:xfrm>
            <a:off x="6656832" y="1225296"/>
            <a:ext cx="2487168"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11696" y="1307592"/>
            <a:ext cx="2377440" cy="128016"/>
          </a:xfrm>
          <a:prstGeom prst="rect">
            <a:avLst/>
          </a:prstGeom>
          <a:noFill/>
        </p:spPr>
        <p:txBody>
          <a:bodyPr wrap="square" lIns="18288" rIns="18288" tIns="18288" bIns="18288" anchor="t">
            <a:spAutoFit/>
          </a:bodyPr>
          <a:lstStyle/>
          <a:p>
            <a:pPr algn="l">
              <a:spcBef>
                <a:spcPts val="0"/>
              </a:spcBef>
              <a:spcAft>
                <a:spcPts val="0"/>
              </a:spcAft>
            </a:pPr>
            <a:r>
              <a:rPr sz="750" b="1" i="0">
                <a:solidFill>
                  <a:srgbClr val="FFFFFF"/>
                </a:solidFill>
                <a:latin typeface="Arial"/>
              </a:rPr>
              <a:t>CONTROL + SERVICE EFFECT</a:t>
            </a:r>
          </a:p>
        </p:txBody>
      </p:sp>
      <p:sp>
        <p:nvSpPr>
          <p:cNvPr id="16" name="Rectangle 15"/>
          <p:cNvSpPr/>
          <p:nvPr/>
        </p:nvSpPr>
        <p:spPr>
          <a:xfrm>
            <a:off x="9217152" y="1225296"/>
            <a:ext cx="2468880"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72016" y="1307592"/>
            <a:ext cx="2359152" cy="128016"/>
          </a:xfrm>
          <a:prstGeom prst="rect">
            <a:avLst/>
          </a:prstGeom>
          <a:noFill/>
        </p:spPr>
        <p:txBody>
          <a:bodyPr wrap="square" lIns="18288" rIns="18288" tIns="18288" bIns="18288" anchor="t">
            <a:spAutoFit/>
          </a:bodyPr>
          <a:lstStyle/>
          <a:p>
            <a:pPr algn="l">
              <a:spcBef>
                <a:spcPts val="0"/>
              </a:spcBef>
              <a:spcAft>
                <a:spcPts val="0"/>
              </a:spcAft>
            </a:pPr>
            <a:r>
              <a:rPr sz="750" b="1" i="0">
                <a:solidFill>
                  <a:srgbClr val="FFFFFF"/>
                </a:solidFill>
                <a:latin typeface="Arial"/>
              </a:rPr>
              <a:t>THURSDAY / STEADY STATE</a:t>
            </a:r>
          </a:p>
        </p:txBody>
      </p:sp>
      <p:sp>
        <p:nvSpPr>
          <p:cNvPr id="18" name="Rectangle 17"/>
          <p:cNvSpPr/>
          <p:nvPr/>
        </p:nvSpPr>
        <p:spPr>
          <a:xfrm>
            <a:off x="475488" y="1572768"/>
            <a:ext cx="11210544" cy="1188720"/>
          </a:xfrm>
          <a:prstGeom prst="rect">
            <a:avLst/>
          </a:prstGeom>
          <a:solidFill>
            <a:srgbClr val="E7F3F0"/>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5488" y="1572768"/>
            <a:ext cx="73152" cy="1188720"/>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 y="1682495"/>
            <a:ext cx="1234440" cy="256032"/>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1723643"/>
            <a:ext cx="1161288" cy="137160"/>
          </a:xfrm>
          <a:prstGeom prst="rect">
            <a:avLst/>
          </a:prstGeom>
          <a:noFill/>
        </p:spPr>
        <p:txBody>
          <a:bodyPr wrap="square" lIns="18288" rIns="18288" tIns="18288" bIns="18288" anchor="t">
            <a:spAutoFit/>
          </a:bodyPr>
          <a:lstStyle/>
          <a:p>
            <a:pPr algn="ctr">
              <a:spcBef>
                <a:spcPts val="0"/>
              </a:spcBef>
              <a:spcAft>
                <a:spcPts val="0"/>
              </a:spcAft>
            </a:pPr>
            <a:r>
              <a:rPr sz="830" b="1" i="0">
                <a:solidFill>
                  <a:srgbClr val="FFFFFF"/>
                </a:solidFill>
                <a:latin typeface="Arial"/>
              </a:rPr>
              <a:t>SELECTED</a:t>
            </a:r>
          </a:p>
        </p:txBody>
      </p:sp>
      <p:sp>
        <p:nvSpPr>
          <p:cNvPr id="22" name="TextBox 21"/>
          <p:cNvSpPr txBox="1"/>
          <p:nvPr/>
        </p:nvSpPr>
        <p:spPr>
          <a:xfrm>
            <a:off x="667512" y="2011680"/>
            <a:ext cx="1572768" cy="530352"/>
          </a:xfrm>
          <a:prstGeom prst="rect">
            <a:avLst/>
          </a:prstGeom>
          <a:noFill/>
        </p:spPr>
        <p:txBody>
          <a:bodyPr wrap="square" lIns="18288" rIns="18288" tIns="18288" bIns="18288" anchor="t">
            <a:spAutoFit/>
          </a:bodyPr>
          <a:lstStyle/>
          <a:p>
            <a:pPr algn="l">
              <a:spcBef>
                <a:spcPts val="0"/>
              </a:spcBef>
              <a:spcAft>
                <a:spcPts val="0"/>
              </a:spcAft>
            </a:pPr>
            <a:r>
              <a:rPr sz="1340" b="1" i="0">
                <a:solidFill>
                  <a:srgbClr val="17324D"/>
                </a:solidFill>
                <a:latin typeface="Arial"/>
              </a:rPr>
              <a:t>Full-capacity hybrid</a:t>
            </a:r>
          </a:p>
        </p:txBody>
      </p:sp>
      <p:sp>
        <p:nvSpPr>
          <p:cNvPr id="23" name="TextBox 22"/>
          <p:cNvSpPr txBox="1"/>
          <p:nvPr/>
        </p:nvSpPr>
        <p:spPr>
          <a:xfrm>
            <a:off x="2441448" y="1691640"/>
            <a:ext cx="1810512" cy="978408"/>
          </a:xfrm>
          <a:prstGeom prst="rect">
            <a:avLst/>
          </a:prstGeom>
          <a:noFill/>
        </p:spPr>
        <p:txBody>
          <a:bodyPr wrap="square" lIns="18288" rIns="18288" tIns="18288" bIns="18288" anchor="t">
            <a:spAutoFit/>
          </a:bodyPr>
          <a:lstStyle/>
          <a:p>
            <a:pPr algn="l">
              <a:lnSpc>
                <a:spcPct val="95000"/>
              </a:lnSpc>
              <a:spcBef>
                <a:spcPts val="0"/>
              </a:spcBef>
              <a:spcAft>
                <a:spcPts val="0"/>
              </a:spcAft>
            </a:pPr>
            <a:r>
              <a:rPr sz="1080" b="1" i="0">
                <a:solidFill>
                  <a:srgbClr val="202B33"/>
                </a:solidFill>
                <a:latin typeface="Arial"/>
              </a:rPr>
              <a:t>8 planned</a:t>
            </a:r>
          </a:p>
          <a:p>
            <a:pPr algn="l">
              <a:lnSpc>
                <a:spcPct val="95000"/>
              </a:lnSpc>
              <a:spcBef>
                <a:spcPts val="0"/>
              </a:spcBef>
              <a:spcAft>
                <a:spcPts val="0"/>
              </a:spcAft>
            </a:pPr>
            <a:r>
              <a:rPr sz="1080" b="1" i="0">
                <a:solidFill>
                  <a:srgbClr val="202B33"/>
                </a:solidFill>
                <a:latin typeface="Arial"/>
              </a:rPr>
              <a:t>8 (7 sworn + 1 dispatcher)</a:t>
            </a:r>
          </a:p>
        </p:txBody>
      </p:sp>
      <p:sp>
        <p:nvSpPr>
          <p:cNvPr id="24" name="TextBox 23"/>
          <p:cNvSpPr txBox="1"/>
          <p:nvPr/>
        </p:nvSpPr>
        <p:spPr>
          <a:xfrm>
            <a:off x="4480560" y="1691640"/>
            <a:ext cx="2011680" cy="987552"/>
          </a:xfrm>
          <a:prstGeom prst="rect">
            <a:avLst/>
          </a:prstGeom>
          <a:noFill/>
        </p:spPr>
        <p:txBody>
          <a:bodyPr wrap="square" lIns="18288" rIns="18288" tIns="18288" bIns="18288" anchor="t">
            <a:spAutoFit/>
          </a:bodyPr>
          <a:lstStyle/>
          <a:p>
            <a:pPr algn="l">
              <a:lnSpc>
                <a:spcPct val="96000"/>
              </a:lnSpc>
              <a:spcBef>
                <a:spcPts val="0"/>
              </a:spcBef>
              <a:spcAft>
                <a:spcPts val="0"/>
              </a:spcAft>
            </a:pPr>
            <a:r>
              <a:rPr sz="940" b="0" i="0">
                <a:solidFill>
                  <a:srgbClr val="202B33"/>
                </a:solidFill>
                <a:latin typeface="Arial"/>
              </a:rPr>
              <a:t>1 dispatcher; mobile receipt/assignment plus radio parallel and fallback</a:t>
            </a:r>
          </a:p>
        </p:txBody>
      </p:sp>
      <p:sp>
        <p:nvSpPr>
          <p:cNvPr id="25" name="TextBox 24"/>
          <p:cNvSpPr txBox="1"/>
          <p:nvPr/>
        </p:nvSpPr>
        <p:spPr>
          <a:xfrm>
            <a:off x="6729984" y="1691640"/>
            <a:ext cx="2304288"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Two gate verifiers can work while staging and relief remain available. No overtime needed.</a:t>
            </a:r>
          </a:p>
        </p:txBody>
      </p:sp>
      <p:sp>
        <p:nvSpPr>
          <p:cNvPr id="26" name="TextBox 25"/>
          <p:cNvSpPr txBox="1"/>
          <p:nvPr/>
        </p:nvSpPr>
        <p:spPr>
          <a:xfrm>
            <a:off x="9290304" y="1691640"/>
            <a:ext cx="2286000"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Thursday: mobile + radio. Later: mobile primary, radio fallback; control boundary unchanged.</a:t>
            </a:r>
          </a:p>
        </p:txBody>
      </p:sp>
      <p:sp>
        <p:nvSpPr>
          <p:cNvPr id="27" name="Rectangle 26"/>
          <p:cNvSpPr/>
          <p:nvPr/>
        </p:nvSpPr>
        <p:spPr>
          <a:xfrm>
            <a:off x="475488" y="2871216"/>
            <a:ext cx="11210544" cy="118872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5488" y="2871216"/>
            <a:ext cx="73152" cy="1188720"/>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 y="2980944"/>
            <a:ext cx="1234440" cy="256032"/>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3022092"/>
            <a:ext cx="1161288" cy="137160"/>
          </a:xfrm>
          <a:prstGeom prst="rect">
            <a:avLst/>
          </a:prstGeom>
          <a:noFill/>
        </p:spPr>
        <p:txBody>
          <a:bodyPr wrap="square" lIns="18288" rIns="18288" tIns="18288" bIns="18288" anchor="t">
            <a:spAutoFit/>
          </a:bodyPr>
          <a:lstStyle/>
          <a:p>
            <a:pPr algn="ctr">
              <a:spcBef>
                <a:spcPts val="0"/>
              </a:spcBef>
              <a:spcAft>
                <a:spcPts val="0"/>
              </a:spcAft>
            </a:pPr>
            <a:r>
              <a:rPr sz="830" b="1" i="0">
                <a:solidFill>
                  <a:srgbClr val="FFFFFF"/>
                </a:solidFill>
                <a:latin typeface="Arial"/>
              </a:rPr>
              <a:t>VIABLE, NOT SELECTED</a:t>
            </a:r>
          </a:p>
        </p:txBody>
      </p:sp>
      <p:sp>
        <p:nvSpPr>
          <p:cNvPr id="31" name="TextBox 30"/>
          <p:cNvSpPr txBox="1"/>
          <p:nvPr/>
        </p:nvSpPr>
        <p:spPr>
          <a:xfrm>
            <a:off x="667512" y="3310128"/>
            <a:ext cx="1572768" cy="530352"/>
          </a:xfrm>
          <a:prstGeom prst="rect">
            <a:avLst/>
          </a:prstGeom>
          <a:noFill/>
        </p:spPr>
        <p:txBody>
          <a:bodyPr wrap="square" lIns="18288" rIns="18288" tIns="18288" bIns="18288" anchor="t">
            <a:spAutoFit/>
          </a:bodyPr>
          <a:lstStyle/>
          <a:p>
            <a:pPr algn="l">
              <a:spcBef>
                <a:spcPts val="0"/>
              </a:spcBef>
              <a:spcAft>
                <a:spcPts val="0"/>
              </a:spcAft>
            </a:pPr>
            <a:r>
              <a:rPr sz="1340" b="1" i="0">
                <a:solidFill>
                  <a:srgbClr val="17324D"/>
                </a:solidFill>
                <a:latin typeface="Arial"/>
              </a:rPr>
              <a:t>Six-vehicle base + verified surge</a:t>
            </a:r>
          </a:p>
        </p:txBody>
      </p:sp>
      <p:sp>
        <p:nvSpPr>
          <p:cNvPr id="32" name="TextBox 31"/>
          <p:cNvSpPr txBox="1"/>
          <p:nvPr/>
        </p:nvSpPr>
        <p:spPr>
          <a:xfrm>
            <a:off x="2441448" y="2990088"/>
            <a:ext cx="1810512" cy="978408"/>
          </a:xfrm>
          <a:prstGeom prst="rect">
            <a:avLst/>
          </a:prstGeom>
          <a:noFill/>
        </p:spPr>
        <p:txBody>
          <a:bodyPr wrap="square" lIns="18288" rIns="18288" tIns="18288" bIns="18288" anchor="t">
            <a:spAutoFit/>
          </a:bodyPr>
          <a:lstStyle/>
          <a:p>
            <a:pPr algn="l">
              <a:lnSpc>
                <a:spcPct val="95000"/>
              </a:lnSpc>
              <a:spcBef>
                <a:spcPts val="0"/>
              </a:spcBef>
              <a:spcAft>
                <a:spcPts val="0"/>
              </a:spcAft>
            </a:pPr>
            <a:r>
              <a:rPr sz="1080" b="1" i="0">
                <a:solidFill>
                  <a:srgbClr val="202B33"/>
                </a:solidFill>
                <a:latin typeface="Arial"/>
              </a:rPr>
              <a:t>6 base; 7th/8th staged until supervisor activates on-site reserve as second gate verifier</a:t>
            </a:r>
          </a:p>
          <a:p>
            <a:pPr algn="l">
              <a:lnSpc>
                <a:spcPct val="95000"/>
              </a:lnSpc>
              <a:spcBef>
                <a:spcPts val="0"/>
              </a:spcBef>
              <a:spcAft>
                <a:spcPts val="0"/>
              </a:spcAft>
            </a:pPr>
            <a:r>
              <a:rPr sz="1080" b="1" i="0">
                <a:solidFill>
                  <a:srgbClr val="202B33"/>
                </a:solidFill>
                <a:latin typeface="Arial"/>
              </a:rPr>
              <a:t>7 (6 sworn + 1 dispatcher)</a:t>
            </a:r>
          </a:p>
        </p:txBody>
      </p:sp>
      <p:sp>
        <p:nvSpPr>
          <p:cNvPr id="33" name="TextBox 32"/>
          <p:cNvSpPr txBox="1"/>
          <p:nvPr/>
        </p:nvSpPr>
        <p:spPr>
          <a:xfrm>
            <a:off x="4480560" y="2990088"/>
            <a:ext cx="2011680" cy="987552"/>
          </a:xfrm>
          <a:prstGeom prst="rect">
            <a:avLst/>
          </a:prstGeom>
          <a:noFill/>
        </p:spPr>
        <p:txBody>
          <a:bodyPr wrap="square" lIns="18288" rIns="18288" tIns="18288" bIns="18288" anchor="t">
            <a:spAutoFit/>
          </a:bodyPr>
          <a:lstStyle/>
          <a:p>
            <a:pPr algn="l">
              <a:lnSpc>
                <a:spcPct val="96000"/>
              </a:lnSpc>
              <a:spcBef>
                <a:spcPts val="0"/>
              </a:spcBef>
              <a:spcAft>
                <a:spcPts val="0"/>
              </a:spcAft>
            </a:pPr>
            <a:r>
              <a:rPr sz="940" b="0" i="0">
                <a:solidFill>
                  <a:srgbClr val="202B33"/>
                </a:solidFill>
                <a:latin typeface="Arial"/>
              </a:rPr>
              <a:t>1 dispatcher; mixed radio/mobile</a:t>
            </a:r>
          </a:p>
        </p:txBody>
      </p:sp>
      <p:sp>
        <p:nvSpPr>
          <p:cNvPr id="34" name="TextBox 33"/>
          <p:cNvSpPr txBox="1"/>
          <p:nvPr/>
        </p:nvSpPr>
        <p:spPr>
          <a:xfrm>
            <a:off x="6729984" y="2990088"/>
            <a:ext cx="2304288"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Feasible when arrivals stay sequenced. It preserves a surge path but delays the seventh/eighth vehicle while the reserve changes post.</a:t>
            </a:r>
          </a:p>
        </p:txBody>
      </p:sp>
      <p:sp>
        <p:nvSpPr>
          <p:cNvPr id="35" name="TextBox 34"/>
          <p:cNvSpPr txBox="1"/>
          <p:nvPr/>
        </p:nvSpPr>
        <p:spPr>
          <a:xfrm>
            <a:off x="9290304" y="2990088"/>
            <a:ext cx="2286000"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Thursday workable, but a seventh/eighth waits for post change. Later remains a surge model.</a:t>
            </a:r>
          </a:p>
        </p:txBody>
      </p:sp>
      <p:sp>
        <p:nvSpPr>
          <p:cNvPr id="36" name="Rectangle 35"/>
          <p:cNvSpPr/>
          <p:nvPr/>
        </p:nvSpPr>
        <p:spPr>
          <a:xfrm>
            <a:off x="475488" y="4169663"/>
            <a:ext cx="11210544" cy="1188720"/>
          </a:xfrm>
          <a:prstGeom prst="rect">
            <a:avLst/>
          </a:prstGeom>
          <a:solidFill>
            <a:srgbClr val="F9EAEA"/>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5488" y="4169663"/>
            <a:ext cx="73152" cy="1188720"/>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7512" y="4279392"/>
            <a:ext cx="1234440" cy="256032"/>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4320540"/>
            <a:ext cx="1161288" cy="137160"/>
          </a:xfrm>
          <a:prstGeom prst="rect">
            <a:avLst/>
          </a:prstGeom>
          <a:noFill/>
        </p:spPr>
        <p:txBody>
          <a:bodyPr wrap="square" lIns="18288" rIns="18288" tIns="18288" bIns="18288" anchor="t">
            <a:spAutoFit/>
          </a:bodyPr>
          <a:lstStyle/>
          <a:p>
            <a:pPr algn="ctr">
              <a:spcBef>
                <a:spcPts val="0"/>
              </a:spcBef>
              <a:spcAft>
                <a:spcPts val="0"/>
              </a:spcAft>
            </a:pPr>
            <a:r>
              <a:rPr sz="830" b="1" i="0">
                <a:solidFill>
                  <a:srgbClr val="FFFFFF"/>
                </a:solidFill>
                <a:latin typeface="Arial"/>
              </a:rPr>
              <a:t>DO NOT AUTHORIZE</a:t>
            </a:r>
          </a:p>
        </p:txBody>
      </p:sp>
      <p:sp>
        <p:nvSpPr>
          <p:cNvPr id="40" name="TextBox 39"/>
          <p:cNvSpPr txBox="1"/>
          <p:nvPr/>
        </p:nvSpPr>
        <p:spPr>
          <a:xfrm>
            <a:off x="667512" y="4608575"/>
            <a:ext cx="1572768" cy="530352"/>
          </a:xfrm>
          <a:prstGeom prst="rect">
            <a:avLst/>
          </a:prstGeom>
          <a:noFill/>
        </p:spPr>
        <p:txBody>
          <a:bodyPr wrap="square" lIns="18288" rIns="18288" tIns="18288" bIns="18288" anchor="t">
            <a:spAutoFit/>
          </a:bodyPr>
          <a:lstStyle/>
          <a:p>
            <a:pPr algn="l">
              <a:spcBef>
                <a:spcPts val="0"/>
              </a:spcBef>
              <a:spcAft>
                <a:spcPts val="0"/>
              </a:spcAft>
            </a:pPr>
            <a:r>
              <a:rPr sz="1340" b="1" i="0">
                <a:solidFill>
                  <a:srgbClr val="17324D"/>
                </a:solidFill>
                <a:latin typeface="Arial"/>
              </a:rPr>
              <a:t>Lean mobile-dependent</a:t>
            </a:r>
          </a:p>
        </p:txBody>
      </p:sp>
      <p:sp>
        <p:nvSpPr>
          <p:cNvPr id="41" name="TextBox 40"/>
          <p:cNvSpPr txBox="1"/>
          <p:nvPr/>
        </p:nvSpPr>
        <p:spPr>
          <a:xfrm>
            <a:off x="2441448" y="4288536"/>
            <a:ext cx="1810512" cy="978408"/>
          </a:xfrm>
          <a:prstGeom prst="rect">
            <a:avLst/>
          </a:prstGeom>
          <a:noFill/>
        </p:spPr>
        <p:txBody>
          <a:bodyPr wrap="square" lIns="18288" rIns="18288" tIns="18288" bIns="18288" anchor="t">
            <a:spAutoFit/>
          </a:bodyPr>
          <a:lstStyle/>
          <a:p>
            <a:pPr algn="l">
              <a:lnSpc>
                <a:spcPct val="95000"/>
              </a:lnSpc>
              <a:spcBef>
                <a:spcPts val="0"/>
              </a:spcBef>
              <a:spcAft>
                <a:spcPts val="0"/>
              </a:spcAft>
            </a:pPr>
            <a:r>
              <a:rPr sz="1080" b="1" i="0">
                <a:solidFill>
                  <a:srgbClr val="202B33"/>
                </a:solidFill>
                <a:latin typeface="Arial"/>
              </a:rPr>
              <a:t>8 nominal</a:t>
            </a:r>
          </a:p>
          <a:p>
            <a:pPr algn="l">
              <a:lnSpc>
                <a:spcPct val="95000"/>
              </a:lnSpc>
              <a:spcBef>
                <a:spcPts val="0"/>
              </a:spcBef>
              <a:spcAft>
                <a:spcPts val="0"/>
              </a:spcAft>
            </a:pPr>
            <a:r>
              <a:rPr sz="1080" b="1" i="0">
                <a:solidFill>
                  <a:srgbClr val="202B33"/>
                </a:solidFill>
                <a:latin typeface="Arial"/>
              </a:rPr>
              <a:t>5 (4 sworn + 1 dispatcher)</a:t>
            </a:r>
          </a:p>
        </p:txBody>
      </p:sp>
      <p:sp>
        <p:nvSpPr>
          <p:cNvPr id="42" name="TextBox 41"/>
          <p:cNvSpPr txBox="1"/>
          <p:nvPr/>
        </p:nvSpPr>
        <p:spPr>
          <a:xfrm>
            <a:off x="4480560" y="4288536"/>
            <a:ext cx="2011680" cy="987552"/>
          </a:xfrm>
          <a:prstGeom prst="rect">
            <a:avLst/>
          </a:prstGeom>
          <a:noFill/>
        </p:spPr>
        <p:txBody>
          <a:bodyPr wrap="square" lIns="18288" rIns="18288" tIns="18288" bIns="18288" anchor="t">
            <a:spAutoFit/>
          </a:bodyPr>
          <a:lstStyle/>
          <a:p>
            <a:pPr algn="l">
              <a:lnSpc>
                <a:spcPct val="96000"/>
              </a:lnSpc>
              <a:spcBef>
                <a:spcPts val="0"/>
              </a:spcBef>
              <a:spcAft>
                <a:spcPts val="0"/>
              </a:spcAft>
            </a:pPr>
            <a:r>
              <a:rPr sz="940" b="0" i="0">
                <a:solidFill>
                  <a:srgbClr val="202B33"/>
                </a:solidFill>
                <a:latin typeface="Arial"/>
              </a:rPr>
              <a:t>1 dispatcher; mobile used as principal arrival workflow; radio only after failure</a:t>
            </a:r>
          </a:p>
        </p:txBody>
      </p:sp>
      <p:sp>
        <p:nvSpPr>
          <p:cNvPr id="43" name="TextBox 42"/>
          <p:cNvSpPr txBox="1"/>
          <p:nvPr/>
        </p:nvSpPr>
        <p:spPr>
          <a:xfrm>
            <a:off x="6729984" y="4288536"/>
            <a:ext cx="2304288"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Uses fewer people but has no relief or second verifier. A mismatch or mobile issue consumes the combined post.</a:t>
            </a:r>
          </a:p>
        </p:txBody>
      </p:sp>
      <p:sp>
        <p:nvSpPr>
          <p:cNvPr id="44" name="TextBox 43"/>
          <p:cNvSpPr txBox="1"/>
          <p:nvPr/>
        </p:nvSpPr>
        <p:spPr>
          <a:xfrm>
            <a:off x="9290304" y="4288536"/>
            <a:ext cx="2286000" cy="987552"/>
          </a:xfrm>
          <a:prstGeom prst="rect">
            <a:avLst/>
          </a:prstGeom>
          <a:noFill/>
        </p:spPr>
        <p:txBody>
          <a:bodyPr wrap="square" lIns="18288" rIns="18288" tIns="18288" bIns="18288" anchor="t">
            <a:spAutoFit/>
          </a:bodyPr>
          <a:lstStyle/>
          <a:p>
            <a:pPr algn="l">
              <a:lnSpc>
                <a:spcPct val="95000"/>
              </a:lnSpc>
              <a:spcBef>
                <a:spcPts val="0"/>
              </a:spcBef>
              <a:spcAft>
                <a:spcPts val="0"/>
              </a:spcAft>
            </a:pPr>
            <a:r>
              <a:rPr sz="915" b="0" i="0">
                <a:solidFill>
                  <a:srgbClr val="202B33"/>
                </a:solidFill>
                <a:latin typeface="Arial"/>
              </a:rPr>
              <a:t>Fast on paper, but depends on mobile interpretation and a combined post during a known transition risk.</a:t>
            </a:r>
          </a:p>
        </p:txBody>
      </p:sp>
      <p:sp>
        <p:nvSpPr>
          <p:cNvPr id="45" name="Rectangle 44"/>
          <p:cNvSpPr/>
          <p:nvPr/>
        </p:nvSpPr>
        <p:spPr>
          <a:xfrm>
            <a:off x="475488" y="5532120"/>
            <a:ext cx="11210544" cy="649224"/>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8" y="5532120"/>
            <a:ext cx="11210544" cy="649224"/>
          </a:xfrm>
          <a:prstGeom prst="rect">
            <a:avLst/>
          </a:prstGeom>
          <a:noFill/>
        </p:spPr>
        <p:txBody>
          <a:bodyPr wrap="square" lIns="54864" rIns="54864" tIns="54864" bIns="54864">
            <a:spAutoFit/>
          </a:bodyPr>
          <a:lstStyle/>
          <a:p>
            <a:pPr algn="ctr">
              <a:lnSpc>
                <a:spcPct val="100000"/>
              </a:lnSpc>
              <a:spcBef>
                <a:spcPts val="0"/>
              </a:spcBef>
              <a:spcAft>
                <a:spcPts val="0"/>
              </a:spcAft>
            </a:pPr>
            <a:r>
              <a:rPr sz="1050" b="1" i="0">
                <a:solidFill>
                  <a:srgbClr val="17324D"/>
                </a:solidFill>
                <a:latin typeface="Arial"/>
              </a:rPr>
              <a:t>Why the lean mobile-dependent model is rejected: the pilot's 4/6 exception/rework count includes accepted-as-clearance rework and connectivity fallback; it also has no relief or second verifier. The six-vehicle surge model is viable, but full eight-vehicle staffing avoids holding verified added vehicles for a post conversion.</a:t>
            </a:r>
          </a:p>
        </p:txBody>
      </p:sp>
      <p:sp>
        <p:nvSpPr>
          <p:cNvPr id="47" name="Rectangle 46"/>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Packet refs: Thursday resources and coverage alternatives; operating-record comparison</a:t>
            </a:r>
          </a:p>
        </p:txBody>
      </p:sp>
      <p:sp>
        <p:nvSpPr>
          <p:cNvPr id="49" name="TextBox 48"/>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TRANSITION EVIDENCE</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Mobile improves timeliness, but the pilot does not prove a mobile-only control model</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04</a:t>
            </a:r>
          </a:p>
        </p:txBody>
      </p:sp>
      <p:sp>
        <p:nvSpPr>
          <p:cNvPr id="8" name="Rectangle 7"/>
          <p:cNvSpPr/>
          <p:nvPr/>
        </p:nvSpPr>
        <p:spPr>
          <a:xfrm>
            <a:off x="438912" y="1179576"/>
            <a:ext cx="2788920" cy="758952"/>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79576"/>
            <a:ext cx="2788920" cy="758952"/>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1F5A86"/>
                </a:solidFill>
                <a:latin typeface="Arial"/>
              </a:rPr>
              <a:t>RADIO BASELINE</a:t>
            </a:r>
          </a:p>
          <a:p>
            <a:pPr algn="l">
              <a:lnSpc>
                <a:spcPct val="100000"/>
              </a:lnSpc>
              <a:spcBef>
                <a:spcPts val="400"/>
              </a:spcBef>
              <a:spcAft>
                <a:spcPts val="0"/>
              </a:spcAft>
            </a:pPr>
            <a:r>
              <a:rPr sz="1100" b="1" i="0">
                <a:solidFill>
                  <a:srgbClr val="17324D"/>
                </a:solidFill>
                <a:latin typeface="Arial"/>
              </a:rPr>
              <a:t>01 Sep 2025 00:00 through 14 Sep 2025 23:59 | n=6 eligible arrivals</a:t>
            </a:r>
          </a:p>
        </p:txBody>
      </p:sp>
      <p:sp>
        <p:nvSpPr>
          <p:cNvPr id="10" name="Rectangle 9"/>
          <p:cNvSpPr/>
          <p:nvPr/>
        </p:nvSpPr>
        <p:spPr>
          <a:xfrm>
            <a:off x="3392424" y="1179576"/>
            <a:ext cx="2788920" cy="758952"/>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2424" y="1179576"/>
            <a:ext cx="2788920" cy="758952"/>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087E78"/>
                </a:solidFill>
                <a:latin typeface="Arial"/>
              </a:rPr>
              <a:t>MOBILE PILOT</a:t>
            </a:r>
          </a:p>
          <a:p>
            <a:pPr algn="l">
              <a:lnSpc>
                <a:spcPct val="100000"/>
              </a:lnSpc>
              <a:spcBef>
                <a:spcPts val="400"/>
              </a:spcBef>
              <a:spcAft>
                <a:spcPts val="0"/>
              </a:spcAft>
            </a:pPr>
            <a:r>
              <a:rPr sz="1100" b="1" i="0">
                <a:solidFill>
                  <a:srgbClr val="17324D"/>
                </a:solidFill>
                <a:latin typeface="Arial"/>
              </a:rPr>
              <a:t>22 Sep 2025 00:00 through 05 Oct 2025 23:59 | n=6 eligible arrivals</a:t>
            </a:r>
          </a:p>
        </p:txBody>
      </p:sp>
      <p:sp>
        <p:nvSpPr>
          <p:cNvPr id="12" name="Rectangle 11"/>
          <p:cNvSpPr/>
          <p:nvPr/>
        </p:nvSpPr>
        <p:spPr>
          <a:xfrm>
            <a:off x="6345936" y="1179576"/>
            <a:ext cx="5358384" cy="758952"/>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179576"/>
            <a:ext cx="5358384" cy="758952"/>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B54845"/>
                </a:solidFill>
                <a:latin typeface="Arial"/>
              </a:rPr>
              <a:t>INTERPRETATION</a:t>
            </a:r>
          </a:p>
          <a:p>
            <a:pPr algn="l">
              <a:lnSpc>
                <a:spcPct val="100000"/>
              </a:lnSpc>
              <a:spcBef>
                <a:spcPts val="400"/>
              </a:spcBef>
              <a:spcAft>
                <a:spcPts val="0"/>
              </a:spcAft>
            </a:pPr>
            <a:r>
              <a:rPr sz="1220" b="1" i="0">
                <a:solidFill>
                  <a:srgbClr val="17324D"/>
                </a:solidFill>
                <a:latin typeface="Arial"/>
              </a:rPr>
              <a:t>Use mobile for faster dispatch acknowledgement, while retaining separate verification, gate, release, and fallback controls.</a:t>
            </a:r>
          </a:p>
        </p:txBody>
      </p:sp>
      <p:sp>
        <p:nvSpPr>
          <p:cNvPr id="14" name="TextBox 13"/>
          <p:cNvSpPr txBox="1"/>
          <p:nvPr/>
        </p:nvSpPr>
        <p:spPr>
          <a:xfrm>
            <a:off x="484632" y="2267712"/>
            <a:ext cx="2834640" cy="347472"/>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140" b="1" i="0">
                <a:solidFill>
                  <a:srgbClr val="17324D"/>
                </a:solidFill>
                <a:latin typeface="Arial"/>
              </a:rPr>
              <a:t>Median dispatch acknowledgement</a:t>
            </a:r>
          </a:p>
        </p:txBody>
      </p:sp>
      <p:sp>
        <p:nvSpPr>
          <p:cNvPr id="15" name="TextBox 14"/>
          <p:cNvSpPr txBox="1"/>
          <p:nvPr/>
        </p:nvSpPr>
        <p:spPr>
          <a:xfrm>
            <a:off x="484632" y="2660904"/>
            <a:ext cx="2606040" cy="164592"/>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64727C"/>
                </a:solidFill>
                <a:latin typeface="Arial"/>
              </a:rPr>
              <a:t>Same metric definition in both periods</a:t>
            </a:r>
          </a:p>
        </p:txBody>
      </p:sp>
      <p:sp>
        <p:nvSpPr>
          <p:cNvPr id="16" name="TextBox 15"/>
          <p:cNvSpPr txBox="1"/>
          <p:nvPr/>
        </p:nvSpPr>
        <p:spPr>
          <a:xfrm>
            <a:off x="3429000" y="2331720"/>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Radio</a:t>
            </a:r>
          </a:p>
        </p:txBody>
      </p:sp>
      <p:sp>
        <p:nvSpPr>
          <p:cNvPr id="17" name="Rectangle 16"/>
          <p:cNvSpPr/>
          <p:nvPr/>
        </p:nvSpPr>
        <p:spPr>
          <a:xfrm>
            <a:off x="4023360" y="2331720"/>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2331720"/>
            <a:ext cx="1536192" cy="164592"/>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304288"/>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8.0min</a:t>
            </a:r>
          </a:p>
        </p:txBody>
      </p:sp>
      <p:sp>
        <p:nvSpPr>
          <p:cNvPr id="20" name="TextBox 19"/>
          <p:cNvSpPr txBox="1"/>
          <p:nvPr/>
        </p:nvSpPr>
        <p:spPr>
          <a:xfrm>
            <a:off x="3429000" y="2624328"/>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Mobile</a:t>
            </a:r>
          </a:p>
        </p:txBody>
      </p:sp>
      <p:sp>
        <p:nvSpPr>
          <p:cNvPr id="21" name="Rectangle 20"/>
          <p:cNvSpPr/>
          <p:nvPr/>
        </p:nvSpPr>
        <p:spPr>
          <a:xfrm>
            <a:off x="4023360" y="2624328"/>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23360" y="2624328"/>
            <a:ext cx="480060" cy="164592"/>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82712" y="2596896"/>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2.5min</a:t>
            </a:r>
          </a:p>
        </p:txBody>
      </p:sp>
      <p:sp>
        <p:nvSpPr>
          <p:cNvPr id="24" name="TextBox 23"/>
          <p:cNvSpPr txBox="1"/>
          <p:nvPr/>
        </p:nvSpPr>
        <p:spPr>
          <a:xfrm>
            <a:off x="8778240" y="2441448"/>
            <a:ext cx="2651760" cy="182880"/>
          </a:xfrm>
          <a:prstGeom prst="rect">
            <a:avLst/>
          </a:prstGeom>
          <a:noFill/>
        </p:spPr>
        <p:txBody>
          <a:bodyPr wrap="square" lIns="18288" rIns="18288" tIns="18288" bIns="18288" anchor="t">
            <a:spAutoFit/>
          </a:bodyPr>
          <a:lstStyle/>
          <a:p>
            <a:pPr algn="l">
              <a:spcBef>
                <a:spcPts val="0"/>
              </a:spcBef>
              <a:spcAft>
                <a:spcPts val="0"/>
              </a:spcAft>
            </a:pPr>
            <a:r>
              <a:rPr sz="900" b="0" i="1">
                <a:solidFill>
                  <a:srgbClr val="64727C"/>
                </a:solidFill>
                <a:latin typeface="Arial"/>
              </a:rPr>
              <a:t>Lower is faster</a:t>
            </a:r>
          </a:p>
        </p:txBody>
      </p:sp>
      <p:sp>
        <p:nvSpPr>
          <p:cNvPr id="25" name="TextBox 24"/>
          <p:cNvSpPr txBox="1"/>
          <p:nvPr/>
        </p:nvSpPr>
        <p:spPr>
          <a:xfrm>
            <a:off x="484632" y="3200400"/>
            <a:ext cx="2834640" cy="347472"/>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140" b="1" i="0">
                <a:solidFill>
                  <a:srgbClr val="17324D"/>
                </a:solidFill>
                <a:latin typeface="Arial"/>
              </a:rPr>
              <a:t>Median check-in to positive verification</a:t>
            </a:r>
          </a:p>
        </p:txBody>
      </p:sp>
      <p:sp>
        <p:nvSpPr>
          <p:cNvPr id="26" name="TextBox 25"/>
          <p:cNvSpPr txBox="1"/>
          <p:nvPr/>
        </p:nvSpPr>
        <p:spPr>
          <a:xfrm>
            <a:off x="484632" y="3593592"/>
            <a:ext cx="2606040" cy="164592"/>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64727C"/>
                </a:solidFill>
                <a:latin typeface="Arial"/>
              </a:rPr>
              <a:t>Same metric definition in both periods</a:t>
            </a:r>
          </a:p>
        </p:txBody>
      </p:sp>
      <p:sp>
        <p:nvSpPr>
          <p:cNvPr id="27" name="TextBox 26"/>
          <p:cNvSpPr txBox="1"/>
          <p:nvPr/>
        </p:nvSpPr>
        <p:spPr>
          <a:xfrm>
            <a:off x="3429000" y="3264408"/>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Radio</a:t>
            </a:r>
          </a:p>
        </p:txBody>
      </p:sp>
      <p:sp>
        <p:nvSpPr>
          <p:cNvPr id="28" name="Rectangle 27"/>
          <p:cNvSpPr/>
          <p:nvPr/>
        </p:nvSpPr>
        <p:spPr>
          <a:xfrm>
            <a:off x="4023360" y="3264408"/>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23360" y="3264408"/>
            <a:ext cx="3456432" cy="164592"/>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82712" y="3236976"/>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18.0min</a:t>
            </a:r>
          </a:p>
        </p:txBody>
      </p:sp>
      <p:sp>
        <p:nvSpPr>
          <p:cNvPr id="31" name="TextBox 30"/>
          <p:cNvSpPr txBox="1"/>
          <p:nvPr/>
        </p:nvSpPr>
        <p:spPr>
          <a:xfrm>
            <a:off x="3429000" y="3557016"/>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Mobile</a:t>
            </a:r>
          </a:p>
        </p:txBody>
      </p:sp>
      <p:sp>
        <p:nvSpPr>
          <p:cNvPr id="32" name="Rectangle 31"/>
          <p:cNvSpPr/>
          <p:nvPr/>
        </p:nvSpPr>
        <p:spPr>
          <a:xfrm>
            <a:off x="4023360" y="3557016"/>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23360" y="3557016"/>
            <a:ext cx="2976372" cy="164592"/>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3529584"/>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15.5min</a:t>
            </a:r>
          </a:p>
        </p:txBody>
      </p:sp>
      <p:sp>
        <p:nvSpPr>
          <p:cNvPr id="35" name="TextBox 34"/>
          <p:cNvSpPr txBox="1"/>
          <p:nvPr/>
        </p:nvSpPr>
        <p:spPr>
          <a:xfrm>
            <a:off x="8778240" y="3374136"/>
            <a:ext cx="2651760" cy="182880"/>
          </a:xfrm>
          <a:prstGeom prst="rect">
            <a:avLst/>
          </a:prstGeom>
          <a:noFill/>
        </p:spPr>
        <p:txBody>
          <a:bodyPr wrap="square" lIns="18288" rIns="18288" tIns="18288" bIns="18288" anchor="t">
            <a:spAutoFit/>
          </a:bodyPr>
          <a:lstStyle/>
          <a:p>
            <a:pPr algn="l">
              <a:spcBef>
                <a:spcPts val="0"/>
              </a:spcBef>
              <a:spcAft>
                <a:spcPts val="0"/>
              </a:spcAft>
            </a:pPr>
            <a:r>
              <a:rPr sz="900" b="0" i="1">
                <a:solidFill>
                  <a:srgbClr val="64727C"/>
                </a:solidFill>
                <a:latin typeface="Arial"/>
              </a:rPr>
              <a:t>Lower is faster</a:t>
            </a:r>
          </a:p>
        </p:txBody>
      </p:sp>
      <p:sp>
        <p:nvSpPr>
          <p:cNvPr id="36" name="TextBox 35"/>
          <p:cNvSpPr txBox="1"/>
          <p:nvPr/>
        </p:nvSpPr>
        <p:spPr>
          <a:xfrm>
            <a:off x="484632" y="4133087"/>
            <a:ext cx="2834640" cy="347472"/>
          </a:xfrm>
          <a:prstGeom prst="rect">
            <a:avLst/>
          </a:prstGeom>
          <a:noFill/>
        </p:spPr>
        <p:txBody>
          <a:bodyPr wrap="square" lIns="18288" rIns="18288" tIns="18288" bIns="18288" anchor="t">
            <a:spAutoFit/>
          </a:bodyPr>
          <a:lstStyle/>
          <a:p>
            <a:pPr algn="l">
              <a:lnSpc>
                <a:spcPct val="92000"/>
              </a:lnSpc>
              <a:spcBef>
                <a:spcPts val="0"/>
              </a:spcBef>
              <a:spcAft>
                <a:spcPts val="0"/>
              </a:spcAft>
            </a:pPr>
            <a:r>
              <a:rPr sz="1140" b="1" i="0">
                <a:solidFill>
                  <a:srgbClr val="17324D"/>
                </a:solidFill>
                <a:latin typeface="Arial"/>
              </a:rPr>
              <a:t>Exception / mismatch / rework</a:t>
            </a:r>
          </a:p>
        </p:txBody>
      </p:sp>
      <p:sp>
        <p:nvSpPr>
          <p:cNvPr id="37" name="TextBox 36"/>
          <p:cNvSpPr txBox="1"/>
          <p:nvPr/>
        </p:nvSpPr>
        <p:spPr>
          <a:xfrm>
            <a:off x="484632" y="4526279"/>
            <a:ext cx="2606040" cy="164592"/>
          </a:xfrm>
          <a:prstGeom prst="rect">
            <a:avLst/>
          </a:prstGeom>
          <a:noFill/>
        </p:spPr>
        <p:txBody>
          <a:bodyPr wrap="square" lIns="18288" rIns="18288" tIns="18288" bIns="18288" anchor="t">
            <a:spAutoFit/>
          </a:bodyPr>
          <a:lstStyle/>
          <a:p>
            <a:pPr algn="l">
              <a:spcBef>
                <a:spcPts val="0"/>
              </a:spcBef>
              <a:spcAft>
                <a:spcPts val="0"/>
              </a:spcAft>
            </a:pPr>
            <a:r>
              <a:rPr sz="819" b="0" i="0">
                <a:solidFill>
                  <a:srgbClr val="64727C"/>
                </a:solidFill>
                <a:latin typeface="Arial"/>
              </a:rPr>
              <a:t>Same metric definition in both periods</a:t>
            </a:r>
          </a:p>
        </p:txBody>
      </p:sp>
      <p:sp>
        <p:nvSpPr>
          <p:cNvPr id="38" name="TextBox 37"/>
          <p:cNvSpPr txBox="1"/>
          <p:nvPr/>
        </p:nvSpPr>
        <p:spPr>
          <a:xfrm>
            <a:off x="3429000" y="4197096"/>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Radio</a:t>
            </a:r>
          </a:p>
        </p:txBody>
      </p:sp>
      <p:sp>
        <p:nvSpPr>
          <p:cNvPr id="39" name="Rectangle 38"/>
          <p:cNvSpPr/>
          <p:nvPr/>
        </p:nvSpPr>
        <p:spPr>
          <a:xfrm>
            <a:off x="4023360" y="4197096"/>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023360" y="4197096"/>
            <a:ext cx="870508" cy="164592"/>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4169663"/>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17.0%</a:t>
            </a:r>
          </a:p>
        </p:txBody>
      </p:sp>
      <p:sp>
        <p:nvSpPr>
          <p:cNvPr id="42" name="TextBox 41"/>
          <p:cNvSpPr txBox="1"/>
          <p:nvPr/>
        </p:nvSpPr>
        <p:spPr>
          <a:xfrm>
            <a:off x="3429000" y="4489703"/>
            <a:ext cx="502920" cy="137160"/>
          </a:xfrm>
          <a:prstGeom prst="rect">
            <a:avLst/>
          </a:prstGeom>
          <a:noFill/>
        </p:spPr>
        <p:txBody>
          <a:bodyPr wrap="square" lIns="18288" rIns="18288" tIns="18288" bIns="18288" anchor="t">
            <a:spAutoFit/>
          </a:bodyPr>
          <a:lstStyle/>
          <a:p>
            <a:pPr algn="l">
              <a:spcBef>
                <a:spcPts val="0"/>
              </a:spcBef>
              <a:spcAft>
                <a:spcPts val="0"/>
              </a:spcAft>
            </a:pPr>
            <a:r>
              <a:rPr sz="840" b="1" i="0">
                <a:solidFill>
                  <a:srgbClr val="64727C"/>
                </a:solidFill>
                <a:latin typeface="Arial"/>
              </a:rPr>
              <a:t>Mobile</a:t>
            </a:r>
          </a:p>
        </p:txBody>
      </p:sp>
      <p:sp>
        <p:nvSpPr>
          <p:cNvPr id="43" name="Rectangle 42"/>
          <p:cNvSpPr/>
          <p:nvPr/>
        </p:nvSpPr>
        <p:spPr>
          <a:xfrm>
            <a:off x="4023360" y="4489703"/>
            <a:ext cx="3840480" cy="164592"/>
          </a:xfrm>
          <a:prstGeom prst="rect">
            <a:avLst/>
          </a:prstGeom>
          <a:solidFill>
            <a:srgbClr val="E6EDF2"/>
          </a:solidFill>
          <a:ln>
            <a:solidFill>
              <a:srgbClr val="E6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023360" y="4489703"/>
            <a:ext cx="3430828" cy="164592"/>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82712" y="4462272"/>
            <a:ext cx="658368" cy="182880"/>
          </a:xfrm>
          <a:prstGeom prst="rect">
            <a:avLst/>
          </a:prstGeom>
          <a:noFill/>
        </p:spPr>
        <p:txBody>
          <a:bodyPr wrap="square" lIns="18288" rIns="18288" tIns="18288" bIns="18288" anchor="t">
            <a:spAutoFit/>
          </a:bodyPr>
          <a:lstStyle/>
          <a:p>
            <a:pPr algn="r">
              <a:spcBef>
                <a:spcPts val="0"/>
              </a:spcBef>
              <a:spcAft>
                <a:spcPts val="0"/>
              </a:spcAft>
            </a:pPr>
            <a:r>
              <a:rPr sz="919" b="1" i="0">
                <a:solidFill>
                  <a:srgbClr val="17324D"/>
                </a:solidFill>
                <a:latin typeface="Arial"/>
              </a:rPr>
              <a:t>67.0%</a:t>
            </a:r>
          </a:p>
        </p:txBody>
      </p:sp>
      <p:sp>
        <p:nvSpPr>
          <p:cNvPr id="46" name="TextBox 45"/>
          <p:cNvSpPr txBox="1"/>
          <p:nvPr/>
        </p:nvSpPr>
        <p:spPr>
          <a:xfrm>
            <a:off x="8778240" y="4306824"/>
            <a:ext cx="2651760" cy="182880"/>
          </a:xfrm>
          <a:prstGeom prst="rect">
            <a:avLst/>
          </a:prstGeom>
          <a:noFill/>
        </p:spPr>
        <p:txBody>
          <a:bodyPr wrap="square" lIns="18288" rIns="18288" tIns="18288" bIns="18288" anchor="t">
            <a:spAutoFit/>
          </a:bodyPr>
          <a:lstStyle/>
          <a:p>
            <a:pPr algn="l">
              <a:spcBef>
                <a:spcPts val="0"/>
              </a:spcBef>
              <a:spcAft>
                <a:spcPts val="0"/>
              </a:spcAft>
            </a:pPr>
            <a:r>
              <a:rPr sz="900" b="0" i="1">
                <a:solidFill>
                  <a:srgbClr val="64727C"/>
                </a:solidFill>
                <a:latin typeface="Arial"/>
              </a:rPr>
              <a:t>1/6 vs 4/6 eligible events</a:t>
            </a:r>
          </a:p>
        </p:txBody>
      </p:sp>
      <p:sp>
        <p:nvSpPr>
          <p:cNvPr id="47" name="Rectangle 46"/>
          <p:cNvSpPr/>
          <p:nvPr/>
        </p:nvSpPr>
        <p:spPr>
          <a:xfrm>
            <a:off x="438912" y="5257800"/>
            <a:ext cx="11265408" cy="85953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 y="5257800"/>
            <a:ext cx="11265408" cy="859536"/>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087E78"/>
                </a:solidFill>
                <a:latin typeface="Arial"/>
              </a:rPr>
              <a:t>Cleaning treatment and limitation</a:t>
            </a:r>
          </a:p>
          <a:p>
            <a:pPr algn="l">
              <a:lnSpc>
                <a:spcPct val="100000"/>
              </a:lnSpc>
              <a:spcBef>
                <a:spcPts val="300"/>
              </a:spcBef>
              <a:spcAft>
                <a:spcPts val="0"/>
              </a:spcAft>
            </a:pPr>
            <a:r>
              <a:rPr sz="1070" b="0" i="0">
                <a:solidFill>
                  <a:srgbClr val="17324D"/>
                </a:solidFill>
                <a:latin typeface="Arial"/>
              </a:rPr>
              <a:t>Normalized vehicle, checkpoint, channel, and acknowledgement labels; removed 1 radio and 2 mobile duplicate/near-duplicate rows; excluded training/demo/cancelled/unrelated rows and the one malformed 07:1? start. Check-in = start through positive verification. Accepted alone is not an exception or clearance. Small pilot workflow and data-quality limits prevent inferring full steady-state safety.</a:t>
            </a:r>
          </a:p>
        </p:txBody>
      </p:sp>
      <p:sp>
        <p:nvSpPr>
          <p:cNvPr id="49" name="Rectangle 48"/>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Packet refs: radio baseline and mobile-pilot event exports; derived after stated cleaning treatment</a:t>
            </a:r>
          </a:p>
        </p:txBody>
      </p:sp>
      <p:sp>
        <p:nvSpPr>
          <p:cNvPr id="51" name="TextBox 50"/>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7"/>
          </a:solidFill>
          <a:ln>
            <a:solidFill>
              <a:srgbClr val="F3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CONTROL BOUNDARY</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Mandatory access-control steps stay separate from preferred efficiency practices</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05</a:t>
            </a:r>
          </a:p>
        </p:txBody>
      </p:sp>
      <p:sp>
        <p:nvSpPr>
          <p:cNvPr id="8" name="TextBox 7"/>
          <p:cNvSpPr txBox="1"/>
          <p:nvPr/>
        </p:nvSpPr>
        <p:spPr>
          <a:xfrm>
            <a:off x="438912" y="1197864"/>
            <a:ext cx="6812280" cy="210312"/>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B54845"/>
                </a:solidFill>
                <a:latin typeface="Arial"/>
              </a:rPr>
              <a:t>MANDATORY - no waiver by service assurance, escort, emergency equipment, or Accepted status</a:t>
            </a:r>
          </a:p>
        </p:txBody>
      </p:sp>
      <p:sp>
        <p:nvSpPr>
          <p:cNvPr id="9" name="TextBox 8"/>
          <p:cNvSpPr txBox="1"/>
          <p:nvPr/>
        </p:nvSpPr>
        <p:spPr>
          <a:xfrm>
            <a:off x="7452360" y="1197864"/>
            <a:ext cx="4251960" cy="210312"/>
          </a:xfrm>
          <a:prstGeom prst="rect">
            <a:avLst/>
          </a:prstGeom>
          <a:noFill/>
        </p:spPr>
        <p:txBody>
          <a:bodyPr wrap="square" lIns="18288" rIns="18288" tIns="18288" bIns="18288" anchor="t">
            <a:spAutoFit/>
          </a:bodyPr>
          <a:lstStyle/>
          <a:p>
            <a:pPr algn="l">
              <a:spcBef>
                <a:spcPts val="0"/>
              </a:spcBef>
              <a:spcAft>
                <a:spcPts val="0"/>
              </a:spcAft>
            </a:pPr>
            <a:r>
              <a:rPr sz="990" b="1" i="0">
                <a:solidFill>
                  <a:srgbClr val="087E78"/>
                </a:solidFill>
                <a:latin typeface="Arial"/>
              </a:rPr>
              <a:t>PREFERRED - use when feasible; never a substitute for a required step</a:t>
            </a:r>
          </a:p>
        </p:txBody>
      </p:sp>
      <p:sp>
        <p:nvSpPr>
          <p:cNvPr id="10" name="Rectangle 9"/>
          <p:cNvSpPr/>
          <p:nvPr/>
        </p:nvSpPr>
        <p:spPr>
          <a:xfrm>
            <a:off x="438912" y="1600200"/>
            <a:ext cx="6793992" cy="667512"/>
          </a:xfrm>
          <a:prstGeom prst="rect">
            <a:avLst/>
          </a:prstGeom>
          <a:solidFill>
            <a:srgbClr val="F9EAEA"/>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600200"/>
            <a:ext cx="1380744" cy="667512"/>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1801368"/>
            <a:ext cx="1234440" cy="164592"/>
          </a:xfrm>
          <a:prstGeom prst="rect">
            <a:avLst/>
          </a:prstGeom>
          <a:noFill/>
        </p:spPr>
        <p:txBody>
          <a:bodyPr wrap="square" lIns="18288" rIns="18288" tIns="18288" bIns="18288" anchor="t">
            <a:spAutoFit/>
          </a:bodyPr>
          <a:lstStyle/>
          <a:p>
            <a:pPr algn="ctr">
              <a:spcBef>
                <a:spcPts val="0"/>
              </a:spcBef>
              <a:spcAft>
                <a:spcPts val="0"/>
              </a:spcAft>
            </a:pPr>
            <a:r>
              <a:rPr sz="1040" b="1" i="0">
                <a:solidFill>
                  <a:srgbClr val="FFFFFF"/>
                </a:solidFill>
                <a:latin typeface="Arial"/>
              </a:rPr>
              <a:t>ACCEPTED</a:t>
            </a:r>
          </a:p>
        </p:txBody>
      </p:sp>
      <p:sp>
        <p:nvSpPr>
          <p:cNvPr id="13" name="TextBox 12"/>
          <p:cNvSpPr txBox="1"/>
          <p:nvPr/>
        </p:nvSpPr>
        <p:spPr>
          <a:xfrm>
            <a:off x="1984248" y="1746504"/>
            <a:ext cx="4983480" cy="320040"/>
          </a:xfrm>
          <a:prstGeom prst="rect">
            <a:avLst/>
          </a:prstGeom>
          <a:noFill/>
        </p:spPr>
        <p:txBody>
          <a:bodyPr wrap="square" lIns="18288" rIns="18288" tIns="18288" bIns="18288" anchor="t">
            <a:spAutoFit/>
          </a:bodyPr>
          <a:lstStyle/>
          <a:p>
            <a:pPr algn="l">
              <a:spcBef>
                <a:spcPts val="0"/>
              </a:spcBef>
              <a:spcAft>
                <a:spcPts val="0"/>
              </a:spcAft>
            </a:pPr>
            <a:r>
              <a:rPr sz="1030" b="1" i="0">
                <a:solidFill>
                  <a:srgbClr val="17324D"/>
                </a:solidFill>
                <a:latin typeface="Arial"/>
              </a:rPr>
              <a:t>Dispatch received or assigned the report. NOT gate clearance, verification, entry approval, or movement release.</a:t>
            </a:r>
          </a:p>
        </p:txBody>
      </p:sp>
      <p:sp>
        <p:nvSpPr>
          <p:cNvPr id="14" name="Rectangle 13"/>
          <p:cNvSpPr/>
          <p:nvPr/>
        </p:nvSpPr>
        <p:spPr>
          <a:xfrm>
            <a:off x="438912" y="2359152"/>
            <a:ext cx="6793992" cy="667512"/>
          </a:xfrm>
          <a:prstGeom prst="rect">
            <a:avLst/>
          </a:prstGeom>
          <a:solidFill>
            <a:srgbClr val="E7F3F0"/>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 y="2359152"/>
            <a:ext cx="1380744" cy="667512"/>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560320"/>
            <a:ext cx="1234440" cy="164592"/>
          </a:xfrm>
          <a:prstGeom prst="rect">
            <a:avLst/>
          </a:prstGeom>
          <a:noFill/>
        </p:spPr>
        <p:txBody>
          <a:bodyPr wrap="square" lIns="18288" rIns="18288" tIns="18288" bIns="18288" anchor="t">
            <a:spAutoFit/>
          </a:bodyPr>
          <a:lstStyle/>
          <a:p>
            <a:pPr algn="ctr">
              <a:spcBef>
                <a:spcPts val="0"/>
              </a:spcBef>
              <a:spcAft>
                <a:spcPts val="0"/>
              </a:spcAft>
            </a:pPr>
            <a:r>
              <a:rPr sz="1040" b="1" i="0">
                <a:solidFill>
                  <a:srgbClr val="FFFFFF"/>
                </a:solidFill>
                <a:latin typeface="Arial"/>
              </a:rPr>
              <a:t>VERIFIED</a:t>
            </a:r>
          </a:p>
        </p:txBody>
      </p:sp>
      <p:sp>
        <p:nvSpPr>
          <p:cNvPr id="17" name="TextBox 16"/>
          <p:cNvSpPr txBox="1"/>
          <p:nvPr/>
        </p:nvSpPr>
        <p:spPr>
          <a:xfrm>
            <a:off x="1984248" y="2505456"/>
            <a:ext cx="4983480" cy="320040"/>
          </a:xfrm>
          <a:prstGeom prst="rect">
            <a:avLst/>
          </a:prstGeom>
          <a:noFill/>
        </p:spPr>
        <p:txBody>
          <a:bodyPr wrap="square" lIns="18288" rIns="18288" tIns="18288" bIns="18288" anchor="t">
            <a:spAutoFit/>
          </a:bodyPr>
          <a:lstStyle/>
          <a:p>
            <a:pPr algn="l">
              <a:spcBef>
                <a:spcPts val="0"/>
              </a:spcBef>
              <a:spcAft>
                <a:spcPts val="0"/>
              </a:spcAft>
            </a:pPr>
            <a:r>
              <a:rPr sz="1030" b="0" i="0">
                <a:solidFill>
                  <a:srgbClr val="17324D"/>
                </a:solidFill>
                <a:latin typeface="Arial"/>
              </a:rPr>
              <a:t>Gate verifier positively links vehicle + driver to the authorized current delivery record.</a:t>
            </a:r>
          </a:p>
        </p:txBody>
      </p:sp>
      <p:sp>
        <p:nvSpPr>
          <p:cNvPr id="18" name="Rectangle 17"/>
          <p:cNvSpPr/>
          <p:nvPr/>
        </p:nvSpPr>
        <p:spPr>
          <a:xfrm>
            <a:off x="438912" y="3118104"/>
            <a:ext cx="6793992" cy="667512"/>
          </a:xfrm>
          <a:prstGeom prst="rect">
            <a:avLst/>
          </a:prstGeom>
          <a:solidFill>
            <a:srgbClr val="E8F1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 y="3118104"/>
            <a:ext cx="1380744" cy="667512"/>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 y="3319272"/>
            <a:ext cx="1234440" cy="164592"/>
          </a:xfrm>
          <a:prstGeom prst="rect">
            <a:avLst/>
          </a:prstGeom>
          <a:noFill/>
        </p:spPr>
        <p:txBody>
          <a:bodyPr wrap="square" lIns="18288" rIns="18288" tIns="18288" bIns="18288" anchor="t">
            <a:spAutoFit/>
          </a:bodyPr>
          <a:lstStyle/>
          <a:p>
            <a:pPr algn="ctr">
              <a:spcBef>
                <a:spcPts val="0"/>
              </a:spcBef>
              <a:spcAft>
                <a:spcPts val="0"/>
              </a:spcAft>
            </a:pPr>
            <a:r>
              <a:rPr sz="1040" b="1" i="0">
                <a:solidFill>
                  <a:srgbClr val="FFFFFF"/>
                </a:solidFill>
                <a:latin typeface="Arial"/>
              </a:rPr>
              <a:t>GATE CLEARED</a:t>
            </a:r>
          </a:p>
        </p:txBody>
      </p:sp>
      <p:sp>
        <p:nvSpPr>
          <p:cNvPr id="21" name="TextBox 20"/>
          <p:cNvSpPr txBox="1"/>
          <p:nvPr/>
        </p:nvSpPr>
        <p:spPr>
          <a:xfrm>
            <a:off x="1984248" y="3264408"/>
            <a:ext cx="4983480" cy="320040"/>
          </a:xfrm>
          <a:prstGeom prst="rect">
            <a:avLst/>
          </a:prstGeom>
          <a:noFill/>
        </p:spPr>
        <p:txBody>
          <a:bodyPr wrap="square" lIns="18288" rIns="18288" tIns="18288" bIns="18288" anchor="t">
            <a:spAutoFit/>
          </a:bodyPr>
          <a:lstStyle/>
          <a:p>
            <a:pPr algn="l">
              <a:spcBef>
                <a:spcPts val="0"/>
              </a:spcBef>
              <a:spcAft>
                <a:spcPts val="0"/>
              </a:spcAft>
            </a:pPr>
            <a:r>
              <a:rPr sz="1030" b="0" i="0">
                <a:solidFill>
                  <a:srgbClr val="17324D"/>
                </a:solidFill>
                <a:latin typeface="Arial"/>
              </a:rPr>
              <a:t>Gate officer permits controlled entry only after VERIFIED and the dispatch record is updated.</a:t>
            </a:r>
          </a:p>
        </p:txBody>
      </p:sp>
      <p:sp>
        <p:nvSpPr>
          <p:cNvPr id="22" name="Rectangle 21"/>
          <p:cNvSpPr/>
          <p:nvPr/>
        </p:nvSpPr>
        <p:spPr>
          <a:xfrm>
            <a:off x="438912" y="3877056"/>
            <a:ext cx="6793992" cy="667512"/>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 y="3877056"/>
            <a:ext cx="1380744" cy="667512"/>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4078224"/>
            <a:ext cx="1234440" cy="164592"/>
          </a:xfrm>
          <a:prstGeom prst="rect">
            <a:avLst/>
          </a:prstGeom>
          <a:noFill/>
        </p:spPr>
        <p:txBody>
          <a:bodyPr wrap="square" lIns="18288" rIns="18288" tIns="18288" bIns="18288" anchor="t">
            <a:spAutoFit/>
          </a:bodyPr>
          <a:lstStyle/>
          <a:p>
            <a:pPr algn="ctr">
              <a:spcBef>
                <a:spcPts val="0"/>
              </a:spcBef>
              <a:spcAft>
                <a:spcPts val="0"/>
              </a:spcAft>
            </a:pPr>
            <a:r>
              <a:rPr sz="1040" b="1" i="0">
                <a:solidFill>
                  <a:srgbClr val="FFFFFF"/>
                </a:solidFill>
                <a:latin typeface="Arial"/>
              </a:rPr>
              <a:t>RELEASED</a:t>
            </a:r>
          </a:p>
        </p:txBody>
      </p:sp>
      <p:sp>
        <p:nvSpPr>
          <p:cNvPr id="25" name="TextBox 24"/>
          <p:cNvSpPr txBox="1"/>
          <p:nvPr/>
        </p:nvSpPr>
        <p:spPr>
          <a:xfrm>
            <a:off x="1984248" y="4023360"/>
            <a:ext cx="4983480" cy="320040"/>
          </a:xfrm>
          <a:prstGeom prst="rect">
            <a:avLst/>
          </a:prstGeom>
          <a:noFill/>
        </p:spPr>
        <p:txBody>
          <a:bodyPr wrap="square" lIns="18288" rIns="18288" tIns="18288" bIns="18288" anchor="t">
            <a:spAutoFit/>
          </a:bodyPr>
          <a:lstStyle/>
          <a:p>
            <a:pPr algn="l">
              <a:spcBef>
                <a:spcPts val="0"/>
              </a:spcBef>
              <a:spcAft>
                <a:spcPts val="0"/>
              </a:spcAft>
            </a:pPr>
            <a:r>
              <a:rPr sz="1030" b="0" i="0">
                <a:solidFill>
                  <a:srgbClr val="17324D"/>
                </a:solidFill>
                <a:latin typeface="Arial"/>
              </a:rPr>
              <a:t>Watch Commander authorizes escort / movement only after all required checks are complete.</a:t>
            </a:r>
          </a:p>
        </p:txBody>
      </p:sp>
      <p:sp>
        <p:nvSpPr>
          <p:cNvPr id="26" name="Rectangle 25"/>
          <p:cNvSpPr/>
          <p:nvPr/>
        </p:nvSpPr>
        <p:spPr>
          <a:xfrm>
            <a:off x="438912" y="4636008"/>
            <a:ext cx="6793992" cy="667512"/>
          </a:xfrm>
          <a:prstGeom prst="rect">
            <a:avLst/>
          </a:prstGeom>
          <a:solidFill>
            <a:srgbClr val="FBF2E3"/>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 y="4636008"/>
            <a:ext cx="1380744" cy="667512"/>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 y="4837176"/>
            <a:ext cx="1234440" cy="164592"/>
          </a:xfrm>
          <a:prstGeom prst="rect">
            <a:avLst/>
          </a:prstGeom>
          <a:noFill/>
        </p:spPr>
        <p:txBody>
          <a:bodyPr wrap="square" lIns="18288" rIns="18288" tIns="18288" bIns="18288" anchor="t">
            <a:spAutoFit/>
          </a:bodyPr>
          <a:lstStyle/>
          <a:p>
            <a:pPr algn="ctr">
              <a:spcBef>
                <a:spcPts val="0"/>
              </a:spcBef>
              <a:spcAft>
                <a:spcPts val="0"/>
              </a:spcAft>
            </a:pPr>
            <a:r>
              <a:rPr sz="1040" b="1" i="0">
                <a:solidFill>
                  <a:srgbClr val="FFFFFF"/>
                </a:solidFill>
                <a:latin typeface="Arial"/>
              </a:rPr>
              <a:t>HOLD</a:t>
            </a:r>
          </a:p>
        </p:txBody>
      </p:sp>
      <p:sp>
        <p:nvSpPr>
          <p:cNvPr id="29" name="TextBox 28"/>
          <p:cNvSpPr txBox="1"/>
          <p:nvPr/>
        </p:nvSpPr>
        <p:spPr>
          <a:xfrm>
            <a:off x="1984248" y="4782312"/>
            <a:ext cx="4983480" cy="320040"/>
          </a:xfrm>
          <a:prstGeom prst="rect">
            <a:avLst/>
          </a:prstGeom>
          <a:noFill/>
        </p:spPr>
        <p:txBody>
          <a:bodyPr wrap="square" lIns="18288" rIns="18288" tIns="18288" bIns="18288" anchor="t">
            <a:spAutoFit/>
          </a:bodyPr>
          <a:lstStyle/>
          <a:p>
            <a:pPr algn="l">
              <a:spcBef>
                <a:spcPts val="0"/>
              </a:spcBef>
              <a:spcAft>
                <a:spcPts val="0"/>
              </a:spcAft>
            </a:pPr>
            <a:r>
              <a:rPr sz="1030" b="0" i="0">
                <a:solidFill>
                  <a:srgbClr val="17324D"/>
                </a:solidFill>
                <a:latin typeface="Arial"/>
              </a:rPr>
              <a:t>Keep vehicle in controlled staging; dispatcher logs it; commander resolves mismatch before any entry or release.</a:t>
            </a:r>
          </a:p>
        </p:txBody>
      </p:sp>
      <p:sp>
        <p:nvSpPr>
          <p:cNvPr id="30" name="Rectangle 29"/>
          <p:cNvSpPr/>
          <p:nvPr/>
        </p:nvSpPr>
        <p:spPr>
          <a:xfrm>
            <a:off x="7452360" y="1600200"/>
            <a:ext cx="4251960" cy="1938528"/>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2360" y="1600200"/>
            <a:ext cx="4251960" cy="1938528"/>
          </a:xfrm>
          <a:prstGeom prst="rect">
            <a:avLst/>
          </a:prstGeom>
          <a:noFill/>
        </p:spPr>
        <p:txBody>
          <a:bodyPr wrap="square" lIns="54864" rIns="54864" tIns="54864" bIns="54864">
            <a:spAutoFit/>
          </a:bodyPr>
          <a:lstStyle/>
          <a:p>
            <a:pPr algn="l">
              <a:lnSpc>
                <a:spcPct val="100000"/>
              </a:lnSpc>
              <a:spcBef>
                <a:spcPts val="0"/>
              </a:spcBef>
              <a:spcAft>
                <a:spcPts val="0"/>
              </a:spcAft>
            </a:pPr>
            <a:r>
              <a:rPr sz="1019" b="1" i="0">
                <a:solidFill>
                  <a:srgbClr val="B54845"/>
                </a:solidFill>
                <a:latin typeface="Arial"/>
              </a:rPr>
              <a:t>Every time</a:t>
            </a:r>
          </a:p>
          <a:p>
            <a:pPr algn="l">
              <a:lnSpc>
                <a:spcPct val="98000"/>
              </a:lnSpc>
              <a:spcBef>
                <a:spcPts val="600"/>
              </a:spcBef>
              <a:spcAft>
                <a:spcPts val="0"/>
              </a:spcAft>
            </a:pPr>
            <a:r>
              <a:rPr sz="1110" b="0" i="0">
                <a:solidFill>
                  <a:srgbClr val="17324D"/>
                </a:solidFill>
                <a:latin typeface="Arial"/>
              </a:rPr>
              <a:t>- Positive vehicle/driver linkage before controlled entry
- Controlled staging for unresolved records
- Supervisor decision for a mismatch or substitution
- One accountable dispatch record
- Radio fallback and record reconciliation</a:t>
            </a:r>
          </a:p>
        </p:txBody>
      </p:sp>
      <p:sp>
        <p:nvSpPr>
          <p:cNvPr id="32" name="Rectangle 31"/>
          <p:cNvSpPr/>
          <p:nvPr/>
        </p:nvSpPr>
        <p:spPr>
          <a:xfrm>
            <a:off x="7452360" y="3703320"/>
            <a:ext cx="4251960" cy="1325880"/>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3703320"/>
            <a:ext cx="4251960" cy="1325880"/>
          </a:xfrm>
          <a:prstGeom prst="rect">
            <a:avLst/>
          </a:prstGeom>
          <a:noFill/>
        </p:spPr>
        <p:txBody>
          <a:bodyPr wrap="square" lIns="54864" rIns="54864" tIns="54864" bIns="54864">
            <a:spAutoFit/>
          </a:bodyPr>
          <a:lstStyle/>
          <a:p>
            <a:pPr algn="l">
              <a:lnSpc>
                <a:spcPct val="100000"/>
              </a:lnSpc>
              <a:spcBef>
                <a:spcPts val="0"/>
              </a:spcBef>
              <a:spcAft>
                <a:spcPts val="0"/>
              </a:spcAft>
            </a:pPr>
            <a:r>
              <a:rPr sz="1019" b="1" i="0">
                <a:solidFill>
                  <a:srgbClr val="087E78"/>
                </a:solidFill>
                <a:latin typeface="Arial"/>
              </a:rPr>
              <a:t>Use when feasible</a:t>
            </a:r>
          </a:p>
          <a:p>
            <a:pPr algn="l">
              <a:lnSpc>
                <a:spcPct val="98000"/>
              </a:lnSpc>
              <a:spcBef>
                <a:spcPts val="600"/>
              </a:spcBef>
              <a:spcAft>
                <a:spcPts val="0"/>
              </a:spcAft>
            </a:pPr>
            <a:r>
              <a:rPr sz="1110" b="0" i="0">
                <a:solidFill>
                  <a:srgbClr val="17324D"/>
                </a:solidFill>
                <a:latin typeface="Arial"/>
              </a:rPr>
              <a:t>- Advance roster reconciliation
- Spaced arrivals and queue updates
- Mobile-first convenience once trained
- Service-oriented staging management</a:t>
            </a:r>
          </a:p>
        </p:txBody>
      </p:sp>
      <p:sp>
        <p:nvSpPr>
          <p:cNvPr id="34" name="Rectangle 33"/>
          <p:cNvSpPr/>
          <p:nvPr/>
        </p:nvSpPr>
        <p:spPr>
          <a:xfrm>
            <a:off x="7452360" y="5202936"/>
            <a:ext cx="4251960" cy="667512"/>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52360" y="5202936"/>
            <a:ext cx="4251960" cy="667512"/>
          </a:xfrm>
          <a:prstGeom prst="rect">
            <a:avLst/>
          </a:prstGeom>
          <a:noFill/>
        </p:spPr>
        <p:txBody>
          <a:bodyPr wrap="square" lIns="54864" rIns="54864" tIns="54864" bIns="54864">
            <a:spAutoFit/>
          </a:bodyPr>
          <a:lstStyle/>
          <a:p>
            <a:pPr algn="l">
              <a:lnSpc>
                <a:spcPct val="100000"/>
              </a:lnSpc>
              <a:spcBef>
                <a:spcPts val="0"/>
              </a:spcBef>
              <a:spcAft>
                <a:spcPts val="0"/>
              </a:spcAft>
            </a:pPr>
            <a:r>
              <a:rPr sz="969" b="1" i="0">
                <a:solidFill>
                  <a:srgbClr val="17324D"/>
                </a:solidFill>
                <a:latin typeface="Arial"/>
              </a:rPr>
              <a:t>Closed-loop rule</a:t>
            </a:r>
          </a:p>
          <a:p>
            <a:pPr algn="l">
              <a:lnSpc>
                <a:spcPct val="100000"/>
              </a:lnSpc>
              <a:spcBef>
                <a:spcPts val="400"/>
              </a:spcBef>
              <a:spcAft>
                <a:spcPts val="0"/>
              </a:spcAft>
            </a:pPr>
            <a:r>
              <a:rPr sz="1010" b="0" i="0">
                <a:solidFill>
                  <a:srgbClr val="202B33"/>
                </a:solidFill>
                <a:latin typeface="Arial"/>
              </a:rPr>
              <a:t>Sender reports status; dispatcher repeats and records it; the role owning the next status confirms its own action.</a:t>
            </a:r>
          </a:p>
        </p:txBody>
      </p:sp>
      <p:sp>
        <p:nvSpPr>
          <p:cNvPr id="36" name="Rectangle 35"/>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Authority: MFAR 8.4, 8.6, 8.7; CLPD GO-4.12; CD-2.7; Gate Post Order G-3 | frozen 15 Oct 2025</a:t>
            </a:r>
          </a:p>
        </p:txBody>
      </p:sp>
      <p:sp>
        <p:nvSpPr>
          <p:cNvPr id="38" name="TextBox 37"/>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AUTHORIZED STAFFING</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Plan A uses the confirmed full-capacity hybrid: eight positions from briefing through closeout</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06</a:t>
            </a:r>
          </a:p>
        </p:txBody>
      </p:sp>
      <p:sp>
        <p:nvSpPr>
          <p:cNvPr id="8" name="Rectangle 7"/>
          <p:cNvSpPr/>
          <p:nvPr/>
        </p:nvSpPr>
        <p:spPr>
          <a:xfrm>
            <a:off x="438912" y="1188720"/>
            <a:ext cx="11265408" cy="658368"/>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88720"/>
            <a:ext cx="11265408" cy="658368"/>
          </a:xfrm>
          <a:prstGeom prst="rect">
            <a:avLst/>
          </a:prstGeom>
          <a:noFill/>
        </p:spPr>
        <p:txBody>
          <a:bodyPr wrap="square" lIns="54864" rIns="54864" tIns="54864" bIns="54864">
            <a:spAutoFit/>
          </a:bodyPr>
          <a:lstStyle/>
          <a:p>
            <a:pPr algn="ctr">
              <a:lnSpc>
                <a:spcPct val="100000"/>
              </a:lnSpc>
              <a:spcBef>
                <a:spcPts val="0"/>
              </a:spcBef>
              <a:spcAft>
                <a:spcPts val="0"/>
              </a:spcAft>
            </a:pPr>
            <a:r>
              <a:rPr sz="1400" b="1" i="0">
                <a:solidFill>
                  <a:srgbClr val="FFFFFF"/>
                </a:solidFill>
                <a:latin typeface="Arial"/>
              </a:rPr>
              <a:t>8 (7 sworn + 1 dispatcher) | 8 planned | 05:45-12:15 | two marked police utility units | no overtime required</a:t>
            </a:r>
          </a:p>
        </p:txBody>
      </p:sp>
      <p:sp>
        <p:nvSpPr>
          <p:cNvPr id="10" name="Rectangle 9"/>
          <p:cNvSpPr/>
          <p:nvPr/>
        </p:nvSpPr>
        <p:spPr>
          <a:xfrm>
            <a:off x="530352" y="2084831"/>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 y="2084831"/>
            <a:ext cx="530352" cy="49377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212848"/>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1</a:t>
            </a:r>
          </a:p>
        </p:txBody>
      </p:sp>
      <p:sp>
        <p:nvSpPr>
          <p:cNvPr id="13" name="TextBox 12"/>
          <p:cNvSpPr txBox="1"/>
          <p:nvPr/>
        </p:nvSpPr>
        <p:spPr>
          <a:xfrm>
            <a:off x="1243584" y="2221991"/>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Watch Commander</a:t>
            </a:r>
          </a:p>
        </p:txBody>
      </p:sp>
      <p:sp>
        <p:nvSpPr>
          <p:cNvPr id="14" name="TextBox 13"/>
          <p:cNvSpPr txBox="1"/>
          <p:nvPr/>
        </p:nvSpPr>
        <p:spPr>
          <a:xfrm>
            <a:off x="3584448" y="2221991"/>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Exception decisions; movement release; keeps command authority</a:t>
            </a:r>
          </a:p>
        </p:txBody>
      </p:sp>
      <p:sp>
        <p:nvSpPr>
          <p:cNvPr id="15" name="Rectangle 14"/>
          <p:cNvSpPr/>
          <p:nvPr/>
        </p:nvSpPr>
        <p:spPr>
          <a:xfrm>
            <a:off x="530352" y="2642615"/>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2642615"/>
            <a:ext cx="530352" cy="493776"/>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2770632"/>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2</a:t>
            </a:r>
          </a:p>
        </p:txBody>
      </p:sp>
      <p:sp>
        <p:nvSpPr>
          <p:cNvPr id="18" name="TextBox 17"/>
          <p:cNvSpPr txBox="1"/>
          <p:nvPr/>
        </p:nvSpPr>
        <p:spPr>
          <a:xfrm>
            <a:off x="1243584" y="2779775"/>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Gate verification</a:t>
            </a:r>
          </a:p>
        </p:txBody>
      </p:sp>
      <p:sp>
        <p:nvSpPr>
          <p:cNvPr id="19" name="TextBox 18"/>
          <p:cNvSpPr txBox="1"/>
          <p:nvPr/>
        </p:nvSpPr>
        <p:spPr>
          <a:xfrm>
            <a:off x="3584448" y="2779775"/>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Positive vehicle/driver/current-record link; issue VERIFIED and GATE CLEARED</a:t>
            </a:r>
          </a:p>
        </p:txBody>
      </p:sp>
      <p:sp>
        <p:nvSpPr>
          <p:cNvPr id="20" name="Rectangle 19"/>
          <p:cNvSpPr/>
          <p:nvPr/>
        </p:nvSpPr>
        <p:spPr>
          <a:xfrm>
            <a:off x="530352" y="3200399"/>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0352" y="3200399"/>
            <a:ext cx="530352" cy="493776"/>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3328415"/>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1</a:t>
            </a:r>
          </a:p>
        </p:txBody>
      </p:sp>
      <p:sp>
        <p:nvSpPr>
          <p:cNvPr id="23" name="TextBox 22"/>
          <p:cNvSpPr txBox="1"/>
          <p:nvPr/>
        </p:nvSpPr>
        <p:spPr>
          <a:xfrm>
            <a:off x="1243584" y="3337559"/>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Staging / traffic</a:t>
            </a:r>
          </a:p>
        </p:txBody>
      </p:sp>
      <p:sp>
        <p:nvSpPr>
          <p:cNvPr id="24" name="TextBox 23"/>
          <p:cNvSpPr txBox="1"/>
          <p:nvPr/>
        </p:nvSpPr>
        <p:spPr>
          <a:xfrm>
            <a:off x="3584448" y="3337559"/>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Protect controlled queue and keep discrepancy work off the roadway</a:t>
            </a:r>
          </a:p>
        </p:txBody>
      </p:sp>
      <p:sp>
        <p:nvSpPr>
          <p:cNvPr id="25" name="Rectangle 24"/>
          <p:cNvSpPr/>
          <p:nvPr/>
        </p:nvSpPr>
        <p:spPr>
          <a:xfrm>
            <a:off x="530352" y="3758183"/>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0352" y="3758183"/>
            <a:ext cx="530352" cy="493776"/>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3886199"/>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2</a:t>
            </a:r>
          </a:p>
        </p:txBody>
      </p:sp>
      <p:sp>
        <p:nvSpPr>
          <p:cNvPr id="28" name="TextBox 27"/>
          <p:cNvSpPr txBox="1"/>
          <p:nvPr/>
        </p:nvSpPr>
        <p:spPr>
          <a:xfrm>
            <a:off x="1243584" y="3895344"/>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Escort / response</a:t>
            </a:r>
          </a:p>
        </p:txBody>
      </p:sp>
      <p:sp>
        <p:nvSpPr>
          <p:cNvPr id="29" name="TextBox 28"/>
          <p:cNvSpPr txBox="1"/>
          <p:nvPr/>
        </p:nvSpPr>
        <p:spPr>
          <a:xfrm>
            <a:off x="3584448" y="3895344"/>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Operate the two marked police utility units; escort and initial response</a:t>
            </a:r>
          </a:p>
        </p:txBody>
      </p:sp>
      <p:sp>
        <p:nvSpPr>
          <p:cNvPr id="30" name="Rectangle 29"/>
          <p:cNvSpPr/>
          <p:nvPr/>
        </p:nvSpPr>
        <p:spPr>
          <a:xfrm>
            <a:off x="530352" y="4315968"/>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0352" y="4315968"/>
            <a:ext cx="530352" cy="493776"/>
          </a:xfrm>
          <a:prstGeom prst="rect">
            <a:avLst/>
          </a:prstGeom>
          <a:solidFill>
            <a:srgbClr val="23834D"/>
          </a:solidFill>
          <a:ln>
            <a:solidFill>
              <a:srgbClr val="238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 y="4443983"/>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1</a:t>
            </a:r>
          </a:p>
        </p:txBody>
      </p:sp>
      <p:sp>
        <p:nvSpPr>
          <p:cNvPr id="33" name="TextBox 32"/>
          <p:cNvSpPr txBox="1"/>
          <p:nvPr/>
        </p:nvSpPr>
        <p:spPr>
          <a:xfrm>
            <a:off x="1243584" y="4453128"/>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Relief / reserve</a:t>
            </a:r>
          </a:p>
        </p:txBody>
      </p:sp>
      <p:sp>
        <p:nvSpPr>
          <p:cNvPr id="34" name="TextBox 33"/>
          <p:cNvSpPr txBox="1"/>
          <p:nvPr/>
        </p:nvSpPr>
        <p:spPr>
          <a:xfrm>
            <a:off x="3584448" y="4453128"/>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Relieve gate/staging; backfill a key post during an exception</a:t>
            </a:r>
          </a:p>
        </p:txBody>
      </p:sp>
      <p:sp>
        <p:nvSpPr>
          <p:cNvPr id="35" name="Rectangle 34"/>
          <p:cNvSpPr/>
          <p:nvPr/>
        </p:nvSpPr>
        <p:spPr>
          <a:xfrm>
            <a:off x="530352" y="4873752"/>
            <a:ext cx="11082528" cy="493776"/>
          </a:xfrm>
          <a:prstGeom prst="rect">
            <a:avLst/>
          </a:prstGeom>
          <a:solidFill>
            <a:srgbClr val="F3F6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0352" y="4873752"/>
            <a:ext cx="530352" cy="493776"/>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 y="5001768"/>
            <a:ext cx="365760" cy="164592"/>
          </a:xfrm>
          <a:prstGeom prst="rect">
            <a:avLst/>
          </a:prstGeom>
          <a:noFill/>
        </p:spPr>
        <p:txBody>
          <a:bodyPr wrap="square" lIns="18288" rIns="18288" tIns="18288" bIns="18288" anchor="t">
            <a:spAutoFit/>
          </a:bodyPr>
          <a:lstStyle/>
          <a:p>
            <a:pPr algn="ctr">
              <a:spcBef>
                <a:spcPts val="0"/>
              </a:spcBef>
              <a:spcAft>
                <a:spcPts val="0"/>
              </a:spcAft>
            </a:pPr>
            <a:r>
              <a:rPr sz="1400" b="1" i="0">
                <a:solidFill>
                  <a:srgbClr val="FFFFFF"/>
                </a:solidFill>
                <a:latin typeface="Arial"/>
              </a:rPr>
              <a:t>1</a:t>
            </a:r>
          </a:p>
        </p:txBody>
      </p:sp>
      <p:sp>
        <p:nvSpPr>
          <p:cNvPr id="38" name="TextBox 37"/>
          <p:cNvSpPr txBox="1"/>
          <p:nvPr/>
        </p:nvSpPr>
        <p:spPr>
          <a:xfrm>
            <a:off x="1243584" y="5010912"/>
            <a:ext cx="2194560" cy="164592"/>
          </a:xfrm>
          <a:prstGeom prst="rect">
            <a:avLst/>
          </a:prstGeom>
          <a:noFill/>
        </p:spPr>
        <p:txBody>
          <a:bodyPr wrap="square" lIns="18288" rIns="18288" tIns="18288" bIns="18288" anchor="t">
            <a:spAutoFit/>
          </a:bodyPr>
          <a:lstStyle/>
          <a:p>
            <a:pPr algn="l">
              <a:spcBef>
                <a:spcPts val="0"/>
              </a:spcBef>
              <a:spcAft>
                <a:spcPts val="0"/>
              </a:spcAft>
            </a:pPr>
            <a:r>
              <a:rPr sz="1140" b="1" i="0">
                <a:solidFill>
                  <a:srgbClr val="17324D"/>
                </a:solidFill>
                <a:latin typeface="Arial"/>
              </a:rPr>
              <a:t>Dispatch coordinator</a:t>
            </a:r>
          </a:p>
        </p:txBody>
      </p:sp>
      <p:sp>
        <p:nvSpPr>
          <p:cNvPr id="39" name="TextBox 38"/>
          <p:cNvSpPr txBox="1"/>
          <p:nvPr/>
        </p:nvSpPr>
        <p:spPr>
          <a:xfrm>
            <a:off x="3584448" y="5010912"/>
            <a:ext cx="7735824" cy="173736"/>
          </a:xfrm>
          <a:prstGeom prst="rect">
            <a:avLst/>
          </a:prstGeom>
          <a:noFill/>
        </p:spPr>
        <p:txBody>
          <a:bodyPr wrap="square" lIns="18288" rIns="18288" tIns="18288" bIns="18288" anchor="t">
            <a:spAutoFit/>
          </a:bodyPr>
          <a:lstStyle/>
          <a:p>
            <a:pPr algn="l">
              <a:spcBef>
                <a:spcPts val="0"/>
              </a:spcBef>
              <a:spcAft>
                <a:spcPts val="0"/>
              </a:spcAft>
            </a:pPr>
            <a:r>
              <a:rPr sz="1070" b="0" i="0">
                <a:solidFill>
                  <a:srgbClr val="202B33"/>
                </a:solidFill>
                <a:latin typeface="Arial"/>
              </a:rPr>
              <a:t>Accountable event log; mobile/radio acknowledgement; fallback record</a:t>
            </a:r>
          </a:p>
        </p:txBody>
      </p:sp>
      <p:sp>
        <p:nvSpPr>
          <p:cNvPr id="40" name="Rectangle 39"/>
          <p:cNvSpPr/>
          <p:nvPr/>
        </p:nvSpPr>
        <p:spPr>
          <a:xfrm>
            <a:off x="530352" y="5532120"/>
            <a:ext cx="5303520" cy="658368"/>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0352" y="5532120"/>
            <a:ext cx="5303520" cy="658368"/>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087E78"/>
                </a:solidFill>
                <a:latin typeface="Arial"/>
              </a:rPr>
              <a:t>Break / loss-of-post continuity</a:t>
            </a:r>
          </a:p>
          <a:p>
            <a:pPr algn="l">
              <a:lnSpc>
                <a:spcPct val="100000"/>
              </a:lnSpc>
              <a:spcBef>
                <a:spcPts val="300"/>
              </a:spcBef>
              <a:spcAft>
                <a:spcPts val="0"/>
              </a:spcAft>
            </a:pPr>
            <a:r>
              <a:rPr sz="969" b="0" i="0">
                <a:solidFill>
                  <a:srgbClr val="17324D"/>
                </a:solidFill>
                <a:latin typeface="Arial"/>
              </a:rPr>
              <a:t>During breaks, relief/reserve covers Gate or staging before a break. If a key post is lost, commander freezes new Gate Cleared / Released actions, stages arrivals, and backfills with relief/reserve.</a:t>
            </a:r>
          </a:p>
        </p:txBody>
      </p:sp>
      <p:sp>
        <p:nvSpPr>
          <p:cNvPr id="42" name="Rectangle 41"/>
          <p:cNvSpPr/>
          <p:nvPr/>
        </p:nvSpPr>
        <p:spPr>
          <a:xfrm>
            <a:off x="6053328" y="5532120"/>
            <a:ext cx="5559552" cy="658368"/>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53328" y="5532120"/>
            <a:ext cx="5559552" cy="658368"/>
          </a:xfrm>
          <a:prstGeom prst="rect">
            <a:avLst/>
          </a:prstGeom>
          <a:noFill/>
        </p:spPr>
        <p:txBody>
          <a:bodyPr wrap="square" lIns="54864" rIns="54864" tIns="54864" bIns="54864">
            <a:spAutoFit/>
          </a:bodyPr>
          <a:lstStyle/>
          <a:p>
            <a:pPr algn="l">
              <a:lnSpc>
                <a:spcPct val="100000"/>
              </a:lnSpc>
              <a:spcBef>
                <a:spcPts val="0"/>
              </a:spcBef>
              <a:spcAft>
                <a:spcPts val="0"/>
              </a:spcAft>
            </a:pPr>
            <a:r>
              <a:rPr sz="940" b="1" i="0">
                <a:solidFill>
                  <a:srgbClr val="087E78"/>
                </a:solidFill>
                <a:latin typeface="Arial"/>
              </a:rPr>
              <a:t>Resource check</a:t>
            </a:r>
          </a:p>
          <a:p>
            <a:pPr algn="l">
              <a:lnSpc>
                <a:spcPct val="100000"/>
              </a:lnSpc>
              <a:spcBef>
                <a:spcPts val="300"/>
              </a:spcBef>
              <a:spcAft>
                <a:spcPts val="0"/>
              </a:spcAft>
            </a:pPr>
            <a:r>
              <a:rPr sz="969" b="0" i="0">
                <a:solidFill>
                  <a:srgbClr val="17324D"/>
                </a:solidFill>
                <a:latin typeface="Arial"/>
              </a:rPr>
              <a:t>Matches packet availability: seven sworn, one dispatcher, two utility units, one Gate 3/staging lane. The commander is not counted as a verifier; dispatch is not duplicated.</a:t>
            </a:r>
          </a:p>
        </p:txBody>
      </p:sp>
      <p:sp>
        <p:nvSpPr>
          <p:cNvPr id="44" name="Rectangle 43"/>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Packet refs: Thursday resources and coverage alternatives; current delivery record and Gate 3 posts</a:t>
            </a:r>
          </a:p>
        </p:txBody>
      </p:sp>
      <p:sp>
        <p:nvSpPr>
          <p:cNvPr id="46" name="TextBox 45"/>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7"/>
          </a:solidFill>
          <a:ln>
            <a:solidFill>
              <a:srgbClr val="F3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THURSDAY PROCEDURE</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Pre-arrival reconciliation and controlled arrival sequence</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07</a:t>
            </a:r>
          </a:p>
        </p:txBody>
      </p:sp>
      <p:sp>
        <p:nvSpPr>
          <p:cNvPr id="8" name="Rectangle 7"/>
          <p:cNvSpPr/>
          <p:nvPr/>
        </p:nvSpPr>
        <p:spPr>
          <a:xfrm>
            <a:off x="502920" y="1307592"/>
            <a:ext cx="2679192" cy="1380744"/>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07592"/>
            <a:ext cx="2679192"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389888"/>
            <a:ext cx="2505456" cy="137160"/>
          </a:xfrm>
          <a:prstGeom prst="rect">
            <a:avLst/>
          </a:prstGeom>
          <a:noFill/>
        </p:spPr>
        <p:txBody>
          <a:bodyPr wrap="square" lIns="18288" rIns="18288" tIns="18288" bIns="18288" anchor="t">
            <a:spAutoFit/>
          </a:bodyPr>
          <a:lstStyle/>
          <a:p>
            <a:pPr algn="l">
              <a:spcBef>
                <a:spcPts val="0"/>
              </a:spcBef>
              <a:spcAft>
                <a:spcPts val="0"/>
              </a:spcAft>
            </a:pPr>
            <a:r>
              <a:rPr sz="930" b="1" i="0">
                <a:solidFill>
                  <a:srgbClr val="FFFFFF"/>
                </a:solidFill>
                <a:latin typeface="Arial"/>
              </a:rPr>
              <a:t>05:15</a:t>
            </a:r>
          </a:p>
        </p:txBody>
      </p:sp>
      <p:sp>
        <p:nvSpPr>
          <p:cNvPr id="11" name="TextBox 10"/>
          <p:cNvSpPr txBox="1"/>
          <p:nvPr/>
        </p:nvSpPr>
        <p:spPr>
          <a:xfrm>
            <a:off x="612648" y="1773936"/>
            <a:ext cx="2395728" cy="182880"/>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087E78"/>
                </a:solidFill>
                <a:latin typeface="Arial"/>
              </a:rPr>
              <a:t>BOARD AUTHORIZATION</a:t>
            </a:r>
          </a:p>
        </p:txBody>
      </p:sp>
      <p:sp>
        <p:nvSpPr>
          <p:cNvPr id="12" name="TextBox 11"/>
          <p:cNvSpPr txBox="1"/>
          <p:nvPr/>
        </p:nvSpPr>
        <p:spPr>
          <a:xfrm>
            <a:off x="612648" y="2039112"/>
            <a:ext cx="2395728" cy="466344"/>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Board approves Plan A. Jelena Skarsgard activates the plan and posts the briefing.</a:t>
            </a:r>
          </a:p>
        </p:txBody>
      </p:sp>
      <p:sp>
        <p:nvSpPr>
          <p:cNvPr id="13" name="Rectangle 12"/>
          <p:cNvSpPr/>
          <p:nvPr/>
        </p:nvSpPr>
        <p:spPr>
          <a:xfrm>
            <a:off x="3337560" y="1307592"/>
            <a:ext cx="2679192" cy="1380744"/>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307592"/>
            <a:ext cx="2679192"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9856" y="1389888"/>
            <a:ext cx="2505456" cy="137160"/>
          </a:xfrm>
          <a:prstGeom prst="rect">
            <a:avLst/>
          </a:prstGeom>
          <a:noFill/>
        </p:spPr>
        <p:txBody>
          <a:bodyPr wrap="square" lIns="18288" rIns="18288" tIns="18288" bIns="18288" anchor="t">
            <a:spAutoFit/>
          </a:bodyPr>
          <a:lstStyle/>
          <a:p>
            <a:pPr algn="l">
              <a:spcBef>
                <a:spcPts val="0"/>
              </a:spcBef>
              <a:spcAft>
                <a:spcPts val="0"/>
              </a:spcAft>
            </a:pPr>
            <a:r>
              <a:rPr sz="930" b="1" i="0">
                <a:solidFill>
                  <a:srgbClr val="FFFFFF"/>
                </a:solidFill>
                <a:latin typeface="Arial"/>
              </a:rPr>
              <a:t>05:45</a:t>
            </a:r>
          </a:p>
        </p:txBody>
      </p:sp>
      <p:sp>
        <p:nvSpPr>
          <p:cNvPr id="16" name="TextBox 15"/>
          <p:cNvSpPr txBox="1"/>
          <p:nvPr/>
        </p:nvSpPr>
        <p:spPr>
          <a:xfrm>
            <a:off x="3447288" y="1773936"/>
            <a:ext cx="2395728" cy="182880"/>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087E78"/>
                </a:solidFill>
                <a:latin typeface="Arial"/>
              </a:rPr>
              <a:t>RECONCILE</a:t>
            </a:r>
          </a:p>
        </p:txBody>
      </p:sp>
      <p:sp>
        <p:nvSpPr>
          <p:cNvPr id="17" name="TextBox 16"/>
          <p:cNvSpPr txBox="1"/>
          <p:nvPr/>
        </p:nvSpPr>
        <p:spPr>
          <a:xfrm>
            <a:off x="3447288" y="2039112"/>
            <a:ext cx="2395728" cy="466344"/>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Watch Commander + Everstead Dispatch reconcile the current 8-vehicle Revision 3 into the final gate roster. Send one roster to Gate and Dispatch.</a:t>
            </a:r>
          </a:p>
        </p:txBody>
      </p:sp>
      <p:sp>
        <p:nvSpPr>
          <p:cNvPr id="18" name="Rectangle 17"/>
          <p:cNvSpPr/>
          <p:nvPr/>
        </p:nvSpPr>
        <p:spPr>
          <a:xfrm>
            <a:off x="6172200" y="1307592"/>
            <a:ext cx="2679192" cy="1380744"/>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307592"/>
            <a:ext cx="2679192"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4496" y="1389888"/>
            <a:ext cx="2505456" cy="137160"/>
          </a:xfrm>
          <a:prstGeom prst="rect">
            <a:avLst/>
          </a:prstGeom>
          <a:noFill/>
        </p:spPr>
        <p:txBody>
          <a:bodyPr wrap="square" lIns="18288" rIns="18288" tIns="18288" bIns="18288" anchor="t">
            <a:spAutoFit/>
          </a:bodyPr>
          <a:lstStyle/>
          <a:p>
            <a:pPr algn="l">
              <a:spcBef>
                <a:spcPts val="0"/>
              </a:spcBef>
              <a:spcAft>
                <a:spcPts val="0"/>
              </a:spcAft>
            </a:pPr>
            <a:r>
              <a:rPr sz="930" b="1" i="0">
                <a:solidFill>
                  <a:srgbClr val="FFFFFF"/>
                </a:solidFill>
                <a:latin typeface="Arial"/>
              </a:rPr>
              <a:t>06:15</a:t>
            </a:r>
          </a:p>
        </p:txBody>
      </p:sp>
      <p:sp>
        <p:nvSpPr>
          <p:cNvPr id="21" name="TextBox 20"/>
          <p:cNvSpPr txBox="1"/>
          <p:nvPr/>
        </p:nvSpPr>
        <p:spPr>
          <a:xfrm>
            <a:off x="6281928" y="1773936"/>
            <a:ext cx="2395728" cy="182880"/>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087E78"/>
                </a:solidFill>
                <a:latin typeface="Arial"/>
              </a:rPr>
              <a:t>OPEN STAGING</a:t>
            </a:r>
          </a:p>
        </p:txBody>
      </p:sp>
      <p:sp>
        <p:nvSpPr>
          <p:cNvPr id="22" name="TextBox 21"/>
          <p:cNvSpPr txBox="1"/>
          <p:nvPr/>
        </p:nvSpPr>
        <p:spPr>
          <a:xfrm>
            <a:off x="6281928" y="2039112"/>
            <a:ext cx="2395728" cy="466344"/>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Staging/traffic officer opens the controlled lane; dispatcher opens the accountable event record.</a:t>
            </a:r>
          </a:p>
        </p:txBody>
      </p:sp>
      <p:sp>
        <p:nvSpPr>
          <p:cNvPr id="23" name="Rectangle 22"/>
          <p:cNvSpPr/>
          <p:nvPr/>
        </p:nvSpPr>
        <p:spPr>
          <a:xfrm>
            <a:off x="9006840" y="1307592"/>
            <a:ext cx="2679192" cy="1380744"/>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06840" y="1307592"/>
            <a:ext cx="2679192" cy="31089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1389888"/>
            <a:ext cx="2505456" cy="137160"/>
          </a:xfrm>
          <a:prstGeom prst="rect">
            <a:avLst/>
          </a:prstGeom>
          <a:noFill/>
        </p:spPr>
        <p:txBody>
          <a:bodyPr wrap="square" lIns="18288" rIns="18288" tIns="18288" bIns="18288" anchor="t">
            <a:spAutoFit/>
          </a:bodyPr>
          <a:lstStyle/>
          <a:p>
            <a:pPr algn="l">
              <a:spcBef>
                <a:spcPts val="0"/>
              </a:spcBef>
              <a:spcAft>
                <a:spcPts val="0"/>
              </a:spcAft>
            </a:pPr>
            <a:r>
              <a:rPr sz="930" b="1" i="0">
                <a:solidFill>
                  <a:srgbClr val="FFFFFF"/>
                </a:solidFill>
                <a:latin typeface="Arial"/>
              </a:rPr>
              <a:t>06:30-10:30</a:t>
            </a:r>
          </a:p>
        </p:txBody>
      </p:sp>
      <p:sp>
        <p:nvSpPr>
          <p:cNvPr id="26" name="TextBox 25"/>
          <p:cNvSpPr txBox="1"/>
          <p:nvPr/>
        </p:nvSpPr>
        <p:spPr>
          <a:xfrm>
            <a:off x="9116567" y="1773936"/>
            <a:ext cx="2395728" cy="182880"/>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087E78"/>
                </a:solidFill>
                <a:latin typeface="Arial"/>
              </a:rPr>
              <a:t>SEQUENCED ARRIVALS</a:t>
            </a:r>
          </a:p>
        </p:txBody>
      </p:sp>
      <p:sp>
        <p:nvSpPr>
          <p:cNvPr id="27" name="TextBox 26"/>
          <p:cNvSpPr txBox="1"/>
          <p:nvPr/>
        </p:nvSpPr>
        <p:spPr>
          <a:xfrm>
            <a:off x="9116567" y="2039112"/>
            <a:ext cx="2395728" cy="466344"/>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Gate verification, gate clearance, and command release occur as separate closed-loop decisions.</a:t>
            </a:r>
          </a:p>
        </p:txBody>
      </p:sp>
      <p:sp>
        <p:nvSpPr>
          <p:cNvPr id="28" name="Rectangle 27"/>
          <p:cNvSpPr/>
          <p:nvPr/>
        </p:nvSpPr>
        <p:spPr>
          <a:xfrm>
            <a:off x="1755648" y="2953512"/>
            <a:ext cx="8595360" cy="9144"/>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00784" y="2898648"/>
            <a:ext cx="109728"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35424" y="2898648"/>
            <a:ext cx="109728"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70063" y="2898648"/>
            <a:ext cx="109728"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296144" y="2898648"/>
            <a:ext cx="109728"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3227832"/>
            <a:ext cx="2679192" cy="141732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3401568"/>
            <a:ext cx="365760" cy="365760"/>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3483864"/>
            <a:ext cx="365760" cy="137160"/>
          </a:xfrm>
          <a:prstGeom prst="rect">
            <a:avLst/>
          </a:prstGeom>
          <a:noFill/>
        </p:spPr>
        <p:txBody>
          <a:bodyPr wrap="square" lIns="18288" rIns="18288" tIns="18288" bIns="18288" anchor="t">
            <a:spAutoFit/>
          </a:bodyPr>
          <a:lstStyle/>
          <a:p>
            <a:pPr algn="ctr">
              <a:spcBef>
                <a:spcPts val="0"/>
              </a:spcBef>
              <a:spcAft>
                <a:spcPts val="0"/>
              </a:spcAft>
            </a:pPr>
            <a:r>
              <a:rPr sz="1000" b="1" i="0">
                <a:solidFill>
                  <a:srgbClr val="FFFFFF"/>
                </a:solidFill>
                <a:latin typeface="Arial"/>
              </a:rPr>
              <a:t>1</a:t>
            </a:r>
          </a:p>
        </p:txBody>
      </p:sp>
      <p:sp>
        <p:nvSpPr>
          <p:cNvPr id="36" name="TextBox 35"/>
          <p:cNvSpPr txBox="1"/>
          <p:nvPr/>
        </p:nvSpPr>
        <p:spPr>
          <a:xfrm>
            <a:off x="1106424" y="3456432"/>
            <a:ext cx="1874519" cy="155448"/>
          </a:xfrm>
          <a:prstGeom prst="rect">
            <a:avLst/>
          </a:prstGeom>
          <a:noFill/>
        </p:spPr>
        <p:txBody>
          <a:bodyPr wrap="square" lIns="18288" rIns="18288" tIns="18288" bIns="18288" anchor="t">
            <a:spAutoFit/>
          </a:bodyPr>
          <a:lstStyle/>
          <a:p>
            <a:pPr algn="l">
              <a:spcBef>
                <a:spcPts val="0"/>
              </a:spcBef>
              <a:spcAft>
                <a:spcPts val="0"/>
              </a:spcAft>
            </a:pPr>
            <a:r>
              <a:rPr sz="1040" b="1" i="0">
                <a:solidFill>
                  <a:srgbClr val="17324D"/>
                </a:solidFill>
                <a:latin typeface="Arial"/>
              </a:rPr>
              <a:t>STAGE</a:t>
            </a:r>
          </a:p>
        </p:txBody>
      </p:sp>
      <p:sp>
        <p:nvSpPr>
          <p:cNvPr id="37" name="TextBox 36"/>
          <p:cNvSpPr txBox="1"/>
          <p:nvPr/>
        </p:nvSpPr>
        <p:spPr>
          <a:xfrm>
            <a:off x="630936" y="3904487"/>
            <a:ext cx="2404872" cy="521207"/>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10" b="0" i="0">
                <a:solidFill>
                  <a:srgbClr val="202B33"/>
                </a:solidFill>
                <a:latin typeface="Arial"/>
              </a:rPr>
              <a:t>Every arrival goes to controlled staging. Dispatcher logs ARRIVED/STAGED. Mobile may show ACCEPTED; that does not permit entry.</a:t>
            </a:r>
          </a:p>
        </p:txBody>
      </p:sp>
      <p:sp>
        <p:nvSpPr>
          <p:cNvPr id="38" name="Rectangle 37"/>
          <p:cNvSpPr/>
          <p:nvPr/>
        </p:nvSpPr>
        <p:spPr>
          <a:xfrm>
            <a:off x="3337560" y="3227832"/>
            <a:ext cx="2679192" cy="141732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456432" y="3401568"/>
            <a:ext cx="365760" cy="365760"/>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6432" y="3483864"/>
            <a:ext cx="365760" cy="137160"/>
          </a:xfrm>
          <a:prstGeom prst="rect">
            <a:avLst/>
          </a:prstGeom>
          <a:noFill/>
        </p:spPr>
        <p:txBody>
          <a:bodyPr wrap="square" lIns="18288" rIns="18288" tIns="18288" bIns="18288" anchor="t">
            <a:spAutoFit/>
          </a:bodyPr>
          <a:lstStyle/>
          <a:p>
            <a:pPr algn="ctr">
              <a:spcBef>
                <a:spcPts val="0"/>
              </a:spcBef>
              <a:spcAft>
                <a:spcPts val="0"/>
              </a:spcAft>
            </a:pPr>
            <a:r>
              <a:rPr sz="1000" b="1" i="0">
                <a:solidFill>
                  <a:srgbClr val="FFFFFF"/>
                </a:solidFill>
                <a:latin typeface="Arial"/>
              </a:rPr>
              <a:t>2</a:t>
            </a:r>
          </a:p>
        </p:txBody>
      </p:sp>
      <p:sp>
        <p:nvSpPr>
          <p:cNvPr id="41" name="TextBox 40"/>
          <p:cNvSpPr txBox="1"/>
          <p:nvPr/>
        </p:nvSpPr>
        <p:spPr>
          <a:xfrm>
            <a:off x="3941063" y="3456432"/>
            <a:ext cx="1874519" cy="155448"/>
          </a:xfrm>
          <a:prstGeom prst="rect">
            <a:avLst/>
          </a:prstGeom>
          <a:noFill/>
        </p:spPr>
        <p:txBody>
          <a:bodyPr wrap="square" lIns="18288" rIns="18288" tIns="18288" bIns="18288" anchor="t">
            <a:spAutoFit/>
          </a:bodyPr>
          <a:lstStyle/>
          <a:p>
            <a:pPr algn="l">
              <a:spcBef>
                <a:spcPts val="0"/>
              </a:spcBef>
              <a:spcAft>
                <a:spcPts val="0"/>
              </a:spcAft>
            </a:pPr>
            <a:r>
              <a:rPr sz="1040" b="1" i="0">
                <a:solidFill>
                  <a:srgbClr val="17324D"/>
                </a:solidFill>
                <a:latin typeface="Arial"/>
              </a:rPr>
              <a:t>VERIFY</a:t>
            </a:r>
          </a:p>
        </p:txBody>
      </p:sp>
      <p:sp>
        <p:nvSpPr>
          <p:cNvPr id="42" name="TextBox 41"/>
          <p:cNvSpPr txBox="1"/>
          <p:nvPr/>
        </p:nvSpPr>
        <p:spPr>
          <a:xfrm>
            <a:off x="3465576" y="3904487"/>
            <a:ext cx="2404872" cy="521207"/>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10" b="0" i="0">
                <a:solidFill>
                  <a:srgbClr val="202B33"/>
                </a:solidFill>
                <a:latin typeface="Arial"/>
              </a:rPr>
              <a:t>Two gate verifiers positively match vehicle ID and driver record to the final current delivery record. Then report VERIFIED.</a:t>
            </a:r>
          </a:p>
        </p:txBody>
      </p:sp>
      <p:sp>
        <p:nvSpPr>
          <p:cNvPr id="43" name="Rectangle 42"/>
          <p:cNvSpPr/>
          <p:nvPr/>
        </p:nvSpPr>
        <p:spPr>
          <a:xfrm>
            <a:off x="6172200" y="3227832"/>
            <a:ext cx="2679192" cy="141732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91072" y="3401568"/>
            <a:ext cx="365760" cy="365760"/>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1072" y="3483864"/>
            <a:ext cx="365760" cy="137160"/>
          </a:xfrm>
          <a:prstGeom prst="rect">
            <a:avLst/>
          </a:prstGeom>
          <a:noFill/>
        </p:spPr>
        <p:txBody>
          <a:bodyPr wrap="square" lIns="18288" rIns="18288" tIns="18288" bIns="18288" anchor="t">
            <a:spAutoFit/>
          </a:bodyPr>
          <a:lstStyle/>
          <a:p>
            <a:pPr algn="ctr">
              <a:spcBef>
                <a:spcPts val="0"/>
              </a:spcBef>
              <a:spcAft>
                <a:spcPts val="0"/>
              </a:spcAft>
            </a:pPr>
            <a:r>
              <a:rPr sz="1000" b="1" i="0">
                <a:solidFill>
                  <a:srgbClr val="FFFFFF"/>
                </a:solidFill>
                <a:latin typeface="Arial"/>
              </a:rPr>
              <a:t>3</a:t>
            </a:r>
          </a:p>
        </p:txBody>
      </p:sp>
      <p:sp>
        <p:nvSpPr>
          <p:cNvPr id="46" name="TextBox 45"/>
          <p:cNvSpPr txBox="1"/>
          <p:nvPr/>
        </p:nvSpPr>
        <p:spPr>
          <a:xfrm>
            <a:off x="6775704" y="3456432"/>
            <a:ext cx="1874519" cy="155448"/>
          </a:xfrm>
          <a:prstGeom prst="rect">
            <a:avLst/>
          </a:prstGeom>
          <a:noFill/>
        </p:spPr>
        <p:txBody>
          <a:bodyPr wrap="square" lIns="18288" rIns="18288" tIns="18288" bIns="18288" anchor="t">
            <a:spAutoFit/>
          </a:bodyPr>
          <a:lstStyle/>
          <a:p>
            <a:pPr algn="l">
              <a:spcBef>
                <a:spcPts val="0"/>
              </a:spcBef>
              <a:spcAft>
                <a:spcPts val="0"/>
              </a:spcAft>
            </a:pPr>
            <a:r>
              <a:rPr sz="1040" b="1" i="0">
                <a:solidFill>
                  <a:srgbClr val="17324D"/>
                </a:solidFill>
                <a:latin typeface="Arial"/>
              </a:rPr>
              <a:t>CLEAR GATE</a:t>
            </a:r>
          </a:p>
        </p:txBody>
      </p:sp>
      <p:sp>
        <p:nvSpPr>
          <p:cNvPr id="47" name="TextBox 46"/>
          <p:cNvSpPr txBox="1"/>
          <p:nvPr/>
        </p:nvSpPr>
        <p:spPr>
          <a:xfrm>
            <a:off x="6300216" y="3904487"/>
            <a:ext cx="2404872" cy="521207"/>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10" b="0" i="0">
                <a:solidFill>
                  <a:srgbClr val="202B33"/>
                </a:solidFill>
                <a:latin typeface="Arial"/>
              </a:rPr>
              <a:t>Gate officer records GATE CLEARED only after VERIFIED. The vehicle may enter the controlled area; a mismatch never resolves at the roadway.</a:t>
            </a:r>
          </a:p>
        </p:txBody>
      </p:sp>
      <p:sp>
        <p:nvSpPr>
          <p:cNvPr id="48" name="Rectangle 47"/>
          <p:cNvSpPr/>
          <p:nvPr/>
        </p:nvSpPr>
        <p:spPr>
          <a:xfrm>
            <a:off x="9006840" y="3227832"/>
            <a:ext cx="2679192" cy="141732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25712" y="3401568"/>
            <a:ext cx="365760" cy="365760"/>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25712" y="3483864"/>
            <a:ext cx="365760" cy="137160"/>
          </a:xfrm>
          <a:prstGeom prst="rect">
            <a:avLst/>
          </a:prstGeom>
          <a:noFill/>
        </p:spPr>
        <p:txBody>
          <a:bodyPr wrap="square" lIns="18288" rIns="18288" tIns="18288" bIns="18288" anchor="t">
            <a:spAutoFit/>
          </a:bodyPr>
          <a:lstStyle/>
          <a:p>
            <a:pPr algn="ctr">
              <a:spcBef>
                <a:spcPts val="0"/>
              </a:spcBef>
              <a:spcAft>
                <a:spcPts val="0"/>
              </a:spcAft>
            </a:pPr>
            <a:r>
              <a:rPr sz="1000" b="1" i="0">
                <a:solidFill>
                  <a:srgbClr val="FFFFFF"/>
                </a:solidFill>
                <a:latin typeface="Arial"/>
              </a:rPr>
              <a:t>4</a:t>
            </a:r>
          </a:p>
        </p:txBody>
      </p:sp>
      <p:sp>
        <p:nvSpPr>
          <p:cNvPr id="51" name="TextBox 50"/>
          <p:cNvSpPr txBox="1"/>
          <p:nvPr/>
        </p:nvSpPr>
        <p:spPr>
          <a:xfrm>
            <a:off x="9610344" y="3456432"/>
            <a:ext cx="1874519" cy="155448"/>
          </a:xfrm>
          <a:prstGeom prst="rect">
            <a:avLst/>
          </a:prstGeom>
          <a:noFill/>
        </p:spPr>
        <p:txBody>
          <a:bodyPr wrap="square" lIns="18288" rIns="18288" tIns="18288" bIns="18288" anchor="t">
            <a:spAutoFit/>
          </a:bodyPr>
          <a:lstStyle/>
          <a:p>
            <a:pPr algn="l">
              <a:spcBef>
                <a:spcPts val="0"/>
              </a:spcBef>
              <a:spcAft>
                <a:spcPts val="0"/>
              </a:spcAft>
            </a:pPr>
            <a:r>
              <a:rPr sz="1040" b="1" i="0">
                <a:solidFill>
                  <a:srgbClr val="17324D"/>
                </a:solidFill>
                <a:latin typeface="Arial"/>
              </a:rPr>
              <a:t>RELEASE MOVEMENT</a:t>
            </a:r>
          </a:p>
        </p:txBody>
      </p:sp>
      <p:sp>
        <p:nvSpPr>
          <p:cNvPr id="52" name="TextBox 51"/>
          <p:cNvSpPr txBox="1"/>
          <p:nvPr/>
        </p:nvSpPr>
        <p:spPr>
          <a:xfrm>
            <a:off x="9134856" y="3904487"/>
            <a:ext cx="2404872" cy="521207"/>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10" b="0" i="0">
                <a:solidFill>
                  <a:srgbClr val="202B33"/>
                </a:solidFill>
                <a:latin typeface="Arial"/>
              </a:rPr>
              <a:t>Watch Commander confirms required checks and the dispatch record, then authorizes RELEASED for escort / convoy movement.</a:t>
            </a:r>
          </a:p>
        </p:txBody>
      </p:sp>
      <p:sp>
        <p:nvSpPr>
          <p:cNvPr id="53" name="Rectangle 52"/>
          <p:cNvSpPr/>
          <p:nvPr/>
        </p:nvSpPr>
        <p:spPr>
          <a:xfrm>
            <a:off x="502920" y="5047488"/>
            <a:ext cx="11183112" cy="850392"/>
          </a:xfrm>
          <a:prstGeom prst="rect">
            <a:avLst/>
          </a:prstGeom>
          <a:solidFill>
            <a:srgbClr val="F9EAEA"/>
          </a:solidFill>
          <a:ln>
            <a:solidFill>
              <a:srgbClr val="E4B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5047488"/>
            <a:ext cx="11183112" cy="850392"/>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B54845"/>
                </a:solidFill>
                <a:latin typeface="Arial"/>
              </a:rPr>
              <a:t>Late change rule</a:t>
            </a:r>
          </a:p>
          <a:p>
            <a:pPr algn="l">
              <a:lnSpc>
                <a:spcPct val="100000"/>
              </a:lnSpc>
              <a:spcBef>
                <a:spcPts val="400"/>
              </a:spcBef>
              <a:spcAft>
                <a:spcPts val="0"/>
              </a:spcAft>
            </a:pPr>
            <a:r>
              <a:rPr sz="1130" b="0" i="0">
                <a:solidFill>
                  <a:srgbClr val="17324D"/>
                </a:solidFill>
                <a:latin typeface="Arial"/>
              </a:rPr>
              <a:t>A late manifest revision, unlisted vehicle, driver mismatch, or substitution does not inherit clearance. Gate officer keeps it in staging, dispatcher records HOLD, and the Watch Commander decides only after Everstead Dispatch provides a current record and the gate repeats positive verification.</a:t>
            </a:r>
          </a:p>
        </p:txBody>
      </p:sp>
      <p:sp>
        <p:nvSpPr>
          <p:cNvPr id="55" name="Rectangle 54"/>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Authority: MFAR 8.4, 8.7; CLPD GO-4.12; CD-2.7; Gate Post Order G-3</a:t>
            </a:r>
          </a:p>
        </p:txBody>
      </p:sp>
      <p:sp>
        <p:nvSpPr>
          <p:cNvPr id="57" name="TextBox 56"/>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TRANSITION AND EXCEPTIONS</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Mixed mobile/radio operation on Thursday; defined fallback and safety-critical branch</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08</a:t>
            </a:r>
          </a:p>
        </p:txBody>
      </p:sp>
      <p:sp>
        <p:nvSpPr>
          <p:cNvPr id="8" name="Rectangle 7"/>
          <p:cNvSpPr/>
          <p:nvPr/>
        </p:nvSpPr>
        <p:spPr>
          <a:xfrm>
            <a:off x="438912" y="1207008"/>
            <a:ext cx="3657600" cy="1993392"/>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207008"/>
            <a:ext cx="3657600" cy="1993392"/>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087E78"/>
                </a:solidFill>
                <a:latin typeface="Arial"/>
              </a:rPr>
              <a:t>THURSDAY: TRANSITION MODE</a:t>
            </a:r>
          </a:p>
          <a:p>
            <a:pPr algn="l">
              <a:lnSpc>
                <a:spcPct val="95000"/>
              </a:lnSpc>
              <a:spcBef>
                <a:spcPts val="700"/>
              </a:spcBef>
              <a:spcAft>
                <a:spcPts val="0"/>
              </a:spcAft>
            </a:pPr>
            <a:r>
              <a:rPr sz="1160" b="0" i="0">
                <a:solidFill>
                  <a:srgbClr val="17324D"/>
                </a:solidFill>
                <a:latin typeface="Arial"/>
              </a:rPr>
              <a:t>- Trained personnel may use mobile for receipt/assignment and status reporting.
- Dispatcher mirrors mobile and radio actions in one accountable event record.
- Personnel not trained on mobile use radio.
- ACCEPTED stays dispatch acknowledgement only.</a:t>
            </a:r>
          </a:p>
        </p:txBody>
      </p:sp>
      <p:sp>
        <p:nvSpPr>
          <p:cNvPr id="10" name="Rectangle 9"/>
          <p:cNvSpPr/>
          <p:nvPr/>
        </p:nvSpPr>
        <p:spPr>
          <a:xfrm>
            <a:off x="4270248" y="1207008"/>
            <a:ext cx="3657600" cy="1993392"/>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70248" y="1207008"/>
            <a:ext cx="3657600" cy="1993392"/>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C98518"/>
                </a:solidFill>
                <a:latin typeface="Arial"/>
              </a:rPr>
              <a:t>RADIO FALLBACK</a:t>
            </a:r>
          </a:p>
          <a:p>
            <a:pPr algn="l">
              <a:lnSpc>
                <a:spcPct val="94000"/>
              </a:lnSpc>
              <a:spcBef>
                <a:spcPts val="700"/>
              </a:spcBef>
              <a:spcAft>
                <a:spcPts val="0"/>
              </a:spcAft>
            </a:pPr>
            <a:r>
              <a:rPr sz="1120" b="0" i="0">
                <a:solidFill>
                  <a:srgbClr val="17324D"/>
                </a:solidFill>
                <a:latin typeface="Arial"/>
              </a:rPr>
              <a:t>Trigger: mobile outage, failed acknowledgement, device failure, or an untrained user.
Dispatcher declares RADIO FALLBACK, logs time/reason, and repeats closed-loop radio statuses. On restoration, dispatcher reconciles the radio record before resuming mobile.</a:t>
            </a:r>
          </a:p>
        </p:txBody>
      </p:sp>
      <p:sp>
        <p:nvSpPr>
          <p:cNvPr id="12" name="Rectangle 11"/>
          <p:cNvSpPr/>
          <p:nvPr/>
        </p:nvSpPr>
        <p:spPr>
          <a:xfrm>
            <a:off x="8101583" y="1207008"/>
            <a:ext cx="3602736" cy="1993392"/>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1583" y="1207008"/>
            <a:ext cx="3602736" cy="1993392"/>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1F5A86"/>
                </a:solidFill>
                <a:latin typeface="Arial"/>
              </a:rPr>
              <a:t>LATER: MOBILE STANDARD</a:t>
            </a:r>
          </a:p>
          <a:p>
            <a:pPr algn="l">
              <a:lnSpc>
                <a:spcPct val="96000"/>
              </a:lnSpc>
              <a:spcBef>
                <a:spcPts val="700"/>
              </a:spcBef>
              <a:spcAft>
                <a:spcPts val="0"/>
              </a:spcAft>
            </a:pPr>
            <a:r>
              <a:rPr sz="1140" b="0" i="0">
                <a:solidFill>
                  <a:srgbClr val="17324D"/>
                </a:solidFill>
                <a:latin typeface="Arial"/>
              </a:rPr>
              <a:t>Upon formal CLPD activation, mobile becomes the primary dispatch workflow.
Radio remains fallback. The same VERIFED, GATE CLEARED, RELEASED, HOLD, and supervisor controls do not change.</a:t>
            </a:r>
          </a:p>
        </p:txBody>
      </p:sp>
      <p:sp>
        <p:nvSpPr>
          <p:cNvPr id="14" name="Rectangle 13"/>
          <p:cNvSpPr/>
          <p:nvPr/>
        </p:nvSpPr>
        <p:spPr>
          <a:xfrm>
            <a:off x="438912" y="3483864"/>
            <a:ext cx="5541264" cy="2075688"/>
          </a:xfrm>
          <a:prstGeom prst="rect">
            <a:avLst/>
          </a:prstGeom>
          <a:solidFill>
            <a:srgbClr val="F9EAEA"/>
          </a:solidFill>
          <a:ln>
            <a:solidFill>
              <a:srgbClr val="E4B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3483864"/>
            <a:ext cx="5541264" cy="2075688"/>
          </a:xfrm>
          <a:prstGeom prst="rect">
            <a:avLst/>
          </a:prstGeom>
          <a:noFill/>
        </p:spPr>
        <p:txBody>
          <a:bodyPr wrap="square" lIns="54864" rIns="54864" tIns="54864" bIns="54864">
            <a:spAutoFit/>
          </a:bodyPr>
          <a:lstStyle/>
          <a:p>
            <a:pPr algn="l">
              <a:lnSpc>
                <a:spcPct val="100000"/>
              </a:lnSpc>
              <a:spcBef>
                <a:spcPts val="0"/>
              </a:spcBef>
              <a:spcAft>
                <a:spcPts val="0"/>
              </a:spcAft>
            </a:pPr>
            <a:r>
              <a:rPr sz="1040" b="1" i="0">
                <a:solidFill>
                  <a:srgbClr val="B54845"/>
                </a:solidFill>
                <a:latin typeface="Arial"/>
              </a:rPr>
              <a:t>Mismatch / count / substitution branch</a:t>
            </a:r>
          </a:p>
          <a:p>
            <a:pPr algn="l">
              <a:lnSpc>
                <a:spcPct val="93000"/>
              </a:lnSpc>
              <a:spcBef>
                <a:spcPts val="700"/>
              </a:spcBef>
              <a:spcAft>
                <a:spcPts val="0"/>
              </a:spcAft>
            </a:pPr>
            <a:r>
              <a:rPr sz="1090" b="0" i="0">
                <a:solidFill>
                  <a:srgbClr val="17324D"/>
                </a:solidFill>
                <a:latin typeface="Arial"/>
              </a:rPr>
              <a:t>1. Gate officer: HOLD in controlled staging; do not admit or reject based on a promise.
2. Dispatcher: record HOLD and notify Watch Commander.
3. Watch Commander: obtain current record from Everstead Dispatch and resolve the count/identity discrepancy.
4. Gate: repeat positive vehicle/driver linkage. Only then VERIFIED -&gt; GATE CLEARED -&gt; RELEASED.</a:t>
            </a:r>
          </a:p>
        </p:txBody>
      </p:sp>
      <p:sp>
        <p:nvSpPr>
          <p:cNvPr id="16" name="Rectangle 15"/>
          <p:cNvSpPr/>
          <p:nvPr/>
        </p:nvSpPr>
        <p:spPr>
          <a:xfrm>
            <a:off x="6172200" y="3483864"/>
            <a:ext cx="5532120" cy="2075688"/>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483864"/>
            <a:ext cx="5532120" cy="2075688"/>
          </a:xfrm>
          <a:prstGeom prst="rect">
            <a:avLst/>
          </a:prstGeom>
          <a:noFill/>
        </p:spPr>
        <p:txBody>
          <a:bodyPr wrap="square" lIns="54864" rIns="54864" tIns="54864" bIns="54864">
            <a:spAutoFit/>
          </a:bodyPr>
          <a:lstStyle/>
          <a:p>
            <a:pPr algn="l">
              <a:lnSpc>
                <a:spcPct val="100000"/>
              </a:lnSpc>
              <a:spcBef>
                <a:spcPts val="0"/>
              </a:spcBef>
              <a:spcAft>
                <a:spcPts val="0"/>
              </a:spcAft>
            </a:pPr>
            <a:r>
              <a:rPr sz="1040" b="1" i="0">
                <a:solidFill>
                  <a:srgbClr val="B54845"/>
                </a:solidFill>
                <a:latin typeface="Arial"/>
              </a:rPr>
              <a:t>Safety-critical interruption</a:t>
            </a:r>
          </a:p>
          <a:p>
            <a:pPr algn="l">
              <a:lnSpc>
                <a:spcPct val="96000"/>
              </a:lnSpc>
              <a:spcBef>
                <a:spcPts val="700"/>
              </a:spcBef>
              <a:spcAft>
                <a:spcPts val="0"/>
              </a:spcAft>
            </a:pPr>
            <a:r>
              <a:rPr sz="1130" b="0" i="0">
                <a:solidFill>
                  <a:srgbClr val="17324D"/>
                </a:solidFill>
                <a:latin typeface="Arial"/>
              </a:rPr>
              <a:t>Spill, security threat, disabled vehicle, or comparable safety interruption: STOP routine movement; protect the gate/staging area; dispatcher notifies the Watch Commander; transfer to incident command under GO-4.12. Keep the emergency response separate from ordinary delay handling. Resume only on commander authorization.</a:t>
            </a:r>
          </a:p>
        </p:txBody>
      </p:sp>
      <p:sp>
        <p:nvSpPr>
          <p:cNvPr id="18" name="TextBox 17"/>
          <p:cNvSpPr txBox="1"/>
          <p:nvPr/>
        </p:nvSpPr>
        <p:spPr>
          <a:xfrm>
            <a:off x="438912" y="5843016"/>
            <a:ext cx="11219688" cy="283464"/>
          </a:xfrm>
          <a:prstGeom prst="rect">
            <a:avLst/>
          </a:prstGeom>
          <a:noFill/>
        </p:spPr>
        <p:txBody>
          <a:bodyPr wrap="square" lIns="18288" rIns="18288" tIns="18288" bIns="18288" anchor="t">
            <a:spAutoFit/>
          </a:bodyPr>
          <a:lstStyle/>
          <a:p>
            <a:pPr algn="ctr">
              <a:spcBef>
                <a:spcPts val="0"/>
              </a:spcBef>
              <a:spcAft>
                <a:spcPts val="0"/>
              </a:spcAft>
            </a:pPr>
            <a:r>
              <a:rPr sz="1070" b="1" i="0">
                <a:solidFill>
                  <a:srgbClr val="64727C"/>
                </a:solidFill>
                <a:latin typeface="Arial"/>
              </a:rPr>
              <a:t>Closed-loop language prevents confusion: dispatch acknowledgement, verification, physical gate clearance, and movement release are different events with different owners.</a:t>
            </a:r>
          </a:p>
        </p:txBody>
      </p:sp>
      <p:sp>
        <p:nvSpPr>
          <p:cNvPr id="19" name="Rectangle 18"/>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Authority: CLPD Communications Directive CD-2.7; GO-4.12; Gate Post Order G-3</a:t>
            </a:r>
          </a:p>
        </p:txBody>
      </p:sp>
      <p:sp>
        <p:nvSpPr>
          <p:cNvPr id="21" name="TextBox 20"/>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7"/>
          </a:solidFill>
          <a:ln>
            <a:solidFill>
              <a:srgbClr val="F3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AUTHORIZATION, CHANGE, AND CLOSEOUT</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The Board authorizes one operation for Thursday and a controlled path to mobile standard</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09</a:t>
            </a:r>
          </a:p>
        </p:txBody>
      </p:sp>
      <p:sp>
        <p:nvSpPr>
          <p:cNvPr id="8" name="Rectangle 7"/>
          <p:cNvSpPr/>
          <p:nvPr/>
        </p:nvSpPr>
        <p:spPr>
          <a:xfrm>
            <a:off x="438912" y="1225296"/>
            <a:ext cx="11265408" cy="859536"/>
          </a:xfrm>
          <a:prstGeom prst="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225296"/>
            <a:ext cx="11265408" cy="859536"/>
          </a:xfrm>
          <a:prstGeom prst="rect">
            <a:avLst/>
          </a:prstGeom>
          <a:noFill/>
        </p:spPr>
        <p:txBody>
          <a:bodyPr wrap="square" lIns="54864" rIns="54864" tIns="54864" bIns="54864">
            <a:spAutoFit/>
          </a:bodyPr>
          <a:lstStyle/>
          <a:p>
            <a:pPr algn="ctr">
              <a:lnSpc>
                <a:spcPct val="100000"/>
              </a:lnSpc>
              <a:spcBef>
                <a:spcPts val="0"/>
              </a:spcBef>
              <a:spcAft>
                <a:spcPts val="0"/>
              </a:spcAft>
            </a:pPr>
            <a:r>
              <a:rPr sz="919" b="1" i="0">
                <a:solidFill>
                  <a:srgbClr val="B7DDF0"/>
                </a:solidFill>
                <a:latin typeface="Arial"/>
              </a:rPr>
              <a:t>ACTIVATION STATEMENT</a:t>
            </a:r>
          </a:p>
          <a:p>
            <a:pPr algn="ctr">
              <a:lnSpc>
                <a:spcPct val="100000"/>
              </a:lnSpc>
              <a:spcBef>
                <a:spcPts val="400"/>
              </a:spcBef>
              <a:spcAft>
                <a:spcPts val="0"/>
              </a:spcAft>
            </a:pPr>
            <a:r>
              <a:rPr sz="1400" b="1" i="0">
                <a:solidFill>
                  <a:srgbClr val="FFFFFF"/>
                </a:solidFill>
                <a:latin typeface="Arial"/>
              </a:rPr>
              <a:t>On Board approval by 05:15 Thursday 23 Oct 2025, Jelena Skarsgard activates Plan A - Full-capacity hybrid - for the Everstead delivery. It replaces the interim radio-only / inconsistent mobile-pilot practice for this operation.</a:t>
            </a:r>
          </a:p>
        </p:txBody>
      </p:sp>
      <p:sp>
        <p:nvSpPr>
          <p:cNvPr id="10" name="Rectangle 9"/>
          <p:cNvSpPr/>
          <p:nvPr/>
        </p:nvSpPr>
        <p:spPr>
          <a:xfrm>
            <a:off x="438912" y="2395728"/>
            <a:ext cx="5440680" cy="2377440"/>
          </a:xfrm>
          <a:prstGeom prst="rect">
            <a:avLst/>
          </a:prstGeom>
          <a:solidFill>
            <a:srgbClr val="FFFFFF"/>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395728"/>
            <a:ext cx="5440680" cy="2377440"/>
          </a:xfrm>
          <a:prstGeom prst="rect">
            <a:avLst/>
          </a:prstGeom>
          <a:noFill/>
        </p:spPr>
        <p:txBody>
          <a:bodyPr wrap="square" lIns="54864" rIns="54864" tIns="54864" bIns="54864">
            <a:spAutoFit/>
          </a:bodyPr>
          <a:lstStyle/>
          <a:p>
            <a:pPr algn="l">
              <a:lnSpc>
                <a:spcPct val="100000"/>
              </a:lnSpc>
              <a:spcBef>
                <a:spcPts val="0"/>
              </a:spcBef>
              <a:spcAft>
                <a:spcPts val="0"/>
              </a:spcAft>
            </a:pPr>
            <a:r>
              <a:rPr sz="1019" b="1" i="0">
                <a:solidFill>
                  <a:srgbClr val="087E78"/>
                </a:solidFill>
                <a:latin typeface="Arial"/>
              </a:rPr>
              <a:t>WHAT CHANGES THURSDAY</a:t>
            </a:r>
          </a:p>
          <a:p>
            <a:pPr algn="l">
              <a:lnSpc>
                <a:spcPct val="95000"/>
              </a:lnSpc>
              <a:spcBef>
                <a:spcPts val="800"/>
              </a:spcBef>
              <a:spcAft>
                <a:spcPts val="0"/>
              </a:spcAft>
            </a:pPr>
            <a:r>
              <a:rPr sz="1160" b="0" i="0">
                <a:solidFill>
                  <a:srgbClr val="17324D"/>
                </a:solidFill>
                <a:latin typeface="Arial"/>
              </a:rPr>
              <a:t>- Capacity and posts are set for the current eight-vehicle manifest.
- 05:45 reconciliation creates one final gate roster.
- Trained users may use mobile; dispatcher maintains radio continuity.
- ACCEPTED cannot be treated as clearance.
- Gate and movement release stay separate decisions.</a:t>
            </a:r>
          </a:p>
        </p:txBody>
      </p:sp>
      <p:sp>
        <p:nvSpPr>
          <p:cNvPr id="12" name="Rectangle 11"/>
          <p:cNvSpPr/>
          <p:nvPr/>
        </p:nvSpPr>
        <p:spPr>
          <a:xfrm>
            <a:off x="6263640" y="2395728"/>
            <a:ext cx="5440680" cy="2377440"/>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395728"/>
            <a:ext cx="5440680" cy="2377440"/>
          </a:xfrm>
          <a:prstGeom prst="rect">
            <a:avLst/>
          </a:prstGeom>
          <a:noFill/>
        </p:spPr>
        <p:txBody>
          <a:bodyPr wrap="square" lIns="54864" rIns="54864" tIns="54864" bIns="54864">
            <a:spAutoFit/>
          </a:bodyPr>
          <a:lstStyle/>
          <a:p>
            <a:pPr algn="l">
              <a:lnSpc>
                <a:spcPct val="100000"/>
              </a:lnSpc>
              <a:spcBef>
                <a:spcPts val="0"/>
              </a:spcBef>
              <a:spcAft>
                <a:spcPts val="0"/>
              </a:spcAft>
            </a:pPr>
            <a:r>
              <a:rPr sz="1019" b="1" i="0">
                <a:solidFill>
                  <a:srgbClr val="1F5A86"/>
                </a:solidFill>
                <a:latin typeface="Arial"/>
              </a:rPr>
              <a:t>WHAT CHANGES AFTER MOBILE STANDARD</a:t>
            </a:r>
          </a:p>
          <a:p>
            <a:pPr algn="l">
              <a:lnSpc>
                <a:spcPct val="95000"/>
              </a:lnSpc>
              <a:spcBef>
                <a:spcPts val="800"/>
              </a:spcBef>
              <a:spcAft>
                <a:spcPts val="0"/>
              </a:spcAft>
            </a:pPr>
            <a:r>
              <a:rPr sz="1160" b="0" i="0">
                <a:solidFill>
                  <a:srgbClr val="17324D"/>
                </a:solidFill>
                <a:latin typeface="Arial"/>
              </a:rPr>
              <a:t>- Mobile becomes primary only after formal CLPD activation.
- Radio stays the declared fallback.
- Dispatcher still maintains one accountable record.
- Positive vehicle/driver linkage, HOLD, commander decision, GATE CLEARED, and RELEASED do not change.</a:t>
            </a:r>
          </a:p>
        </p:txBody>
      </p:sp>
      <p:sp>
        <p:nvSpPr>
          <p:cNvPr id="14" name="Rectangle 13"/>
          <p:cNvSpPr/>
          <p:nvPr/>
        </p:nvSpPr>
        <p:spPr>
          <a:xfrm>
            <a:off x="438912" y="5084064"/>
            <a:ext cx="11265408" cy="813816"/>
          </a:xfrm>
          <a:prstGeom prst="rect">
            <a:avLst/>
          </a:prstGeom>
          <a:solidFill>
            <a:srgbClr val="FBF2E3"/>
          </a:solidFill>
          <a:ln>
            <a:solidFill>
              <a:srgbClr val="E7D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5084064"/>
            <a:ext cx="11265408" cy="813816"/>
          </a:xfrm>
          <a:prstGeom prst="rect">
            <a:avLst/>
          </a:prstGeom>
          <a:noFill/>
        </p:spPr>
        <p:txBody>
          <a:bodyPr wrap="square" lIns="54864" rIns="54864" tIns="54864" bIns="54864">
            <a:spAutoFit/>
          </a:bodyPr>
          <a:lstStyle/>
          <a:p>
            <a:pPr algn="l">
              <a:lnSpc>
                <a:spcPct val="100000"/>
              </a:lnSpc>
              <a:spcBef>
                <a:spcPts val="0"/>
              </a:spcBef>
              <a:spcAft>
                <a:spcPts val="0"/>
              </a:spcAft>
            </a:pPr>
            <a:r>
              <a:rPr sz="980" b="1" i="0">
                <a:solidFill>
                  <a:srgbClr val="B54845"/>
                </a:solidFill>
                <a:latin typeface="Arial"/>
              </a:rPr>
              <a:t>CLOSEOUT / ACCOUNTABILITY</a:t>
            </a:r>
          </a:p>
          <a:p>
            <a:pPr algn="l">
              <a:lnSpc>
                <a:spcPct val="100000"/>
              </a:lnSpc>
              <a:spcBef>
                <a:spcPts val="400"/>
              </a:spcBef>
              <a:spcAft>
                <a:spcPts val="0"/>
              </a:spcAft>
            </a:pPr>
            <a:r>
              <a:rPr sz="1150" b="0" i="0">
                <a:solidFill>
                  <a:srgbClr val="17324D"/>
                </a:solidFill>
                <a:latin typeface="Arial"/>
              </a:rPr>
              <a:t>Dispatcher closes and reconciles the dispatch event record; Gate 3 closes the final gate roster; Watch Commander documents any HOLD, exception, late change, or staffing change. Jelena Skarsgard owns the after-action review due Friday 24 Oct 2025 by 16:00.</a:t>
            </a:r>
          </a:p>
        </p:txBody>
      </p:sp>
      <p:sp>
        <p:nvSpPr>
          <p:cNvPr id="16" name="Rectangle 15"/>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Packet refs: dated delivery brief; current transition terms; local authority snapshot</a:t>
            </a:r>
          </a:p>
        </p:txBody>
      </p:sp>
      <p:sp>
        <p:nvSpPr>
          <p:cNvPr id="18" name="TextBox 17"/>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9875520" cy="201168"/>
          </a:xfrm>
          <a:prstGeom prst="rect">
            <a:avLst/>
          </a:prstGeom>
          <a:noFill/>
        </p:spPr>
        <p:txBody>
          <a:bodyPr wrap="square" lIns="18288" rIns="18288" tIns="18288" bIns="18288" anchor="t">
            <a:spAutoFit/>
          </a:bodyPr>
          <a:lstStyle/>
          <a:p>
            <a:pPr algn="l">
              <a:spcBef>
                <a:spcPts val="0"/>
              </a:spcBef>
              <a:spcAft>
                <a:spcPts val="0"/>
              </a:spcAft>
            </a:pPr>
            <a:r>
              <a:rPr sz="850" b="1" i="0">
                <a:solidFill>
                  <a:srgbClr val="087E78"/>
                </a:solidFill>
                <a:latin typeface="Arial"/>
              </a:rPr>
              <a:t>EXECUTION CARD AND SOURCE TRAIL</a:t>
            </a:r>
          </a:p>
        </p:txBody>
      </p:sp>
      <p:sp>
        <p:nvSpPr>
          <p:cNvPr id="5" name="TextBox 4"/>
          <p:cNvSpPr txBox="1"/>
          <p:nvPr/>
        </p:nvSpPr>
        <p:spPr>
          <a:xfrm>
            <a:off x="438912" y="448056"/>
            <a:ext cx="10835640" cy="566928"/>
          </a:xfrm>
          <a:prstGeom prst="rect">
            <a:avLst/>
          </a:prstGeom>
          <a:noFill/>
        </p:spPr>
        <p:txBody>
          <a:bodyPr wrap="square" lIns="18288" rIns="18288" tIns="18288" bIns="18288" anchor="t">
            <a:spAutoFit/>
          </a:bodyPr>
          <a:lstStyle/>
          <a:p>
            <a:pPr algn="l">
              <a:lnSpc>
                <a:spcPct val="92000"/>
              </a:lnSpc>
              <a:spcBef>
                <a:spcPts val="0"/>
              </a:spcBef>
              <a:spcAft>
                <a:spcPts val="0"/>
              </a:spcAft>
            </a:pPr>
            <a:r>
              <a:rPr sz="2050" b="1" i="0">
                <a:solidFill>
                  <a:srgbClr val="17324D"/>
                </a:solidFill>
                <a:latin typeface="Arial"/>
              </a:rPr>
              <a:t>Four common situations have one unambiguous path</a:t>
            </a:r>
          </a:p>
        </p:txBody>
      </p:sp>
      <p:sp>
        <p:nvSpPr>
          <p:cNvPr id="6" name="Rectangle 5"/>
          <p:cNvSpPr/>
          <p:nvPr/>
        </p:nvSpPr>
        <p:spPr>
          <a:xfrm>
            <a:off x="438912" y="1078992"/>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8248" y="310896"/>
            <a:ext cx="594360" cy="210312"/>
          </a:xfrm>
          <a:prstGeom prst="rect">
            <a:avLst/>
          </a:prstGeom>
          <a:noFill/>
        </p:spPr>
        <p:txBody>
          <a:bodyPr wrap="square" lIns="18288" rIns="18288" tIns="18288" bIns="18288" anchor="t">
            <a:spAutoFit/>
          </a:bodyPr>
          <a:lstStyle/>
          <a:p>
            <a:pPr algn="r">
              <a:spcBef>
                <a:spcPts val="0"/>
              </a:spcBef>
              <a:spcAft>
                <a:spcPts val="0"/>
              </a:spcAft>
            </a:pPr>
            <a:r>
              <a:rPr sz="850" b="1" i="0">
                <a:solidFill>
                  <a:srgbClr val="64727C"/>
                </a:solidFill>
                <a:latin typeface="Arial"/>
              </a:rPr>
              <a:t>10</a:t>
            </a:r>
          </a:p>
        </p:txBody>
      </p:sp>
      <p:sp>
        <p:nvSpPr>
          <p:cNvPr id="8" name="Rectangle 7"/>
          <p:cNvSpPr/>
          <p:nvPr/>
        </p:nvSpPr>
        <p:spPr>
          <a:xfrm>
            <a:off x="502920" y="1261872"/>
            <a:ext cx="11201400" cy="731520"/>
          </a:xfrm>
          <a:prstGeom prst="rect">
            <a:avLst/>
          </a:prstGeom>
          <a:solidFill>
            <a:srgbClr val="E7F3F0"/>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61872"/>
            <a:ext cx="1874519" cy="731520"/>
          </a:xfrm>
          <a:prstGeom prst="rect">
            <a:avLst/>
          </a:prstGeom>
          <a:solidFill>
            <a:srgbClr val="087E78"/>
          </a:solidFill>
          <a:ln>
            <a:solidFill>
              <a:srgbClr val="087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435607"/>
            <a:ext cx="1618488" cy="16459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rPr>
              <a:t>Planned vehicle</a:t>
            </a:r>
          </a:p>
        </p:txBody>
      </p:sp>
      <p:sp>
        <p:nvSpPr>
          <p:cNvPr id="11" name="TextBox 10"/>
          <p:cNvSpPr txBox="1"/>
          <p:nvPr/>
        </p:nvSpPr>
        <p:spPr>
          <a:xfrm>
            <a:off x="2596896" y="1389888"/>
            <a:ext cx="4800600" cy="192024"/>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17324D"/>
                </a:solidFill>
                <a:latin typeface="Arial"/>
              </a:rPr>
              <a:t>STAGE -&gt; ACCEPTED -&gt; VERIFY -&gt; GATE CLEARED -&gt; RELEASED</a:t>
            </a:r>
          </a:p>
        </p:txBody>
      </p:sp>
      <p:sp>
        <p:nvSpPr>
          <p:cNvPr id="12" name="TextBox 11"/>
          <p:cNvSpPr txBox="1"/>
          <p:nvPr/>
        </p:nvSpPr>
        <p:spPr>
          <a:xfrm>
            <a:off x="7571231" y="1380743"/>
            <a:ext cx="3840480" cy="356616"/>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Vehicle and driver match final roster; normal queue flow continues.</a:t>
            </a:r>
          </a:p>
        </p:txBody>
      </p:sp>
      <p:sp>
        <p:nvSpPr>
          <p:cNvPr id="13" name="Rectangle 12"/>
          <p:cNvSpPr/>
          <p:nvPr/>
        </p:nvSpPr>
        <p:spPr>
          <a:xfrm>
            <a:off x="502920" y="2121408"/>
            <a:ext cx="11201400" cy="731520"/>
          </a:xfrm>
          <a:prstGeom prst="rect">
            <a:avLst/>
          </a:prstGeom>
          <a:solidFill>
            <a:srgbClr val="E8F1F7"/>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121408"/>
            <a:ext cx="1874519" cy="731520"/>
          </a:xfrm>
          <a:prstGeom prst="rect">
            <a:avLst/>
          </a:prstGeom>
          <a:solidFill>
            <a:srgbClr val="1F5A86"/>
          </a:solidFill>
          <a:ln>
            <a:solidFill>
              <a:srgbClr val="1F5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295144"/>
            <a:ext cx="1618488" cy="16459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rPr>
              <a:t>Additional verified vehicle</a:t>
            </a:r>
          </a:p>
        </p:txBody>
      </p:sp>
      <p:sp>
        <p:nvSpPr>
          <p:cNvPr id="16" name="TextBox 15"/>
          <p:cNvSpPr txBox="1"/>
          <p:nvPr/>
        </p:nvSpPr>
        <p:spPr>
          <a:xfrm>
            <a:off x="2596896" y="2249424"/>
            <a:ext cx="4800600" cy="192024"/>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17324D"/>
                </a:solidFill>
                <a:latin typeface="Arial"/>
              </a:rPr>
              <a:t>Use Plan A eight-vehicle capacity; follow the same status sequence</a:t>
            </a:r>
          </a:p>
        </p:txBody>
      </p:sp>
      <p:sp>
        <p:nvSpPr>
          <p:cNvPr id="17" name="TextBox 16"/>
          <p:cNvSpPr txBox="1"/>
          <p:nvPr/>
        </p:nvSpPr>
        <p:spPr>
          <a:xfrm>
            <a:off x="7571231" y="2240279"/>
            <a:ext cx="3840480" cy="356616"/>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It remains subject to final roster + positive link. Capacity is not automatic admission.</a:t>
            </a:r>
          </a:p>
        </p:txBody>
      </p:sp>
      <p:sp>
        <p:nvSpPr>
          <p:cNvPr id="18" name="Rectangle 17"/>
          <p:cNvSpPr/>
          <p:nvPr/>
        </p:nvSpPr>
        <p:spPr>
          <a:xfrm>
            <a:off x="502920" y="2980944"/>
            <a:ext cx="11201400" cy="731520"/>
          </a:xfrm>
          <a:prstGeom prst="rect">
            <a:avLst/>
          </a:prstGeom>
          <a:solidFill>
            <a:srgbClr val="F9EAEA"/>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980944"/>
            <a:ext cx="1874519" cy="731520"/>
          </a:xfrm>
          <a:prstGeom prst="rect">
            <a:avLst/>
          </a:prstGeom>
          <a:solidFill>
            <a:srgbClr val="B54845"/>
          </a:solidFill>
          <a:ln>
            <a:solidFill>
              <a:srgbClr val="B548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154679"/>
            <a:ext cx="1618488" cy="16459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rPr>
              <a:t>Unlisted / mismatch</a:t>
            </a:r>
          </a:p>
        </p:txBody>
      </p:sp>
      <p:sp>
        <p:nvSpPr>
          <p:cNvPr id="21" name="TextBox 20"/>
          <p:cNvSpPr txBox="1"/>
          <p:nvPr/>
        </p:nvSpPr>
        <p:spPr>
          <a:xfrm>
            <a:off x="2596896" y="3108960"/>
            <a:ext cx="4800600" cy="192024"/>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17324D"/>
                </a:solidFill>
                <a:latin typeface="Arial"/>
              </a:rPr>
              <a:t>HOLD in staging -&gt; dispatcher log -&gt; commander decision -&gt; re-verify</a:t>
            </a:r>
          </a:p>
        </p:txBody>
      </p:sp>
      <p:sp>
        <p:nvSpPr>
          <p:cNvPr id="22" name="TextBox 21"/>
          <p:cNvSpPr txBox="1"/>
          <p:nvPr/>
        </p:nvSpPr>
        <p:spPr>
          <a:xfrm>
            <a:off x="7571231" y="3099815"/>
            <a:ext cx="3840480" cy="356616"/>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No entry or release from an informal assurance, a prior list position, or Accepted.</a:t>
            </a:r>
          </a:p>
        </p:txBody>
      </p:sp>
      <p:sp>
        <p:nvSpPr>
          <p:cNvPr id="23" name="Rectangle 22"/>
          <p:cNvSpPr/>
          <p:nvPr/>
        </p:nvSpPr>
        <p:spPr>
          <a:xfrm>
            <a:off x="502920" y="3840479"/>
            <a:ext cx="11201400" cy="731520"/>
          </a:xfrm>
          <a:prstGeom prst="rect">
            <a:avLst/>
          </a:prstGeom>
          <a:solidFill>
            <a:srgbClr val="FBF2E3"/>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840479"/>
            <a:ext cx="1874519" cy="731520"/>
          </a:xfrm>
          <a:prstGeom prst="rect">
            <a:avLst/>
          </a:prstGeom>
          <a:solidFill>
            <a:srgbClr val="C98518"/>
          </a:solidFill>
          <a:ln>
            <a:solidFill>
              <a:srgbClr val="C9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4014215"/>
            <a:ext cx="1618488" cy="164592"/>
          </a:xfrm>
          <a:prstGeom prst="rect">
            <a:avLst/>
          </a:prstGeom>
          <a:noFill/>
        </p:spPr>
        <p:txBody>
          <a:bodyPr wrap="square" lIns="18288" rIns="18288" tIns="18288" bIns="18288" anchor="t">
            <a:spAutoFit/>
          </a:bodyPr>
          <a:lstStyle/>
          <a:p>
            <a:pPr algn="ctr">
              <a:spcBef>
                <a:spcPts val="0"/>
              </a:spcBef>
              <a:spcAft>
                <a:spcPts val="0"/>
              </a:spcAft>
            </a:pPr>
            <a:r>
              <a:rPr sz="1100" b="1" i="0">
                <a:solidFill>
                  <a:srgbClr val="FFFFFF"/>
                </a:solidFill>
                <a:latin typeface="Arial"/>
              </a:rPr>
              <a:t>Mobile outage</a:t>
            </a:r>
          </a:p>
        </p:txBody>
      </p:sp>
      <p:sp>
        <p:nvSpPr>
          <p:cNvPr id="26" name="TextBox 25"/>
          <p:cNvSpPr txBox="1"/>
          <p:nvPr/>
        </p:nvSpPr>
        <p:spPr>
          <a:xfrm>
            <a:off x="2596896" y="3968495"/>
            <a:ext cx="4800600" cy="192024"/>
          </a:xfrm>
          <a:prstGeom prst="rect">
            <a:avLst/>
          </a:prstGeom>
          <a:noFill/>
        </p:spPr>
        <p:txBody>
          <a:bodyPr wrap="square" lIns="18288" rIns="18288" tIns="18288" bIns="18288" anchor="t">
            <a:spAutoFit/>
          </a:bodyPr>
          <a:lstStyle/>
          <a:p>
            <a:pPr algn="l">
              <a:spcBef>
                <a:spcPts val="0"/>
              </a:spcBef>
              <a:spcAft>
                <a:spcPts val="0"/>
              </a:spcAft>
            </a:pPr>
            <a:r>
              <a:rPr sz="1019" b="1" i="0">
                <a:solidFill>
                  <a:srgbClr val="17324D"/>
                </a:solidFill>
                <a:latin typeface="Arial"/>
              </a:rPr>
              <a:t>Dispatcher declares RADIO FALLBACK -&gt; closed-loop radio -&gt; reconcile</a:t>
            </a:r>
          </a:p>
        </p:txBody>
      </p:sp>
      <p:sp>
        <p:nvSpPr>
          <p:cNvPr id="27" name="TextBox 26"/>
          <p:cNvSpPr txBox="1"/>
          <p:nvPr/>
        </p:nvSpPr>
        <p:spPr>
          <a:xfrm>
            <a:off x="7571231" y="3959351"/>
            <a:ext cx="3840480" cy="356616"/>
          </a:xfrm>
          <a:prstGeom prst="rect">
            <a:avLst/>
          </a:prstGeom>
          <a:noFill/>
        </p:spPr>
        <p:txBody>
          <a:bodyPr wrap="square" lIns="18288" rIns="18288" tIns="18288" bIns="18288" anchor="t">
            <a:spAutoFit/>
          </a:bodyPr>
          <a:lstStyle/>
          <a:p>
            <a:pPr algn="l">
              <a:lnSpc>
                <a:spcPct val="94000"/>
              </a:lnSpc>
              <a:spcBef>
                <a:spcPts val="0"/>
              </a:spcBef>
              <a:spcAft>
                <a:spcPts val="0"/>
              </a:spcAft>
            </a:pPr>
            <a:r>
              <a:rPr sz="940" b="0" i="0">
                <a:solidFill>
                  <a:srgbClr val="202B33"/>
                </a:solidFill>
                <a:latin typeface="Arial"/>
              </a:rPr>
              <a:t>Untrained personnel use the same radio path; resume mobile only after reconciliation.</a:t>
            </a:r>
          </a:p>
        </p:txBody>
      </p:sp>
      <p:sp>
        <p:nvSpPr>
          <p:cNvPr id="28" name="Rectangle 27"/>
          <p:cNvSpPr/>
          <p:nvPr/>
        </p:nvSpPr>
        <p:spPr>
          <a:xfrm>
            <a:off x="502920" y="4919472"/>
            <a:ext cx="5303520" cy="1051560"/>
          </a:xfrm>
          <a:prstGeom prst="rect">
            <a:avLst/>
          </a:prstGeom>
          <a:solidFill>
            <a:srgbClr val="E7F3F0"/>
          </a:solidFill>
          <a:ln>
            <a:solidFill>
              <a:srgbClr val="C9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919472"/>
            <a:ext cx="5303520" cy="1051560"/>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087E78"/>
                </a:solidFill>
                <a:latin typeface="Arial"/>
              </a:rPr>
              <a:t>Controlling record trail</a:t>
            </a:r>
          </a:p>
          <a:p>
            <a:pPr algn="l">
              <a:lnSpc>
                <a:spcPct val="95000"/>
              </a:lnSpc>
              <a:spcBef>
                <a:spcPts val="500"/>
              </a:spcBef>
              <a:spcAft>
                <a:spcPts val="0"/>
              </a:spcAft>
            </a:pPr>
            <a:r>
              <a:rPr sz="969" b="0" i="0">
                <a:solidFill>
                  <a:srgbClr val="17324D"/>
                </a:solidFill>
                <a:latin typeface="Arial"/>
              </a:rPr>
              <a:t>Capacity: Everstead client manifest Revision 3, received 15 Oct 2025 16:20.
Entry: final 05:45 reconciled gate roster + gate positive verification.
Baseline reference: CLPD logistics Revision 1, frozen 13 Oct 2025 14:00.</a:t>
            </a:r>
          </a:p>
        </p:txBody>
      </p:sp>
      <p:sp>
        <p:nvSpPr>
          <p:cNvPr id="30" name="Rectangle 29"/>
          <p:cNvSpPr/>
          <p:nvPr/>
        </p:nvSpPr>
        <p:spPr>
          <a:xfrm>
            <a:off x="6053328" y="4919472"/>
            <a:ext cx="5650992" cy="1051560"/>
          </a:xfrm>
          <a:prstGeom prst="rect">
            <a:avLst/>
          </a:prstGeom>
          <a:solidFill>
            <a:srgbClr val="E8F1F7"/>
          </a:solidFill>
          <a:ln>
            <a:solidFill>
              <a:srgbClr val="C7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53328" y="4919472"/>
            <a:ext cx="5650992" cy="1051560"/>
          </a:xfrm>
          <a:prstGeom prst="rect">
            <a:avLst/>
          </a:prstGeom>
          <a:noFill/>
        </p:spPr>
        <p:txBody>
          <a:bodyPr wrap="square" lIns="54864" rIns="54864" tIns="54864" bIns="54864">
            <a:spAutoFit/>
          </a:bodyPr>
          <a:lstStyle/>
          <a:p>
            <a:pPr algn="l">
              <a:lnSpc>
                <a:spcPct val="100000"/>
              </a:lnSpc>
              <a:spcBef>
                <a:spcPts val="0"/>
              </a:spcBef>
              <a:spcAft>
                <a:spcPts val="0"/>
              </a:spcAft>
            </a:pPr>
            <a:r>
              <a:rPr sz="1000" b="1" i="0">
                <a:solidFill>
                  <a:srgbClr val="087E78"/>
                </a:solidFill>
                <a:latin typeface="Arial"/>
              </a:rPr>
              <a:t>Mandatory authority trail</a:t>
            </a:r>
          </a:p>
          <a:p>
            <a:pPr algn="l">
              <a:lnSpc>
                <a:spcPct val="95000"/>
              </a:lnSpc>
              <a:spcBef>
                <a:spcPts val="500"/>
              </a:spcBef>
              <a:spcAft>
                <a:spcPts val="0"/>
              </a:spcAft>
            </a:pPr>
            <a:r>
              <a:rPr sz="960" b="0" i="0">
                <a:solidFill>
                  <a:srgbClr val="17324D"/>
                </a:solidFill>
                <a:latin typeface="Arial"/>
              </a:rPr>
              <a:t>Maryland Freight Facility Access Regulation (MFAR) 8.4, 8.6, 8.7; CLPD General Order GO-4.12; CLPD Communications Directive CD-2.7; Gate Post Order G-3. Frozen Maryland/local snapshot current as of 15 Oct 2025.</a:t>
            </a:r>
          </a:p>
        </p:txBody>
      </p:sp>
      <p:sp>
        <p:nvSpPr>
          <p:cNvPr id="32" name="Rectangle 31"/>
          <p:cNvSpPr/>
          <p:nvPr/>
        </p:nvSpPr>
        <p:spPr>
          <a:xfrm>
            <a:off x="438912" y="6537960"/>
            <a:ext cx="11311128" cy="9144"/>
          </a:xfrm>
          <a:prstGeom prst="rect">
            <a:avLst/>
          </a:prstGeom>
          <a:solidFill>
            <a:srgbClr val="CFD8DC"/>
          </a:solidFill>
          <a:ln>
            <a:solidFill>
              <a:srgbClr val="CF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83680"/>
            <a:ext cx="9966960" cy="155448"/>
          </a:xfrm>
          <a:prstGeom prst="rect">
            <a:avLst/>
          </a:prstGeom>
          <a:noFill/>
        </p:spPr>
        <p:txBody>
          <a:bodyPr wrap="square" lIns="18288" rIns="18288" tIns="18288" bIns="18288" anchor="t">
            <a:spAutoFit/>
          </a:bodyPr>
          <a:lstStyle/>
          <a:p>
            <a:pPr algn="l">
              <a:spcBef>
                <a:spcPts val="0"/>
              </a:spcBef>
              <a:spcAft>
                <a:spcPts val="0"/>
              </a:spcAft>
            </a:pPr>
            <a:r>
              <a:rPr sz="670" b="0" i="0">
                <a:solidFill>
                  <a:srgbClr val="64727C"/>
                </a:solidFill>
                <a:latin typeface="Arial"/>
              </a:rPr>
              <a:t>Source packet only: manifest/logistics revisions, correspondence, Gate 3 exports, resources, and frozen authority snapshot</a:t>
            </a:r>
          </a:p>
        </p:txBody>
      </p:sp>
      <p:sp>
        <p:nvSpPr>
          <p:cNvPr id="34" name="TextBox 33"/>
          <p:cNvSpPr txBox="1"/>
          <p:nvPr/>
        </p:nvSpPr>
        <p:spPr>
          <a:xfrm>
            <a:off x="11109960" y="6583680"/>
            <a:ext cx="603504" cy="155448"/>
          </a:xfrm>
          <a:prstGeom prst="rect">
            <a:avLst/>
          </a:prstGeom>
          <a:noFill/>
        </p:spPr>
        <p:txBody>
          <a:bodyPr wrap="square" lIns="18288" rIns="18288" tIns="18288" bIns="18288" anchor="t">
            <a:spAutoFit/>
          </a:bodyPr>
          <a:lstStyle/>
          <a:p>
            <a:pPr algn="r">
              <a:spcBef>
                <a:spcPts val="0"/>
              </a:spcBef>
              <a:spcAft>
                <a:spcPts val="0"/>
              </a:spcAft>
            </a:pPr>
            <a:r>
              <a:rPr sz="670" b="1" i="0">
                <a:solidFill>
                  <a:srgbClr val="64727C"/>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Everstead delivery operating plan - gold</dc:title>
  <dc:subject>Board authorization and execution deck</dc:subject>
  <dc:creator>Cinderhall Logistics Police Division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