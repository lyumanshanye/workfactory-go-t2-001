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789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73CDD6"/>
                </a:solidFill>
                <a:latin typeface="Aptos"/>
              </a:defRPr>
            </a:pPr>
            <a:r>
              <a:t>NINEBARK PORT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98755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3300" b="1">
                <a:solidFill>
                  <a:srgbClr val="FFFFFF"/>
                </a:solidFill>
                <a:latin typeface="Aptos"/>
              </a:defRPr>
            </a:pPr>
            <a:r>
              <a:t>Voluntary green-lane</a:t>
            </a:r>
          </a:p>
          <a:p>
            <a:pPr algn="l">
              <a:spcAft>
                <a:spcPts val="200"/>
              </a:spcAft>
              <a:defRPr sz="3300" b="1">
                <a:solidFill>
                  <a:srgbClr val="FFFFFF"/>
                </a:solidFill>
                <a:latin typeface="Aptos"/>
              </a:defRPr>
            </a:pPr>
            <a:r>
              <a:t>panel case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34640"/>
            <a:ext cx="86868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E0EBEF"/>
                </a:solidFill>
                <a:latin typeface="Aptos"/>
              </a:defRPr>
            </a:pPr>
            <a:r>
              <a:t>A bounded pre-clearance and audit-access proposal for the four largest tenants.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10789920" cy="1115568"/>
          </a:xfrm>
          <a:prstGeom prst="roundRect">
            <a:avLst/>
          </a:prstGeom>
          <a:solidFill>
            <a:srgbClr val="1F465C"/>
          </a:solidFill>
          <a:ln>
            <a:solidFill>
              <a:srgbClr val="1F4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233672"/>
            <a:ext cx="101955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Panel decision requested in September — before the next tariff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97880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B1CBD5"/>
                </a:solidFill>
                <a:latin typeface="Aptos"/>
              </a:defRPr>
            </a:pPr>
            <a:r>
              <a:t>Prepared by Otto Sundqvist | Compliance Officer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0272" y="6464808"/>
            <a:ext cx="3657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287D8C"/>
                </a:solidFill>
                <a:latin typeface="Aptos"/>
              </a:defRPr>
            </a:pPr>
            <a:r>
              <a:t>DECISION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42F47"/>
                </a:solidFill>
                <a:latin typeface="Aptos"/>
              </a:defRPr>
            </a:pPr>
            <a:r>
              <a:t>Lead with the limitation, then 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96B7A"/>
                </a:solidFill>
                <a:latin typeface="Aptos"/>
              </a:defRPr>
            </a:pPr>
            <a:r>
              <a:t>No rebuttal round should be needed for the transferability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4747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596B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11155680" cy="1143000"/>
          </a:xfrm>
          <a:prstGeom prst="roundRect">
            <a:avLst/>
          </a:prstGeom>
          <a:solidFill>
            <a:srgbClr val="FFF4E1"/>
          </a:solidFill>
          <a:ln>
            <a:solidFill>
              <a:srgbClr val="EBB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1060704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200"/>
              </a:spcAft>
              <a:defRPr sz="2100" b="1">
                <a:solidFill>
                  <a:srgbClr val="AE3E37"/>
                </a:solidFill>
                <a:latin typeface="Aptos"/>
              </a:defRPr>
            </a:pPr>
            <a:r>
              <a:t>Concession: dwell-time savings observed at other ports may not transfer cleanly to Ninebark.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3520440" cy="169164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91840"/>
            <a:ext cx="100584" cy="1691640"/>
          </a:xfrm>
          <a:prstGeom prst="rect">
            <a:avLst/>
          </a:prstGeom>
          <a:solidFill>
            <a:srgbClr val="2F845F"/>
          </a:solidFill>
          <a:ln>
            <a:solidFill>
              <a:srgbClr val="2F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38144"/>
            <a:ext cx="31089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What Ninebark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21608"/>
            <a:ext cx="310896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18.4 → 16.9 hours average dwell time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Population: four in-scope tenants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Periods: Jan–Jun 2024 / Jan–Jun 2025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Observed Ninebark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291840"/>
            <a:ext cx="3520440" cy="169164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3291840"/>
            <a:ext cx="100584" cy="1691640"/>
          </a:xfrm>
          <a:prstGeom prst="rect">
            <a:avLst/>
          </a:prstGeom>
          <a:solidFill>
            <a:srgbClr val="DA912D"/>
          </a:solidFill>
          <a:ln>
            <a:solidFill>
              <a:srgbClr val="DA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438144"/>
            <a:ext cx="31089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External evidence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21608"/>
            <a:ext cx="310896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Port Halcyon: 14.2 hours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External observation, later period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Port Bellwether: 12.8 hours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Projection from other 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291840"/>
            <a:ext cx="3520440" cy="169164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3291840"/>
            <a:ext cx="100584" cy="1691640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438144"/>
            <a:ext cx="31089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Decision discipline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721608"/>
            <a:ext cx="310896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Treat external figures as context—not a forecast. Vote only for a voluntary pilot with the stated access boundaries and review controls.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33972"/>
            <a:ext cx="9875520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Aptos"/>
              </a:defRPr>
            </a:pPr>
            <a:r>
              <a:t>Source: green_lane_case_register.xlsx; green_lane_governing_policy.docx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287D8C"/>
                </a:solidFill>
                <a:latin typeface="Aptos"/>
              </a:defRPr>
            </a:pPr>
            <a: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42F47"/>
                </a:solidFill>
                <a:latin typeface="Aptos"/>
              </a:defRPr>
            </a:pPr>
            <a:r>
              <a:t>Four largest tenants are the defined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96B7A"/>
                </a:solidFill>
                <a:latin typeface="Aptos"/>
              </a:defRPr>
            </a:pPr>
            <a:r>
              <a:t>Ranked by 2024 cargo volume in the supplied opening state; no additional tenant is in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4747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596B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337560" cy="521207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805939"/>
            <a:ext cx="326440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Tenant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737360"/>
            <a:ext cx="1828800" cy="521207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14215" y="1805939"/>
            <a:ext cx="175564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2024 cargo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737360"/>
            <a:ext cx="1920240" cy="521207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43016" y="1805939"/>
            <a:ext cx="184708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Opening 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737360"/>
            <a:ext cx="2148840" cy="521207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63255" y="1805939"/>
            <a:ext cx="207568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Replayed final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258568"/>
            <a:ext cx="33375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322575"/>
            <a:ext cx="326440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Marrowbone Terminals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2258568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14215" y="2322575"/>
            <a:ext cx="175564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82,000 TEU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2258568"/>
            <a:ext cx="1920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3016" y="2322575"/>
            <a:ext cx="184708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2258568"/>
            <a:ext cx="21488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5" y="2322575"/>
            <a:ext cx="207568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779776"/>
            <a:ext cx="3337560" cy="521207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2843784"/>
            <a:ext cx="326440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Gildenhall Logistics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39" y="2779776"/>
            <a:ext cx="1828800" cy="521207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14215" y="2843784"/>
            <a:ext cx="175564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76,000 TEU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2779776"/>
            <a:ext cx="1920240" cy="521207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43016" y="2843784"/>
            <a:ext cx="184708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79" y="2779776"/>
            <a:ext cx="2148840" cy="521207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63255" y="2843784"/>
            <a:ext cx="207568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300984"/>
            <a:ext cx="33375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364991"/>
            <a:ext cx="326440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Overbrook Energy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7639" y="3300984"/>
            <a:ext cx="18288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14215" y="3364991"/>
            <a:ext cx="175564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69,000 TEU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3300984"/>
            <a:ext cx="19202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43016" y="3364991"/>
            <a:ext cx="184708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79" y="3300984"/>
            <a:ext cx="21488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63255" y="3364991"/>
            <a:ext cx="207568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822191"/>
            <a:ext cx="3337560" cy="521207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3886200"/>
            <a:ext cx="326440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Pellinore Foods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39" y="3822191"/>
            <a:ext cx="1828800" cy="521207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14215" y="3886200"/>
            <a:ext cx="175564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61,000 TEU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06440" y="3822191"/>
            <a:ext cx="1920240" cy="521207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43016" y="3886200"/>
            <a:ext cx="184708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26679" y="3822191"/>
            <a:ext cx="2148840" cy="521207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63255" y="3886200"/>
            <a:ext cx="2075688" cy="4297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66760" y="1737360"/>
            <a:ext cx="3154680" cy="2084831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1984248"/>
            <a:ext cx="26060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42F47"/>
                </a:solidFill>
                <a:latin typeface="Aptos"/>
              </a:defRPr>
            </a:pPr>
            <a:r>
              <a:t>Case readout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2395728"/>
            <a:ext cx="256032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All four tenants replay to Active.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</a:p>
          <a:p>
            <a:pPr algn="l">
              <a:spcAft>
                <a:spcPts val="200"/>
              </a:spcAft>
              <a:defRPr sz="1100" b="0">
                <a:solidFill>
                  <a:srgbClr val="232F3A"/>
                </a:solidFill>
                <a:latin typeface="Aptos"/>
              </a:defRPr>
            </a:pPr>
            <a:r>
              <a:t>One cleaned Adverse finding occurred; Overbrook completed follow-up to Active.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" y="4572000"/>
            <a:ext cx="1060704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AE3E37"/>
                </a:solidFill>
                <a:latin typeface="Aptos"/>
              </a:defRPr>
            </a:pPr>
            <a:r>
              <a:t>The display uses policy replay—never the retired “Status Helper” field, which conflicts with the final replay for Gildenhall and Overbrook.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633972"/>
            <a:ext cx="9875520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Aptos"/>
              </a:defRPr>
            </a:pPr>
            <a:r>
              <a:t>Source: green_lane_case_register.xlsx; green_lane_governing_policy.docx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287D8C"/>
                </a:solidFill>
                <a:latin typeface="Aptos"/>
              </a:defRPr>
            </a:pPr>
            <a:r>
              <a:t>PERIOD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42F47"/>
                </a:solidFill>
                <a:latin typeface="Aptos"/>
              </a:defRPr>
            </a:pPr>
            <a:r>
              <a:t>Measured Ninebark dwell time improved materially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96B7A"/>
                </a:solidFill>
                <a:latin typeface="Aptos"/>
              </a:defRPr>
            </a:pPr>
            <a:r>
              <a:t>Principal metric: average dwell hours across cleaned performance observations for the four in-scope tenants.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4747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596B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3063240" cy="228600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26974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596B7A"/>
                </a:solidFill>
                <a:latin typeface="Aptos"/>
              </a:defRPr>
            </a:pPr>
            <a:r>
              <a:t>EARLIER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596B7A"/>
                </a:solidFill>
                <a:latin typeface="Aptos"/>
              </a:defRPr>
            </a:pPr>
            <a:r>
              <a:t>Jan–Jun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70048"/>
            <a:ext cx="26974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3100" b="1">
                <a:solidFill>
                  <a:srgbClr val="DA912D"/>
                </a:solidFill>
                <a:latin typeface="Aptos"/>
              </a:defRPr>
            </a:pPr>
            <a:r>
              <a:t>18.4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55848"/>
            <a:ext cx="2697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3 distinct qualifying tenant keys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874519"/>
            <a:ext cx="3063240" cy="228600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121408"/>
            <a:ext cx="26974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596B7A"/>
                </a:solidFill>
                <a:latin typeface="Aptos"/>
              </a:defRPr>
            </a:pPr>
            <a:r>
              <a:t>LATER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596B7A"/>
                </a:solidFill>
                <a:latin typeface="Aptos"/>
              </a:defRPr>
            </a:pPr>
            <a:r>
              <a:t>Jan–Jun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70048"/>
            <a:ext cx="269748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3100" b="1">
                <a:solidFill>
                  <a:srgbClr val="2F845F"/>
                </a:solidFill>
                <a:latin typeface="Aptos"/>
              </a:defRPr>
            </a:pPr>
            <a:r>
              <a:t>16.9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355848"/>
            <a:ext cx="2697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4 distinct qualifying tenant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874519"/>
            <a:ext cx="2743200" cy="2286000"/>
          </a:xfrm>
          <a:prstGeom prst="round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194560"/>
            <a:ext cx="22860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73CDD6"/>
                </a:solidFill>
                <a:latin typeface="Aptos"/>
              </a:defRPr>
            </a:pPr>
            <a:r>
              <a:t>MATERIAL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97480"/>
            <a:ext cx="228600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-1.5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355848"/>
            <a:ext cx="22860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Improvement exceeds the ≥1.0-hour materiality threshold.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232F3A"/>
                </a:solidFill>
                <a:latin typeface="Aptos"/>
              </a:defRPr>
            </a:pPr>
            <a:r>
              <a:t>Interpretation: this is observed period-over-period movement, not proof that the proposed voluntary terms caused the change.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33972"/>
            <a:ext cx="9875520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Aptos"/>
              </a:defRPr>
            </a:pPr>
            <a:r>
              <a:t>Source: green_lane_case_register.xlsx; green_lane_governing_policy.docx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287D8C"/>
                </a:solidFill>
                <a:latin typeface="Aptos"/>
              </a:defRPr>
            </a:pPr>
            <a:r>
              <a:t>BENEFIT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42F47"/>
                </a:solidFill>
                <a:latin typeface="Aptos"/>
              </a:defRPr>
            </a:pPr>
            <a:r>
              <a:t>What supports a dwell-time claim—and what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96B7A"/>
                </a:solidFill>
                <a:latin typeface="Aptos"/>
              </a:defRPr>
            </a:pPr>
            <a:r>
              <a:t>Every figure is labeled with population, period, unit, and observation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4747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596B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423160" cy="475488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805939"/>
            <a:ext cx="235000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Evidence population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39" y="1737360"/>
            <a:ext cx="1828800" cy="475488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5" y="1805939"/>
            <a:ext cx="17556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1737360"/>
            <a:ext cx="1280160" cy="475488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28616" y="1805939"/>
            <a:ext cx="12070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Figure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37360"/>
            <a:ext cx="1554480" cy="475488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805939"/>
            <a:ext cx="1481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737360"/>
            <a:ext cx="2377440" cy="475488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3255" y="1805939"/>
            <a:ext cx="23042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19" y="1737360"/>
            <a:ext cx="1508760" cy="475488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0695" y="1805939"/>
            <a:ext cx="14356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Use in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212848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276856"/>
            <a:ext cx="235000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Four in-scope Ninebark tenants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63239" y="2212848"/>
            <a:ext cx="1828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99815" y="2276856"/>
            <a:ext cx="17556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Jan–Jun 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2212848"/>
            <a:ext cx="1280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8616" y="2276856"/>
            <a:ext cx="12070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18.4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212848"/>
            <a:ext cx="1554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8776" y="2276856"/>
            <a:ext cx="1481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hours avg.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2212848"/>
            <a:ext cx="2377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63255" y="2276856"/>
            <a:ext cx="23042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Observed Ninebark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04119" y="2212848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0695" y="2276856"/>
            <a:ext cx="14356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688336"/>
            <a:ext cx="242316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2752344"/>
            <a:ext cx="235000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Four in-scope Ninebark tenants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63239" y="2688336"/>
            <a:ext cx="182880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99815" y="2752344"/>
            <a:ext cx="17556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Jan–Jun 2025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2688336"/>
            <a:ext cx="128016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28616" y="2752344"/>
            <a:ext cx="12070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16.9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688336"/>
            <a:ext cx="155448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08776" y="2752344"/>
            <a:ext cx="1481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hours avg.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26679" y="2688336"/>
            <a:ext cx="237744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63255" y="2752344"/>
            <a:ext cx="23042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Observed Ninebark 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04119" y="2688336"/>
            <a:ext cx="150876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0695" y="2752344"/>
            <a:ext cx="14356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Current result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163824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3227832"/>
            <a:ext cx="235000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Port Halcyon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3239" y="3163824"/>
            <a:ext cx="1828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99815" y="3227832"/>
            <a:ext cx="17556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Later period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3163824"/>
            <a:ext cx="1280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28616" y="3227832"/>
            <a:ext cx="12070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14.2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163824"/>
            <a:ext cx="1554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08776" y="3227832"/>
            <a:ext cx="1481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hours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26679" y="3163824"/>
            <a:ext cx="23774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63255" y="3227832"/>
            <a:ext cx="23042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External observation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104119" y="3163824"/>
            <a:ext cx="1508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40695" y="3227832"/>
            <a:ext cx="14356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Context only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3639312"/>
            <a:ext cx="242316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" y="3703320"/>
            <a:ext cx="235000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Port Bellwether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39" y="3639312"/>
            <a:ext cx="182880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99815" y="3703320"/>
            <a:ext cx="17556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Later period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92040" y="3639312"/>
            <a:ext cx="128016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28616" y="3703320"/>
            <a:ext cx="12070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12.8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3639312"/>
            <a:ext cx="155448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08776" y="3703320"/>
            <a:ext cx="148132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hours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679" y="3639312"/>
            <a:ext cx="237744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63255" y="3703320"/>
            <a:ext cx="23042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Projection from other port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4119" y="3639312"/>
            <a:ext cx="1508760" cy="47548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40695" y="3703320"/>
            <a:ext cx="1435607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Not a Ninebark result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" y="4617720"/>
            <a:ext cx="10881360" cy="704088"/>
          </a:xfrm>
          <a:prstGeom prst="roundRect">
            <a:avLst/>
          </a:prstGeom>
          <a:solidFill>
            <a:srgbClr val="E2F4EE"/>
          </a:solidFill>
          <a:ln>
            <a:solidFill>
              <a:srgbClr val="8BC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6112" y="4800600"/>
            <a:ext cx="10332720" cy="3017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2F845F"/>
                </a:solidFill>
                <a:latin typeface="Aptos"/>
              </a:defRPr>
            </a:pPr>
            <a:r>
              <a:t>Bounded claim: Ninebark’s observed average dwell time fell 1.5 hours across the defined periods; no external-port figure is claimed as a Ninebark saving.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6633972"/>
            <a:ext cx="9875520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Aptos"/>
              </a:defRPr>
            </a:pPr>
            <a:r>
              <a:t>Source: green_lane_case_register.xlsx; green_lane_governing_policy.docx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287D8C"/>
                </a:solidFill>
                <a:latin typeface="Aptos"/>
              </a:defRPr>
            </a:pPr>
            <a:r>
              <a:t>ANSWER TO THE AUDIT-ACCESS OBJECTION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42F47"/>
                </a:solidFill>
                <a:latin typeface="Aptos"/>
              </a:defRPr>
            </a:pPr>
            <a:r>
              <a:t>Defined records, bounded access, protected commercial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96B7A"/>
                </a:solidFill>
                <a:latin typeface="Aptos"/>
              </a:defRPr>
            </a:pPr>
            <a:r>
              <a:t>The proposal is neither an “all data” request nor unrestricted systems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4747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596B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566160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00584" cy="1325880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37944"/>
            <a:ext cx="3154679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Exact record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3154679" cy="82295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Participating-tenant green-lane cargo documentation, pre-clearance decisions, shipment-level exception logs, and remediation evidence for the audited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91640"/>
            <a:ext cx="3566160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91640"/>
            <a:ext cx="100584" cy="1325880"/>
          </a:xfrm>
          <a:prstGeom prst="rect">
            <a:avLst/>
          </a:prstGeom>
          <a:solidFill>
            <a:srgbClr val="2F845F"/>
          </a:solidFill>
          <a:ln>
            <a:solidFill>
              <a:srgbClr val="2F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837944"/>
            <a:ext cx="3154679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21408"/>
            <a:ext cx="3154679" cy="82295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Seven years from the relevant shipment or decision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691640"/>
            <a:ext cx="3566160" cy="132588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691640"/>
            <a:ext cx="100584" cy="1325880"/>
          </a:xfrm>
          <a:prstGeom prst="rect">
            <a:avLst/>
          </a:prstGeom>
          <a:solidFill>
            <a:srgbClr val="DA912D"/>
          </a:solidFill>
          <a:ln>
            <a:solidFill>
              <a:srgbClr val="DA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837944"/>
            <a:ext cx="3154679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Access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121408"/>
            <a:ext cx="3154679" cy="822959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Ninebark compliance officers and the tenant’s designated audit liaison; secure read-only export or supervised on-site review; no unrestricted production-system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10128"/>
            <a:ext cx="5394960" cy="141732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10128"/>
            <a:ext cx="100584" cy="1417320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56432"/>
            <a:ext cx="4983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Confidential material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39896"/>
            <a:ext cx="49834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Segregate or redact material not needed for the determination; share under confidentiality obligations; use only for program oversight.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3310128"/>
            <a:ext cx="5394960" cy="141732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310128"/>
            <a:ext cx="100584" cy="1417320"/>
          </a:xfrm>
          <a:prstGeom prst="rect">
            <a:avLst/>
          </a:prstGeom>
          <a:solidFill>
            <a:srgbClr val="AE3E37"/>
          </a:solidFill>
          <a:ln>
            <a:solidFill>
              <a:srgbClr val="AE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456432"/>
            <a:ext cx="498348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Review outcomes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739896"/>
            <a:ext cx="49834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Clear  |  Conditional  |  Adverse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These are the policy-approved categories; they do not expand the tenant’s disclosure obligation.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633972"/>
            <a:ext cx="9875520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Aptos"/>
              </a:defRPr>
            </a:pPr>
            <a:r>
              <a:t>Source: green_lane_case_register.xlsx; green_lane_governing_policy.docx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287D8C"/>
                </a:solidFill>
                <a:latin typeface="Aptos"/>
              </a:defRPr>
            </a:pPr>
            <a:r>
              <a:t>ADVERSE FINDING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42F47"/>
                </a:solidFill>
                <a:latin typeface="Aptos"/>
              </a:defRPr>
            </a:pPr>
            <a:r>
              <a:t>One cleaned adverse finding; the policy sequence is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96B7A"/>
                </a:solidFill>
                <a:latin typeface="Aptos"/>
              </a:defRPr>
            </a:pPr>
            <a:r>
              <a:t>Overbrook Energy’s 2024 event path reached Active after follow-up. Counts are after event-key de-duplication.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4747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596B7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764792" cy="109728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07592" y="1691640"/>
            <a:ext cx="512064" cy="512064"/>
          </a:xfrm>
          <a:prstGeom prst="roundRect">
            <a:avLst/>
          </a:prstGeom>
          <a:solidFill>
            <a:srgbClr val="AE3E37"/>
          </a:solidFill>
          <a:ln>
            <a:solidFill>
              <a:srgbClr val="AE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1828800"/>
            <a:ext cx="512064" cy="155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395728"/>
            <a:ext cx="147218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F3A"/>
                </a:solidFill>
                <a:latin typeface="Aptos"/>
              </a:defRPr>
            </a:pPr>
            <a:r>
              <a:t>Written notice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2395728"/>
            <a:ext cx="29260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596B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011680"/>
            <a:ext cx="1764792" cy="109728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3592" y="1691640"/>
            <a:ext cx="512064" cy="512064"/>
          </a:xfrm>
          <a:prstGeom prst="roundRect">
            <a:avLst/>
          </a:prstGeom>
          <a:solidFill>
            <a:srgbClr val="AE3E37"/>
          </a:solidFill>
          <a:ln>
            <a:solidFill>
              <a:srgbClr val="AE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828800"/>
            <a:ext cx="512064" cy="155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395728"/>
            <a:ext cx="147218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F3A"/>
                </a:solidFill>
                <a:latin typeface="Aptos"/>
              </a:defRPr>
            </a:pPr>
            <a:r>
              <a:t>Suspend pre-clearance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395728"/>
            <a:ext cx="29260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596B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011680"/>
            <a:ext cx="1764792" cy="109728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79592" y="1691640"/>
            <a:ext cx="512064" cy="512064"/>
          </a:xfrm>
          <a:prstGeom prst="roundRect">
            <a:avLst/>
          </a:prstGeom>
          <a:solidFill>
            <a:srgbClr val="DA912D"/>
          </a:solidFill>
          <a:ln>
            <a:solidFill>
              <a:srgbClr val="DA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9592" y="1828800"/>
            <a:ext cx="512064" cy="155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2395728"/>
            <a:ext cx="147218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F3A"/>
                </a:solidFill>
                <a:latin typeface="Aptos"/>
              </a:defRPr>
            </a:pPr>
            <a:r>
              <a:t>Corrective-action plan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232F3A"/>
                </a:solidFill>
                <a:latin typeface="Aptos"/>
              </a:defRPr>
            </a:pPr>
            <a:r>
              <a:t>within 30 calendar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2395728"/>
            <a:ext cx="29260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596B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2011680"/>
            <a:ext cx="1764792" cy="109728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65592" y="1691640"/>
            <a:ext cx="512064" cy="512064"/>
          </a:xfrm>
          <a:prstGeom prst="round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1828800"/>
            <a:ext cx="512064" cy="155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4" y="2395728"/>
            <a:ext cx="147218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F3A"/>
                </a:solidFill>
                <a:latin typeface="Aptos"/>
              </a:defRPr>
            </a:pPr>
            <a:r>
              <a:t>Follow-up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395728"/>
            <a:ext cx="29260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596B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2011680"/>
            <a:ext cx="1764792" cy="1097280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51592" y="1691640"/>
            <a:ext cx="512064" cy="512064"/>
          </a:xfrm>
          <a:prstGeom prst="roundRect">
            <a:avLst/>
          </a:prstGeom>
          <a:solidFill>
            <a:srgbClr val="2F845F"/>
          </a:solidFill>
          <a:ln>
            <a:solidFill>
              <a:srgbClr val="2F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51592" y="1828800"/>
            <a:ext cx="512064" cy="155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2395728"/>
            <a:ext cx="147218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232F3A"/>
                </a:solidFill>
                <a:latin typeface="Aptos"/>
              </a:defRPr>
            </a:pPr>
            <a:r>
              <a:t>Reinstate only after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232F3A"/>
                </a:solidFill>
                <a:latin typeface="Aptos"/>
              </a:defRPr>
            </a:pPr>
            <a:r>
              <a:t>Clear or Conditional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977639"/>
            <a:ext cx="106984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42F47"/>
                </a:solidFill>
                <a:latin typeface="Aptos"/>
              </a:defRPr>
            </a:pPr>
            <a:r>
              <a:t>Replayed case result: Overbrook Energy — Adverse (2024-04-05) → remediation Conditional → follow-up Clear → final status Active.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736592"/>
            <a:ext cx="10835640" cy="502920"/>
          </a:xfrm>
          <a:prstGeom prst="roundRect">
            <a:avLst/>
          </a:prstGeom>
          <a:solidFill>
            <a:srgbClr val="FFF4E1"/>
          </a:solidFill>
          <a:ln>
            <a:solidFill>
              <a:srgbClr val="EBB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92040"/>
            <a:ext cx="1037844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AE3E37"/>
                </a:solidFill>
                <a:latin typeface="Aptos"/>
              </a:defRPr>
            </a:pPr>
            <a:r>
              <a:t>Cleaned replay count: 1 Adverse finding (duplicate event key counted once).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33972"/>
            <a:ext cx="9875520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Aptos"/>
              </a:defRPr>
            </a:pPr>
            <a:r>
              <a:t>Source: green_lane_case_register.xlsx; green_lane_governing_policy.docx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287D8C"/>
                </a:solidFill>
                <a:latin typeface="Aptos"/>
              </a:defRPr>
            </a:pPr>
            <a:r>
              <a:t>JURISDICTION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42F47"/>
                </a:solidFill>
                <a:latin typeface="Aptos"/>
              </a:defRPr>
            </a:pPr>
            <a:r>
              <a:t>Apply Northbank controls; keep Eastmere contextual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96B7A"/>
                </a:solidFill>
                <a:latin typeface="Aptos"/>
              </a:defRPr>
            </a:pPr>
            <a:r>
              <a:t>The program remains voluntary and uses only the requirements the policy makes applicable.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4747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596B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828800" cy="1005840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805939"/>
            <a:ext cx="175564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Jurisdiction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737360"/>
            <a:ext cx="3108960" cy="1005840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1805939"/>
            <a:ext cx="30358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Named requirement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737360"/>
            <a:ext cx="3108960" cy="1005840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4416" y="1805939"/>
            <a:ext cx="30358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Program treatment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737360"/>
            <a:ext cx="2651760" cy="1005840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23376" y="1805939"/>
            <a:ext cx="25786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Applicability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18288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807208"/>
            <a:ext cx="175564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Northbank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743200"/>
            <a:ext cx="31089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05456" y="2807208"/>
            <a:ext cx="30358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Seven-year record retention; secure audit access to defined green-lane scope; confidentiality controls.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743200"/>
            <a:ext cx="31089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4416" y="2807208"/>
            <a:ext cx="30358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Adopted as program controls.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743200"/>
            <a:ext cx="26517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2807208"/>
            <a:ext cx="25786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Applies to voluntary program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39"/>
            <a:ext cx="1828800" cy="1005840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813048"/>
            <a:ext cx="175564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Eastmere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3749039"/>
            <a:ext cx="3108960" cy="1005840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05456" y="3813048"/>
            <a:ext cx="30358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Five-year retention; regulator notice within 10 business days for reportable incidents.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3749039"/>
            <a:ext cx="3108960" cy="1005840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14416" y="3813048"/>
            <a:ext cx="30358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Context only; no program expansion.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3749039"/>
            <a:ext cx="2651760" cy="1005840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23376" y="3813048"/>
            <a:ext cx="2578608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Non-applicable unless shipment is subject to Eastmere oversight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09160"/>
            <a:ext cx="10881360" cy="530352"/>
          </a:xfrm>
          <a:prstGeom prst="roundRect">
            <a:avLst/>
          </a:prstGeom>
          <a:solidFill>
            <a:srgbClr val="E2F4EE"/>
          </a:solidFill>
          <a:ln>
            <a:solidFill>
              <a:srgbClr val="8BC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882896"/>
            <a:ext cx="10332720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F845F"/>
                </a:solidFill>
                <a:latin typeface="Aptos"/>
              </a:defRPr>
            </a:pPr>
            <a:r>
              <a:t>The recommendation does not turn Eastmere’s contextual requirements into universal program obligations.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33972"/>
            <a:ext cx="9875520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Aptos"/>
              </a:defRPr>
            </a:pPr>
            <a:r>
              <a:t>Source: green_lane_case_register.xlsx; green_lane_governing_policy.docx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287D8C"/>
                </a:solidFill>
                <a:latin typeface="Aptos"/>
              </a:defRPr>
            </a:pPr>
            <a:r>
              <a:t>RISKS AND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42F47"/>
                </a:solidFill>
                <a:latin typeface="Aptos"/>
              </a:defRPr>
            </a:pPr>
            <a:r>
              <a:t>The proposed controls address the credible concerns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96B7A"/>
                </a:solidFill>
                <a:latin typeface="Aptos"/>
              </a:defRPr>
            </a:pPr>
            <a:r>
              <a:t>Each mitigation is anchored in the governing policy or replayed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4747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596B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834640" cy="822960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760220"/>
            <a:ext cx="276148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Material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691640"/>
            <a:ext cx="4846320" cy="822960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1760220"/>
            <a:ext cx="477316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Evidence / concern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691640"/>
            <a:ext cx="3200400" cy="822960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5" y="1760220"/>
            <a:ext cx="312724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Policy-supported mitigation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14600"/>
            <a:ext cx="28346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578608"/>
            <a:ext cx="276148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Perceived data grab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514600"/>
            <a:ext cx="48463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578608"/>
            <a:ext cx="477316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Frida Zubair’s objection; broad access would erode trust.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514600"/>
            <a:ext cx="3200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2578608"/>
            <a:ext cx="312724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Exact record scope; seven-year retention; read-only or supervised access; no production-system access.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37560"/>
            <a:ext cx="2834640" cy="822960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401568"/>
            <a:ext cx="276148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Commercial sensitivity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3337560"/>
            <a:ext cx="4846320" cy="822960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296" y="3401568"/>
            <a:ext cx="477316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Cargo and exception information can be commercially sensitive.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337560"/>
            <a:ext cx="3200400" cy="822960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5" y="3401568"/>
            <a:ext cx="312724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Segregate or redact non-needed material; confidentiality obligations; program-oversight-only use.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60520"/>
            <a:ext cx="28346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224528"/>
            <a:ext cx="276148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Control failure after finding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160520"/>
            <a:ext cx="48463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4224528"/>
            <a:ext cx="477316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One cleaned Adverse finding occurred.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4160520"/>
            <a:ext cx="3200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5" y="4224528"/>
            <a:ext cx="312724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Written notice → suspend pre-clearance → 30-day corrective-action plan → follow-up; reinstate only after Clear or Conditional.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983480"/>
            <a:ext cx="2834640" cy="822960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047488"/>
            <a:ext cx="276148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Benefit overstatement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983480"/>
            <a:ext cx="4846320" cy="822960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1296" y="5047488"/>
            <a:ext cx="477316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Other-port dwell results may not transfer to Ninebark.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4983480"/>
            <a:ext cx="3200400" cy="822960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7615" y="5047488"/>
            <a:ext cx="3127248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Use observed Ninebark results only for measured claim; label external figures as context or projections.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633972"/>
            <a:ext cx="9875520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Aptos"/>
              </a:defRPr>
            </a:pPr>
            <a:r>
              <a:t>Source: green_lane_case_register.xlsx; green_lane_governing_policy.docx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287D8C"/>
                </a:solidFill>
                <a:latin typeface="Aptos"/>
              </a:defRPr>
            </a:pPr>
            <a:r>
              <a:t>RECOMMENDATION AND VOTE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42F47"/>
                </a:solidFill>
                <a:latin typeface="Aptos"/>
              </a:defRPr>
            </a:pPr>
            <a:r>
              <a:t>Approve with conditions: a voluntary green-lane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96B7A"/>
                </a:solidFill>
                <a:latin typeface="Aptos"/>
              </a:defRPr>
            </a:pPr>
            <a:r>
              <a:t>A bounded pilot lets the panel adopt the verified controls without claiming unproven portability.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4747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596B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10863072" cy="1024128"/>
          </a:xfrm>
          <a:prstGeom prst="round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Requested September panel decision: APPROVE WITH CONDITIONS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154680"/>
            <a:ext cx="3401568" cy="1298448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154680"/>
            <a:ext cx="100584" cy="1298448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300984"/>
            <a:ext cx="299008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Scope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84448"/>
            <a:ext cx="2990088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Voluntary pilot for the four largest tenants: Marrowbone Terminals, Gildenhall Logistics, Overbrook Energy, and Pellinore Foods.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154680"/>
            <a:ext cx="3401568" cy="1298448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154680"/>
            <a:ext cx="100584" cy="1298448"/>
          </a:xfrm>
          <a:prstGeom prst="rect">
            <a:avLst/>
          </a:prstGeom>
          <a:solidFill>
            <a:srgbClr val="2F845F"/>
          </a:solidFill>
          <a:ln>
            <a:solidFill>
              <a:srgbClr val="2F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300984"/>
            <a:ext cx="299008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Access 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584448"/>
            <a:ext cx="2990088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Use only the defined audit record scope, seven-year retention, named access boundary, and confidentiality handling.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3154680"/>
            <a:ext cx="3401568" cy="1298448"/>
          </a:xfrm>
          <a:prstGeom prst="roundRect">
            <a:avLst/>
          </a:prstGeom>
          <a:solidFill>
            <a:srgbClr val="F4F7F8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3154680"/>
            <a:ext cx="100584" cy="1298448"/>
          </a:xfrm>
          <a:prstGeom prst="rect">
            <a:avLst/>
          </a:prstGeom>
          <a:solidFill>
            <a:srgbClr val="DA912D"/>
          </a:solidFill>
          <a:ln>
            <a:solidFill>
              <a:srgbClr val="DA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3300984"/>
            <a:ext cx="2990088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42F47"/>
                </a:solidFill>
                <a:latin typeface="Aptos"/>
              </a:defRPr>
            </a:pPr>
            <a:r>
              <a:t>Evidence condition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3584448"/>
            <a:ext cx="2990088" cy="795527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232F3A"/>
                </a:solidFill>
                <a:latin typeface="Aptos"/>
              </a:defRPr>
            </a:pPr>
            <a:r>
              <a:t>Present Ninebark results as observed; present other-port dwell figures only as external observations or projections.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02352"/>
            <a:ext cx="10469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142F47"/>
                </a:solidFill>
                <a:latin typeface="Aptos"/>
              </a:defRPr>
            </a:pPr>
            <a:r>
              <a:t>Decision effect: authorize a policy-bounded voluntary pilot before the next tariff year; do not create a mandatory or unrestricted regime.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33972"/>
            <a:ext cx="9875520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Aptos"/>
              </a:defRPr>
            </a:pPr>
            <a:r>
              <a:t>Source: green_lane_case_register.xlsx; green_lane_governing_policy.docx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87D8C"/>
          </a:solidFill>
          <a:ln>
            <a:solidFill>
              <a:srgbClr val="287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881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287D8C"/>
                </a:solidFill>
                <a:latin typeface="Aptos"/>
              </a:defRPr>
            </a:pPr>
            <a:r>
              <a:t>REPRODUCIBLE METHOD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972800" cy="576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2500" b="1">
                <a:solidFill>
                  <a:srgbClr val="142F47"/>
                </a:solidFill>
                <a:latin typeface="Aptos"/>
              </a:defRPr>
            </a:pPr>
            <a:r>
              <a:t>How to reproduce the status, counts, and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097280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596B7A"/>
                </a:solidFill>
                <a:latin typeface="Aptos"/>
              </a:defRPr>
            </a:pPr>
            <a:r>
              <a:t>Both supplied files are the complete source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47472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596B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240280" cy="612648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760220"/>
            <a:ext cx="216712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691640"/>
            <a:ext cx="8732520" cy="612648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6936" y="1760220"/>
            <a:ext cx="865936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04288"/>
            <a:ext cx="22402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368296"/>
            <a:ext cx="216712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1. Locate authority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304288"/>
            <a:ext cx="87325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2368296"/>
            <a:ext cx="865936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Read the real table at Case Register!D6:O; the banner and left gutter are not data. Start status from each OPENING_STATE record.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16936"/>
            <a:ext cx="2240280" cy="61264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980944"/>
            <a:ext cx="216712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2. Clean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916936"/>
            <a:ext cx="8732520" cy="61264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16936" y="2980944"/>
            <a:ext cx="865936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De-duplicate with source event key: Tenant ID + Event Type + Effective Date + Reference ID. Count each key once.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29584"/>
            <a:ext cx="22402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593592"/>
            <a:ext cx="216712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3. Replay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3529584"/>
            <a:ext cx="87325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6936" y="3593592"/>
            <a:ext cx="865936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Sort by effective date and policy precedence; apply valid status transitions. The retired Status Helper field was not used for authoritative status or outcome determination.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142232"/>
            <a:ext cx="2240280" cy="61264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4206240"/>
            <a:ext cx="216712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4. Compare periods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4142232"/>
            <a:ext cx="8732520" cy="612648"/>
          </a:xfrm>
          <a:prstGeom prst="rect">
            <a:avLst/>
          </a:prstGeom>
          <a:solidFill>
            <a:srgbClr val="F4F7F8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16936" y="4206240"/>
            <a:ext cx="865936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Earlier = 2024-01-01–2024-06-30; Later = 2025-01-01–2025-06-30. Distinct qualifying key = Tenant ID + Period. Average cleaned Ninebark Performance dwell hours.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754880"/>
            <a:ext cx="224028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818888"/>
            <a:ext cx="216712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5. Source files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4754880"/>
            <a:ext cx="8732520" cy="612648"/>
          </a:xfrm>
          <a:prstGeom prst="rect">
            <a:avLst/>
          </a:prstGeom>
          <a:solidFill>
            <a:srgbClr val="FFFFFF"/>
          </a:solidFill>
          <a:ln>
            <a:solidFill>
              <a:srgbClr val="DD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16936" y="4818888"/>
            <a:ext cx="8659368" cy="5212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232F3A"/>
                </a:solidFill>
                <a:latin typeface="Aptos"/>
              </a:defRPr>
            </a:pPr>
            <a:r>
              <a:t>green_lane_case_register.xlsx and green_lane_governing_policy.docx. External comparators are retained only as external observation/projection evidence.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57800"/>
            <a:ext cx="10881360" cy="502920"/>
          </a:xfrm>
          <a:prstGeom prst="roundRect">
            <a:avLst/>
          </a:prstGeom>
          <a:solidFill>
            <a:srgbClr val="E2F4EE"/>
          </a:solidFill>
          <a:ln>
            <a:solidFill>
              <a:srgbClr val="8BC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22392"/>
            <a:ext cx="10424160" cy="1554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2F845F"/>
                </a:solidFill>
                <a:latin typeface="Aptos"/>
              </a:defRPr>
            </a:pPr>
            <a:r>
              <a:t>Authoritative result = supplied opening state + cleaned event replay under the governing policy.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F47"/>
          </a:solidFill>
          <a:ln>
            <a:solidFill>
              <a:srgbClr val="14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33972"/>
            <a:ext cx="9875520" cy="1188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200"/>
              </a:spcAft>
              <a:defRPr sz="700" b="0">
                <a:solidFill>
                  <a:srgbClr val="FFFFFF"/>
                </a:solidFill>
                <a:latin typeface="Aptos"/>
              </a:defRPr>
            </a:pPr>
            <a:r>
              <a:t>Method sources: green_lane_case_register.xlsx; green_lane_governing_policy.docx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