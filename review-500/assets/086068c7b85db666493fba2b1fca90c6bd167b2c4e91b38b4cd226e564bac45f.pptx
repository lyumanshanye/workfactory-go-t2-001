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411480"/>
            <a:ext cx="109728" cy="544982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512064"/>
            <a:ext cx="393192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F766E"/>
                </a:solidFill>
                <a:latin typeface="Aptos"/>
              </a:defRPr>
            </a:pPr>
            <a:r>
              <a:t>OCCUPATIONAL-HEALTH BRIEFING | DECISION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868680"/>
            <a:ext cx="64008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72B4D"/>
                </a:solidFill>
                <a:latin typeface="Aptos"/>
              </a:defRPr>
            </a:pPr>
            <a:r>
              <a:t>September vs October</a:t>
            </a:r>
          </a:p>
          <a:p>
            <a:pPr algn="l">
              <a:spcAft>
                <a:spcPts val="0"/>
              </a:spcAft>
              <a:defRPr sz="2900" b="1">
                <a:solidFill>
                  <a:srgbClr val="172B4D"/>
                </a:solidFill>
                <a:latin typeface="Aptos"/>
              </a:defRPr>
            </a:pPr>
            <a:r>
              <a:t>First-Aid Referral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21408"/>
            <a:ext cx="6675120" cy="32918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667085"/>
                </a:solidFill>
                <a:latin typeface="Aptos"/>
              </a:defRPr>
            </a:pPr>
            <a:r>
              <a:t>For the Hartsmere Board and cross-functional internal stakeholders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816352"/>
            <a:ext cx="45720" cy="2651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11780"/>
            <a:ext cx="43891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72B4D"/>
                </a:solidFill>
                <a:latin typeface="Aptos"/>
              </a:defRPr>
            </a:pPr>
            <a: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54680"/>
            <a:ext cx="6492240" cy="2057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520">
                <a:solidFill>
                  <a:srgbClr val="27364A"/>
                </a:solidFill>
                <a:latin typeface="Aptos"/>
              </a:defRPr>
            </a:pPr>
            <a:r>
              <a:t>Linnea Arriaga requested a revision after Emeka Ibarra challenged the September-to-October comparison.</a:t>
            </a:r>
          </a:p>
          <a:p>
            <a:pPr>
              <a:spcAft>
                <a:spcPts val="700"/>
              </a:spcAft>
              <a:defRPr sz="1520">
                <a:solidFill>
                  <a:srgbClr val="27364A"/>
                </a:solidFill>
                <a:latin typeface="Aptos"/>
              </a:defRPr>
            </a:pPr>
            <a:r>
              <a:t>The Board is weighing refresher training versus a revised triage process.</a:t>
            </a:r>
          </a:p>
          <a:p>
            <a:pPr>
              <a:spcAft>
                <a:spcPts val="700"/>
              </a:spcAft>
              <a:defRPr sz="1520">
                <a:solidFill>
                  <a:srgbClr val="27364A"/>
                </a:solidFill>
                <a:latin typeface="Aptos"/>
              </a:defRPr>
            </a:pPr>
            <a:r>
              <a:t>Briefing deadline: 16 October, noon.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060704"/>
            <a:ext cx="3767328" cy="4343400"/>
          </a:xfrm>
          <a:prstGeom prst="rect">
            <a:avLst/>
          </a:prstGeom>
          <a:solidFill>
            <a:srgbClr val="E5F4F2"/>
          </a:solidFill>
          <a:ln w="9525">
            <a:solidFill>
              <a:srgbClr val="B7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8431" y="1399032"/>
            <a:ext cx="1417320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BOARD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1920240"/>
            <a:ext cx="3154680" cy="10515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  <a:defRPr sz="1920" b="1">
                <a:solidFill>
                  <a:srgbClr val="172B4D"/>
                </a:solidFill>
                <a:latin typeface="Aptos"/>
              </a:defRPr>
            </a:pPr>
            <a:r>
              <a:t>Choose one option. Do not treat missing records as a trend result.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3419856"/>
            <a:ext cx="3154680" cy="18288"/>
          </a:xfrm>
          <a:prstGeom prst="rect">
            <a:avLst/>
          </a:prstGeom>
          <a:solidFill>
            <a:srgbClr val="9AC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685032"/>
            <a:ext cx="3063240" cy="8412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  <a:defRPr sz="1320" b="0">
                <a:solidFill>
                  <a:srgbClr val="27364A"/>
                </a:solidFill>
                <a:latin typeface="Aptos"/>
              </a:defRPr>
            </a:pPr>
            <a:r>
              <a:t>Sandpiper Terminals</a:t>
            </a:r>
          </a:p>
          <a:p>
            <a:pPr algn="l">
              <a:spcAft>
                <a:spcPts val="400"/>
              </a:spcAft>
              <a:defRPr sz="1320" b="0">
                <a:solidFill>
                  <a:srgbClr val="27364A"/>
                </a:solidFill>
                <a:latin typeface="Aptos"/>
              </a:defRPr>
            </a:pPr>
            <a:r>
              <a:t>Tidewater Field Services + Kilnbrook Industries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10896"/>
            <a:ext cx="4572000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C2410C"/>
                </a:solidFill>
                <a:latin typeface="Aptos"/>
              </a:defRPr>
            </a:pPr>
            <a:r>
              <a:t>EVIDENCE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76072"/>
            <a:ext cx="1106424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72B4D"/>
                </a:solidFill>
                <a:latin typeface="Aptos"/>
              </a:defRPr>
            </a:pPr>
            <a:r>
              <a:t>The comparison is challenged because its evidence is unavailable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5330952" cy="326440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28800"/>
            <a:ext cx="841248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4553712" cy="14904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172B4D"/>
                </a:solidFill>
                <a:latin typeface="Aptos"/>
              </a:defRPr>
            </a:pPr>
            <a:r>
              <a:t>September and October are the requested periods. One unusual incident was described as possible anaphylaxis.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96512"/>
            <a:ext cx="4480560" cy="3931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"/>
              </a:spcAft>
              <a:defRPr sz="1260" b="0">
                <a:solidFill>
                  <a:srgbClr val="667085"/>
                </a:solidFill>
                <a:latin typeface="Aptos"/>
              </a:defRPr>
            </a:pPr>
            <a:r>
              <a:t>The supplied description does not establish diagnosis, cause, outcome, or trend.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19088" y="1554480"/>
            <a:ext cx="5330952" cy="3264408"/>
          </a:xfrm>
          <a:prstGeom prst="rect">
            <a:avLst/>
          </a:prstGeom>
          <a:solidFill>
            <a:srgbClr val="FFF1EB"/>
          </a:solidFill>
          <a:ln w="9525">
            <a:solidFill>
              <a:srgbClr val="F4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93408" y="1828800"/>
            <a:ext cx="1417320" cy="2560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NOT SUPPLIED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249424"/>
            <a:ext cx="4526280" cy="1691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300"/>
              </a:spcAft>
              <a:defRPr sz="1820" b="1">
                <a:solidFill>
                  <a:srgbClr val="172B4D"/>
                </a:solidFill>
                <a:latin typeface="Aptos"/>
              </a:defRPr>
            </a:pPr>
            <a:r>
              <a:t>Underlying September and October referral records; the draft comparison; and the local first-aid referral definition for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4096512"/>
            <a:ext cx="4480560" cy="3931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"/>
              </a:spcAft>
              <a:defRPr sz="1260" b="0">
                <a:solidFill>
                  <a:srgbClr val="667085"/>
                </a:solidFill>
                <a:latin typeface="Aptos"/>
              </a:defRPr>
            </a:pPr>
            <a:r>
              <a:t>Emeka Ibarra's challenge is a valid evidence-and-interpretation issue.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5074920"/>
            <a:ext cx="11311128" cy="896112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257800"/>
            <a:ext cx="10716768" cy="47548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"/>
              </a:spcAft>
              <a:defRPr sz="1540" b="1">
                <a:solidFill>
                  <a:srgbClr val="FFFFFF"/>
                </a:solidFill>
                <a:latin typeface="Aptos"/>
              </a:defRPr>
            </a:pPr>
            <a:r>
              <a:t>Conclusion: a material change cannot be established or quantified from the supplied material. Missing records are not evidence of zero referrals, no change, an increase, or a decrease.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10896"/>
            <a:ext cx="4572000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COMPARISON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76072"/>
            <a:ext cx="1106424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72B4D"/>
                </a:solidFill>
                <a:latin typeface="Aptos"/>
              </a:defRPr>
            </a:pPr>
            <a:r>
              <a:t>A defensible period comparison needs like-for-like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18488"/>
            <a:ext cx="3529584" cy="3611880"/>
          </a:xfrm>
          <a:prstGeom prst="rect">
            <a:avLst/>
          </a:prstGeom>
          <a:solidFill>
            <a:srgbClr val="EFF6FF"/>
          </a:solidFill>
          <a:ln w="9525">
            <a:solidFill>
              <a:srgbClr val="C6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34256" y="1618488"/>
            <a:ext cx="3529584" cy="3611880"/>
          </a:xfrm>
          <a:prstGeom prst="rect">
            <a:avLst/>
          </a:prstGeom>
          <a:solidFill>
            <a:srgbClr val="E5F4F2"/>
          </a:solidFill>
          <a:ln w="9525">
            <a:solidFill>
              <a:srgbClr val="B7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618488"/>
            <a:ext cx="3520440" cy="3611880"/>
          </a:xfrm>
          <a:prstGeom prst="rect">
            <a:avLst/>
          </a:prstGeom>
          <a:solidFill>
            <a:srgbClr val="FEF3C7"/>
          </a:solidFill>
          <a:ln w="9525">
            <a:solidFill>
              <a:srgbClr val="F5D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01952"/>
            <a:ext cx="100584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2944368" cy="3474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2B4D"/>
                </a:solidFill>
                <a:latin typeface="Aptos"/>
              </a:defRPr>
            </a:pPr>
            <a:r>
              <a:t>Count is not a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34640"/>
            <a:ext cx="28346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7364A"/>
                </a:solidFill>
                <a:latin typeface="Aptos"/>
              </a:defRPr>
            </a:pPr>
            <a:r>
              <a:t>Count: referrals recorded in a period.</a:t>
            </a:r>
          </a:p>
          <a:p>
            <a:pPr>
              <a:spcAft>
                <a:spcPts val="700"/>
              </a:spcAft>
              <a:defRPr sz="1300">
                <a:solidFill>
                  <a:srgbClr val="27364A"/>
                </a:solidFill>
                <a:latin typeface="Aptos"/>
              </a:defRPr>
            </a:pPr>
            <a:r>
              <a:t>Rate or proportion: needs a common exposure basis, such as workforce, work hours, shifts, or first-aid visits.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576" y="1901952"/>
            <a:ext cx="868680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04288"/>
            <a:ext cx="2907792" cy="3474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2B4D"/>
                </a:solidFill>
                <a:latin typeface="Aptos"/>
              </a:defRPr>
            </a:pPr>
            <a:r>
              <a:t>Match the periods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834640"/>
            <a:ext cx="2852928" cy="1783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10">
                <a:solidFill>
                  <a:srgbClr val="27364A"/>
                </a:solidFill>
                <a:latin typeface="Aptos"/>
              </a:defRPr>
            </a:pPr>
            <a:r>
              <a:t>Comparable coverage and exposure.</a:t>
            </a:r>
          </a:p>
          <a:p>
            <a:pPr>
              <a:spcAft>
                <a:spcPts val="700"/>
              </a:spcAft>
              <a:defRPr sz="1310">
                <a:solidFill>
                  <a:srgbClr val="27364A"/>
                </a:solidFill>
                <a:latin typeface="Aptos"/>
              </a:defRPr>
            </a:pPr>
            <a:r>
              <a:t>The same referral definition and classification.</a:t>
            </a:r>
          </a:p>
          <a:p>
            <a:pPr>
              <a:spcAft>
                <a:spcPts val="700"/>
              </a:spcAft>
              <a:defRPr sz="1310">
                <a:solidFill>
                  <a:srgbClr val="27364A"/>
                </a:solidFill>
                <a:latin typeface="Aptos"/>
              </a:defRPr>
            </a:pPr>
            <a:r>
              <a:t>Consistent repeat or duplicate encounter handling.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901952"/>
            <a:ext cx="1005840" cy="25603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OBTAIN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04288"/>
            <a:ext cx="2907792" cy="34747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2B4D"/>
                </a:solidFill>
                <a:latin typeface="Aptos"/>
              </a:defRPr>
            </a:pPr>
            <a:r>
              <a:t>Evidence 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34640"/>
            <a:ext cx="2852928" cy="1783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700"/>
              </a:spcAft>
              <a:defRPr sz="1310">
                <a:solidFill>
                  <a:srgbClr val="27364A"/>
                </a:solidFill>
                <a:latin typeface="Aptos"/>
              </a:defRPr>
            </a:pPr>
            <a:r>
              <a:t>Period-specific records and encounter dates.</a:t>
            </a:r>
          </a:p>
          <a:p>
            <a:pPr>
              <a:spcAft>
                <a:spcPts val="700"/>
              </a:spcAft>
              <a:defRPr sz="1310">
                <a:solidFill>
                  <a:srgbClr val="27364A"/>
                </a:solidFill>
                <a:latin typeface="Aptos"/>
              </a:defRPr>
            </a:pPr>
            <a:r>
              <a:t>Referral classification and definition.</a:t>
            </a:r>
          </a:p>
          <a:p>
            <a:pPr>
              <a:spcAft>
                <a:spcPts val="700"/>
              </a:spcAft>
              <a:defRPr sz="1310">
                <a:solidFill>
                  <a:srgbClr val="27364A"/>
                </a:solidFill>
                <a:latin typeface="Aptos"/>
              </a:defRPr>
            </a:pPr>
            <a:r>
              <a:t>Coverage or exposure denominator basis.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5577840"/>
            <a:ext cx="10972800" cy="4297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  <a:defRPr sz="1440" b="0">
                <a:solidFill>
                  <a:srgbClr val="667085"/>
                </a:solidFill>
                <a:latin typeface="Aptos"/>
              </a:defRPr>
            </a:pPr>
            <a:r>
              <a:t>Without these inputs, an apparent difference could reflect unequal coverage, exposure, or classification rather than an operational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10896"/>
            <a:ext cx="4572000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D28D9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76072"/>
            <a:ext cx="1106424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72B4D"/>
                </a:solidFill>
                <a:latin typeface="Aptos"/>
              </a:defRPr>
            </a:pPr>
            <a:r>
              <a:t>Keep the rare safety signal visible without turning it into the routine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45920"/>
            <a:ext cx="5248656" cy="2139696"/>
          </a:xfrm>
          <a:prstGeom prst="rect">
            <a:avLst/>
          </a:prstGeom>
          <a:solidFill>
            <a:srgbClr val="EFF6FF"/>
          </a:solidFill>
          <a:ln w="9525">
            <a:solidFill>
              <a:srgbClr val="C6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01952"/>
            <a:ext cx="123444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ROUTINE 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40864"/>
            <a:ext cx="4498848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2B4D"/>
                </a:solidFill>
                <a:latin typeface="Aptos"/>
              </a:defRPr>
            </a:pPr>
            <a:r>
              <a:t>Ordinary first-aid referral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553712" cy="51206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50" b="0">
                <a:solidFill>
                  <a:srgbClr val="27364A"/>
                </a:solidFill>
                <a:latin typeface="Aptos"/>
              </a:defRPr>
            </a:pPr>
            <a:r>
              <a:t>Use validated, like-for-like records to describe routine patterns. That conclusion is not currently supportable.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53328" y="1645920"/>
            <a:ext cx="5696712" cy="2139696"/>
          </a:xfrm>
          <a:prstGeom prst="rect">
            <a:avLst/>
          </a:prstGeom>
          <a:solidFill>
            <a:srgbClr val="F3E8FF"/>
          </a:solidFill>
          <a:ln w="9525">
            <a:solidFill>
              <a:srgbClr val="D8C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45936" y="1901952"/>
            <a:ext cx="1143000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SAFETY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340864"/>
            <a:ext cx="4882896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2B4D"/>
                </a:solidFill>
                <a:latin typeface="Aptos"/>
              </a:defRPr>
            </a:pPr>
            <a:r>
              <a:t>Possible anaphylaxis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834640"/>
            <a:ext cx="4901184" cy="55778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30" b="0">
                <a:solidFill>
                  <a:srgbClr val="27364A"/>
                </a:solidFill>
                <a:latin typeface="Aptos"/>
              </a:defRPr>
            </a:pPr>
            <a:r>
              <a:t>A possible serious allergic reaction. It remains unconfirmed here; no diagnosis, cause, patient detail, or outcome is claimed.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4096512"/>
            <a:ext cx="11311128" cy="160020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34256"/>
            <a:ext cx="107442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520" b="1">
                <a:solidFill>
                  <a:srgbClr val="FFFFFF"/>
                </a:solidFill>
                <a:latin typeface="Aptos"/>
              </a:defRPr>
            </a:pPr>
            <a:r>
              <a:t>Judgment: report the possible anaphylaxis incident separately from the routine comparison until classification is validated. A rare event can be highly significant because potential consequence and urgency matter, even when frequency does not define the trend.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1069848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180" b="0">
                <a:solidFill>
                  <a:srgbClr val="D9E2F2"/>
                </a:solidFill>
                <a:latin typeface="Aptos"/>
              </a:defRPr>
            </a:pPr>
            <a:r>
              <a:t>Effect: protects routine comparability and preserves a high-consequence safety concern; it does not prove a period change or favor an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10896"/>
            <a:ext cx="4572000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B45309"/>
                </a:solidFill>
                <a:latin typeface="Aptos"/>
              </a:defRPr>
            </a:pPr>
            <a:r>
              <a:t>BOARD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76072"/>
            <a:ext cx="1106424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72B4D"/>
                </a:solidFill>
                <a:latin typeface="Aptos"/>
              </a:defRPr>
            </a:pPr>
            <a:r>
              <a:t>Both options address different parts of the communication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01400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  <a:defRPr sz="1330" b="0">
                <a:solidFill>
                  <a:srgbClr val="667085"/>
                </a:solidFill>
                <a:latin typeface="Aptos"/>
              </a:defRPr>
            </a:pPr>
            <a:r>
              <a:t>Assessment lens: routine referral consistency and visibility of rare, potentially high-consequence presentations.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810512"/>
            <a:ext cx="5413248" cy="3913632"/>
          </a:xfrm>
          <a:prstGeom prst="rect">
            <a:avLst/>
          </a:prstGeom>
          <a:solidFill>
            <a:srgbClr val="EFF6FF"/>
          </a:solidFill>
          <a:ln w="9525">
            <a:solidFill>
              <a:srgbClr val="C6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66543"/>
            <a:ext cx="96012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OPTION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4736592" cy="32918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72B4D"/>
                </a:solidFill>
                <a:latin typeface="Aptos"/>
              </a:defRPr>
            </a:pPr>
            <a:r>
              <a:t>Refresher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4645152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2563EB"/>
                </a:solidFill>
                <a:latin typeface="Aptos"/>
              </a:defRPr>
            </a:pPr>
            <a:r>
              <a:t>POTENTIAL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74136"/>
            <a:ext cx="4645152" cy="53035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70" b="0">
                <a:solidFill>
                  <a:srgbClr val="27364A"/>
                </a:solidFill>
                <a:latin typeface="Aptos"/>
              </a:defRPr>
            </a:pPr>
            <a:r>
              <a:t>Could reinforce recognition and more consistent referral handoffs.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4645152" cy="9144"/>
          </a:xfrm>
          <a:prstGeom prst="rect">
            <a:avLst/>
          </a:prstGeom>
          <a:solidFill>
            <a:srgbClr val="BFD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52544"/>
            <a:ext cx="4645152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2563EB"/>
                </a:solidFill>
                <a:latin typeface="Aptos"/>
              </a:defRPr>
            </a:pPr>
            <a:r>
              <a:t>MATERIAL LIMITATION / 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99431"/>
            <a:ext cx="4645152" cy="53035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70" b="0">
                <a:solidFill>
                  <a:srgbClr val="27364A"/>
                </a:solidFill>
                <a:latin typeface="Aptos"/>
              </a:defRPr>
            </a:pPr>
            <a:r>
              <a:t>Does not by itself create a shared routing structure or repair unavailable comparison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810512"/>
            <a:ext cx="5413248" cy="3913632"/>
          </a:xfrm>
          <a:prstGeom prst="rect">
            <a:avLst/>
          </a:prstGeom>
          <a:solidFill>
            <a:srgbClr val="E5F4F2"/>
          </a:solidFill>
          <a:ln w="9525">
            <a:solidFill>
              <a:srgbClr val="B7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2066543"/>
            <a:ext cx="960120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87168"/>
            <a:ext cx="4736592" cy="32918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72B4D"/>
                </a:solidFill>
                <a:latin typeface="Aptos"/>
              </a:defRPr>
            </a:pPr>
            <a:r>
              <a:t>Revised triage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127248"/>
            <a:ext cx="4645152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F766E"/>
                </a:solidFill>
                <a:latin typeface="Aptos"/>
              </a:defRPr>
            </a:pPr>
            <a:r>
              <a:t>POTENTIAL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374136"/>
            <a:ext cx="4645152" cy="53035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70" b="0">
                <a:solidFill>
                  <a:srgbClr val="27364A"/>
                </a:solidFill>
                <a:latin typeface="Aptos"/>
              </a:defRPr>
            </a:pPr>
            <a:r>
              <a:t>Triage means a consistent routing and classification structure; it could separate serious presentations for attention.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4160520"/>
            <a:ext cx="4645152" cy="9144"/>
          </a:xfrm>
          <a:prstGeom prst="rect">
            <a:avLst/>
          </a:prstGeom>
          <a:solidFill>
            <a:srgbClr val="A3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352544"/>
            <a:ext cx="4645152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F766E"/>
                </a:solidFill>
                <a:latin typeface="Aptos"/>
              </a:defRPr>
            </a:pPr>
            <a:r>
              <a:t>MATERIAL LIMITATION / 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99431"/>
            <a:ext cx="4645152" cy="53035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70" b="0">
                <a:solidFill>
                  <a:srgbClr val="27364A"/>
                </a:solidFill>
                <a:latin typeface="Aptos"/>
              </a:defRPr>
            </a:pPr>
            <a:r>
              <a:t>Requires local governance, validation, and adoption; no effect can be claimed before evidence is reviewed.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10896"/>
            <a:ext cx="4572000" cy="2194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F766E"/>
                </a:solidFill>
                <a:latin typeface="Aptos"/>
              </a:defRPr>
            </a:pPr>
            <a:r>
              <a:t>RECOMMENDATION + OPEN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76072"/>
            <a:ext cx="1106424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500" b="1">
                <a:solidFill>
                  <a:srgbClr val="172B4D"/>
                </a:solidFill>
                <a:latin typeface="Aptos"/>
              </a:defRPr>
            </a:pPr>
            <a:r>
              <a:t>Recommendation for Board consideration: revised triage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09344"/>
            <a:ext cx="5522976" cy="4041648"/>
          </a:xfrm>
          <a:prstGeom prst="rect">
            <a:avLst/>
          </a:prstGeom>
          <a:solidFill>
            <a:srgbClr val="E5F4F2"/>
          </a:solidFill>
          <a:ln w="9525">
            <a:solidFill>
              <a:srgbClr val="B7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83664"/>
            <a:ext cx="1481328" cy="2560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WHY THIS 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4910328" cy="53035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72B4D"/>
                </a:solidFill>
                <a:latin typeface="Aptos"/>
              </a:defRPr>
            </a:pPr>
            <a:r>
              <a:t>An evidence-aware operational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800600" cy="1600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410">
                <a:solidFill>
                  <a:srgbClr val="27364A"/>
                </a:solidFill>
                <a:latin typeface="Aptos"/>
              </a:defRPr>
            </a:pPr>
            <a:r>
              <a:t>Can distinguish routine referral routing from a separate safety signal without declaring a trend.</a:t>
            </a:r>
          </a:p>
          <a:p>
            <a:pPr>
              <a:spcAft>
                <a:spcPts val="800"/>
              </a:spcAft>
              <a:defRPr sz="1410">
                <a:solidFill>
                  <a:srgbClr val="27364A"/>
                </a:solidFill>
                <a:latin typeface="Aptos"/>
              </a:defRPr>
            </a:pPr>
            <a:r>
              <a:t>Keeps the possible anaphylaxis concern visible without treating it as evidence of option effectiveness or clinical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4828032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220" b="1">
                <a:solidFill>
                  <a:srgbClr val="667085"/>
                </a:solidFill>
                <a:latin typeface="Aptos"/>
              </a:defRPr>
            </a:pPr>
            <a:r>
              <a:t>This is professional interpretation, not a measured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609344"/>
            <a:ext cx="5495544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47104" y="1883664"/>
            <a:ext cx="1298448" cy="2560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spcAft>
                <a:spcPts val="0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OUTSTANDING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331720"/>
            <a:ext cx="480060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72B4D"/>
                </a:solidFill>
                <a:latin typeface="Aptos"/>
              </a:defRPr>
            </a:pPr>
            <a:r>
              <a:t>Evidence validation remains 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971800"/>
            <a:ext cx="4736592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C2410C"/>
                </a:solidFill>
                <a:latin typeface="Aptos"/>
              </a:defRPr>
            </a:pPr>
            <a:r>
              <a:t>ACCOUNTABLE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218688"/>
            <a:ext cx="4736592" cy="53035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40" b="0">
                <a:solidFill>
                  <a:srgbClr val="27364A"/>
                </a:solidFill>
                <a:latin typeface="Aptos"/>
              </a:defRPr>
            </a:pPr>
            <a:r>
              <a:t>Linnea Arriaga, with the records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822191"/>
            <a:ext cx="4736592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C2410C"/>
                </a:solidFill>
                <a:latin typeface="Aptos"/>
              </a:defRPr>
            </a:pPr>
            <a:r>
              <a:t>BY 16 OCTOBER, NOON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4069079"/>
            <a:ext cx="4736592" cy="53035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200"/>
              </a:spcAft>
              <a:defRPr sz="1410" b="0">
                <a:solidFill>
                  <a:srgbClr val="27364A"/>
                </a:solidFill>
                <a:latin typeface="Aptos"/>
              </a:defRPr>
            </a:pPr>
            <a:r>
              <a:t>Obtain or validate September and October records, definition/classification, and coverage or exposure basis.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4983480"/>
            <a:ext cx="4663440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240" b="1">
                <a:solidFill>
                  <a:srgbClr val="667085"/>
                </a:solidFill>
                <a:latin typeface="Aptos"/>
              </a:defRPr>
            </a:pPr>
            <a:r>
              <a:t>Status: outstanding; not yet verified.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1106424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  <a:defRPr sz="1130" b="0">
                <a:solidFill>
                  <a:srgbClr val="667085"/>
                </a:solidFill>
                <a:latin typeface="Aptos"/>
              </a:defRPr>
            </a:pPr>
            <a:r>
              <a:t>Board consideration only - no approval, implementation, or patient-care instruction is represented.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402336"/>
            <a:ext cx="35661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F766E"/>
                </a:solidFill>
                <a:latin typeface="Aptos"/>
              </a:defRPr>
            </a:pPr>
            <a:r>
              <a:t>DECISION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13232"/>
            <a:ext cx="7315200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72B4D"/>
                </a:solidFill>
                <a:latin typeface="Aptos"/>
              </a:defRPr>
            </a:pPr>
            <a:r>
              <a:t>Board decision requested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72768"/>
            <a:ext cx="11311128" cy="2066543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10561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9E3D9"/>
                </a:solidFill>
                <a:latin typeface="Aptos"/>
              </a:defRPr>
            </a:pPr>
            <a:r>
              <a:t>FOR BOARD 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40864"/>
            <a:ext cx="105613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 revised triage process.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4187952"/>
            <a:ext cx="10012680" cy="6217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200"/>
              </a:spcAft>
              <a:defRPr sz="1839" b="1">
                <a:solidFill>
                  <a:srgbClr val="172B4D"/>
                </a:solidFill>
                <a:latin typeface="Aptos"/>
              </a:defRPr>
            </a:pPr>
            <a:r>
              <a:t>Reason: it preserves a separate lane for a potentially high-consequence possible anaphylaxis incident while keeping routine referrals comparable once the missing evidence is validated.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7088" y="5120640"/>
            <a:ext cx="8503920" cy="9144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5358384"/>
            <a:ext cx="9829800" cy="3108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  <a:defRPr sz="1440" b="0">
                <a:solidFill>
                  <a:srgbClr val="667085"/>
                </a:solidFill>
                <a:latin typeface="Aptos"/>
              </a:defRPr>
            </a:pPr>
            <a:r>
              <a:t>Bounded conclusion: a material September-to-October change cannot be established from the supplied material.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042416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  <a:defRPr sz="1120" b="0">
                <a:solidFill>
                  <a:srgbClr val="667085"/>
                </a:solidFill>
                <a:latin typeface="Aptos"/>
              </a:defRPr>
            </a:pPr>
            <a:r>
              <a:t>This recommendation does not claim a diagnosis, cause, outcome, policy requirement, or measured effect.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