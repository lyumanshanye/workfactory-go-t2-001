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728" cy="438912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058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6D2D3"/>
                </a:solidFill>
                <a:latin typeface="Aptos"/>
              </a:defRPr>
            </a:pPr>
            <a:r>
              <a:t>QUILLHAVEN TERMINALS  |  PRIVACY COMMITTEE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Disclosure exception</a:t>
            </a:r>
            <a:br/>
            <a: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0632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D6E2EE"/>
                </a:solidFill>
                <a:latin typeface="Aptos"/>
              </a:defRPr>
            </a:pPr>
            <a:r>
              <a:t>Pennsylvania customer-service calls before and after the April contact-centre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212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ECDDC"/>
                </a:solidFill>
                <a:latin typeface="Aptos"/>
              </a:defRPr>
            </a:pPr>
            <a:r>
              <a:t>Prepared by Karin Calderon  •  Senior customer service representative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6509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ECDDC"/>
                </a:solidFill>
                <a:latin typeface="Aptos"/>
              </a:defRPr>
            </a:pPr>
            <a:r>
              <a:t>For Bianca Lockhart and the privacy committee  •  15 July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6372"/>
                </a:solidFill>
                <a:latin typeface="Aptos"/>
              </a:defRPr>
            </a:pPr>
            <a:r>
              <a:t>Lanternwood Fisheries  •  Quillhaven Terminals  |  Confidential working paper  |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991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D4E"/>
                </a:solidFill>
                <a:latin typeface="Aptos"/>
              </a:defRPr>
            </a:pPr>
            <a:r>
              <a:t>Executive readout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991"/>
                </a:solidFill>
                <a:latin typeface="Aptos"/>
              </a:defRPr>
            </a:pPr>
            <a:r>
              <a:t>OVERALL EXCEPTION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42D4E"/>
                </a:solidFill>
                <a:latin typeface="Aptos"/>
              </a:defRPr>
            </a:pPr>
            <a:r>
              <a:t>14.5%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700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66372"/>
                </a:solidFill>
                <a:latin typeface="Aptos"/>
              </a:defRPr>
            </a:pPr>
            <a:r>
              <a:t>31 / 214 sampled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3832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991"/>
                </a:solidFill>
                <a:latin typeface="Aptos"/>
              </a:defRPr>
            </a:pPr>
            <a:r>
              <a:t>PERIOD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3852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E07E2C"/>
                </a:solidFill>
                <a:latin typeface="Aptos"/>
              </a:defRPr>
            </a:pPr>
            <a:r>
              <a:t>+12.4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700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66372"/>
                </a:solidFill>
                <a:latin typeface="Aptos"/>
              </a:defRPr>
            </a:pPr>
            <a:r>
              <a:t>Pre 8.3%  →  Post 20.8%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17320"/>
            <a:ext cx="35661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6459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991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93852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42D4E"/>
                </a:solidFill>
                <a:latin typeface="Aptos"/>
              </a:defRPr>
            </a:pPr>
            <a:r>
              <a:t>Measured sample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6700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66372"/>
                </a:solidFill>
                <a:latin typeface="Aptos"/>
              </a:defRPr>
            </a:pPr>
            <a:r>
              <a:t>Not a census or legal 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991"/>
                </a:solidFill>
                <a:latin typeface="Aptos"/>
              </a:defRPr>
            </a:pPr>
            <a:r>
              <a:t>What the committee can say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15968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42D4E"/>
                </a:solidFill>
                <a:latin typeface="Aptos"/>
              </a:defRPr>
            </a:pPr>
            <a:r>
              <a:t>The deterministic sample shows a higher post-migration exception rate, concentrated across all three independently configured queues. The increase is material under the disclosed ±5 percentage-point rule; the evidence supports review of the measured pattern, not a causal finding that the platform migration caused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3939"/>
                </a:solidFill>
                <a:latin typeface="Aptos"/>
              </a:defRPr>
            </a:pPr>
            <a:r>
              <a:t>The Pennsylvania complaint triggered this test; one complaint is not used as the population 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2881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6372"/>
                </a:solidFill>
                <a:latin typeface="Aptos"/>
              </a:defRPr>
            </a:pPr>
            <a:r>
              <a:t>Lanternwood Fisheries  •  Quillhaven Terminals  |  Confidential working paper  |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991"/>
                </a:solidFill>
                <a:latin typeface="Aptos"/>
              </a:defRPr>
            </a:pPr>
            <a:r>
              <a:t>WHY THIS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D4E"/>
                </a:solidFill>
                <a:latin typeface="Aptos"/>
              </a:defRPr>
            </a:pPr>
            <a:r>
              <a:t>Case context and authority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8991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42D4E"/>
                </a:solidFill>
                <a:latin typeface="Aptos"/>
              </a:defRPr>
            </a:pPr>
            <a:r>
              <a:t>A Pennsylvania customer of Quillhaven Terminals questioned whether the recording disclosure played after Lanternwood moved its service desk to a new contact-centre platform in April.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8991"/>
                </a:solidFill>
                <a:latin typeface="Aptos"/>
              </a:defRPr>
            </a:pPr>
            <a:r>
              <a:t>Operational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42D4E"/>
                </a:solidFill>
                <a:latin typeface="Aptos"/>
              </a:defRPr>
            </a:pPr>
            <a:r>
              <a:t>How often was the approved disclosure genuinely missing or materially truncated in the in-scope population, and did the rate differ by migration period or queue configuration?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49377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8991"/>
                </a:solidFill>
                <a:latin typeface="Aptos"/>
              </a:defRPr>
            </a:pPr>
            <a:r>
              <a:t>PA context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42D4E"/>
                </a:solidFill>
                <a:latin typeface="Aptos"/>
              </a:defRPr>
            </a:pPr>
            <a:r>
              <a:t>Approved prompt: PA-REC-4.2</a:t>
            </a:r>
            <a:br/>
            <a:r>
              <a:t>“This call may be recorded for quality and service purposes.”</a:t>
            </a:r>
            <a:br/>
            <a:br/>
            <a:r>
              <a:t>Requirements summarized as current July 15, 2025.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88620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66372"/>
                </a:solidFill>
                <a:latin typeface="Aptos"/>
              </a:defRPr>
            </a:pPr>
            <a:r>
              <a:t>This operational packet supports fact presentation only. It does not decide liability, reportability, notification or remediation.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6692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66372"/>
                </a:solidFill>
                <a:latin typeface="Aptos"/>
              </a:defRPr>
            </a:pPr>
            <a:r>
              <a:t>Sources: call_universe_and_prompt_logs.xlsx  •  pennsylvania_recording_review_packet.docx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2881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6372"/>
                </a:solidFill>
                <a:latin typeface="Aptos"/>
              </a:defRPr>
            </a:pPr>
            <a:r>
              <a:t>Lanternwood Fisheries  •  Quillhaven Terminals  |  Confidential working paper  |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991"/>
                </a:solidFill>
                <a:latin typeface="Aptos"/>
              </a:defRPr>
            </a:pPr>
            <a:r>
              <a:t>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D4E"/>
                </a:solidFill>
                <a:latin typeface="Aptos"/>
              </a:defRPr>
            </a:pPr>
            <a:r>
              <a:t>Eligible population and queue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Eligibility = PA + Customer service + Connected + Recording status Yes + inclusive date windows; queue keys matched after trim + case normalization.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6126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45920"/>
                <a:gridCol w="1645920"/>
                <a:gridCol w="914400"/>
              </a:tblGrid>
              <a:tr h="49377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Normalized queue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 (Jan 1–Mar 31)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Post (Apr 1–Jun 30)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Claims Intake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Marine Dispatch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Account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1920240"/>
            <a:ext cx="33832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1762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991"/>
                </a:solidFill>
                <a:latin typeface="Aptos"/>
              </a:defRPr>
            </a:pPr>
            <a:r>
              <a:t>POPULATION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606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D4E"/>
                </a:solidFill>
                <a:latin typeface="Aptos"/>
              </a:defRPr>
            </a:pPr>
            <a:r>
              <a:t>480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21868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66372"/>
                </a:solidFill>
                <a:latin typeface="Aptos"/>
              </a:defRPr>
            </a:pPr>
            <a:r>
              <a:t>Eligible calls</a:t>
            </a:r>
            <a:br/>
            <a:r>
              <a:t>(6 strata × 80)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66372"/>
                </a:solidFill>
                <a:latin typeface="Aptos"/>
              </a:defRPr>
            </a:pPr>
            <a:r>
              <a:t>Out-of-scope rows remain in the export but are excluded by the packet predicates. Every eligible call maps to exactly one current configuration after normalization.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2881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6372"/>
                </a:solidFill>
                <a:latin typeface="Aptos"/>
              </a:defRPr>
            </a:pPr>
            <a:r>
              <a:t>Lanternwood Fisheries  •  Quillhaven Terminals  |  Confidential working paper  |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991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D4E"/>
                </a:solidFill>
                <a:latin typeface="Aptos"/>
              </a:defRPr>
            </a:pPr>
            <a:r>
              <a:t>Sample design and deterministic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8991"/>
                </a:solidFill>
                <a:latin typeface="Aptos"/>
              </a:defRPr>
            </a:pPr>
            <a:r>
              <a:t>Target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42D4E"/>
                </a:solidFill>
                <a:latin typeface="Aptos"/>
              </a:defRPr>
            </a:pPr>
            <a:r>
              <a:t>n₀ = 1.96² × 0.50 × 0.50 / 0.05² = 384.16</a:t>
            </a:r>
            <a:br/>
            <a:r>
              <a:t>Finite population: n = 480×384.16 / (480+384.16−1) = 213.58 → 214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8991"/>
                </a:solidFill>
                <a:latin typeface="Aptos"/>
              </a:defRPr>
            </a:pPr>
            <a:r>
              <a:t>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42D4E"/>
                </a:solidFill>
                <a:latin typeface="Aptos"/>
              </a:defRPr>
            </a:pPr>
            <a:r>
              <a:t>Minimum 24 per queue-period stratum; remaining calls by proportional population with largest remainders. Result: 35 or 36 per stratum.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234440"/>
            <a:ext cx="4892040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508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8991"/>
                </a:solidFill>
                <a:latin typeface="Aptos"/>
              </a:defRPr>
            </a:pPr>
            <a:r>
              <a:t>Re-run recipe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65960"/>
            <a:ext cx="4251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42D4E"/>
                </a:solidFill>
                <a:latin typeface="Aptos"/>
              </a:defRPr>
            </a:pPr>
            <a:r>
              <a:t>1  Normalize Queue: trim surrounding whitespace, then casefold.</a:t>
            </a:r>
            <a:br/>
            <a:r>
              <a:t>2  Assign period using inclusive ET timestamps.</a:t>
            </a:r>
            <a:br/>
            <a:r>
              <a:t>3  Rank SHA-256(`QH-PA-2025-0715|` + Call ID), ascending hex.</a:t>
            </a:r>
            <a:br/>
            <a:r>
              <a:t>4  Take the first allocated calls within each queue-period stratum.</a:t>
            </a:r>
            <a:br/>
            <a:r>
              <a:t>5  Review current prompt-event fields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66372"/>
                </a:solidFill>
                <a:latin typeface="Aptos"/>
              </a:defRPr>
            </a:pPr>
            <a:r>
              <a:t>No call was treated as reviewed merely because it was eligible; substantive prompt review applies to the 214 selected calls.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2881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6372"/>
                </a:solidFill>
                <a:latin typeface="Aptos"/>
              </a:defRPr>
            </a:pPr>
            <a:r>
              <a:t>Lanternwood Fisheries  •  Quillhaven Terminals  |  Confidential working paper  |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991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D4E"/>
                </a:solidFill>
                <a:latin typeface="Aptos"/>
              </a:defRPr>
            </a:pPr>
            <a:r>
              <a:t>What counts as an exception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332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6583680"/>
                <a:gridCol w="1828800"/>
              </a:tblGrid>
              <a:tr h="65836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evidence pattern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Packet rule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Treatment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Missing disclosure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No qualifying prompt-start / playback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Exception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Material truncation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Audible duration &gt;0.5 sec below expected, OR completion ≠ Yes, OR approved-script match ≠ Yes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Exception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Connect-edge clip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Clip ≤1.0 sec AND completion Yes AND approved-script match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Nonexception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Complete playback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Approved prompt evidence and completion present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Nonexception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9834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83939"/>
                </a:solidFill>
                <a:latin typeface="Aptos"/>
              </a:defRPr>
            </a:pPr>
            <a:r>
              <a:t>Missing and materially truncated are mutually exclusive; the numerator is their disjoint sum. The retired legacy helper column is not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6372"/>
                </a:solidFill>
                <a:latin typeface="Aptos"/>
              </a:defRPr>
            </a:pPr>
            <a:r>
              <a:t>Lanternwood Fisheries  •  Quillhaven Terminals  |  Confidential working paper  |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991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D4E"/>
                </a:solidFill>
                <a:latin typeface="Aptos"/>
              </a:defRPr>
            </a:pPr>
            <a:r>
              <a:t>Results by migration period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5943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05840"/>
                <a:gridCol w="914400"/>
                <a:gridCol w="914400"/>
                <a:gridCol w="1554480"/>
              </a:tblGrid>
              <a:tr h="5257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Exceptions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Sampled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95% Wilson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Pre-migration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4.4%–15.1%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Post-migration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20.8%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14.1%–29.4%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10.4%–19.8%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35240" y="1463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991"/>
                </a:solidFill>
                <a:latin typeface="Aptos"/>
              </a:defRPr>
            </a:pPr>
            <a:r>
              <a:t>ABSOLUTE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87451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07E2C"/>
                </a:solidFill>
                <a:latin typeface="Aptos"/>
              </a:defRPr>
            </a:pPr>
            <a:r>
              <a:t>+12.4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60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42D4E"/>
                </a:solidFill>
                <a:latin typeface="Aptos"/>
              </a:defRPr>
            </a:pPr>
            <a:r>
              <a:t>Post rate is 20.8% vs 8.3% pre. Applying the stated ±5 pp materiality threshold, this is material.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42D4E"/>
                </a:solidFill>
                <a:latin typeface="Aptos"/>
              </a:defRPr>
            </a:pPr>
            <a:r>
              <a:t>Composition: pre-migration = 2 missing + 7 truncated; post-migration = 8 missing + 14 truncated. The post period has both more missing evidence and more truncation in the selected calls.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66372"/>
                </a:solidFill>
                <a:latin typeface="Aptos"/>
              </a:defRPr>
            </a:pPr>
            <a:r>
              <a:t>Intervals are two-sided 95% Wilson score intervals; they describe sample proportion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2881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6372"/>
                </a:solidFill>
                <a:latin typeface="Aptos"/>
              </a:defRPr>
            </a:pPr>
            <a:r>
              <a:t>Lanternwood Fisheries  •  Quillhaven Terminals  |  Confidential working paper  |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991"/>
                </a:solidFill>
                <a:latin typeface="Aptos"/>
              </a:defRPr>
            </a:pPr>
            <a:r>
              <a:t>STRATIFIED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D4E"/>
                </a:solidFill>
                <a:latin typeface="Aptos"/>
              </a:defRPr>
            </a:pPr>
            <a:r>
              <a:t>Queue configuration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8138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1097280"/>
                <a:gridCol w="914400"/>
                <a:gridCol w="1005840"/>
                <a:gridCol w="1097280"/>
                <a:gridCol w="91440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Queue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 / n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Follow-up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 / n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Claims Intake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Pre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0 / 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9 / 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25.7%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Marine Dispatch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Pre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4 / 36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11.1%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7 / 35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EF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Account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Pre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3 / 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6 / 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D4E"/>
                          </a:solidFill>
                          <a:latin typeface="Aptos"/>
                        </a:defRPr>
                      </a:pPr>
                      <a: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06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8991"/>
                </a:solidFill>
                <a:latin typeface="Aptos"/>
              </a:defRPr>
            </a:pPr>
            <a:r>
              <a:t>Materiality rule: call a period or queue movement material when absolute change is ≥5.0 percentage points. Rationale: a visible, fixed threshold near the sample’s practical precision; analytical, not legal.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42D4E"/>
                </a:solidFill>
                <a:latin typeface="Aptos"/>
              </a:defRPr>
            </a:pPr>
            <a:r>
              <a:t>Claims Intake moves +25.7 pp (material); Marine Dispatch +8.9 pp (material); Account Services +8.3 pp (material). For Claims Intake, relative change is N/A because the pre rate is zero; percentage-point change remains valid.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6372"/>
                </a:solidFill>
                <a:latin typeface="Aptos"/>
              </a:defRPr>
            </a:pPr>
            <a:r>
              <a:t>Lanternwood Fisheries  •  Quillhaven Terminals  |  Confidential working paper  |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991"/>
                </a:solidFill>
                <a:latin typeface="Aptos"/>
              </a:defRPr>
            </a:pPr>
            <a:r>
              <a:t>MEASURED, NOT CAUSAL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D4E"/>
                </a:solidFill>
                <a:latin typeface="Aptos"/>
              </a:defRPr>
            </a:pPr>
            <a:r>
              <a:t>Interpretation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8991"/>
                </a:solidFill>
                <a:latin typeface="Aptos"/>
              </a:defRPr>
            </a:pPr>
            <a:r>
              <a:t>What the evidence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42D4E"/>
                </a:solidFill>
                <a:latin typeface="Aptos"/>
              </a:defRPr>
            </a:pPr>
            <a:r>
              <a:t>• A higher sampled exception rate after migration.</a:t>
            </a:r>
            <a:br/>
            <a:r>
              <a:t>• The movement appears in every queue configuration.</a:t>
            </a:r>
            <a:br/>
            <a:r>
              <a:t>• Post-period exceptions include more missing and truncated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8991"/>
                </a:solidFill>
                <a:latin typeface="Aptos"/>
              </a:defRPr>
            </a:pPr>
            <a:r>
              <a:t>What it does not establish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42D4E"/>
                </a:solidFill>
                <a:latin typeface="Aptos"/>
              </a:defRPr>
            </a:pPr>
            <a:r>
              <a:t>• The migration caused the change.</a:t>
            </a:r>
            <a:br/>
            <a:r>
              <a:t>• A population census or audio authentication.</a:t>
            </a:r>
            <a:br/>
            <a:r>
              <a:t>• Legal liability, reportability, notification or remediation.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160520"/>
            <a:ext cx="106070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66372"/>
                </a:solidFill>
                <a:latin typeface="Aptos"/>
              </a:defRPr>
            </a:pPr>
            <a:r>
              <a:t>Limitations: estimates are based on a deterministic stratified sample, not every eligible call. Findings rely on supplied prompt-event and review fields; no independent audio review was performed.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2881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6372"/>
                </a:solidFill>
                <a:latin typeface="Aptos"/>
              </a:defRPr>
            </a:pPr>
            <a:r>
              <a:t>Lanternwood Fisheries  •  Quillhaven Terminals  |  Confidential working paper  |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991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D4E"/>
                </a:solidFill>
                <a:latin typeface="Aptos"/>
              </a:defRPr>
            </a:pPr>
            <a:r>
              <a:t>Committee review handoff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070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991"/>
                </a:solidFill>
                <a:latin typeface="Aptos"/>
              </a:defRPr>
            </a:pPr>
            <a:r>
              <a:t>For Bianca Lockhart and the privacy committee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42D4E"/>
                </a:solidFill>
                <a:latin typeface="Aptos"/>
              </a:defRPr>
            </a:pPr>
            <a:r>
              <a:t>Review the reproducible population, sample selection and exception classifications ahead of next Wednesday’s committee meeting. Confirm whether the measured facts answer the committee’s operational question and identify any follow-up evidence the committee requires.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8991"/>
                </a:solidFill>
                <a:latin typeface="Aptos"/>
              </a:defRPr>
            </a:pPr>
            <a:r>
              <a:t>Reproducibility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42D4E"/>
                </a:solidFill>
                <a:latin typeface="Aptos"/>
              </a:defRPr>
            </a:pPr>
            <a:r>
              <a:t>call_universe_and_prompt_logs.xlsx  •  pennsylvania_recording_review_packet.docx</a:t>
            </a:r>
            <a:br/>
            <a:r>
              <a:t>Prepared by Karin Calderon  |  Lanternwood Fisheries insurance-servicing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66372"/>
                </a:solidFill>
                <a:latin typeface="Aptos"/>
              </a:defRPr>
            </a:pPr>
            <a:r>
              <a:t>This brief is for fact review and committee discussion; it is not legal advice or a customer instruction.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2881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6372"/>
                </a:solidFill>
                <a:latin typeface="Aptos"/>
              </a:defRPr>
            </a:pPr>
            <a:r>
              <a:t>Lanternwood Fisheries  •  Quillhaven Terminals  |  Confidential working paper  |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