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147D8D"/>
                </a:solidFill>
                <a:latin typeface="Aptos"/>
              </a:rPr>
              <a:t>01  |  EVERSTEAD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400" b="1">
                <a:solidFill>
                  <a:srgbClr val="183B5B"/>
                </a:solidFill>
                <a:latin typeface="Aptos"/>
              </a:rPr>
              <a:t>Decision: staged, intelligence-led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C6975"/>
                </a:solidFill>
                <a:latin typeface="Aptos"/>
              </a:rPr>
              <a:t>Decision required Friday, 13 June 2025 | cross-functional internal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11155680" cy="932688"/>
          </a:xfrm>
          <a:prstGeom prst="roundRect">
            <a:avLst/>
          </a:prstGeom>
          <a:solidFill>
            <a:srgbClr val="EAF2F5"/>
          </a:solidFill>
          <a:ln>
            <a:solidFill>
              <a:srgbClr val="14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18488"/>
            <a:ext cx="10716768" cy="6217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700" b="1">
                <a:solidFill>
                  <a:srgbClr val="183B5B"/>
                </a:solidFill>
                <a:latin typeface="Aptos"/>
              </a:rPr>
              <a:t>Preserve and test the records now; contain the 16 June concern proportionately; do not disclose identities or make adverse findings from an uncorroborated allegation.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43200"/>
            <a:ext cx="2514600" cy="1280160"/>
          </a:xfrm>
          <a:prstGeom prst="roundRect">
            <a:avLst/>
          </a:prstGeom>
          <a:solidFill>
            <a:srgbClr val="F7F9FB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98648"/>
            <a:ext cx="224028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300" b="1">
                <a:solidFill>
                  <a:srgbClr val="183B5B"/>
                </a:solidFill>
                <a:latin typeface="Aptos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74136"/>
            <a:ext cx="224028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C6975"/>
                </a:solidFill>
                <a:latin typeface="Aptos"/>
              </a:rPr>
              <a:t>units in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743200"/>
            <a:ext cx="2514600" cy="1280160"/>
          </a:xfrm>
          <a:prstGeom prst="roundRect">
            <a:avLst/>
          </a:prstGeom>
          <a:solidFill>
            <a:srgbClr val="F7F9FB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898648"/>
            <a:ext cx="224028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300" b="1">
                <a:solidFill>
                  <a:srgbClr val="183B5B"/>
                </a:solidFill>
                <a:latin typeface="Apto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374136"/>
            <a:ext cx="224028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C6975"/>
                </a:solidFill>
                <a:latin typeface="Aptos"/>
              </a:rPr>
              <a:t>reconciled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743200"/>
            <a:ext cx="2514600" cy="1280160"/>
          </a:xfrm>
          <a:prstGeom prst="roundRect">
            <a:avLst/>
          </a:prstGeom>
          <a:solidFill>
            <a:srgbClr val="F7F9FB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898648"/>
            <a:ext cx="224028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300" b="1">
                <a:solidFill>
                  <a:srgbClr val="183B5B"/>
                </a:solidFill>
                <a:latin typeface="Aptos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374136"/>
            <a:ext cx="224028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C6975"/>
                </a:solidFill>
                <a:latin typeface="Aptos"/>
              </a:rPr>
              <a:t>unaccounted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3416" y="2743200"/>
            <a:ext cx="2514600" cy="1280160"/>
          </a:xfrm>
          <a:prstGeom prst="roundRect">
            <a:avLst/>
          </a:prstGeom>
          <a:solidFill>
            <a:srgbClr val="F7F9FB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2898648"/>
            <a:ext cx="224028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300" b="1">
                <a:solidFill>
                  <a:srgbClr val="183B5B"/>
                </a:solidFill>
                <a:latin typeface="Aptos"/>
              </a:rPr>
              <a:t>£31,800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3374136"/>
            <a:ext cx="224028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C6975"/>
                </a:solidFill>
                <a:latin typeface="Aptos"/>
              </a:rPr>
              <a:t>client-recorded replacement 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43400"/>
            <a:ext cx="10835640" cy="658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500" b="0">
                <a:solidFill>
                  <a:srgbClr val="202B33"/>
                </a:solidFill>
                <a:latin typeface="Aptos"/>
              </a:rPr>
              <a:t>Fixed arithmetic: 18 − 11 = 7. The impact baseline does not identify a responsible person or establish an offence.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10607040" cy="5486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1">
                <a:solidFill>
                  <a:srgbClr val="147D8D"/>
                </a:solidFill>
                <a:latin typeface="Aptos"/>
              </a:rPr>
              <a:t>Selected posture is a decision on safe next steps — not a finding of misconduct or criminality.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5486400" cy="164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700" b="0">
                <a:solidFill>
                  <a:srgbClr val="5C6975"/>
                </a:solidFill>
                <a:latin typeface="Aptos"/>
              </a:rPr>
              <a:t>Gallowspring Networks | Internal | assessed 12 June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6528816"/>
            <a:ext cx="1143000" cy="164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700" b="0">
                <a:solidFill>
                  <a:srgbClr val="5C6975"/>
                </a:solidFill>
                <a:latin typeface="Aptos"/>
              </a:rPr>
              <a:t>Decision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147D8D"/>
                </a:solidFill>
                <a:latin typeface="Aptos"/>
              </a:rPr>
              <a:t>02  |  EVERSTEAD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400" b="1">
                <a:solidFill>
                  <a:srgbClr val="183B5B"/>
                </a:solidFill>
                <a:latin typeface="Aptos"/>
              </a:rPr>
              <a:t>Evidence status: lead, record, or finding?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C6975"/>
                </a:solidFill>
                <a:latin typeface="Aptos"/>
              </a:rPr>
              <a:t>The distinction controls what we may do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474720" cy="3566160"/>
          </a:xfrm>
          <a:prstGeom prst="roundRect">
            <a:avLst/>
          </a:prstGeom>
          <a:solidFill>
            <a:srgbClr val="EAF2F5"/>
          </a:solidFill>
          <a:ln>
            <a:solidFill>
              <a:srgbClr val="14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783080"/>
            <a:ext cx="3127248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1">
                <a:solidFill>
                  <a:srgbClr val="147D8D"/>
                </a:solidFill>
                <a:latin typeface="Aptos"/>
              </a:rPr>
              <a:t>RECORDS /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31136"/>
            <a:ext cx="3108960" cy="2450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500" b="0">
                <a:solidFill>
                  <a:srgbClr val="183B5B"/>
                </a:solidFill>
                <a:latin typeface="Aptos"/>
              </a:rPr>
              <a:t>Same CB-EXC exception across three lots
Three badge events overlap collection windows
Useful leads to preserve and test — not proof of handling or redirection.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554480"/>
            <a:ext cx="3474720" cy="3566160"/>
          </a:xfrm>
          <a:prstGeom prst="roundRect">
            <a:avLst/>
          </a:prstGeom>
          <a:solidFill>
            <a:srgbClr val="FFF5DC"/>
          </a:solidFill>
          <a:ln>
            <a:solidFill>
              <a:srgbClr val="F3B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3" y="1783080"/>
            <a:ext cx="3127248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1">
                <a:solidFill>
                  <a:srgbClr val="9C6A00"/>
                </a:solidFill>
                <a:latin typeface="Aptos"/>
              </a:rPr>
              <a:t>ALLEGATION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3" y="2231136"/>
            <a:ext cx="3108960" cy="2450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500" b="0">
                <a:solidFill>
                  <a:srgbClr val="183B5B"/>
                </a:solidFill>
                <a:latin typeface="Aptos"/>
              </a:rPr>
              <a:t>Witness says Employee A said Employee B arranged redirection. Witness did not see it and cannot verify it.
Second-hand, uncorroborated allegation — lead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554480"/>
            <a:ext cx="3474720" cy="3566160"/>
          </a:xfrm>
          <a:prstGeom prst="roundRect">
            <a:avLst/>
          </a:prstGeom>
          <a:solidFill>
            <a:srgbClr val="FCE9E8"/>
          </a:solidFill>
          <a:ln>
            <a:solidFill>
              <a:srgbClr val="BE4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783080"/>
            <a:ext cx="3127248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1">
                <a:solidFill>
                  <a:srgbClr val="BE4B49"/>
                </a:solidFill>
                <a:latin typeface="Aptos"/>
              </a:rPr>
              <a:t>FINDING?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2231136"/>
            <a:ext cx="3108960" cy="2450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500" b="0">
                <a:solidFill>
                  <a:srgbClr val="BE4B49"/>
                </a:solidFill>
                <a:latin typeface="Aptos"/>
              </a:rPr>
              <a:t>No named perpetrator, completed offence, or immediate disclosure basis is established in the case notes.
No finding yet.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440680"/>
            <a:ext cx="11155680" cy="658368"/>
          </a:xfrm>
          <a:prstGeom prst="roundRect">
            <a:avLst/>
          </a:prstGeom>
          <a:solidFill>
            <a:srgbClr val="183B5B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596128"/>
            <a:ext cx="10744200" cy="310896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Operational concern: access permission remains active through the scheduled 16 June collection. Control can be considered now without converting a lead into proof.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164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700" b="0">
                <a:solidFill>
                  <a:srgbClr val="5C6975"/>
                </a:solidFill>
                <a:latin typeface="Aptos"/>
              </a:rPr>
              <a:t>Gallowspring Networks | Internal | assessed 12 June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6528816"/>
            <a:ext cx="1143000" cy="164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700" b="0">
                <a:solidFill>
                  <a:srgbClr val="5C6975"/>
                </a:solidFill>
                <a:latin typeface="Aptos"/>
              </a:rPr>
              <a:t>Decision package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147D8D"/>
                </a:solidFill>
                <a:latin typeface="Aptos"/>
              </a:rPr>
              <a:t>03  |  EVERSTEAD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400" b="1">
                <a:solidFill>
                  <a:srgbClr val="183B5B"/>
                </a:solidFill>
                <a:latin typeface="Aptos"/>
              </a:rPr>
              <a:t>Both readings are defensible — the trade-off is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C6975"/>
                </a:solidFill>
                <a:latin typeface="Aptos"/>
              </a:rPr>
              <a:t>Assumption-based scenario model; not an evidential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413248" cy="4498848"/>
          </a:xfrm>
          <a:prstGeom prst="roundRect">
            <a:avLst/>
          </a:prstGeom>
          <a:solidFill>
            <a:srgbClr val="F7F9FB"/>
          </a:solidFill>
          <a:ln>
            <a:solidFill>
              <a:srgbClr val="F3B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83080"/>
            <a:ext cx="48828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200" b="1">
                <a:solidFill>
                  <a:srgbClr val="9C6A00"/>
                </a:solidFill>
                <a:latin typeface="Aptos"/>
              </a:rPr>
              <a:t>RAPID TARGETED INTERVIEWS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21992"/>
            <a:ext cx="4818888" cy="2542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183B5B"/>
                </a:solidFill>
                <a:latin typeface="Aptos"/>
              </a:rPr>
              <a:t>Benefits
• Faster initial accounts; potential disruption
Costs
• May alert people before records are secured
• Higher fairness, disclosure and recollection-contamination risk
• Allegation remains uncorroborated
Scenario score: 62 / 105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508760"/>
            <a:ext cx="5376672" cy="4498848"/>
          </a:xfrm>
          <a:prstGeom prst="roundRect">
            <a:avLst/>
          </a:prstGeom>
          <a:solidFill>
            <a:srgbClr val="EAF2F5"/>
          </a:solidFill>
          <a:ln>
            <a:solidFill>
              <a:srgbClr val="14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8816" y="1783080"/>
            <a:ext cx="48463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200" b="1">
                <a:solidFill>
                  <a:srgbClr val="147D8D"/>
                </a:solidFill>
                <a:latin typeface="Aptos"/>
              </a:rPr>
              <a:t>STAGED, INTELLIGENCE-LED — SELECTED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2221992"/>
            <a:ext cx="4800600" cy="2542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400" b="0">
                <a:solidFill>
                  <a:srgbClr val="183B5B"/>
                </a:solidFill>
                <a:latin typeface="Aptos"/>
              </a:rPr>
              <a:t>Benefits
• Preserve and compare original ledger/access/interview material
• Fairer, more reviewable route; status-only client update
• Immediate control assessment before 16 June
Cost
• Slower to a person-specific step; exposure if control/review drifts
Scenario score: 92 / 105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199632"/>
            <a:ext cx="10927080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0">
                <a:solidFill>
                  <a:srgbClr val="5C6975"/>
                </a:solidFill>
                <a:latin typeface="Aptos"/>
              </a:rPr>
              <a:t>Model assumptions weight evidence quality, fairness and resilience more heavily than immediate speed. Change the documented workbook ratings to test the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164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700" b="0">
                <a:solidFill>
                  <a:srgbClr val="5C6975"/>
                </a:solidFill>
                <a:latin typeface="Aptos"/>
              </a:rPr>
              <a:t>Gallowspring Networks | Internal | assessed 12 June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6528816"/>
            <a:ext cx="1143000" cy="164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700" b="0">
                <a:solidFill>
                  <a:srgbClr val="5C6975"/>
                </a:solidFill>
                <a:latin typeface="Aptos"/>
              </a:rPr>
              <a:t>Decision package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147D8D"/>
                </a:solidFill>
                <a:latin typeface="Aptos"/>
              </a:rPr>
              <a:t>04  |  EVERSTEAD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400" b="1">
                <a:solidFill>
                  <a:srgbClr val="183B5B"/>
                </a:solidFill>
                <a:latin typeface="Aptos"/>
              </a:rPr>
              <a:t>Selected posture: fast preservation, staged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C6975"/>
                </a:solidFill>
                <a:latin typeface="Aptos"/>
              </a:rPr>
              <a:t>A firm checkpoint avoids indefinite deferral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383280" cy="3063240"/>
          </a:xfrm>
          <a:prstGeom prst="roundRect">
            <a:avLst/>
          </a:prstGeom>
          <a:solidFill>
            <a:srgbClr val="F7F9FB"/>
          </a:solidFill>
          <a:ln>
            <a:solidFill>
              <a:srgbClr val="14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971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147D8D"/>
                </a:solidFill>
                <a:latin typeface="Aptos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971800" cy="17556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500" b="0">
                <a:solidFill>
                  <a:srgbClr val="183B5B"/>
                </a:solidFill>
                <a:latin typeface="Aptos"/>
              </a:rPr>
              <a:t>Preserve original CB-EXC ledger, relevant access records, interview note + metadata. Log source, collector, access and working copies.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2" y="2926080"/>
            <a:ext cx="292608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2600" b="1">
                <a:solidFill>
                  <a:srgbClr val="147D8D"/>
                </a:solidFill>
                <a:latin typeface="Apto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383280" cy="3063240"/>
          </a:xfrm>
          <a:prstGeom prst="roundRect">
            <a:avLst/>
          </a:prstGeom>
          <a:solidFill>
            <a:srgbClr val="F7F9FB"/>
          </a:solidFill>
          <a:ln>
            <a:solidFill>
              <a:srgbClr val="14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2971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147D8D"/>
                </a:solidFill>
                <a:latin typeface="Aptos"/>
              </a:rPr>
              <a:t>BEFORE 16 JUN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23160"/>
            <a:ext cx="2971800" cy="17556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500" b="0">
                <a:solidFill>
                  <a:srgbClr val="183B5B"/>
                </a:solidFill>
                <a:latin typeface="Aptos"/>
              </a:rPr>
              <a:t>Records custodian assesses existing operational arrangements for scheduled collection; escalate if records or control cannot be secured.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926080"/>
            <a:ext cx="292608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2600" b="1">
                <a:solidFill>
                  <a:srgbClr val="147D8D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383280" cy="3063240"/>
          </a:xfrm>
          <a:prstGeom prst="roundRect">
            <a:avLst/>
          </a:prstGeom>
          <a:solidFill>
            <a:srgbClr val="F7F9FB"/>
          </a:solidFill>
          <a:ln>
            <a:solidFill>
              <a:srgbClr val="14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2971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147D8D"/>
                </a:solidFill>
                <a:latin typeface="Aptos"/>
              </a:rPr>
              <a:t>13 JUN CHECKPOINT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23160"/>
            <a:ext cx="2971800" cy="17556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500" b="0">
                <a:solidFill>
                  <a:srgbClr val="183B5B"/>
                </a:solidFill>
                <a:latin typeface="Aptos"/>
              </a:rPr>
              <a:t>Karin reviews provenance, timing and alternative explanations. Determine whether a person-specific step is necessary and proportionate.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47488"/>
            <a:ext cx="11064240" cy="713232"/>
          </a:xfrm>
          <a:prstGeom prst="roundRect">
            <a:avLst/>
          </a:prstGeom>
          <a:solidFill>
            <a:srgbClr val="FFF5DC"/>
          </a:solidFill>
          <a:ln>
            <a:solidFill>
              <a:srgbClr val="F3B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202936"/>
            <a:ext cx="1065276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1">
                <a:solidFill>
                  <a:srgbClr val="183B5B"/>
                </a:solidFill>
                <a:latin typeface="Aptos"/>
              </a:rPr>
              <a:t>Stop / hold: do not interview, disclose an identity, initiate adverse action or conclude guilt if the material remains only allegation + badge overlap, or integrity/fairness is not assured.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5486400" cy="164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700" b="0">
                <a:solidFill>
                  <a:srgbClr val="5C6975"/>
                </a:solidFill>
                <a:latin typeface="Aptos"/>
              </a:rPr>
              <a:t>Gallowspring Networks | Internal | assessed 12 June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6528816"/>
            <a:ext cx="1143000" cy="164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700" b="0">
                <a:solidFill>
                  <a:srgbClr val="5C6975"/>
                </a:solidFill>
                <a:latin typeface="Aptos"/>
              </a:rPr>
              <a:t>Decision package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147D8D"/>
                </a:solidFill>
                <a:latin typeface="Aptos"/>
              </a:rPr>
              <a:t>05  |  EVERSTEAD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400" b="1">
                <a:solidFill>
                  <a:srgbClr val="183B5B"/>
                </a:solidFill>
                <a:latin typeface="Aptos"/>
              </a:rPr>
              <a:t>Safeguards: protect people, records and client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C6975"/>
                </a:solidFill>
                <a:latin typeface="Aptos"/>
              </a:rPr>
              <a:t>The earlier promise is reset — it does not dictate professional judgment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99616"/>
            <a:ext cx="1101852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14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73351"/>
            <a:ext cx="1920240" cy="2103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1">
                <a:solidFill>
                  <a:srgbClr val="147D8D"/>
                </a:solidFill>
                <a:latin typeface="Aptos"/>
              </a:rPr>
              <a:t>CLIENT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36775"/>
            <a:ext cx="8412480" cy="6858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183B5B"/>
                </a:solidFill>
                <a:latin typeface="Aptos"/>
              </a:rPr>
              <a:t>Chidi Trevelyan sends a status and safeguarding update by 13:00 Friday. No suspected identity is shared absent a substantiated, necessary and appropriately authorised basis.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944368"/>
            <a:ext cx="1101852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14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18103"/>
            <a:ext cx="1920240" cy="2103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1">
                <a:solidFill>
                  <a:srgbClr val="147D8D"/>
                </a:solidFill>
                <a:latin typeface="Aptos"/>
              </a:rPr>
              <a:t>FAIR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81527"/>
            <a:ext cx="8412480" cy="6858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183B5B"/>
                </a:solidFill>
                <a:latin typeface="Aptos"/>
              </a:rPr>
              <a:t>If later interview is necessary: impartial questions; opportunity to respond; reliable record; appropriate HR advice / representation safeguards.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389120"/>
            <a:ext cx="1101852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14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62856"/>
            <a:ext cx="1920240" cy="2103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1">
                <a:solidFill>
                  <a:srgbClr val="147D8D"/>
                </a:solidFill>
                <a:latin typeface="Aptos"/>
              </a:rPr>
              <a:t>INFORMATION &amp;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526280"/>
            <a:ext cx="8412480" cy="6858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0">
                <a:solidFill>
                  <a:srgbClr val="183B5B"/>
                </a:solidFill>
                <a:latin typeface="Aptos"/>
              </a:rPr>
              <a:t>Need-to-know, minimised handling of identities/investigative material. UK GDPR / DPA 2018 principles; HR/Legal advice where applicable. No automatic police powers for a private inquiry.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5486400" cy="164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700" b="0">
                <a:solidFill>
                  <a:srgbClr val="5C6975"/>
                </a:solidFill>
                <a:latin typeface="Aptos"/>
              </a:rPr>
              <a:t>Gallowspring Networks | Internal | assessed 12 June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528816"/>
            <a:ext cx="1143000" cy="164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700" b="0">
                <a:solidFill>
                  <a:srgbClr val="5C6975"/>
                </a:solidFill>
                <a:latin typeface="Aptos"/>
              </a:rPr>
              <a:t>Decision package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900" b="1">
                <a:solidFill>
                  <a:srgbClr val="147D8D"/>
                </a:solidFill>
                <a:latin typeface="Aptos"/>
              </a:rPr>
              <a:t>06  |  EVERSTEAD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2400" b="1">
                <a:solidFill>
                  <a:srgbClr val="183B5B"/>
                </a:solidFill>
                <a:latin typeface="Aptos"/>
              </a:rPr>
              <a:t>Authorisation: execute the staged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000" b="0">
                <a:solidFill>
                  <a:srgbClr val="5C6975"/>
                </a:solidFill>
                <a:latin typeface="Aptos"/>
              </a:rPr>
              <a:t>Clear ownership, timing and changed operating 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11064240" cy="832104"/>
          </a:xfrm>
          <a:prstGeom prst="roundRect">
            <a:avLst/>
          </a:prstGeom>
          <a:solidFill>
            <a:srgbClr val="F7F9FB"/>
          </a:solidFill>
          <a:ln>
            <a:solidFill>
              <a:srgbClr val="14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242316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183B5B"/>
                </a:solidFill>
                <a:latin typeface="Aptos"/>
              </a:rPr>
              <a:t>Karin Sheridan | decision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645920"/>
            <a:ext cx="5431536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0">
                <a:solidFill>
                  <a:srgbClr val="183B5B"/>
                </a:solidFill>
                <a:latin typeface="Aptos"/>
              </a:rPr>
              <a:t>Authorises posture and evidence gate; makes checkpoint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645920"/>
            <a:ext cx="246888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1100" b="1">
                <a:solidFill>
                  <a:srgbClr val="147D8D"/>
                </a:solidFill>
                <a:latin typeface="Aptos"/>
              </a:rPr>
              <a:t>By 16:00 Fri 13 Jun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05456"/>
            <a:ext cx="11064240" cy="832104"/>
          </a:xfrm>
          <a:prstGeom prst="roundRect">
            <a:avLst/>
          </a:prstGeom>
          <a:solidFill>
            <a:srgbClr val="F7F9FB"/>
          </a:solidFill>
          <a:ln>
            <a:solidFill>
              <a:srgbClr val="14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70048"/>
            <a:ext cx="242316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183B5B"/>
                </a:solidFill>
                <a:latin typeface="Aptos"/>
              </a:rPr>
              <a:t>Records custodian | role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670048"/>
            <a:ext cx="5431536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0">
                <a:solidFill>
                  <a:srgbClr val="183B5B"/>
                </a:solidFill>
                <a:latin typeface="Aptos"/>
              </a:rPr>
              <a:t>Preserves records and assesses existing operational arrangements.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670048"/>
            <a:ext cx="246888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1100" b="1">
                <a:solidFill>
                  <a:srgbClr val="147D8D"/>
                </a:solidFill>
                <a:latin typeface="Aptos"/>
              </a:rPr>
              <a:t>By 12:00 Fri 13 Jun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9584"/>
            <a:ext cx="11064240" cy="832104"/>
          </a:xfrm>
          <a:prstGeom prst="roundRect">
            <a:avLst/>
          </a:prstGeom>
          <a:solidFill>
            <a:srgbClr val="F7F9FB"/>
          </a:solidFill>
          <a:ln>
            <a:solidFill>
              <a:srgbClr val="14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94176"/>
            <a:ext cx="242316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1">
                <a:solidFill>
                  <a:srgbClr val="183B5B"/>
                </a:solidFill>
                <a:latin typeface="Aptos"/>
              </a:rPr>
              <a:t>Chidi Trevelyan | client liaison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694176"/>
            <a:ext cx="5431536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100" b="0">
                <a:solidFill>
                  <a:srgbClr val="183B5B"/>
                </a:solidFill>
                <a:latin typeface="Aptos"/>
              </a:rPr>
              <a:t>Resets client expectation; logs status-only update.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694176"/>
            <a:ext cx="246888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1100" b="1">
                <a:solidFill>
                  <a:srgbClr val="147D8D"/>
                </a:solidFill>
                <a:latin typeface="Aptos"/>
              </a:rPr>
              <a:t>By 13:00 Fri 13 Jun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28032"/>
            <a:ext cx="11064240" cy="978408"/>
          </a:xfrm>
          <a:prstGeom prst="roundRect">
            <a:avLst/>
          </a:prstGeom>
          <a:solidFill>
            <a:srgbClr val="FFF5DC"/>
          </a:solidFill>
          <a:ln>
            <a:solidFill>
              <a:srgbClr val="F3B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5020056"/>
            <a:ext cx="10570464" cy="56692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1300" b="1">
                <a:solidFill>
                  <a:srgbClr val="183B5B"/>
                </a:solidFill>
                <a:latin typeface="Aptos"/>
              </a:rPr>
              <a:t>CHANGED POSITION  |  From “share suspected identities quickly” to “preserve and test intelligence; status update only; identities, adverse action and conclusions behind corroboration, necessity and authority gate.”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28816"/>
            <a:ext cx="5486400" cy="164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l"/>
            <a:r>
              <a:rPr sz="700" b="0">
                <a:solidFill>
                  <a:srgbClr val="5C6975"/>
                </a:solidFill>
                <a:latin typeface="Aptos"/>
              </a:rPr>
              <a:t>Gallowspring Networks | Internal | assessed 12 June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6528816"/>
            <a:ext cx="1143000" cy="16459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700" b="0">
                <a:solidFill>
                  <a:srgbClr val="5C6975"/>
                </a:solidFill>
                <a:latin typeface="Aptos"/>
              </a:rPr>
              <a:t>Decision package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