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52B40"/>
        </a:solidFill>
        <a:effectLst/>
      </p:bgPr>
    </p:bg>
    <p:spTree>
      <p:nvGrpSpPr>
        <p:cNvPr id="1" name=""/>
        <p:cNvGrpSpPr/>
        <p:nvPr/>
      </p:nvGrpSpPr>
      <p:grpSpPr/>
      <p:sp>
        <p:nvSpPr>
          <p:cNvPr id="2" name="TextBox 1"/>
          <p:cNvSpPr txBox="1"/>
          <p:nvPr/>
        </p:nvSpPr>
        <p:spPr>
          <a:xfrm>
            <a:off x="502920" y="320040"/>
            <a:ext cx="11155680" cy="502920"/>
          </a:xfrm>
          <a:prstGeom prst="rect">
            <a:avLst/>
          </a:prstGeom>
          <a:noFill/>
        </p:spPr>
        <p:txBody>
          <a:bodyPr wrap="none">
            <a:spAutoFit/>
          </a:bodyPr>
          <a:lstStyle/>
          <a:p>
            <a:pPr>
              <a:defRPr sz="2500" b="1">
                <a:solidFill>
                  <a:srgbClr val="FFFFFF"/>
                </a:solidFill>
                <a:latin typeface="Aptos Display"/>
              </a:defRPr>
            </a:pPr>
            <a:r>
              <a:t>Unified change-authority position</a:t>
            </a:r>
          </a:p>
        </p:txBody>
      </p:sp>
      <p:sp>
        <p:nvSpPr>
          <p:cNvPr id="3" name="TextBox 2"/>
          <p:cNvSpPr txBox="1"/>
          <p:nvPr/>
        </p:nvSpPr>
        <p:spPr>
          <a:xfrm>
            <a:off x="530352" y="859536"/>
            <a:ext cx="10972800" cy="256032"/>
          </a:xfrm>
          <a:prstGeom prst="rect">
            <a:avLst/>
          </a:prstGeom>
          <a:noFill/>
        </p:spPr>
        <p:txBody>
          <a:bodyPr wrap="none">
            <a:spAutoFit/>
          </a:bodyPr>
          <a:lstStyle/>
          <a:p>
            <a:pPr>
              <a:defRPr sz="900" b="1">
                <a:solidFill>
                  <a:srgbClr val="D69C3F"/>
                </a:solidFill>
                <a:latin typeface="Aptos"/>
              </a:defRPr>
            </a:pPr>
            <a:r>
              <a:t>A SINGLE OPERATING READING FOR YARA LINDGREN AND CROSS-FUNCTIONAL REVIEWERS</a:t>
            </a:r>
          </a:p>
        </p:txBody>
      </p:sp>
      <p:sp>
        <p:nvSpPr>
          <p:cNvPr id="4" name="TextBox 3"/>
          <p:cNvSpPr txBox="1"/>
          <p:nvPr/>
        </p:nvSpPr>
        <p:spPr>
          <a:xfrm>
            <a:off x="685800" y="1508760"/>
            <a:ext cx="10607040" cy="1005840"/>
          </a:xfrm>
          <a:prstGeom prst="rect">
            <a:avLst/>
          </a:prstGeom>
          <a:noFill/>
        </p:spPr>
        <p:txBody>
          <a:bodyPr wrap="square" lIns="54864" rIns="54864" tIns="54864" bIns="54864">
            <a:spAutoFit/>
          </a:bodyPr>
          <a:lstStyle/>
          <a:p>
            <a:pPr>
              <a:spcAft>
                <a:spcPts val="400"/>
              </a:spcAft>
              <a:defRPr sz="3000" b="1">
                <a:solidFill>
                  <a:srgbClr val="FFFFFF"/>
                </a:solidFill>
                <a:latin typeface="Aptos"/>
              </a:defRPr>
            </a:pPr>
            <a:r>
              <a:t>One engagement. Three source layers.</a:t>
            </a:r>
          </a:p>
          <a:p>
            <a:pPr>
              <a:spcAft>
                <a:spcPts val="400"/>
              </a:spcAft>
              <a:defRPr sz="3000" b="1">
                <a:solidFill>
                  <a:srgbClr val="FFFFFF"/>
                </a:solidFill>
                <a:latin typeface="Aptos"/>
              </a:defRPr>
            </a:pPr>
            <a:r>
              <a:t>One defensible authority position.</a:t>
            </a:r>
          </a:p>
        </p:txBody>
      </p:sp>
      <p:sp>
        <p:nvSpPr>
          <p:cNvPr id="5" name="Rounded Rectangle 4"/>
          <p:cNvSpPr/>
          <p:nvPr/>
        </p:nvSpPr>
        <p:spPr>
          <a:xfrm>
            <a:off x="713232" y="3063240"/>
            <a:ext cx="3337560" cy="1600200"/>
          </a:xfrm>
          <a:prstGeom prst="roundRect">
            <a:avLst/>
          </a:prstGeom>
          <a:solidFill>
            <a:srgbClr val="214355"/>
          </a:solidFill>
          <a:ln w="10160">
            <a:solidFill>
              <a:srgbClr val="4179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3310128"/>
            <a:ext cx="2926080" cy="365760"/>
          </a:xfrm>
          <a:prstGeom prst="rect">
            <a:avLst/>
          </a:prstGeom>
          <a:noFill/>
        </p:spPr>
        <p:txBody>
          <a:bodyPr wrap="square" lIns="54864" rIns="54864" tIns="54864" bIns="54864">
            <a:spAutoFit/>
          </a:bodyPr>
          <a:lstStyle/>
          <a:p>
            <a:pPr>
              <a:spcAft>
                <a:spcPts val="400"/>
              </a:spcAft>
              <a:defRPr sz="1100" b="1">
                <a:solidFill>
                  <a:srgbClr val="D69C3F"/>
                </a:solidFill>
                <a:latin typeface="Aptos"/>
              </a:defRPr>
            </a:pPr>
            <a:r>
              <a:t>GOVERNING CALL</a:t>
            </a:r>
          </a:p>
        </p:txBody>
      </p:sp>
      <p:sp>
        <p:nvSpPr>
          <p:cNvPr id="7" name="TextBox 6"/>
          <p:cNvSpPr txBox="1"/>
          <p:nvPr/>
        </p:nvSpPr>
        <p:spPr>
          <a:xfrm>
            <a:off x="914400" y="3703320"/>
            <a:ext cx="2834640" cy="731520"/>
          </a:xfrm>
          <a:prstGeom prst="rect">
            <a:avLst/>
          </a:prstGeom>
          <a:noFill/>
        </p:spPr>
        <p:txBody>
          <a:bodyPr wrap="square" lIns="54864" rIns="54864" tIns="54864" bIns="54864">
            <a:spAutoFit/>
          </a:bodyPr>
          <a:lstStyle/>
          <a:p>
            <a:pPr>
              <a:spcAft>
                <a:spcPts val="400"/>
              </a:spcAft>
              <a:defRPr sz="1600" b="1">
                <a:solidFill>
                  <a:srgbClr val="FFFFFF"/>
                </a:solidFill>
                <a:latin typeface="Aptos"/>
              </a:defRPr>
            </a:pPr>
            <a:r>
              <a:t>Operational permission comes from the service-desk change scheme and its approval evidence.</a:t>
            </a:r>
          </a:p>
        </p:txBody>
      </p:sp>
      <p:sp>
        <p:nvSpPr>
          <p:cNvPr id="8" name="Rounded Rectangle 7"/>
          <p:cNvSpPr/>
          <p:nvPr/>
        </p:nvSpPr>
        <p:spPr>
          <a:xfrm>
            <a:off x="4407408" y="3063240"/>
            <a:ext cx="3337560" cy="1600200"/>
          </a:xfrm>
          <a:prstGeom prst="roundRect">
            <a:avLst/>
          </a:prstGeom>
          <a:solidFill>
            <a:srgbClr val="214355"/>
          </a:solidFill>
          <a:ln w="10160">
            <a:solidFill>
              <a:srgbClr val="4179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08576" y="3310128"/>
            <a:ext cx="2926080" cy="365760"/>
          </a:xfrm>
          <a:prstGeom prst="rect">
            <a:avLst/>
          </a:prstGeom>
          <a:noFill/>
        </p:spPr>
        <p:txBody>
          <a:bodyPr wrap="square" lIns="54864" rIns="54864" tIns="54864" bIns="54864">
            <a:spAutoFit/>
          </a:bodyPr>
          <a:lstStyle/>
          <a:p>
            <a:pPr>
              <a:spcAft>
                <a:spcPts val="400"/>
              </a:spcAft>
              <a:defRPr sz="1100" b="1">
                <a:solidFill>
                  <a:srgbClr val="D69C3F"/>
                </a:solidFill>
                <a:latin typeface="Aptos"/>
              </a:defRPr>
            </a:pPr>
            <a:r>
              <a:t>BOUNDARY</a:t>
            </a:r>
          </a:p>
        </p:txBody>
      </p:sp>
      <p:sp>
        <p:nvSpPr>
          <p:cNvPr id="10" name="TextBox 9"/>
          <p:cNvSpPr txBox="1"/>
          <p:nvPr/>
        </p:nvSpPr>
        <p:spPr>
          <a:xfrm>
            <a:off x="4608576" y="3703320"/>
            <a:ext cx="2834640" cy="731520"/>
          </a:xfrm>
          <a:prstGeom prst="rect">
            <a:avLst/>
          </a:prstGeom>
          <a:noFill/>
        </p:spPr>
        <p:txBody>
          <a:bodyPr wrap="square" lIns="54864" rIns="54864" tIns="54864" bIns="54864">
            <a:spAutoFit/>
          </a:bodyPr>
          <a:lstStyle/>
          <a:p>
            <a:pPr>
              <a:spcAft>
                <a:spcPts val="400"/>
              </a:spcAft>
              <a:defRPr sz="1600" b="1">
                <a:solidFill>
                  <a:srgbClr val="FFFFFF"/>
                </a:solidFill>
                <a:latin typeface="Aptos"/>
              </a:defRPr>
            </a:pPr>
            <a:r>
              <a:t>SOC 2 availability and ISO control context remain relevant—but neither is a blanket implementation approval.</a:t>
            </a:r>
          </a:p>
        </p:txBody>
      </p:sp>
      <p:sp>
        <p:nvSpPr>
          <p:cNvPr id="11" name="Rounded Rectangle 10"/>
          <p:cNvSpPr/>
          <p:nvPr/>
        </p:nvSpPr>
        <p:spPr>
          <a:xfrm>
            <a:off x="8101583" y="3063240"/>
            <a:ext cx="3337560" cy="1600200"/>
          </a:xfrm>
          <a:prstGeom prst="roundRect">
            <a:avLst/>
          </a:prstGeom>
          <a:solidFill>
            <a:srgbClr val="214355"/>
          </a:solidFill>
          <a:ln w="10160">
            <a:solidFill>
              <a:srgbClr val="4179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02752" y="3310128"/>
            <a:ext cx="2926080" cy="365760"/>
          </a:xfrm>
          <a:prstGeom prst="rect">
            <a:avLst/>
          </a:prstGeom>
          <a:noFill/>
        </p:spPr>
        <p:txBody>
          <a:bodyPr wrap="square" lIns="54864" rIns="54864" tIns="54864" bIns="54864">
            <a:spAutoFit/>
          </a:bodyPr>
          <a:lstStyle/>
          <a:p>
            <a:pPr>
              <a:spcAft>
                <a:spcPts val="400"/>
              </a:spcAft>
              <a:defRPr sz="1100" b="1">
                <a:solidFill>
                  <a:srgbClr val="D69C3F"/>
                </a:solidFill>
                <a:latin typeface="Aptos"/>
              </a:defRPr>
            </a:pPr>
            <a:r>
              <a:t>NON-NEGOTIABLE</a:t>
            </a:r>
          </a:p>
        </p:txBody>
      </p:sp>
      <p:sp>
        <p:nvSpPr>
          <p:cNvPr id="13" name="TextBox 12"/>
          <p:cNvSpPr txBox="1"/>
          <p:nvPr/>
        </p:nvSpPr>
        <p:spPr>
          <a:xfrm>
            <a:off x="8302752" y="3703320"/>
            <a:ext cx="2834640" cy="731520"/>
          </a:xfrm>
          <a:prstGeom prst="rect">
            <a:avLst/>
          </a:prstGeom>
          <a:noFill/>
        </p:spPr>
        <p:txBody>
          <a:bodyPr wrap="square" lIns="54864" rIns="54864" tIns="54864" bIns="54864">
            <a:spAutoFit/>
          </a:bodyPr>
          <a:lstStyle/>
          <a:p>
            <a:pPr>
              <a:spcAft>
                <a:spcPts val="400"/>
              </a:spcAft>
              <a:defRPr sz="1600" b="1">
                <a:solidFill>
                  <a:srgbClr val="FFFFFF"/>
                </a:solidFill>
                <a:latin typeface="Aptos"/>
              </a:defRPr>
            </a:pPr>
            <a:r>
              <a:t>A workflow status is handling information, not proof that authority exists.</a:t>
            </a:r>
          </a:p>
        </p:txBody>
      </p:sp>
      <p:sp>
        <p:nvSpPr>
          <p:cNvPr id="14" name="TextBox 13"/>
          <p:cNvSpPr txBox="1"/>
          <p:nvPr/>
        </p:nvSpPr>
        <p:spPr>
          <a:xfrm>
            <a:off x="731520" y="5669280"/>
            <a:ext cx="10789920" cy="457200"/>
          </a:xfrm>
          <a:prstGeom prst="rect">
            <a:avLst/>
          </a:prstGeom>
          <a:noFill/>
        </p:spPr>
        <p:txBody>
          <a:bodyPr wrap="square" lIns="54864" rIns="54864" tIns="54864" bIns="54864">
            <a:spAutoFit/>
          </a:bodyPr>
          <a:lstStyle/>
          <a:p>
            <a:pPr>
              <a:spcAft>
                <a:spcPts val="400"/>
              </a:spcAft>
              <a:defRPr sz="1200" b="0">
                <a:solidFill>
                  <a:srgbClr val="C7DBE0"/>
                </a:solidFill>
                <a:latin typeface="Aptos"/>
              </a:defRPr>
            </a:pPr>
            <a:r>
              <a:t>Position limited to the supplied change_authority_source_bundle.pdf.</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276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55680" cy="502920"/>
          </a:xfrm>
          <a:prstGeom prst="rect">
            <a:avLst/>
          </a:prstGeom>
          <a:noFill/>
        </p:spPr>
        <p:txBody>
          <a:bodyPr wrap="none">
            <a:spAutoFit/>
          </a:bodyPr>
          <a:lstStyle/>
          <a:p>
            <a:pPr>
              <a:defRPr sz="2500" b="1">
                <a:solidFill>
                  <a:srgbClr val="152B40"/>
                </a:solidFill>
                <a:latin typeface="Aptos Display"/>
              </a:defRPr>
            </a:pPr>
            <a:r>
              <a:t>What each source governs</a:t>
            </a:r>
          </a:p>
        </p:txBody>
      </p:sp>
      <p:sp>
        <p:nvSpPr>
          <p:cNvPr id="4" name="TextBox 3"/>
          <p:cNvSpPr txBox="1"/>
          <p:nvPr/>
        </p:nvSpPr>
        <p:spPr>
          <a:xfrm>
            <a:off x="530352" y="859536"/>
            <a:ext cx="10972800" cy="256032"/>
          </a:xfrm>
          <a:prstGeom prst="rect">
            <a:avLst/>
          </a:prstGeom>
          <a:noFill/>
        </p:spPr>
        <p:txBody>
          <a:bodyPr wrap="none">
            <a:spAutoFit/>
          </a:bodyPr>
          <a:lstStyle/>
          <a:p>
            <a:pPr>
              <a:defRPr sz="900" b="1">
                <a:solidFill>
                  <a:srgbClr val="12767D"/>
                </a:solidFill>
                <a:latin typeface="Aptos"/>
              </a:defRPr>
            </a:pPr>
            <a:r>
              <a:t>KEEP THE OBJECT, AUTHORITY, AND EVIDENCE TYPE SEPARATE</a:t>
            </a:r>
          </a:p>
        </p:txBody>
      </p:sp>
      <p:sp>
        <p:nvSpPr>
          <p:cNvPr id="5" name="Rounded Rectangle 4"/>
          <p:cNvSpPr/>
          <p:nvPr/>
        </p:nvSpPr>
        <p:spPr>
          <a:xfrm>
            <a:off x="548640" y="1828800"/>
            <a:ext cx="3566160" cy="3977639"/>
          </a:xfrm>
          <a:prstGeom prst="roundRect">
            <a:avLst/>
          </a:prstGeom>
          <a:solidFill>
            <a:srgbClr val="F2F7F9"/>
          </a:solidFill>
          <a:ln w="10160">
            <a:solidFill>
              <a:srgbClr val="1276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2057400"/>
            <a:ext cx="3163824" cy="320040"/>
          </a:xfrm>
          <a:prstGeom prst="rect">
            <a:avLst/>
          </a:prstGeom>
          <a:noFill/>
        </p:spPr>
        <p:txBody>
          <a:bodyPr wrap="square" lIns="54864" rIns="54864" tIns="54864" bIns="54864">
            <a:spAutoFit/>
          </a:bodyPr>
          <a:lstStyle/>
          <a:p>
            <a:pPr>
              <a:spcAft>
                <a:spcPts val="400"/>
              </a:spcAft>
              <a:defRPr sz="1100" b="1">
                <a:solidFill>
                  <a:srgbClr val="12767D"/>
                </a:solidFill>
                <a:latin typeface="Aptos"/>
              </a:defRPr>
            </a:pPr>
            <a:r>
              <a:t>CLIENT COMMITMENT</a:t>
            </a:r>
          </a:p>
        </p:txBody>
      </p:sp>
      <p:sp>
        <p:nvSpPr>
          <p:cNvPr id="7" name="TextBox 6"/>
          <p:cNvSpPr txBox="1"/>
          <p:nvPr/>
        </p:nvSpPr>
        <p:spPr>
          <a:xfrm>
            <a:off x="749808" y="2542032"/>
            <a:ext cx="3163824" cy="502920"/>
          </a:xfrm>
          <a:prstGeom prst="rect">
            <a:avLst/>
          </a:prstGeom>
          <a:noFill/>
        </p:spPr>
        <p:txBody>
          <a:bodyPr wrap="square" lIns="54864" rIns="54864" tIns="54864" bIns="54864">
            <a:spAutoFit/>
          </a:bodyPr>
          <a:lstStyle/>
          <a:p>
            <a:pPr>
              <a:spcAft>
                <a:spcPts val="400"/>
              </a:spcAft>
              <a:defRPr sz="1600" b="1">
                <a:solidFill>
                  <a:srgbClr val="152B40"/>
                </a:solidFill>
                <a:latin typeface="Aptos"/>
              </a:defRPr>
            </a:pPr>
            <a:r>
              <a:t>SOC 2 availability / contract</a:t>
            </a:r>
          </a:p>
        </p:txBody>
      </p:sp>
      <p:sp>
        <p:nvSpPr>
          <p:cNvPr id="8" name="TextBox 7"/>
          <p:cNvSpPr txBox="1"/>
          <p:nvPr/>
        </p:nvSpPr>
        <p:spPr>
          <a:xfrm>
            <a:off x="749808" y="3291840"/>
            <a:ext cx="3163824" cy="1051560"/>
          </a:xfrm>
          <a:prstGeom prst="rect">
            <a:avLst/>
          </a:prstGeom>
          <a:noFill/>
        </p:spPr>
        <p:txBody>
          <a:bodyPr wrap="square" lIns="54864" rIns="54864" tIns="54864" bIns="54864">
            <a:spAutoFit/>
          </a:bodyPr>
          <a:lstStyle/>
          <a:p>
            <a:pPr>
              <a:spcAft>
                <a:spcPts val="400"/>
              </a:spcAft>
              <a:defRPr sz="1300" b="0">
                <a:solidFill>
                  <a:srgbClr val="23303A"/>
                </a:solidFill>
                <a:latin typeface="Aptos"/>
              </a:defRPr>
            </a:pPr>
            <a:r>
              <a:t>Establishes: service availability promise; notice where practicable; urgent continuity direction and an emergency record.</a:t>
            </a:r>
          </a:p>
        </p:txBody>
      </p:sp>
      <p:sp>
        <p:nvSpPr>
          <p:cNvPr id="9" name="TextBox 8"/>
          <p:cNvSpPr txBox="1"/>
          <p:nvPr/>
        </p:nvSpPr>
        <p:spPr>
          <a:xfrm>
            <a:off x="749808" y="4572000"/>
            <a:ext cx="3163824" cy="914400"/>
          </a:xfrm>
          <a:prstGeom prst="rect">
            <a:avLst/>
          </a:prstGeom>
          <a:noFill/>
        </p:spPr>
        <p:txBody>
          <a:bodyPr wrap="square" lIns="54864" rIns="54864" tIns="54864" bIns="54864">
            <a:spAutoFit/>
          </a:bodyPr>
          <a:lstStyle/>
          <a:p>
            <a:pPr>
              <a:spcAft>
                <a:spcPts val="400"/>
              </a:spcAft>
              <a:defRPr sz="1300" b="1">
                <a:solidFill>
                  <a:srgbClr val="A44237"/>
                </a:solidFill>
                <a:latin typeface="Aptos"/>
              </a:defRPr>
            </a:pPr>
            <a:r>
              <a:t>Does not establish: blanket approval or a technical procedure.</a:t>
            </a:r>
          </a:p>
        </p:txBody>
      </p:sp>
      <p:sp>
        <p:nvSpPr>
          <p:cNvPr id="10" name="Rounded Rectangle 9"/>
          <p:cNvSpPr/>
          <p:nvPr/>
        </p:nvSpPr>
        <p:spPr>
          <a:xfrm>
            <a:off x="4315968" y="1828800"/>
            <a:ext cx="3566160" cy="3977639"/>
          </a:xfrm>
          <a:prstGeom prst="roundRect">
            <a:avLst/>
          </a:prstGeom>
          <a:solidFill>
            <a:srgbClr val="EFECF9"/>
          </a:solidFill>
          <a:ln w="10160">
            <a:solidFill>
              <a:srgbClr val="6D58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7136" y="2057400"/>
            <a:ext cx="3163824" cy="320040"/>
          </a:xfrm>
          <a:prstGeom prst="rect">
            <a:avLst/>
          </a:prstGeom>
          <a:noFill/>
        </p:spPr>
        <p:txBody>
          <a:bodyPr wrap="square" lIns="54864" rIns="54864" tIns="54864" bIns="54864">
            <a:spAutoFit/>
          </a:bodyPr>
          <a:lstStyle/>
          <a:p>
            <a:pPr>
              <a:spcAft>
                <a:spcPts val="400"/>
              </a:spcAft>
              <a:defRPr sz="1100" b="1">
                <a:solidFill>
                  <a:srgbClr val="6D589D"/>
                </a:solidFill>
                <a:latin typeface="Aptos"/>
              </a:defRPr>
            </a:pPr>
            <a:r>
              <a:t>CERTIFIED CONTROL</a:t>
            </a:r>
          </a:p>
        </p:txBody>
      </p:sp>
      <p:sp>
        <p:nvSpPr>
          <p:cNvPr id="12" name="TextBox 11"/>
          <p:cNvSpPr txBox="1"/>
          <p:nvPr/>
        </p:nvSpPr>
        <p:spPr>
          <a:xfrm>
            <a:off x="4517136" y="2542032"/>
            <a:ext cx="3163824" cy="502920"/>
          </a:xfrm>
          <a:prstGeom prst="rect">
            <a:avLst/>
          </a:prstGeom>
          <a:noFill/>
        </p:spPr>
        <p:txBody>
          <a:bodyPr wrap="square" lIns="54864" rIns="54864" tIns="54864" bIns="54864">
            <a:spAutoFit/>
          </a:bodyPr>
          <a:lstStyle/>
          <a:p>
            <a:pPr>
              <a:spcAft>
                <a:spcPts val="400"/>
              </a:spcAft>
              <a:defRPr sz="1600" b="1">
                <a:solidFill>
                  <a:srgbClr val="152B40"/>
                </a:solidFill>
                <a:latin typeface="Aptos"/>
              </a:defRPr>
            </a:pPr>
            <a:r>
              <a:t>ISO 27001 Annex A change control</a:t>
            </a:r>
          </a:p>
        </p:txBody>
      </p:sp>
      <p:sp>
        <p:nvSpPr>
          <p:cNvPr id="13" name="TextBox 12"/>
          <p:cNvSpPr txBox="1"/>
          <p:nvPr/>
        </p:nvSpPr>
        <p:spPr>
          <a:xfrm>
            <a:off x="4517136" y="3291840"/>
            <a:ext cx="3163824" cy="1051560"/>
          </a:xfrm>
          <a:prstGeom prst="rect">
            <a:avLst/>
          </a:prstGeom>
          <a:noFill/>
        </p:spPr>
        <p:txBody>
          <a:bodyPr wrap="square" lIns="54864" rIns="54864" tIns="54864" bIns="54864">
            <a:spAutoFit/>
          </a:bodyPr>
          <a:lstStyle/>
          <a:p>
            <a:pPr>
              <a:spcAft>
                <a:spcPts val="400"/>
              </a:spcAft>
              <a:defRPr sz="1300" b="0">
                <a:solidFill>
                  <a:srgbClr val="23303A"/>
                </a:solidFill>
                <a:latin typeface="Aptos"/>
              </a:defRPr>
            </a:pPr>
            <a:r>
              <a:t>Establishes: assess, authorize, test where appropriate, document, implement under control, review; evidence expectations.</a:t>
            </a:r>
          </a:p>
        </p:txBody>
      </p:sp>
      <p:sp>
        <p:nvSpPr>
          <p:cNvPr id="14" name="TextBox 13"/>
          <p:cNvSpPr txBox="1"/>
          <p:nvPr/>
        </p:nvSpPr>
        <p:spPr>
          <a:xfrm>
            <a:off x="4517136" y="4572000"/>
            <a:ext cx="3163824" cy="914400"/>
          </a:xfrm>
          <a:prstGeom prst="rect">
            <a:avLst/>
          </a:prstGeom>
          <a:noFill/>
        </p:spPr>
        <p:txBody>
          <a:bodyPr wrap="square" lIns="54864" rIns="54864" tIns="54864" bIns="54864">
            <a:spAutoFit/>
          </a:bodyPr>
          <a:lstStyle/>
          <a:p>
            <a:pPr>
              <a:spcAft>
                <a:spcPts val="400"/>
              </a:spcAft>
              <a:defRPr sz="1300" b="1">
                <a:solidFill>
                  <a:srgbClr val="A44237"/>
                </a:solidFill>
                <a:latin typeface="Aptos"/>
              </a:defRPr>
            </a:pPr>
            <a:r>
              <a:t>Does not establish: a desk workflow, named approver, status, code, or technical steps.</a:t>
            </a:r>
          </a:p>
        </p:txBody>
      </p:sp>
      <p:sp>
        <p:nvSpPr>
          <p:cNvPr id="15" name="Rounded Rectangle 14"/>
          <p:cNvSpPr/>
          <p:nvPr/>
        </p:nvSpPr>
        <p:spPr>
          <a:xfrm>
            <a:off x="8083296" y="1828800"/>
            <a:ext cx="3566160" cy="3977639"/>
          </a:xfrm>
          <a:prstGeom prst="roundRect">
            <a:avLst/>
          </a:prstGeom>
          <a:solidFill>
            <a:srgbClr val="E7F5F0"/>
          </a:solidFill>
          <a:ln w="10160">
            <a:solidFill>
              <a:srgbClr val="1276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84464" y="2057400"/>
            <a:ext cx="3163824" cy="320040"/>
          </a:xfrm>
          <a:prstGeom prst="rect">
            <a:avLst/>
          </a:prstGeom>
          <a:noFill/>
        </p:spPr>
        <p:txBody>
          <a:bodyPr wrap="square" lIns="54864" rIns="54864" tIns="54864" bIns="54864">
            <a:spAutoFit/>
          </a:bodyPr>
          <a:lstStyle/>
          <a:p>
            <a:pPr>
              <a:spcAft>
                <a:spcPts val="400"/>
              </a:spcAft>
              <a:defRPr sz="1100" b="1">
                <a:solidFill>
                  <a:srgbClr val="12767D"/>
                </a:solidFill>
                <a:latin typeface="Aptos"/>
              </a:defRPr>
            </a:pPr>
            <a:r>
              <a:t>OPERATING WORKFLOW</a:t>
            </a:r>
          </a:p>
        </p:txBody>
      </p:sp>
      <p:sp>
        <p:nvSpPr>
          <p:cNvPr id="17" name="TextBox 16"/>
          <p:cNvSpPr txBox="1"/>
          <p:nvPr/>
        </p:nvSpPr>
        <p:spPr>
          <a:xfrm>
            <a:off x="8284464" y="2542032"/>
            <a:ext cx="3163824" cy="502920"/>
          </a:xfrm>
          <a:prstGeom prst="rect">
            <a:avLst/>
          </a:prstGeom>
          <a:noFill/>
        </p:spPr>
        <p:txBody>
          <a:bodyPr wrap="square" lIns="54864" rIns="54864" tIns="54864" bIns="54864">
            <a:spAutoFit/>
          </a:bodyPr>
          <a:lstStyle/>
          <a:p>
            <a:pPr>
              <a:spcAft>
                <a:spcPts val="400"/>
              </a:spcAft>
              <a:defRPr sz="1600" b="1">
                <a:solidFill>
                  <a:srgbClr val="152B40"/>
                </a:solidFill>
                <a:latin typeface="Aptos"/>
              </a:defRPr>
            </a:pPr>
            <a:r>
              <a:t>ITIL-shaped service-desk scheme</a:t>
            </a:r>
          </a:p>
        </p:txBody>
      </p:sp>
      <p:sp>
        <p:nvSpPr>
          <p:cNvPr id="18" name="TextBox 17"/>
          <p:cNvSpPr txBox="1"/>
          <p:nvPr/>
        </p:nvSpPr>
        <p:spPr>
          <a:xfrm>
            <a:off x="8284464" y="3291840"/>
            <a:ext cx="3163824" cy="1051560"/>
          </a:xfrm>
          <a:prstGeom prst="rect">
            <a:avLst/>
          </a:prstGeom>
          <a:noFill/>
        </p:spPr>
        <p:txBody>
          <a:bodyPr wrap="square" lIns="54864" rIns="54864" tIns="54864" bIns="54864">
            <a:spAutoFit/>
          </a:bodyPr>
          <a:lstStyle/>
          <a:p>
            <a:pPr>
              <a:spcAft>
                <a:spcPts val="400"/>
              </a:spcAft>
              <a:defRPr sz="1300" b="0">
                <a:solidFill>
                  <a:srgbClr val="23303A"/>
                </a:solidFill>
                <a:latin typeface="Aptos"/>
              </a:defRPr>
            </a:pPr>
            <a:r>
              <a:t>Establishes: categories, approval route, proceed conditions, status handling, and outcome/retrospective records.</a:t>
            </a:r>
          </a:p>
        </p:txBody>
      </p:sp>
      <p:sp>
        <p:nvSpPr>
          <p:cNvPr id="19" name="TextBox 18"/>
          <p:cNvSpPr txBox="1"/>
          <p:nvPr/>
        </p:nvSpPr>
        <p:spPr>
          <a:xfrm>
            <a:off x="8284464" y="4572000"/>
            <a:ext cx="3163824" cy="914400"/>
          </a:xfrm>
          <a:prstGeom prst="rect">
            <a:avLst/>
          </a:prstGeom>
          <a:noFill/>
        </p:spPr>
        <p:txBody>
          <a:bodyPr wrap="square" lIns="54864" rIns="54864" tIns="54864" bIns="54864">
            <a:spAutoFit/>
          </a:bodyPr>
          <a:lstStyle/>
          <a:p>
            <a:pPr>
              <a:spcAft>
                <a:spcPts val="400"/>
              </a:spcAft>
              <a:defRPr sz="1300" b="1">
                <a:solidFill>
                  <a:srgbClr val="A44237"/>
                </a:solidFill>
                <a:latin typeface="Aptos"/>
              </a:defRPr>
            </a:pPr>
            <a:r>
              <a:t>Does not establish: independent business permission merely because a status is present.</a:t>
            </a:r>
          </a:p>
        </p:txBody>
      </p:sp>
      <p:sp>
        <p:nvSpPr>
          <p:cNvPr id="20" name="TextBox 19"/>
          <p:cNvSpPr txBox="1"/>
          <p:nvPr/>
        </p:nvSpPr>
        <p:spPr>
          <a:xfrm>
            <a:off x="530352" y="6537960"/>
            <a:ext cx="10972800" cy="164592"/>
          </a:xfrm>
          <a:prstGeom prst="rect">
            <a:avLst/>
          </a:prstGeom>
          <a:noFill/>
        </p:spPr>
        <p:txBody>
          <a:bodyPr wrap="square" lIns="54864" rIns="54864" tIns="54864" bIns="54864">
            <a:spAutoFit/>
          </a:bodyPr>
          <a:lstStyle/>
          <a:p>
            <a:pPr>
              <a:spcAft>
                <a:spcPts val="400"/>
              </a:spcAft>
              <a:defRPr sz="800" b="0">
                <a:solidFill>
                  <a:srgbClr val="687A84"/>
                </a:solidFill>
                <a:latin typeface="Aptos"/>
              </a:defRPr>
            </a:pPr>
            <a:r>
              <a:t>Saltmarsh Market Research  •  Unified change-authority position  |  2/8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276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55680" cy="502920"/>
          </a:xfrm>
          <a:prstGeom prst="rect">
            <a:avLst/>
          </a:prstGeom>
          <a:noFill/>
        </p:spPr>
        <p:txBody>
          <a:bodyPr wrap="none">
            <a:spAutoFit/>
          </a:bodyPr>
          <a:lstStyle/>
          <a:p>
            <a:pPr>
              <a:defRPr sz="2500" b="1">
                <a:solidFill>
                  <a:srgbClr val="152B40"/>
                </a:solidFill>
                <a:latin typeface="Aptos Display"/>
              </a:defRPr>
            </a:pPr>
            <a:r>
              <a:t>Unified position: one authority chain</a:t>
            </a:r>
          </a:p>
        </p:txBody>
      </p:sp>
      <p:sp>
        <p:nvSpPr>
          <p:cNvPr id="4" name="TextBox 3"/>
          <p:cNvSpPr txBox="1"/>
          <p:nvPr/>
        </p:nvSpPr>
        <p:spPr>
          <a:xfrm>
            <a:off x="530352" y="859536"/>
            <a:ext cx="10972800" cy="256032"/>
          </a:xfrm>
          <a:prstGeom prst="rect">
            <a:avLst/>
          </a:prstGeom>
          <a:noFill/>
        </p:spPr>
        <p:txBody>
          <a:bodyPr wrap="none">
            <a:spAutoFit/>
          </a:bodyPr>
          <a:lstStyle/>
          <a:p>
            <a:pPr>
              <a:defRPr sz="900" b="1">
                <a:solidFill>
                  <a:srgbClr val="12767D"/>
                </a:solidFill>
                <a:latin typeface="Aptos"/>
              </a:defRPr>
            </a:pPr>
            <a:r>
              <a:t>A SOURCE CAN REMAIN RELEVANT WITHOUT BECOMING THE APPROVAL</a:t>
            </a:r>
          </a:p>
        </p:txBody>
      </p:sp>
      <p:sp>
        <p:nvSpPr>
          <p:cNvPr id="5" name="Rounded Rectangle 4"/>
          <p:cNvSpPr/>
          <p:nvPr/>
        </p:nvSpPr>
        <p:spPr>
          <a:xfrm>
            <a:off x="640080" y="1325880"/>
            <a:ext cx="3657600" cy="4389120"/>
          </a:xfrm>
          <a:prstGeom prst="roundRect">
            <a:avLst/>
          </a:prstGeom>
          <a:solidFill>
            <a:srgbClr val="F2F7F9"/>
          </a:solidFill>
          <a:ln w="10160">
            <a:solidFill>
              <a:srgbClr val="CCDB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1600200"/>
            <a:ext cx="3108960" cy="320040"/>
          </a:xfrm>
          <a:prstGeom prst="rect">
            <a:avLst/>
          </a:prstGeom>
          <a:noFill/>
        </p:spPr>
        <p:txBody>
          <a:bodyPr wrap="square" lIns="54864" rIns="54864" tIns="54864" bIns="54864">
            <a:spAutoFit/>
          </a:bodyPr>
          <a:lstStyle/>
          <a:p>
            <a:pPr>
              <a:spcAft>
                <a:spcPts val="400"/>
              </a:spcAft>
              <a:defRPr sz="1200" b="1">
                <a:solidFill>
                  <a:srgbClr val="12767D"/>
                </a:solidFill>
                <a:latin typeface="Aptos"/>
              </a:defRPr>
            </a:pPr>
            <a:r>
              <a:t>1  CLASSIFY THE CHANGE</a:t>
            </a:r>
          </a:p>
        </p:txBody>
      </p:sp>
      <p:sp>
        <p:nvSpPr>
          <p:cNvPr id="7" name="TextBox 6"/>
          <p:cNvSpPr txBox="1"/>
          <p:nvPr/>
        </p:nvSpPr>
        <p:spPr>
          <a:xfrm>
            <a:off x="896112" y="2011680"/>
            <a:ext cx="3063240" cy="914400"/>
          </a:xfrm>
          <a:prstGeom prst="rect">
            <a:avLst/>
          </a:prstGeom>
          <a:noFill/>
        </p:spPr>
        <p:txBody>
          <a:bodyPr wrap="square" lIns="54864" rIns="54864" tIns="54864" bIns="54864">
            <a:spAutoFit/>
          </a:bodyPr>
          <a:lstStyle/>
          <a:p>
            <a:pPr>
              <a:spcAft>
                <a:spcPts val="400"/>
              </a:spcAft>
              <a:defRPr sz="2200" b="1">
                <a:solidFill>
                  <a:srgbClr val="152B40"/>
                </a:solidFill>
                <a:latin typeface="Aptos"/>
              </a:defRPr>
            </a:pPr>
            <a:r>
              <a:t>Normal</a:t>
            </a:r>
          </a:p>
          <a:p>
            <a:pPr>
              <a:spcAft>
                <a:spcPts val="400"/>
              </a:spcAft>
              <a:defRPr sz="2200" b="1">
                <a:solidFill>
                  <a:srgbClr val="152B40"/>
                </a:solidFill>
                <a:latin typeface="Aptos"/>
              </a:defRPr>
            </a:pPr>
            <a:r>
              <a:t>Routine / pre-authorized</a:t>
            </a:r>
          </a:p>
          <a:p>
            <a:pPr>
              <a:spcAft>
                <a:spcPts val="400"/>
              </a:spcAft>
              <a:defRPr sz="2200" b="1">
                <a:solidFill>
                  <a:srgbClr val="152B40"/>
                </a:solidFill>
                <a:latin typeface="Aptos"/>
              </a:defRPr>
            </a:pPr>
            <a:r>
              <a:t>Emergency</a:t>
            </a:r>
          </a:p>
        </p:txBody>
      </p:sp>
      <p:sp>
        <p:nvSpPr>
          <p:cNvPr id="8" name="TextBox 7"/>
          <p:cNvSpPr txBox="1"/>
          <p:nvPr/>
        </p:nvSpPr>
        <p:spPr>
          <a:xfrm>
            <a:off x="896112" y="3383280"/>
            <a:ext cx="3063240" cy="1554480"/>
          </a:xfrm>
          <a:prstGeom prst="rect">
            <a:avLst/>
          </a:prstGeom>
          <a:noFill/>
        </p:spPr>
        <p:txBody>
          <a:bodyPr wrap="square" lIns="54864" rIns="54864" tIns="54864" bIns="54864">
            <a:spAutoFit/>
          </a:bodyPr>
          <a:lstStyle/>
          <a:p>
            <a:pPr>
              <a:spcAft>
                <a:spcPts val="400"/>
              </a:spcAft>
              <a:defRPr sz="1400" b="0">
                <a:solidFill>
                  <a:srgbClr val="23303A"/>
                </a:solidFill>
                <a:latin typeface="Aptos"/>
              </a:defRPr>
            </a:pPr>
            <a:r>
              <a:t>Classification is a source-supported category, not a workflow status. A status cannot create the category.</a:t>
            </a:r>
          </a:p>
        </p:txBody>
      </p:sp>
      <p:sp>
        <p:nvSpPr>
          <p:cNvPr id="9" name="Rounded Rectangle 8"/>
          <p:cNvSpPr/>
          <p:nvPr/>
        </p:nvSpPr>
        <p:spPr>
          <a:xfrm>
            <a:off x="4526280" y="1325880"/>
            <a:ext cx="3200400" cy="4389120"/>
          </a:xfrm>
          <a:prstGeom prst="roundRect">
            <a:avLst/>
          </a:prstGeom>
          <a:solidFill>
            <a:srgbClr val="E7F5F0"/>
          </a:solidFill>
          <a:ln w="10160">
            <a:solidFill>
              <a:srgbClr val="1276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73168" y="1600200"/>
            <a:ext cx="2743200" cy="320040"/>
          </a:xfrm>
          <a:prstGeom prst="rect">
            <a:avLst/>
          </a:prstGeom>
          <a:noFill/>
        </p:spPr>
        <p:txBody>
          <a:bodyPr wrap="square" lIns="54864" rIns="54864" tIns="54864" bIns="54864">
            <a:spAutoFit/>
          </a:bodyPr>
          <a:lstStyle/>
          <a:p>
            <a:pPr>
              <a:spcAft>
                <a:spcPts val="400"/>
              </a:spcAft>
              <a:defRPr sz="1200" b="1">
                <a:solidFill>
                  <a:srgbClr val="12767D"/>
                </a:solidFill>
                <a:latin typeface="Aptos"/>
              </a:defRPr>
            </a:pPr>
            <a:r>
              <a:t>2  APPLY OPERATING AUTHORITY</a:t>
            </a:r>
          </a:p>
        </p:txBody>
      </p:sp>
      <p:sp>
        <p:nvSpPr>
          <p:cNvPr id="11" name="TextBox 10"/>
          <p:cNvSpPr txBox="1"/>
          <p:nvPr/>
        </p:nvSpPr>
        <p:spPr>
          <a:xfrm>
            <a:off x="4773168" y="2011680"/>
            <a:ext cx="2697480" cy="1051560"/>
          </a:xfrm>
          <a:prstGeom prst="rect">
            <a:avLst/>
          </a:prstGeom>
          <a:noFill/>
        </p:spPr>
        <p:txBody>
          <a:bodyPr wrap="square" lIns="54864" rIns="54864" tIns="54864" bIns="54864">
            <a:spAutoFit/>
          </a:bodyPr>
          <a:lstStyle/>
          <a:p>
            <a:pPr>
              <a:spcAft>
                <a:spcPts val="400"/>
              </a:spcAft>
              <a:defRPr sz="2200" b="1">
                <a:solidFill>
                  <a:srgbClr val="152B40"/>
                </a:solidFill>
                <a:latin typeface="Aptos"/>
              </a:defRPr>
            </a:pPr>
            <a:r>
              <a:t>Service-desk change scheme</a:t>
            </a:r>
          </a:p>
        </p:txBody>
      </p:sp>
      <p:sp>
        <p:nvSpPr>
          <p:cNvPr id="12" name="TextBox 11"/>
          <p:cNvSpPr txBox="1"/>
          <p:nvPr/>
        </p:nvSpPr>
        <p:spPr>
          <a:xfrm>
            <a:off x="4773168" y="3383280"/>
            <a:ext cx="2697480" cy="1554480"/>
          </a:xfrm>
          <a:prstGeom prst="rect">
            <a:avLst/>
          </a:prstGeom>
          <a:noFill/>
        </p:spPr>
        <p:txBody>
          <a:bodyPr wrap="square" lIns="54864" rIns="54864" tIns="54864" bIns="54864">
            <a:spAutoFit/>
          </a:bodyPr>
          <a:lstStyle/>
          <a:p>
            <a:pPr>
              <a:spcAft>
                <a:spcPts val="400"/>
              </a:spcAft>
              <a:defRPr sz="1400" b="0">
                <a:solidFill>
                  <a:srgbClr val="23303A"/>
                </a:solidFill>
                <a:latin typeface="Aptos"/>
              </a:defRPr>
            </a:pPr>
            <a:r>
              <a:t>Its approval route governs whether implementation may proceed. Capture the required confirmation before the relevant proceed point.</a:t>
            </a:r>
          </a:p>
        </p:txBody>
      </p:sp>
      <p:sp>
        <p:nvSpPr>
          <p:cNvPr id="13" name="Rounded Rectangle 12"/>
          <p:cNvSpPr/>
          <p:nvPr/>
        </p:nvSpPr>
        <p:spPr>
          <a:xfrm>
            <a:off x="7955279" y="1325880"/>
            <a:ext cx="3566160" cy="4389120"/>
          </a:xfrm>
          <a:prstGeom prst="roundRect">
            <a:avLst/>
          </a:prstGeom>
          <a:solidFill>
            <a:srgbClr val="FFF6E2"/>
          </a:solidFill>
          <a:ln w="10160">
            <a:solidFill>
              <a:srgbClr val="CC9D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02168" y="1600200"/>
            <a:ext cx="3063240" cy="320040"/>
          </a:xfrm>
          <a:prstGeom prst="rect">
            <a:avLst/>
          </a:prstGeom>
          <a:noFill/>
        </p:spPr>
        <p:txBody>
          <a:bodyPr wrap="square" lIns="54864" rIns="54864" tIns="54864" bIns="54864">
            <a:spAutoFit/>
          </a:bodyPr>
          <a:lstStyle/>
          <a:p>
            <a:pPr>
              <a:spcAft>
                <a:spcPts val="400"/>
              </a:spcAft>
              <a:defRPr sz="1200" b="1">
                <a:solidFill>
                  <a:srgbClr val="97651B"/>
                </a:solidFill>
                <a:latin typeface="Aptos"/>
              </a:defRPr>
            </a:pPr>
            <a:r>
              <a:t>3  RETAIN DISTINCT EVIDENCE</a:t>
            </a:r>
          </a:p>
        </p:txBody>
      </p:sp>
      <p:sp>
        <p:nvSpPr>
          <p:cNvPr id="15" name="TextBox 14"/>
          <p:cNvSpPr txBox="1"/>
          <p:nvPr/>
        </p:nvSpPr>
        <p:spPr>
          <a:xfrm>
            <a:off x="8202168" y="2011680"/>
            <a:ext cx="3017520" cy="1005840"/>
          </a:xfrm>
          <a:prstGeom prst="rect">
            <a:avLst/>
          </a:prstGeom>
          <a:noFill/>
        </p:spPr>
        <p:txBody>
          <a:bodyPr wrap="square" lIns="54864" rIns="54864" tIns="54864" bIns="54864">
            <a:spAutoFit/>
          </a:bodyPr>
          <a:lstStyle/>
          <a:p>
            <a:pPr>
              <a:spcAft>
                <a:spcPts val="400"/>
              </a:spcAft>
              <a:defRPr sz="2100" b="1">
                <a:solidFill>
                  <a:srgbClr val="152B40"/>
                </a:solidFill>
                <a:latin typeface="Aptos"/>
              </a:defRPr>
            </a:pPr>
            <a:r>
              <a:t>Contract / control / workflow</a:t>
            </a:r>
          </a:p>
        </p:txBody>
      </p:sp>
      <p:sp>
        <p:nvSpPr>
          <p:cNvPr id="16" name="TextBox 15"/>
          <p:cNvSpPr txBox="1"/>
          <p:nvPr/>
        </p:nvSpPr>
        <p:spPr>
          <a:xfrm>
            <a:off x="8202168" y="3383280"/>
            <a:ext cx="3017520" cy="1691640"/>
          </a:xfrm>
          <a:prstGeom prst="rect">
            <a:avLst/>
          </a:prstGeom>
          <a:noFill/>
        </p:spPr>
        <p:txBody>
          <a:bodyPr wrap="square" lIns="54864" rIns="54864" tIns="54864" bIns="54864">
            <a:spAutoFit/>
          </a:bodyPr>
          <a:lstStyle/>
          <a:p>
            <a:pPr>
              <a:spcAft>
                <a:spcPts val="400"/>
              </a:spcAft>
              <a:defRPr sz="1400" b="0">
                <a:solidFill>
                  <a:srgbClr val="23303A"/>
                </a:solidFill>
                <a:latin typeface="Aptos"/>
              </a:defRPr>
            </a:pPr>
            <a:r>
              <a:t>Availability impact and continuity direction; control evidence; approval, implementation outcome, and review. Notification or review is not approval.</a:t>
            </a:r>
          </a:p>
        </p:txBody>
      </p:sp>
      <p:sp>
        <p:nvSpPr>
          <p:cNvPr id="17" name="TextBox 16"/>
          <p:cNvSpPr txBox="1"/>
          <p:nvPr/>
        </p:nvSpPr>
        <p:spPr>
          <a:xfrm>
            <a:off x="822960" y="5989320"/>
            <a:ext cx="10698480" cy="320040"/>
          </a:xfrm>
          <a:prstGeom prst="rect">
            <a:avLst/>
          </a:prstGeom>
          <a:noFill/>
        </p:spPr>
        <p:txBody>
          <a:bodyPr wrap="square" lIns="54864" rIns="54864" tIns="54864" bIns="54864">
            <a:spAutoFit/>
          </a:bodyPr>
          <a:lstStyle/>
          <a:p>
            <a:pPr algn="ctr">
              <a:spcAft>
                <a:spcPts val="400"/>
              </a:spcAft>
              <a:defRPr sz="1500" b="1">
                <a:solidFill>
                  <a:srgbClr val="152B40"/>
                </a:solidFill>
                <a:latin typeface="Aptos"/>
              </a:defRPr>
            </a:pPr>
            <a:r>
              <a:t>The client commitment informs urgency and impact. The ISO control informs traceability. The service-desk scheme decides operational permission.</a:t>
            </a:r>
          </a:p>
        </p:txBody>
      </p:sp>
      <p:sp>
        <p:nvSpPr>
          <p:cNvPr id="18" name="TextBox 17"/>
          <p:cNvSpPr txBox="1"/>
          <p:nvPr/>
        </p:nvSpPr>
        <p:spPr>
          <a:xfrm>
            <a:off x="530352" y="6537960"/>
            <a:ext cx="10972800" cy="164592"/>
          </a:xfrm>
          <a:prstGeom prst="rect">
            <a:avLst/>
          </a:prstGeom>
          <a:noFill/>
        </p:spPr>
        <p:txBody>
          <a:bodyPr wrap="square" lIns="54864" rIns="54864" tIns="54864" bIns="54864">
            <a:spAutoFit/>
          </a:bodyPr>
          <a:lstStyle/>
          <a:p>
            <a:pPr>
              <a:spcAft>
                <a:spcPts val="400"/>
              </a:spcAft>
              <a:defRPr sz="800" b="0">
                <a:solidFill>
                  <a:srgbClr val="687A84"/>
                </a:solidFill>
                <a:latin typeface="Aptos"/>
              </a:defRPr>
            </a:pPr>
            <a:r>
              <a:t>Saltmarsh Market Research  •  Unified change-authority position  |  3/8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276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55680" cy="502920"/>
          </a:xfrm>
          <a:prstGeom prst="rect">
            <a:avLst/>
          </a:prstGeom>
          <a:noFill/>
        </p:spPr>
        <p:txBody>
          <a:bodyPr wrap="none">
            <a:spAutoFit/>
          </a:bodyPr>
          <a:lstStyle/>
          <a:p>
            <a:pPr>
              <a:defRPr sz="2500" b="1">
                <a:solidFill>
                  <a:srgbClr val="152B40"/>
                </a:solidFill>
                <a:latin typeface="Aptos Display"/>
              </a:defRPr>
            </a:pPr>
            <a:r>
              <a:t>Decision matrix: authority → proceed → evidence</a:t>
            </a:r>
          </a:p>
        </p:txBody>
      </p:sp>
      <p:sp>
        <p:nvSpPr>
          <p:cNvPr id="4" name="TextBox 3"/>
          <p:cNvSpPr txBox="1"/>
          <p:nvPr/>
        </p:nvSpPr>
        <p:spPr>
          <a:xfrm>
            <a:off x="530352" y="859536"/>
            <a:ext cx="10972800" cy="256032"/>
          </a:xfrm>
          <a:prstGeom prst="rect">
            <a:avLst/>
          </a:prstGeom>
          <a:noFill/>
        </p:spPr>
        <p:txBody>
          <a:bodyPr wrap="none">
            <a:spAutoFit/>
          </a:bodyPr>
          <a:lstStyle/>
          <a:p>
            <a:pPr>
              <a:defRPr sz="900" b="1">
                <a:solidFill>
                  <a:srgbClr val="12767D"/>
                </a:solidFill>
                <a:latin typeface="Aptos"/>
              </a:defRPr>
            </a:pPr>
            <a:r>
              <a:t>USE THE ROW THAT MATCHES THE SOURCE-SUPPORTED CATEGORY</a:t>
            </a:r>
          </a:p>
        </p:txBody>
      </p:sp>
      <p:sp>
        <p:nvSpPr>
          <p:cNvPr id="5" name="Rectangle 4"/>
          <p:cNvSpPr/>
          <p:nvPr/>
        </p:nvSpPr>
        <p:spPr>
          <a:xfrm>
            <a:off x="502920" y="1325880"/>
            <a:ext cx="1965960" cy="502920"/>
          </a:xfrm>
          <a:prstGeom prst="rect">
            <a:avLst/>
          </a:prstGeom>
          <a:solidFill>
            <a:srgbClr val="152B40"/>
          </a:solidFill>
          <a:ln w="10160">
            <a:solidFill>
              <a:srgbClr val="152B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76072" y="1399032"/>
            <a:ext cx="1819656" cy="320040"/>
          </a:xfrm>
          <a:prstGeom prst="rect">
            <a:avLst/>
          </a:prstGeom>
          <a:noFill/>
        </p:spPr>
        <p:txBody>
          <a:bodyPr wrap="square" lIns="54864" rIns="54864" tIns="54864" bIns="54864">
            <a:spAutoFit/>
          </a:bodyPr>
          <a:lstStyle/>
          <a:p>
            <a:pPr>
              <a:spcAft>
                <a:spcPts val="400"/>
              </a:spcAft>
              <a:defRPr sz="1000" b="1">
                <a:solidFill>
                  <a:srgbClr val="FFFFFF"/>
                </a:solidFill>
                <a:latin typeface="Aptos"/>
              </a:defRPr>
            </a:pPr>
            <a:r>
              <a:t>CHANGE SITUATION</a:t>
            </a:r>
          </a:p>
        </p:txBody>
      </p:sp>
      <p:sp>
        <p:nvSpPr>
          <p:cNvPr id="7" name="Rectangle 6"/>
          <p:cNvSpPr/>
          <p:nvPr/>
        </p:nvSpPr>
        <p:spPr>
          <a:xfrm>
            <a:off x="2468880" y="1325880"/>
            <a:ext cx="2743200" cy="502920"/>
          </a:xfrm>
          <a:prstGeom prst="rect">
            <a:avLst/>
          </a:prstGeom>
          <a:solidFill>
            <a:srgbClr val="152B40"/>
          </a:solidFill>
          <a:ln w="10160">
            <a:solidFill>
              <a:srgbClr val="152B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542032" y="1399032"/>
            <a:ext cx="2596896" cy="320040"/>
          </a:xfrm>
          <a:prstGeom prst="rect">
            <a:avLst/>
          </a:prstGeom>
          <a:noFill/>
        </p:spPr>
        <p:txBody>
          <a:bodyPr wrap="square" lIns="54864" rIns="54864" tIns="54864" bIns="54864">
            <a:spAutoFit/>
          </a:bodyPr>
          <a:lstStyle/>
          <a:p>
            <a:pPr>
              <a:spcAft>
                <a:spcPts val="400"/>
              </a:spcAft>
              <a:defRPr sz="1000" b="1">
                <a:solidFill>
                  <a:srgbClr val="FFFFFF"/>
                </a:solidFill>
                <a:latin typeface="Aptos"/>
              </a:defRPr>
            </a:pPr>
            <a:r>
              <a:t>AUTHORITY / APPROVAL</a:t>
            </a:r>
          </a:p>
        </p:txBody>
      </p:sp>
      <p:sp>
        <p:nvSpPr>
          <p:cNvPr id="9" name="Rectangle 8"/>
          <p:cNvSpPr/>
          <p:nvPr/>
        </p:nvSpPr>
        <p:spPr>
          <a:xfrm>
            <a:off x="5212080" y="1325880"/>
            <a:ext cx="2880360" cy="502920"/>
          </a:xfrm>
          <a:prstGeom prst="rect">
            <a:avLst/>
          </a:prstGeom>
          <a:solidFill>
            <a:srgbClr val="152B40"/>
          </a:solidFill>
          <a:ln w="10160">
            <a:solidFill>
              <a:srgbClr val="152B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85232" y="1399032"/>
            <a:ext cx="2734056" cy="320040"/>
          </a:xfrm>
          <a:prstGeom prst="rect">
            <a:avLst/>
          </a:prstGeom>
          <a:noFill/>
        </p:spPr>
        <p:txBody>
          <a:bodyPr wrap="square" lIns="54864" rIns="54864" tIns="54864" bIns="54864">
            <a:spAutoFit/>
          </a:bodyPr>
          <a:lstStyle/>
          <a:p>
            <a:pPr>
              <a:spcAft>
                <a:spcPts val="400"/>
              </a:spcAft>
              <a:defRPr sz="1000" b="1">
                <a:solidFill>
                  <a:srgbClr val="FFFFFF"/>
                </a:solidFill>
                <a:latin typeface="Aptos"/>
              </a:defRPr>
            </a:pPr>
            <a:r>
              <a:t>MAY PROCEED WHEN…</a:t>
            </a:r>
          </a:p>
        </p:txBody>
      </p:sp>
      <p:sp>
        <p:nvSpPr>
          <p:cNvPr id="11" name="Rectangle 10"/>
          <p:cNvSpPr/>
          <p:nvPr/>
        </p:nvSpPr>
        <p:spPr>
          <a:xfrm>
            <a:off x="8092440" y="1325880"/>
            <a:ext cx="3977639" cy="502920"/>
          </a:xfrm>
          <a:prstGeom prst="rect">
            <a:avLst/>
          </a:prstGeom>
          <a:solidFill>
            <a:srgbClr val="152B40"/>
          </a:solidFill>
          <a:ln w="10160">
            <a:solidFill>
              <a:srgbClr val="152B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65592" y="1399032"/>
            <a:ext cx="3831335" cy="320040"/>
          </a:xfrm>
          <a:prstGeom prst="rect">
            <a:avLst/>
          </a:prstGeom>
          <a:noFill/>
        </p:spPr>
        <p:txBody>
          <a:bodyPr wrap="square" lIns="54864" rIns="54864" tIns="54864" bIns="54864">
            <a:spAutoFit/>
          </a:bodyPr>
          <a:lstStyle/>
          <a:p>
            <a:pPr>
              <a:spcAft>
                <a:spcPts val="400"/>
              </a:spcAft>
              <a:defRPr sz="1000" b="1">
                <a:solidFill>
                  <a:srgbClr val="FFFFFF"/>
                </a:solidFill>
                <a:latin typeface="Aptos"/>
              </a:defRPr>
            </a:pPr>
            <a:r>
              <a:t>RETAIN AFTERWARD</a:t>
            </a:r>
          </a:p>
        </p:txBody>
      </p:sp>
      <p:sp>
        <p:nvSpPr>
          <p:cNvPr id="13" name="Rectangle 12"/>
          <p:cNvSpPr/>
          <p:nvPr/>
        </p:nvSpPr>
        <p:spPr>
          <a:xfrm>
            <a:off x="502920" y="1892807"/>
            <a:ext cx="1965960" cy="1143000"/>
          </a:xfrm>
          <a:prstGeom prst="rect">
            <a:avLst/>
          </a:prstGeom>
          <a:solidFill>
            <a:srgbClr val="F2F7F9"/>
          </a:solidFill>
          <a:ln w="10160">
            <a:solidFill>
              <a:srgbClr val="D5DF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1984248"/>
            <a:ext cx="1783080" cy="1005840"/>
          </a:xfrm>
          <a:prstGeom prst="rect">
            <a:avLst/>
          </a:prstGeom>
          <a:noFill/>
        </p:spPr>
        <p:txBody>
          <a:bodyPr wrap="square" lIns="54864" rIns="54864" tIns="54864" bIns="54864">
            <a:spAutoFit/>
          </a:bodyPr>
          <a:lstStyle/>
          <a:p>
            <a:pPr>
              <a:spcAft>
                <a:spcPts val="400"/>
              </a:spcAft>
              <a:defRPr sz="1100" b="1">
                <a:solidFill>
                  <a:srgbClr val="152B40"/>
                </a:solidFill>
                <a:latin typeface="Aptos"/>
              </a:defRPr>
            </a:pPr>
            <a:r>
              <a:t>Normal</a:t>
            </a:r>
          </a:p>
        </p:txBody>
      </p:sp>
      <p:sp>
        <p:nvSpPr>
          <p:cNvPr id="15" name="Rectangle 14"/>
          <p:cNvSpPr/>
          <p:nvPr/>
        </p:nvSpPr>
        <p:spPr>
          <a:xfrm>
            <a:off x="2468880" y="1892807"/>
            <a:ext cx="2743200" cy="1143000"/>
          </a:xfrm>
          <a:prstGeom prst="rect">
            <a:avLst/>
          </a:prstGeom>
          <a:solidFill>
            <a:srgbClr val="F2F7F9"/>
          </a:solidFill>
          <a:ln w="10160">
            <a:solidFill>
              <a:srgbClr val="D5DF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60320" y="1984248"/>
            <a:ext cx="2560320" cy="1005840"/>
          </a:xfrm>
          <a:prstGeom prst="rect">
            <a:avLst/>
          </a:prstGeom>
          <a:noFill/>
        </p:spPr>
        <p:txBody>
          <a:bodyPr wrap="square" lIns="54864" rIns="54864" tIns="54864" bIns="54864">
            <a:spAutoFit/>
          </a:bodyPr>
          <a:lstStyle/>
          <a:p>
            <a:pPr>
              <a:spcAft>
                <a:spcPts val="400"/>
              </a:spcAft>
              <a:defRPr sz="1100" b="0">
                <a:solidFill>
                  <a:srgbClr val="23303A"/>
                </a:solidFill>
                <a:latin typeface="Aptos"/>
              </a:defRPr>
            </a:pPr>
            <a:r>
              <a:t>Change Authority approval in the change record.</a:t>
            </a:r>
          </a:p>
        </p:txBody>
      </p:sp>
      <p:sp>
        <p:nvSpPr>
          <p:cNvPr id="17" name="Rectangle 16"/>
          <p:cNvSpPr/>
          <p:nvPr/>
        </p:nvSpPr>
        <p:spPr>
          <a:xfrm>
            <a:off x="5212080" y="1892807"/>
            <a:ext cx="2880360" cy="1143000"/>
          </a:xfrm>
          <a:prstGeom prst="rect">
            <a:avLst/>
          </a:prstGeom>
          <a:solidFill>
            <a:srgbClr val="F2F7F9"/>
          </a:solidFill>
          <a:ln w="10160">
            <a:solidFill>
              <a:srgbClr val="D5DF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303520" y="1984248"/>
            <a:ext cx="2697479" cy="1005840"/>
          </a:xfrm>
          <a:prstGeom prst="rect">
            <a:avLst/>
          </a:prstGeom>
          <a:noFill/>
        </p:spPr>
        <p:txBody>
          <a:bodyPr wrap="square" lIns="54864" rIns="54864" tIns="54864" bIns="54864">
            <a:spAutoFit/>
          </a:bodyPr>
          <a:lstStyle/>
          <a:p>
            <a:pPr>
              <a:spcAft>
                <a:spcPts val="400"/>
              </a:spcAft>
              <a:defRPr sz="1100" b="0">
                <a:solidFill>
                  <a:srgbClr val="23303A"/>
                </a:solidFill>
                <a:latin typeface="Aptos"/>
              </a:defRPr>
            </a:pPr>
            <a:r>
              <a:t>Approval evidence is present before implementation.</a:t>
            </a:r>
          </a:p>
        </p:txBody>
      </p:sp>
      <p:sp>
        <p:nvSpPr>
          <p:cNvPr id="19" name="Rectangle 18"/>
          <p:cNvSpPr/>
          <p:nvPr/>
        </p:nvSpPr>
        <p:spPr>
          <a:xfrm>
            <a:off x="8092440" y="1892807"/>
            <a:ext cx="3977639" cy="1143000"/>
          </a:xfrm>
          <a:prstGeom prst="rect">
            <a:avLst/>
          </a:prstGeom>
          <a:solidFill>
            <a:srgbClr val="F2F7F9"/>
          </a:solidFill>
          <a:ln w="10160">
            <a:solidFill>
              <a:srgbClr val="D5DF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83879" y="1984248"/>
            <a:ext cx="3794759" cy="1005840"/>
          </a:xfrm>
          <a:prstGeom prst="rect">
            <a:avLst/>
          </a:prstGeom>
          <a:noFill/>
        </p:spPr>
        <p:txBody>
          <a:bodyPr wrap="square" lIns="54864" rIns="54864" tIns="54864" bIns="54864">
            <a:spAutoFit/>
          </a:bodyPr>
          <a:lstStyle/>
          <a:p>
            <a:pPr>
              <a:spcAft>
                <a:spcPts val="400"/>
              </a:spcAft>
              <a:defRPr sz="1100" b="0">
                <a:solidFill>
                  <a:srgbClr val="23303A"/>
                </a:solidFill>
                <a:latin typeface="Aptos"/>
              </a:defRPr>
            </a:pPr>
            <a:r>
              <a:t>Request + impact/plan; approval; implementation result; closure review.</a:t>
            </a:r>
          </a:p>
        </p:txBody>
      </p:sp>
      <p:sp>
        <p:nvSpPr>
          <p:cNvPr id="21" name="Rectangle 20"/>
          <p:cNvSpPr/>
          <p:nvPr/>
        </p:nvSpPr>
        <p:spPr>
          <a:xfrm>
            <a:off x="502920" y="3035808"/>
            <a:ext cx="1965960" cy="1143000"/>
          </a:xfrm>
          <a:prstGeom prst="rect">
            <a:avLst/>
          </a:prstGeom>
          <a:solidFill>
            <a:srgbClr val="E7F5F0"/>
          </a:solidFill>
          <a:ln w="10160">
            <a:solidFill>
              <a:srgbClr val="D5DF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4360" y="3127248"/>
            <a:ext cx="1783080" cy="1005840"/>
          </a:xfrm>
          <a:prstGeom prst="rect">
            <a:avLst/>
          </a:prstGeom>
          <a:noFill/>
        </p:spPr>
        <p:txBody>
          <a:bodyPr wrap="square" lIns="54864" rIns="54864" tIns="54864" bIns="54864">
            <a:spAutoFit/>
          </a:bodyPr>
          <a:lstStyle/>
          <a:p>
            <a:pPr>
              <a:spcAft>
                <a:spcPts val="400"/>
              </a:spcAft>
              <a:defRPr sz="1100" b="1">
                <a:solidFill>
                  <a:srgbClr val="152B40"/>
                </a:solidFill>
                <a:latin typeface="Aptos"/>
              </a:defRPr>
            </a:pPr>
            <a:r>
              <a:t>Routine / pre-authorized</a:t>
            </a:r>
          </a:p>
        </p:txBody>
      </p:sp>
      <p:sp>
        <p:nvSpPr>
          <p:cNvPr id="23" name="Rectangle 22"/>
          <p:cNvSpPr/>
          <p:nvPr/>
        </p:nvSpPr>
        <p:spPr>
          <a:xfrm>
            <a:off x="2468880" y="3035808"/>
            <a:ext cx="2743200" cy="1143000"/>
          </a:xfrm>
          <a:prstGeom prst="rect">
            <a:avLst/>
          </a:prstGeom>
          <a:solidFill>
            <a:srgbClr val="E7F5F0"/>
          </a:solidFill>
          <a:ln w="10160">
            <a:solidFill>
              <a:srgbClr val="D5DF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560320" y="3127248"/>
            <a:ext cx="2560320" cy="1005840"/>
          </a:xfrm>
          <a:prstGeom prst="rect">
            <a:avLst/>
          </a:prstGeom>
          <a:noFill/>
        </p:spPr>
        <p:txBody>
          <a:bodyPr wrap="square" lIns="54864" rIns="54864" tIns="54864" bIns="54864">
            <a:spAutoFit/>
          </a:bodyPr>
          <a:lstStyle/>
          <a:p>
            <a:pPr>
              <a:spcAft>
                <a:spcPts val="400"/>
              </a:spcAft>
              <a:defRPr sz="1100" b="0">
                <a:solidFill>
                  <a:srgbClr val="23303A"/>
                </a:solidFill>
                <a:latin typeface="Aptos"/>
              </a:defRPr>
            </a:pPr>
            <a:r>
              <a:t>Approved routine catalogue + documented procedure.</a:t>
            </a:r>
          </a:p>
        </p:txBody>
      </p:sp>
      <p:sp>
        <p:nvSpPr>
          <p:cNvPr id="25" name="Rectangle 24"/>
          <p:cNvSpPr/>
          <p:nvPr/>
        </p:nvSpPr>
        <p:spPr>
          <a:xfrm>
            <a:off x="5212080" y="3035808"/>
            <a:ext cx="2880360" cy="1143000"/>
          </a:xfrm>
          <a:prstGeom prst="rect">
            <a:avLst/>
          </a:prstGeom>
          <a:solidFill>
            <a:srgbClr val="E7F5F0"/>
          </a:solidFill>
          <a:ln w="10160">
            <a:solidFill>
              <a:srgbClr val="D5DF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303520" y="3127248"/>
            <a:ext cx="2697479" cy="1005840"/>
          </a:xfrm>
          <a:prstGeom prst="rect">
            <a:avLst/>
          </a:prstGeom>
          <a:noFill/>
        </p:spPr>
        <p:txBody>
          <a:bodyPr wrap="square" lIns="54864" rIns="54864" tIns="54864" bIns="54864">
            <a:spAutoFit/>
          </a:bodyPr>
          <a:lstStyle/>
          <a:p>
            <a:pPr>
              <a:spcAft>
                <a:spcPts val="400"/>
              </a:spcAft>
              <a:defRPr sz="1100" b="0">
                <a:solidFill>
                  <a:srgbClr val="23303A"/>
                </a:solidFill>
                <a:latin typeface="Aptos"/>
              </a:defRPr>
            </a:pPr>
            <a:r>
              <a:t>The change is already catalogued and the procedure is followed; log it before execution.</a:t>
            </a:r>
          </a:p>
        </p:txBody>
      </p:sp>
      <p:sp>
        <p:nvSpPr>
          <p:cNvPr id="27" name="Rectangle 26"/>
          <p:cNvSpPr/>
          <p:nvPr/>
        </p:nvSpPr>
        <p:spPr>
          <a:xfrm>
            <a:off x="8092440" y="3035808"/>
            <a:ext cx="3977639" cy="1143000"/>
          </a:xfrm>
          <a:prstGeom prst="rect">
            <a:avLst/>
          </a:prstGeom>
          <a:solidFill>
            <a:srgbClr val="E7F5F0"/>
          </a:solidFill>
          <a:ln w="10160">
            <a:solidFill>
              <a:srgbClr val="D5DF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183879" y="3127248"/>
            <a:ext cx="3794759" cy="1005840"/>
          </a:xfrm>
          <a:prstGeom prst="rect">
            <a:avLst/>
          </a:prstGeom>
          <a:noFill/>
        </p:spPr>
        <p:txBody>
          <a:bodyPr wrap="square" lIns="54864" rIns="54864" tIns="54864" bIns="54864">
            <a:spAutoFit/>
          </a:bodyPr>
          <a:lstStyle/>
          <a:p>
            <a:pPr>
              <a:spcAft>
                <a:spcPts val="400"/>
              </a:spcAft>
              <a:defRPr sz="1100" b="0">
                <a:solidFill>
                  <a:srgbClr val="23303A"/>
                </a:solidFill>
                <a:latin typeface="Aptos"/>
              </a:defRPr>
            </a:pPr>
            <a:r>
              <a:t>Log, catalogue/procedure reference, execution outcome. Status alone is not classification.</a:t>
            </a:r>
          </a:p>
        </p:txBody>
      </p:sp>
      <p:sp>
        <p:nvSpPr>
          <p:cNvPr id="29" name="Rectangle 28"/>
          <p:cNvSpPr/>
          <p:nvPr/>
        </p:nvSpPr>
        <p:spPr>
          <a:xfrm>
            <a:off x="502920" y="4178808"/>
            <a:ext cx="1965960" cy="1143000"/>
          </a:xfrm>
          <a:prstGeom prst="rect">
            <a:avLst/>
          </a:prstGeom>
          <a:solidFill>
            <a:srgbClr val="FFF6E2"/>
          </a:solidFill>
          <a:ln w="10160">
            <a:solidFill>
              <a:srgbClr val="D5DF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94360" y="4270248"/>
            <a:ext cx="1783080" cy="1005840"/>
          </a:xfrm>
          <a:prstGeom prst="rect">
            <a:avLst/>
          </a:prstGeom>
          <a:noFill/>
        </p:spPr>
        <p:txBody>
          <a:bodyPr wrap="square" lIns="54864" rIns="54864" tIns="54864" bIns="54864">
            <a:spAutoFit/>
          </a:bodyPr>
          <a:lstStyle/>
          <a:p>
            <a:pPr>
              <a:spcAft>
                <a:spcPts val="400"/>
              </a:spcAft>
              <a:defRPr sz="1100" b="1">
                <a:solidFill>
                  <a:srgbClr val="152B40"/>
                </a:solidFill>
                <a:latin typeface="Aptos"/>
              </a:defRPr>
            </a:pPr>
            <a:r>
              <a:t>Emergency</a:t>
            </a:r>
          </a:p>
        </p:txBody>
      </p:sp>
      <p:sp>
        <p:nvSpPr>
          <p:cNvPr id="31" name="Rectangle 30"/>
          <p:cNvSpPr/>
          <p:nvPr/>
        </p:nvSpPr>
        <p:spPr>
          <a:xfrm>
            <a:off x="2468880" y="4178808"/>
            <a:ext cx="2743200" cy="1143000"/>
          </a:xfrm>
          <a:prstGeom prst="rect">
            <a:avLst/>
          </a:prstGeom>
          <a:solidFill>
            <a:srgbClr val="FFF6E2"/>
          </a:solidFill>
          <a:ln w="10160">
            <a:solidFill>
              <a:srgbClr val="D5DF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560320" y="4270248"/>
            <a:ext cx="2560320" cy="1005840"/>
          </a:xfrm>
          <a:prstGeom prst="rect">
            <a:avLst/>
          </a:prstGeom>
          <a:noFill/>
        </p:spPr>
        <p:txBody>
          <a:bodyPr wrap="square" lIns="54864" rIns="54864" tIns="54864" bIns="54864">
            <a:spAutoFit/>
          </a:bodyPr>
          <a:lstStyle/>
          <a:p>
            <a:pPr>
              <a:spcAft>
                <a:spcPts val="400"/>
              </a:spcAft>
              <a:defRPr sz="1100" b="0">
                <a:solidFill>
                  <a:srgbClr val="23303A"/>
                </a:solidFill>
                <a:latin typeface="Aptos"/>
              </a:defRPr>
            </a:pPr>
            <a:r>
              <a:t>Emergency Change Authority confirmation; if only one named on-call approver is available, that single confirmation is the route.</a:t>
            </a:r>
          </a:p>
        </p:txBody>
      </p:sp>
      <p:sp>
        <p:nvSpPr>
          <p:cNvPr id="33" name="Rectangle 32"/>
          <p:cNvSpPr/>
          <p:nvPr/>
        </p:nvSpPr>
        <p:spPr>
          <a:xfrm>
            <a:off x="5212080" y="4178808"/>
            <a:ext cx="2880360" cy="1143000"/>
          </a:xfrm>
          <a:prstGeom prst="rect">
            <a:avLst/>
          </a:prstGeom>
          <a:solidFill>
            <a:srgbClr val="FFF6E2"/>
          </a:solidFill>
          <a:ln w="10160">
            <a:solidFill>
              <a:srgbClr val="D5DF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303520" y="4270248"/>
            <a:ext cx="2697479" cy="1005840"/>
          </a:xfrm>
          <a:prstGeom prst="rect">
            <a:avLst/>
          </a:prstGeom>
          <a:noFill/>
        </p:spPr>
        <p:txBody>
          <a:bodyPr wrap="square" lIns="54864" rIns="54864" tIns="54864" bIns="54864">
            <a:spAutoFit/>
          </a:bodyPr>
          <a:lstStyle/>
          <a:p>
            <a:pPr>
              <a:spcAft>
                <a:spcPts val="400"/>
              </a:spcAft>
              <a:defRPr sz="1100" b="0">
                <a:solidFill>
                  <a:srgbClr val="23303A"/>
                </a:solidFill>
                <a:latin typeface="Aptos"/>
              </a:defRPr>
            </a:pPr>
            <a:r>
              <a:t>Required emergency confirmation is captured before implementation, unless the source-supported continuity direction is being reconciled as noted on slide 5.</a:t>
            </a:r>
          </a:p>
        </p:txBody>
      </p:sp>
      <p:sp>
        <p:nvSpPr>
          <p:cNvPr id="35" name="Rectangle 34"/>
          <p:cNvSpPr/>
          <p:nvPr/>
        </p:nvSpPr>
        <p:spPr>
          <a:xfrm>
            <a:off x="8092440" y="4178808"/>
            <a:ext cx="3977639" cy="1143000"/>
          </a:xfrm>
          <a:prstGeom prst="rect">
            <a:avLst/>
          </a:prstGeom>
          <a:solidFill>
            <a:srgbClr val="FFF6E2"/>
          </a:solidFill>
          <a:ln w="10160">
            <a:solidFill>
              <a:srgbClr val="D5DF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183879" y="4270248"/>
            <a:ext cx="3794759" cy="1005840"/>
          </a:xfrm>
          <a:prstGeom prst="rect">
            <a:avLst/>
          </a:prstGeom>
          <a:noFill/>
        </p:spPr>
        <p:txBody>
          <a:bodyPr wrap="square" lIns="54864" rIns="54864" tIns="54864" bIns="54864">
            <a:spAutoFit/>
          </a:bodyPr>
          <a:lstStyle/>
          <a:p>
            <a:pPr>
              <a:spcAft>
                <a:spcPts val="400"/>
              </a:spcAft>
              <a:defRPr sz="1100" b="0">
                <a:solidFill>
                  <a:srgbClr val="23303A"/>
                </a:solidFill>
                <a:latin typeface="Aptos"/>
              </a:defRPr>
            </a:pPr>
            <a:r>
              <a:t>Reason, impact, time, authority/confirmation, implementation result, retrospective review.</a:t>
            </a:r>
          </a:p>
        </p:txBody>
      </p:sp>
      <p:sp>
        <p:nvSpPr>
          <p:cNvPr id="37" name="TextBox 36"/>
          <p:cNvSpPr txBox="1"/>
          <p:nvPr/>
        </p:nvSpPr>
        <p:spPr>
          <a:xfrm>
            <a:off x="640080" y="5074920"/>
            <a:ext cx="10972800" cy="594360"/>
          </a:xfrm>
          <a:prstGeom prst="rect">
            <a:avLst/>
          </a:prstGeom>
          <a:noFill/>
        </p:spPr>
        <p:txBody>
          <a:bodyPr wrap="square" lIns="54864" rIns="54864" tIns="54864" bIns="54864">
            <a:spAutoFit/>
          </a:bodyPr>
          <a:lstStyle/>
          <a:p>
            <a:pPr algn="ctr">
              <a:spcAft>
                <a:spcPts val="400"/>
              </a:spcAft>
              <a:defRPr sz="1400" b="1">
                <a:solidFill>
                  <a:srgbClr val="A44237"/>
                </a:solidFill>
                <a:latin typeface="Aptos"/>
              </a:defRPr>
            </a:pPr>
            <a:r>
              <a:t>Approval evidence is not the same as implementation or completion evidence. A change is not authorised merely because its ticket reached “Approved”, “Scheduled”, or “Implemented”.</a:t>
            </a:r>
          </a:p>
        </p:txBody>
      </p:sp>
      <p:sp>
        <p:nvSpPr>
          <p:cNvPr id="38" name="TextBox 37"/>
          <p:cNvSpPr txBox="1"/>
          <p:nvPr/>
        </p:nvSpPr>
        <p:spPr>
          <a:xfrm>
            <a:off x="530352" y="6537960"/>
            <a:ext cx="10972800" cy="164592"/>
          </a:xfrm>
          <a:prstGeom prst="rect">
            <a:avLst/>
          </a:prstGeom>
          <a:noFill/>
        </p:spPr>
        <p:txBody>
          <a:bodyPr wrap="square" lIns="54864" rIns="54864" tIns="54864" bIns="54864">
            <a:spAutoFit/>
          </a:bodyPr>
          <a:lstStyle/>
          <a:p>
            <a:pPr>
              <a:spcAft>
                <a:spcPts val="400"/>
              </a:spcAft>
              <a:defRPr sz="800" b="0">
                <a:solidFill>
                  <a:srgbClr val="687A84"/>
                </a:solidFill>
                <a:latin typeface="Aptos"/>
              </a:defRPr>
            </a:pPr>
            <a:r>
              <a:t>Saltmarsh Market Research  •  Unified change-authority position  |  4/8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276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55680" cy="502920"/>
          </a:xfrm>
          <a:prstGeom prst="rect">
            <a:avLst/>
          </a:prstGeom>
          <a:noFill/>
        </p:spPr>
        <p:txBody>
          <a:bodyPr wrap="none">
            <a:spAutoFit/>
          </a:bodyPr>
          <a:lstStyle/>
          <a:p>
            <a:pPr>
              <a:defRPr sz="2500" b="1">
                <a:solidFill>
                  <a:srgbClr val="152B40"/>
                </a:solidFill>
                <a:latin typeface="Aptos Display"/>
              </a:defRPr>
            </a:pPr>
            <a:r>
              <a:t>Emergency changes: acknowledge the conflict, then apply the operating route</a:t>
            </a:r>
          </a:p>
        </p:txBody>
      </p:sp>
      <p:sp>
        <p:nvSpPr>
          <p:cNvPr id="4" name="TextBox 3"/>
          <p:cNvSpPr txBox="1"/>
          <p:nvPr/>
        </p:nvSpPr>
        <p:spPr>
          <a:xfrm>
            <a:off x="530352" y="859536"/>
            <a:ext cx="10972800" cy="256032"/>
          </a:xfrm>
          <a:prstGeom prst="rect">
            <a:avLst/>
          </a:prstGeom>
          <a:noFill/>
        </p:spPr>
        <p:txBody>
          <a:bodyPr wrap="none">
            <a:spAutoFit/>
          </a:bodyPr>
          <a:lstStyle/>
          <a:p>
            <a:pPr>
              <a:defRPr sz="900" b="1">
                <a:solidFill>
                  <a:srgbClr val="12767D"/>
                </a:solidFill>
                <a:latin typeface="Aptos"/>
              </a:defRPr>
            </a:pPr>
            <a:r>
              <a:t>THE SOURCE DOES NOT PERMIT A SILENT SHORTCUT</a:t>
            </a:r>
          </a:p>
        </p:txBody>
      </p:sp>
      <p:sp>
        <p:nvSpPr>
          <p:cNvPr id="5" name="Rounded Rectangle 4"/>
          <p:cNvSpPr/>
          <p:nvPr/>
        </p:nvSpPr>
        <p:spPr>
          <a:xfrm>
            <a:off x="640080" y="1280160"/>
            <a:ext cx="5212080" cy="1828800"/>
          </a:xfrm>
          <a:prstGeom prst="roundRect">
            <a:avLst/>
          </a:prstGeom>
          <a:solidFill>
            <a:srgbClr val="FFF2EB"/>
          </a:solidFill>
          <a:ln w="10160">
            <a:solidFill>
              <a:srgbClr val="D389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1554480"/>
            <a:ext cx="4663440" cy="274320"/>
          </a:xfrm>
          <a:prstGeom prst="rect">
            <a:avLst/>
          </a:prstGeom>
          <a:noFill/>
        </p:spPr>
        <p:txBody>
          <a:bodyPr wrap="square" lIns="54864" rIns="54864" tIns="54864" bIns="54864">
            <a:spAutoFit/>
          </a:bodyPr>
          <a:lstStyle/>
          <a:p>
            <a:pPr>
              <a:spcAft>
                <a:spcPts val="400"/>
              </a:spcAft>
              <a:defRPr sz="1100" b="1">
                <a:solidFill>
                  <a:srgbClr val="A44237"/>
                </a:solidFill>
                <a:latin typeface="Aptos"/>
              </a:defRPr>
            </a:pPr>
            <a:r>
              <a:t>CLIENT CLAUSE</a:t>
            </a:r>
          </a:p>
        </p:txBody>
      </p:sp>
      <p:sp>
        <p:nvSpPr>
          <p:cNvPr id="7" name="TextBox 6"/>
          <p:cNvSpPr txBox="1"/>
          <p:nvPr/>
        </p:nvSpPr>
        <p:spPr>
          <a:xfrm>
            <a:off x="896112" y="1920240"/>
            <a:ext cx="4617720" cy="822960"/>
          </a:xfrm>
          <a:prstGeom prst="rect">
            <a:avLst/>
          </a:prstGeom>
          <a:noFill/>
        </p:spPr>
        <p:txBody>
          <a:bodyPr wrap="square" lIns="54864" rIns="54864" tIns="54864" bIns="54864">
            <a:spAutoFit/>
          </a:bodyPr>
          <a:lstStyle/>
          <a:p>
            <a:pPr>
              <a:spcAft>
                <a:spcPts val="400"/>
              </a:spcAft>
              <a:defRPr sz="1700" b="1">
                <a:solidFill>
                  <a:srgbClr val="152B40"/>
                </a:solidFill>
                <a:latin typeface="Aptos"/>
              </a:defRPr>
            </a:pPr>
            <a:r>
              <a:t>Service Continuity Authority may direct urgent implementation to prevent or restore material availability impact.</a:t>
            </a:r>
          </a:p>
        </p:txBody>
      </p:sp>
      <p:sp>
        <p:nvSpPr>
          <p:cNvPr id="8" name="Rounded Rectangle 7"/>
          <p:cNvSpPr/>
          <p:nvPr/>
        </p:nvSpPr>
        <p:spPr>
          <a:xfrm>
            <a:off x="6217920" y="1280160"/>
            <a:ext cx="5303520" cy="1828800"/>
          </a:xfrm>
          <a:prstGeom prst="roundRect">
            <a:avLst/>
          </a:prstGeom>
          <a:solidFill>
            <a:srgbClr val="EFECF9"/>
          </a:solidFill>
          <a:ln w="10160">
            <a:solidFill>
              <a:srgbClr val="9986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73952" y="1554480"/>
            <a:ext cx="4754880" cy="274320"/>
          </a:xfrm>
          <a:prstGeom prst="rect">
            <a:avLst/>
          </a:prstGeom>
          <a:noFill/>
        </p:spPr>
        <p:txBody>
          <a:bodyPr wrap="square" lIns="54864" rIns="54864" tIns="54864" bIns="54864">
            <a:spAutoFit/>
          </a:bodyPr>
          <a:lstStyle/>
          <a:p>
            <a:pPr>
              <a:spcAft>
                <a:spcPts val="400"/>
              </a:spcAft>
              <a:defRPr sz="1100" b="1">
                <a:solidFill>
                  <a:srgbClr val="6D589D"/>
                </a:solidFill>
                <a:latin typeface="Aptos"/>
              </a:defRPr>
            </a:pPr>
            <a:r>
              <a:t>SERVICE-DESK SCHEME</a:t>
            </a:r>
          </a:p>
        </p:txBody>
      </p:sp>
      <p:sp>
        <p:nvSpPr>
          <p:cNvPr id="10" name="TextBox 9"/>
          <p:cNvSpPr txBox="1"/>
          <p:nvPr/>
        </p:nvSpPr>
        <p:spPr>
          <a:xfrm>
            <a:off x="6473952" y="1920240"/>
            <a:ext cx="4709160" cy="822960"/>
          </a:xfrm>
          <a:prstGeom prst="rect">
            <a:avLst/>
          </a:prstGeom>
          <a:noFill/>
        </p:spPr>
        <p:txBody>
          <a:bodyPr wrap="square" lIns="54864" rIns="54864" tIns="54864" bIns="54864">
            <a:spAutoFit/>
          </a:bodyPr>
          <a:lstStyle/>
          <a:p>
            <a:pPr>
              <a:spcAft>
                <a:spcPts val="400"/>
              </a:spcAft>
              <a:defRPr sz="1700" b="1">
                <a:solidFill>
                  <a:srgbClr val="152B40"/>
                </a:solidFill>
                <a:latin typeface="Aptos"/>
              </a:defRPr>
            </a:pPr>
            <a:r>
              <a:t>Emergency Change Authority must confirm before implementation; the ISO control requires traceability and review but is silent on precedence.</a:t>
            </a:r>
          </a:p>
        </p:txBody>
      </p:sp>
      <p:sp>
        <p:nvSpPr>
          <p:cNvPr id="11" name="TextBox 10"/>
          <p:cNvSpPr txBox="1"/>
          <p:nvPr/>
        </p:nvSpPr>
        <p:spPr>
          <a:xfrm>
            <a:off x="822960" y="3456432"/>
            <a:ext cx="10789920" cy="274320"/>
          </a:xfrm>
          <a:prstGeom prst="rect">
            <a:avLst/>
          </a:prstGeom>
          <a:noFill/>
        </p:spPr>
        <p:txBody>
          <a:bodyPr wrap="square" lIns="54864" rIns="54864" tIns="54864" bIns="54864">
            <a:spAutoFit/>
          </a:bodyPr>
          <a:lstStyle/>
          <a:p>
            <a:pPr algn="ctr">
              <a:spcAft>
                <a:spcPts val="400"/>
              </a:spcAft>
              <a:defRPr sz="1200" b="1">
                <a:solidFill>
                  <a:srgbClr val="12767D"/>
                </a:solidFill>
                <a:latin typeface="Aptos"/>
              </a:defRPr>
            </a:pPr>
            <a:r>
              <a:t>UNIFIED POSITION</a:t>
            </a:r>
          </a:p>
        </p:txBody>
      </p:sp>
      <p:sp>
        <p:nvSpPr>
          <p:cNvPr id="12" name="Rounded Rectangle 11"/>
          <p:cNvSpPr/>
          <p:nvPr/>
        </p:nvSpPr>
        <p:spPr>
          <a:xfrm>
            <a:off x="1143000" y="3794760"/>
            <a:ext cx="9921240" cy="1280160"/>
          </a:xfrm>
          <a:prstGeom prst="roundRect">
            <a:avLst/>
          </a:prstGeom>
          <a:solidFill>
            <a:srgbClr val="E7F5F0"/>
          </a:solidFill>
          <a:ln w="10160">
            <a:solidFill>
              <a:srgbClr val="1276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417320" y="4050791"/>
            <a:ext cx="9372600" cy="777240"/>
          </a:xfrm>
          <a:prstGeom prst="rect">
            <a:avLst/>
          </a:prstGeom>
          <a:noFill/>
        </p:spPr>
        <p:txBody>
          <a:bodyPr wrap="square" lIns="54864" rIns="54864" tIns="54864" bIns="54864">
            <a:spAutoFit/>
          </a:bodyPr>
          <a:lstStyle/>
          <a:p>
            <a:pPr algn="ctr">
              <a:spcAft>
                <a:spcPts val="400"/>
              </a:spcAft>
              <a:defRPr sz="1500" b="1">
                <a:solidFill>
                  <a:srgbClr val="152B40"/>
                </a:solidFill>
                <a:latin typeface="Aptos"/>
              </a:defRPr>
            </a:pPr>
            <a:r>
              <a:t>Operational permission remains governed by the service-desk emergency route. A continuity direction explains urgency and must be recorded; it does not silently replace the required operational confirmation. If the named on-call approver is the only available approver, one confirmation is the available route—no second approver is invented.</a:t>
            </a:r>
          </a:p>
        </p:txBody>
      </p:sp>
      <p:sp>
        <p:nvSpPr>
          <p:cNvPr id="14" name="TextBox 13"/>
          <p:cNvSpPr txBox="1"/>
          <p:nvPr/>
        </p:nvSpPr>
        <p:spPr>
          <a:xfrm>
            <a:off x="868680" y="5394960"/>
            <a:ext cx="10607040" cy="457200"/>
          </a:xfrm>
          <a:prstGeom prst="rect">
            <a:avLst/>
          </a:prstGeom>
          <a:noFill/>
        </p:spPr>
        <p:txBody>
          <a:bodyPr wrap="square" lIns="54864" rIns="54864" tIns="54864" bIns="54864">
            <a:spAutoFit/>
          </a:bodyPr>
          <a:lstStyle/>
          <a:p>
            <a:pPr algn="ctr">
              <a:spcAft>
                <a:spcPts val="400"/>
              </a:spcAft>
              <a:defRPr sz="1400" b="1">
                <a:solidFill>
                  <a:srgbClr val="A44237"/>
                </a:solidFill>
                <a:latin typeface="Aptos"/>
              </a:defRPr>
            </a:pPr>
            <a:r>
              <a:t>After implementation: retain the emergency reason, impact, time, authority/confirmation, result, and retrospective review. Emergency does not mean “no record.”</a:t>
            </a:r>
          </a:p>
        </p:txBody>
      </p:sp>
      <p:sp>
        <p:nvSpPr>
          <p:cNvPr id="15" name="TextBox 14"/>
          <p:cNvSpPr txBox="1"/>
          <p:nvPr/>
        </p:nvSpPr>
        <p:spPr>
          <a:xfrm>
            <a:off x="530352" y="6537960"/>
            <a:ext cx="10972800" cy="164592"/>
          </a:xfrm>
          <a:prstGeom prst="rect">
            <a:avLst/>
          </a:prstGeom>
          <a:noFill/>
        </p:spPr>
        <p:txBody>
          <a:bodyPr wrap="square" lIns="54864" rIns="54864" tIns="54864" bIns="54864">
            <a:spAutoFit/>
          </a:bodyPr>
          <a:lstStyle/>
          <a:p>
            <a:pPr>
              <a:spcAft>
                <a:spcPts val="400"/>
              </a:spcAft>
              <a:defRPr sz="800" b="0">
                <a:solidFill>
                  <a:srgbClr val="687A84"/>
                </a:solidFill>
                <a:latin typeface="Aptos"/>
              </a:defRPr>
            </a:pPr>
            <a:r>
              <a:t>Saltmarsh Market Research  •  Unified change-authority position  |  5/8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276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55680" cy="502920"/>
          </a:xfrm>
          <a:prstGeom prst="rect">
            <a:avLst/>
          </a:prstGeom>
          <a:noFill/>
        </p:spPr>
        <p:txBody>
          <a:bodyPr wrap="none">
            <a:spAutoFit/>
          </a:bodyPr>
          <a:lstStyle/>
          <a:p>
            <a:pPr>
              <a:defRPr sz="2500" b="1">
                <a:solidFill>
                  <a:srgbClr val="152B40"/>
                </a:solidFill>
                <a:latin typeface="Aptos Display"/>
              </a:defRPr>
            </a:pPr>
            <a:r>
              <a:t>Two constraints do not create new authority</a:t>
            </a:r>
          </a:p>
        </p:txBody>
      </p:sp>
      <p:sp>
        <p:nvSpPr>
          <p:cNvPr id="4" name="TextBox 3"/>
          <p:cNvSpPr txBox="1"/>
          <p:nvPr/>
        </p:nvSpPr>
        <p:spPr>
          <a:xfrm>
            <a:off x="530352" y="859536"/>
            <a:ext cx="10972800" cy="256032"/>
          </a:xfrm>
          <a:prstGeom prst="rect">
            <a:avLst/>
          </a:prstGeom>
          <a:noFill/>
        </p:spPr>
        <p:txBody>
          <a:bodyPr wrap="none">
            <a:spAutoFit/>
          </a:bodyPr>
          <a:lstStyle/>
          <a:p>
            <a:pPr>
              <a:defRPr sz="900" b="1">
                <a:solidFill>
                  <a:srgbClr val="12767D"/>
                </a:solidFill>
                <a:latin typeface="Aptos"/>
              </a:defRPr>
            </a:pPr>
            <a:r>
              <a:t>AVAILABILITY AND SCHEDULE PRESSURE ARE LIMITS TO INTERPRET—NOT WAIVERS</a:t>
            </a:r>
          </a:p>
        </p:txBody>
      </p:sp>
      <p:sp>
        <p:nvSpPr>
          <p:cNvPr id="5" name="Rounded Rectangle 4"/>
          <p:cNvSpPr/>
          <p:nvPr/>
        </p:nvSpPr>
        <p:spPr>
          <a:xfrm>
            <a:off x="685800" y="1371600"/>
            <a:ext cx="5212080" cy="4251960"/>
          </a:xfrm>
          <a:prstGeom prst="roundRect">
            <a:avLst/>
          </a:prstGeom>
          <a:solidFill>
            <a:srgbClr val="FFF6E2"/>
          </a:solidFill>
          <a:ln w="10160">
            <a:solidFill>
              <a:srgbClr val="CD9F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645920"/>
            <a:ext cx="4663440" cy="365760"/>
          </a:xfrm>
          <a:prstGeom prst="rect">
            <a:avLst/>
          </a:prstGeom>
          <a:noFill/>
        </p:spPr>
        <p:txBody>
          <a:bodyPr wrap="square" lIns="54864" rIns="54864" tIns="54864" bIns="54864">
            <a:spAutoFit/>
          </a:bodyPr>
          <a:lstStyle/>
          <a:p>
            <a:pPr>
              <a:spcAft>
                <a:spcPts val="400"/>
              </a:spcAft>
              <a:defRPr sz="1200" b="1">
                <a:solidFill>
                  <a:srgbClr val="97651B"/>
                </a:solidFill>
                <a:latin typeface="Aptos"/>
              </a:defRPr>
            </a:pPr>
            <a:r>
              <a:t>PLANNED MAINTENANCE WINDOW</a:t>
            </a:r>
          </a:p>
        </p:txBody>
      </p:sp>
      <p:sp>
        <p:nvSpPr>
          <p:cNvPr id="7" name="TextBox 6"/>
          <p:cNvSpPr txBox="1"/>
          <p:nvPr/>
        </p:nvSpPr>
        <p:spPr>
          <a:xfrm>
            <a:off x="960120" y="2103120"/>
            <a:ext cx="4617720" cy="731520"/>
          </a:xfrm>
          <a:prstGeom prst="rect">
            <a:avLst/>
          </a:prstGeom>
          <a:noFill/>
        </p:spPr>
        <p:txBody>
          <a:bodyPr wrap="square" lIns="54864" rIns="54864" tIns="54864" bIns="54864">
            <a:spAutoFit/>
          </a:bodyPr>
          <a:lstStyle/>
          <a:p>
            <a:pPr>
              <a:spcAft>
                <a:spcPts val="400"/>
              </a:spcAft>
              <a:defRPr sz="2000" b="1">
                <a:solidFill>
                  <a:srgbClr val="152B40"/>
                </a:solidFill>
                <a:latin typeface="Aptos"/>
              </a:defRPr>
            </a:pPr>
            <a:r>
              <a:t>Full textbook review cannot finish in time.</a:t>
            </a:r>
          </a:p>
        </p:txBody>
      </p:sp>
      <p:sp>
        <p:nvSpPr>
          <p:cNvPr id="8" name="TextBox 7"/>
          <p:cNvSpPr txBox="1"/>
          <p:nvPr/>
        </p:nvSpPr>
        <p:spPr>
          <a:xfrm>
            <a:off x="960120" y="3063240"/>
            <a:ext cx="4617720" cy="1737360"/>
          </a:xfrm>
          <a:prstGeom prst="rect">
            <a:avLst/>
          </a:prstGeom>
          <a:noFill/>
        </p:spPr>
        <p:txBody>
          <a:bodyPr wrap="square" lIns="54864" rIns="54864" tIns="54864" bIns="54864">
            <a:spAutoFit/>
          </a:bodyPr>
          <a:lstStyle/>
          <a:p>
            <a:pPr>
              <a:spcAft>
                <a:spcPts val="400"/>
              </a:spcAft>
              <a:defRPr sz="1400" b="0">
                <a:solidFill>
                  <a:srgbClr val="23303A"/>
                </a:solidFill>
                <a:latin typeface="Aptos"/>
              </a:defRPr>
            </a:pPr>
            <a:r>
              <a:t>The defensible short path is not “skip review”. Use the routine / pre-authorized route only when the change is already in the approved catalogue and follows its documented procedure. Otherwise use the normal route—or emergency only if it genuinely meets the emergency condition. Time pressure alone waives nothing.</a:t>
            </a:r>
          </a:p>
        </p:txBody>
      </p:sp>
      <p:sp>
        <p:nvSpPr>
          <p:cNvPr id="9" name="Rounded Rectangle 8"/>
          <p:cNvSpPr/>
          <p:nvPr/>
        </p:nvSpPr>
        <p:spPr>
          <a:xfrm>
            <a:off x="6263640" y="1371600"/>
            <a:ext cx="5212080" cy="4251960"/>
          </a:xfrm>
          <a:prstGeom prst="roundRect">
            <a:avLst/>
          </a:prstGeom>
          <a:solidFill>
            <a:srgbClr val="FFF2EB"/>
          </a:solidFill>
          <a:ln w="10160">
            <a:solidFill>
              <a:srgbClr val="D389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37960" y="1645920"/>
            <a:ext cx="4663440" cy="365760"/>
          </a:xfrm>
          <a:prstGeom prst="rect">
            <a:avLst/>
          </a:prstGeom>
          <a:noFill/>
        </p:spPr>
        <p:txBody>
          <a:bodyPr wrap="square" lIns="54864" rIns="54864" tIns="54864" bIns="54864">
            <a:spAutoFit/>
          </a:bodyPr>
          <a:lstStyle/>
          <a:p>
            <a:pPr>
              <a:spcAft>
                <a:spcPts val="400"/>
              </a:spcAft>
              <a:defRPr sz="1200" b="1">
                <a:solidFill>
                  <a:srgbClr val="A44237"/>
                </a:solidFill>
                <a:latin typeface="Aptos"/>
              </a:defRPr>
            </a:pPr>
            <a:r>
              <a:t>ONE ON-CALL APPROVER</a:t>
            </a:r>
          </a:p>
        </p:txBody>
      </p:sp>
      <p:sp>
        <p:nvSpPr>
          <p:cNvPr id="11" name="TextBox 10"/>
          <p:cNvSpPr txBox="1"/>
          <p:nvPr/>
        </p:nvSpPr>
        <p:spPr>
          <a:xfrm>
            <a:off x="6537960" y="2103120"/>
            <a:ext cx="4617720" cy="731520"/>
          </a:xfrm>
          <a:prstGeom prst="rect">
            <a:avLst/>
          </a:prstGeom>
          <a:noFill/>
        </p:spPr>
        <p:txBody>
          <a:bodyPr wrap="square" lIns="54864" rIns="54864" tIns="54864" bIns="54864">
            <a:spAutoFit/>
          </a:bodyPr>
          <a:lstStyle/>
          <a:p>
            <a:pPr>
              <a:spcAft>
                <a:spcPts val="400"/>
              </a:spcAft>
              <a:defRPr sz="2000" b="1">
                <a:solidFill>
                  <a:srgbClr val="152B40"/>
                </a:solidFill>
                <a:latin typeface="Aptos"/>
              </a:defRPr>
            </a:pPr>
            <a:r>
              <a:t>One person available is not two approvals.</a:t>
            </a:r>
          </a:p>
        </p:txBody>
      </p:sp>
      <p:sp>
        <p:nvSpPr>
          <p:cNvPr id="12" name="TextBox 11"/>
          <p:cNvSpPr txBox="1"/>
          <p:nvPr/>
        </p:nvSpPr>
        <p:spPr>
          <a:xfrm>
            <a:off x="6537960" y="3063240"/>
            <a:ext cx="4617720" cy="1737360"/>
          </a:xfrm>
          <a:prstGeom prst="rect">
            <a:avLst/>
          </a:prstGeom>
          <a:noFill/>
        </p:spPr>
        <p:txBody>
          <a:bodyPr wrap="square" lIns="54864" rIns="54864" tIns="54864" bIns="54864">
            <a:spAutoFit/>
          </a:bodyPr>
          <a:lstStyle/>
          <a:p>
            <a:pPr>
              <a:spcAft>
                <a:spcPts val="400"/>
              </a:spcAft>
              <a:defRPr sz="1400" b="0">
                <a:solidFill>
                  <a:srgbClr val="23303A"/>
                </a:solidFill>
                <a:latin typeface="Aptos"/>
              </a:defRPr>
            </a:pPr>
            <a:r>
              <a:t>If that person is the named on-call approver for the emergency route, the source supports that single confirmation. The source supplies no second approver, escalation power, or substitute. If the person is not the named authority, availability does not create authority.</a:t>
            </a:r>
          </a:p>
        </p:txBody>
      </p:sp>
      <p:sp>
        <p:nvSpPr>
          <p:cNvPr id="13" name="TextBox 12"/>
          <p:cNvSpPr txBox="1"/>
          <p:nvPr/>
        </p:nvSpPr>
        <p:spPr>
          <a:xfrm>
            <a:off x="530352" y="6537960"/>
            <a:ext cx="10972800" cy="164592"/>
          </a:xfrm>
          <a:prstGeom prst="rect">
            <a:avLst/>
          </a:prstGeom>
          <a:noFill/>
        </p:spPr>
        <p:txBody>
          <a:bodyPr wrap="square" lIns="54864" rIns="54864" tIns="54864" bIns="54864">
            <a:spAutoFit/>
          </a:bodyPr>
          <a:lstStyle/>
          <a:p>
            <a:pPr>
              <a:spcAft>
                <a:spcPts val="400"/>
              </a:spcAft>
              <a:defRPr sz="800" b="0">
                <a:solidFill>
                  <a:srgbClr val="687A84"/>
                </a:solidFill>
                <a:latin typeface="Aptos"/>
              </a:defRPr>
            </a:pPr>
            <a:r>
              <a:t>Saltmarsh Market Research  •  Unified change-authority position  |  6/8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276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55680" cy="502920"/>
          </a:xfrm>
          <a:prstGeom prst="rect">
            <a:avLst/>
          </a:prstGeom>
          <a:noFill/>
        </p:spPr>
        <p:txBody>
          <a:bodyPr wrap="none">
            <a:spAutoFit/>
          </a:bodyPr>
          <a:lstStyle/>
          <a:p>
            <a:pPr>
              <a:defRPr sz="2500" b="1">
                <a:solidFill>
                  <a:srgbClr val="152B40"/>
                </a:solidFill>
                <a:latin typeface="Aptos Display"/>
              </a:defRPr>
            </a:pPr>
            <a:r>
              <a:t>Evidence trail: make the distinction visible</a:t>
            </a:r>
          </a:p>
        </p:txBody>
      </p:sp>
      <p:sp>
        <p:nvSpPr>
          <p:cNvPr id="4" name="TextBox 3"/>
          <p:cNvSpPr txBox="1"/>
          <p:nvPr/>
        </p:nvSpPr>
        <p:spPr>
          <a:xfrm>
            <a:off x="530352" y="859536"/>
            <a:ext cx="10972800" cy="256032"/>
          </a:xfrm>
          <a:prstGeom prst="rect">
            <a:avLst/>
          </a:prstGeom>
          <a:noFill/>
        </p:spPr>
        <p:txBody>
          <a:bodyPr wrap="none">
            <a:spAutoFit/>
          </a:bodyPr>
          <a:lstStyle/>
          <a:p>
            <a:pPr>
              <a:defRPr sz="900" b="1">
                <a:solidFill>
                  <a:srgbClr val="12767D"/>
                </a:solidFill>
                <a:latin typeface="Aptos"/>
              </a:defRPr>
            </a:pPr>
            <a:r>
              <a:t>A STATUS IS NOT A PERMISSION SLIP</a:t>
            </a:r>
          </a:p>
        </p:txBody>
      </p:sp>
      <p:sp>
        <p:nvSpPr>
          <p:cNvPr id="5" name="Rounded Rectangle 4"/>
          <p:cNvSpPr/>
          <p:nvPr/>
        </p:nvSpPr>
        <p:spPr>
          <a:xfrm>
            <a:off x="685800" y="1325880"/>
            <a:ext cx="6583680" cy="4434840"/>
          </a:xfrm>
          <a:prstGeom prst="roundRect">
            <a:avLst/>
          </a:prstGeom>
          <a:solidFill>
            <a:srgbClr val="F2F7F9"/>
          </a:solidFill>
          <a:ln w="10160">
            <a:solidFill>
              <a:srgbClr val="CBDB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41832" y="1572768"/>
            <a:ext cx="6035040" cy="320040"/>
          </a:xfrm>
          <a:prstGeom prst="rect">
            <a:avLst/>
          </a:prstGeom>
          <a:noFill/>
        </p:spPr>
        <p:txBody>
          <a:bodyPr wrap="square" lIns="54864" rIns="54864" tIns="54864" bIns="54864">
            <a:spAutoFit/>
          </a:bodyPr>
          <a:lstStyle/>
          <a:p>
            <a:pPr>
              <a:spcAft>
                <a:spcPts val="400"/>
              </a:spcAft>
              <a:defRPr sz="1200" b="1">
                <a:solidFill>
                  <a:srgbClr val="12767D"/>
                </a:solidFill>
                <a:latin typeface="Aptos"/>
              </a:defRPr>
            </a:pPr>
            <a:r>
              <a:t>WHAT A REVIEWER SHOULD BE ABLE TO FIND</a:t>
            </a:r>
          </a:p>
        </p:txBody>
      </p:sp>
      <p:sp>
        <p:nvSpPr>
          <p:cNvPr id="7" name="TextBox 6"/>
          <p:cNvSpPr txBox="1"/>
          <p:nvPr/>
        </p:nvSpPr>
        <p:spPr>
          <a:xfrm>
            <a:off x="941832" y="2057400"/>
            <a:ext cx="6080760" cy="621792"/>
          </a:xfrm>
          <a:prstGeom prst="rect">
            <a:avLst/>
          </a:prstGeom>
          <a:noFill/>
        </p:spPr>
        <p:txBody>
          <a:bodyPr wrap="square" lIns="54864" rIns="54864" tIns="54864" bIns="54864">
            <a:spAutoFit/>
          </a:bodyPr>
          <a:lstStyle/>
          <a:p>
            <a:pPr>
              <a:spcAft>
                <a:spcPts val="400"/>
              </a:spcAft>
              <a:defRPr sz="1400" b="0">
                <a:solidFill>
                  <a:srgbClr val="23303A"/>
                </a:solidFill>
                <a:latin typeface="Aptos"/>
              </a:defRPr>
            </a:pPr>
            <a:r>
              <a:t>• Normal: request, impact/plan, approval, implementation result, closure review</a:t>
            </a:r>
          </a:p>
        </p:txBody>
      </p:sp>
      <p:sp>
        <p:nvSpPr>
          <p:cNvPr id="8" name="TextBox 7"/>
          <p:cNvSpPr txBox="1"/>
          <p:nvPr/>
        </p:nvSpPr>
        <p:spPr>
          <a:xfrm>
            <a:off x="941832" y="2898648"/>
            <a:ext cx="6080760" cy="621792"/>
          </a:xfrm>
          <a:prstGeom prst="rect">
            <a:avLst/>
          </a:prstGeom>
          <a:noFill/>
        </p:spPr>
        <p:txBody>
          <a:bodyPr wrap="square" lIns="54864" rIns="54864" tIns="54864" bIns="54864">
            <a:spAutoFit/>
          </a:bodyPr>
          <a:lstStyle/>
          <a:p>
            <a:pPr>
              <a:spcAft>
                <a:spcPts val="400"/>
              </a:spcAft>
              <a:defRPr sz="1400" b="0">
                <a:solidFill>
                  <a:srgbClr val="23303A"/>
                </a:solidFill>
                <a:latin typeface="Aptos"/>
              </a:defRPr>
            </a:pPr>
            <a:r>
              <a:t>• Routine: log, approved catalogue/procedure basis, execution outcome</a:t>
            </a:r>
          </a:p>
        </p:txBody>
      </p:sp>
      <p:sp>
        <p:nvSpPr>
          <p:cNvPr id="9" name="TextBox 8"/>
          <p:cNvSpPr txBox="1"/>
          <p:nvPr/>
        </p:nvSpPr>
        <p:spPr>
          <a:xfrm>
            <a:off x="941832" y="3739896"/>
            <a:ext cx="6080760" cy="621792"/>
          </a:xfrm>
          <a:prstGeom prst="rect">
            <a:avLst/>
          </a:prstGeom>
          <a:noFill/>
        </p:spPr>
        <p:txBody>
          <a:bodyPr wrap="square" lIns="54864" rIns="54864" tIns="54864" bIns="54864">
            <a:spAutoFit/>
          </a:bodyPr>
          <a:lstStyle/>
          <a:p>
            <a:pPr>
              <a:spcAft>
                <a:spcPts val="400"/>
              </a:spcAft>
              <a:defRPr sz="1400" b="0">
                <a:solidFill>
                  <a:srgbClr val="23303A"/>
                </a:solidFill>
                <a:latin typeface="Aptos"/>
              </a:defRPr>
            </a:pPr>
            <a:r>
              <a:t>• Emergency: reason, impact, time, authority/confirmation, result, retrospective review</a:t>
            </a:r>
          </a:p>
        </p:txBody>
      </p:sp>
      <p:sp>
        <p:nvSpPr>
          <p:cNvPr id="10" name="TextBox 9"/>
          <p:cNvSpPr txBox="1"/>
          <p:nvPr/>
        </p:nvSpPr>
        <p:spPr>
          <a:xfrm>
            <a:off x="941832" y="4581144"/>
            <a:ext cx="6080760" cy="621792"/>
          </a:xfrm>
          <a:prstGeom prst="rect">
            <a:avLst/>
          </a:prstGeom>
          <a:noFill/>
        </p:spPr>
        <p:txBody>
          <a:bodyPr wrap="square" lIns="54864" rIns="54864" tIns="54864" bIns="54864">
            <a:spAutoFit/>
          </a:bodyPr>
          <a:lstStyle/>
          <a:p>
            <a:pPr>
              <a:spcAft>
                <a:spcPts val="400"/>
              </a:spcAft>
              <a:defRPr sz="1400" b="0">
                <a:solidFill>
                  <a:srgbClr val="23303A"/>
                </a:solidFill>
                <a:latin typeface="Aptos"/>
              </a:defRPr>
            </a:pPr>
            <a:r>
              <a:t>• Across categories: ISO control evidence supports assessment, authorization, testing where appropriate, documentation, controlled implementation, and review</a:t>
            </a:r>
          </a:p>
        </p:txBody>
      </p:sp>
      <p:sp>
        <p:nvSpPr>
          <p:cNvPr id="11" name="Rounded Rectangle 10"/>
          <p:cNvSpPr/>
          <p:nvPr/>
        </p:nvSpPr>
        <p:spPr>
          <a:xfrm>
            <a:off x="7543800" y="1325880"/>
            <a:ext cx="3977639" cy="4434840"/>
          </a:xfrm>
          <a:prstGeom prst="roundRect">
            <a:avLst/>
          </a:prstGeom>
          <a:solidFill>
            <a:srgbClr val="FFEBE7"/>
          </a:solidFill>
          <a:ln w="10160">
            <a:solidFill>
              <a:srgbClr val="C45E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45552" y="1645920"/>
            <a:ext cx="3383280" cy="365760"/>
          </a:xfrm>
          <a:prstGeom prst="rect">
            <a:avLst/>
          </a:prstGeom>
          <a:noFill/>
        </p:spPr>
        <p:txBody>
          <a:bodyPr wrap="square" lIns="54864" rIns="54864" tIns="54864" bIns="54864">
            <a:spAutoFit/>
          </a:bodyPr>
          <a:lstStyle/>
          <a:p>
            <a:pPr algn="ctr">
              <a:spcAft>
                <a:spcPts val="400"/>
              </a:spcAft>
              <a:defRPr sz="1800" b="1">
                <a:solidFill>
                  <a:srgbClr val="A44237"/>
                </a:solidFill>
                <a:latin typeface="Aptos"/>
              </a:defRPr>
            </a:pPr>
            <a:r>
              <a:t>STOP / CHECK</a:t>
            </a:r>
          </a:p>
        </p:txBody>
      </p:sp>
      <p:sp>
        <p:nvSpPr>
          <p:cNvPr id="13" name="TextBox 12"/>
          <p:cNvSpPr txBox="1"/>
          <p:nvPr/>
        </p:nvSpPr>
        <p:spPr>
          <a:xfrm>
            <a:off x="7845552" y="2286000"/>
            <a:ext cx="3383280" cy="1417320"/>
          </a:xfrm>
          <a:prstGeom prst="rect">
            <a:avLst/>
          </a:prstGeom>
          <a:noFill/>
        </p:spPr>
        <p:txBody>
          <a:bodyPr wrap="square" lIns="54864" rIns="54864" tIns="54864" bIns="54864">
            <a:spAutoFit/>
          </a:bodyPr>
          <a:lstStyle/>
          <a:p>
            <a:pPr algn="ctr">
              <a:spcAft>
                <a:spcPts val="400"/>
              </a:spcAft>
              <a:defRPr sz="2200" b="1">
                <a:solidFill>
                  <a:srgbClr val="152B40"/>
                </a:solidFill>
                <a:latin typeface="Aptos"/>
              </a:defRPr>
            </a:pPr>
            <a:r>
              <a:t>“Approved”</a:t>
            </a:r>
          </a:p>
          <a:p>
            <a:pPr algn="ctr">
              <a:spcAft>
                <a:spcPts val="400"/>
              </a:spcAft>
              <a:defRPr sz="2200" b="1">
                <a:solidFill>
                  <a:srgbClr val="152B40"/>
                </a:solidFill>
                <a:latin typeface="Aptos"/>
              </a:defRPr>
            </a:pPr>
            <a:r>
              <a:t>“Scheduled”</a:t>
            </a:r>
          </a:p>
          <a:p>
            <a:pPr algn="ctr">
              <a:spcAft>
                <a:spcPts val="400"/>
              </a:spcAft>
              <a:defRPr sz="2200" b="1">
                <a:solidFill>
                  <a:srgbClr val="152B40"/>
                </a:solidFill>
                <a:latin typeface="Aptos"/>
              </a:defRPr>
            </a:pPr>
            <a:r>
              <a:t>“Implemented”</a:t>
            </a:r>
          </a:p>
        </p:txBody>
      </p:sp>
      <p:sp>
        <p:nvSpPr>
          <p:cNvPr id="14" name="TextBox 13"/>
          <p:cNvSpPr txBox="1"/>
          <p:nvPr/>
        </p:nvSpPr>
        <p:spPr>
          <a:xfrm>
            <a:off x="7845552" y="3977639"/>
            <a:ext cx="3383280" cy="1143000"/>
          </a:xfrm>
          <a:prstGeom prst="rect">
            <a:avLst/>
          </a:prstGeom>
          <a:noFill/>
        </p:spPr>
        <p:txBody>
          <a:bodyPr wrap="square" lIns="54864" rIns="54864" tIns="54864" bIns="54864">
            <a:spAutoFit/>
          </a:bodyPr>
          <a:lstStyle/>
          <a:p>
            <a:pPr algn="ctr">
              <a:spcAft>
                <a:spcPts val="400"/>
              </a:spcAft>
              <a:defRPr sz="1500" b="1">
                <a:solidFill>
                  <a:srgbClr val="A44237"/>
                </a:solidFill>
                <a:latin typeface="Aptos"/>
              </a:defRPr>
            </a:pPr>
            <a:r>
              <a:t>These are workflow handling states. None proves that the required authority, approval, or pre-authorized classification exists.</a:t>
            </a:r>
          </a:p>
        </p:txBody>
      </p:sp>
      <p:sp>
        <p:nvSpPr>
          <p:cNvPr id="15" name="TextBox 14"/>
          <p:cNvSpPr txBox="1"/>
          <p:nvPr/>
        </p:nvSpPr>
        <p:spPr>
          <a:xfrm>
            <a:off x="530352" y="6537960"/>
            <a:ext cx="10972800" cy="164592"/>
          </a:xfrm>
          <a:prstGeom prst="rect">
            <a:avLst/>
          </a:prstGeom>
          <a:noFill/>
        </p:spPr>
        <p:txBody>
          <a:bodyPr wrap="square" lIns="54864" rIns="54864" tIns="54864" bIns="54864">
            <a:spAutoFit/>
          </a:bodyPr>
          <a:lstStyle/>
          <a:p>
            <a:pPr>
              <a:spcAft>
                <a:spcPts val="400"/>
              </a:spcAft>
              <a:defRPr sz="800" b="0">
                <a:solidFill>
                  <a:srgbClr val="687A84"/>
                </a:solidFill>
                <a:latin typeface="Aptos"/>
              </a:defRPr>
            </a:pPr>
            <a:r>
              <a:t>Saltmarsh Market Research  •  Unified change-authority position  |  7/8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276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55680" cy="502920"/>
          </a:xfrm>
          <a:prstGeom prst="rect">
            <a:avLst/>
          </a:prstGeom>
          <a:noFill/>
        </p:spPr>
        <p:txBody>
          <a:bodyPr wrap="none">
            <a:spAutoFit/>
          </a:bodyPr>
          <a:lstStyle/>
          <a:p>
            <a:pPr>
              <a:defRPr sz="2500" b="1">
                <a:solidFill>
                  <a:srgbClr val="152B40"/>
                </a:solidFill>
                <a:latin typeface="Aptos Display"/>
              </a:defRPr>
            </a:pPr>
            <a:r>
              <a:t>The position to carry into the service review</a:t>
            </a:r>
          </a:p>
        </p:txBody>
      </p:sp>
      <p:sp>
        <p:nvSpPr>
          <p:cNvPr id="4" name="TextBox 3"/>
          <p:cNvSpPr txBox="1"/>
          <p:nvPr/>
        </p:nvSpPr>
        <p:spPr>
          <a:xfrm>
            <a:off x="530352" y="859536"/>
            <a:ext cx="10972800" cy="256032"/>
          </a:xfrm>
          <a:prstGeom prst="rect">
            <a:avLst/>
          </a:prstGeom>
          <a:noFill/>
        </p:spPr>
        <p:txBody>
          <a:bodyPr wrap="none">
            <a:spAutoFit/>
          </a:bodyPr>
          <a:lstStyle/>
          <a:p>
            <a:pPr>
              <a:defRPr sz="900" b="1">
                <a:solidFill>
                  <a:srgbClr val="12767D"/>
                </a:solidFill>
                <a:latin typeface="Aptos"/>
              </a:defRPr>
            </a:pPr>
            <a:r>
              <a:t>CONCLUSION | SOURCE-LIMITED AND OPERATIONALLY USABLE</a:t>
            </a:r>
          </a:p>
        </p:txBody>
      </p:sp>
      <p:sp>
        <p:nvSpPr>
          <p:cNvPr id="5" name="TextBox 4"/>
          <p:cNvSpPr txBox="1"/>
          <p:nvPr/>
        </p:nvSpPr>
        <p:spPr>
          <a:xfrm>
            <a:off x="822960" y="1371600"/>
            <a:ext cx="10607040" cy="548640"/>
          </a:xfrm>
          <a:prstGeom prst="rect">
            <a:avLst/>
          </a:prstGeom>
          <a:noFill/>
        </p:spPr>
        <p:txBody>
          <a:bodyPr wrap="square" lIns="54864" rIns="54864" tIns="54864" bIns="54864">
            <a:spAutoFit/>
          </a:bodyPr>
          <a:lstStyle/>
          <a:p>
            <a:pPr algn="ctr">
              <a:spcAft>
                <a:spcPts val="400"/>
              </a:spcAft>
              <a:defRPr sz="2700" b="1">
                <a:solidFill>
                  <a:srgbClr val="152B40"/>
                </a:solidFill>
                <a:latin typeface="Aptos"/>
              </a:defRPr>
            </a:pPr>
            <a:r>
              <a:t>Authority is not interchangeable.</a:t>
            </a:r>
          </a:p>
        </p:txBody>
      </p:sp>
      <p:sp>
        <p:nvSpPr>
          <p:cNvPr id="6" name="Rounded Rectangle 5"/>
          <p:cNvSpPr/>
          <p:nvPr/>
        </p:nvSpPr>
        <p:spPr>
          <a:xfrm>
            <a:off x="914400" y="2148840"/>
            <a:ext cx="10332720" cy="2240280"/>
          </a:xfrm>
          <a:prstGeom prst="roundRect">
            <a:avLst/>
          </a:prstGeom>
          <a:solidFill>
            <a:srgbClr val="E8F5F2"/>
          </a:solidFill>
          <a:ln w="10160">
            <a:solidFill>
              <a:srgbClr val="1276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34440" y="2468880"/>
            <a:ext cx="9692640" cy="1417320"/>
          </a:xfrm>
          <a:prstGeom prst="rect">
            <a:avLst/>
          </a:prstGeom>
          <a:noFill/>
        </p:spPr>
        <p:txBody>
          <a:bodyPr wrap="square" lIns="54864" rIns="54864" tIns="54864" bIns="54864">
            <a:spAutoFit/>
          </a:bodyPr>
          <a:lstStyle/>
          <a:p>
            <a:pPr algn="ctr">
              <a:spcAft>
                <a:spcPts val="400"/>
              </a:spcAft>
              <a:defRPr sz="1900" b="1">
                <a:solidFill>
                  <a:srgbClr val="152B40"/>
                </a:solidFill>
                <a:latin typeface="Aptos"/>
              </a:defRPr>
            </a:pPr>
            <a:r>
              <a:t>Use the service-desk change scheme to determine operational permission and the evidence required to proceed. Use the client availability commitment to understand impact, notice, and urgent continuity direction. Use the ISO Annex A material to frame control evidence and review. Keep each boundary explicit: none of these layers turns a status into authority, a criterion into blanket approval, or an emergency into an accountability-free path.</a:t>
            </a:r>
          </a:p>
        </p:txBody>
      </p:sp>
      <p:sp>
        <p:nvSpPr>
          <p:cNvPr id="8" name="TextBox 7"/>
          <p:cNvSpPr txBox="1"/>
          <p:nvPr/>
        </p:nvSpPr>
        <p:spPr>
          <a:xfrm>
            <a:off x="1051560" y="4800600"/>
            <a:ext cx="10058400" cy="594360"/>
          </a:xfrm>
          <a:prstGeom prst="rect">
            <a:avLst/>
          </a:prstGeom>
          <a:noFill/>
        </p:spPr>
        <p:txBody>
          <a:bodyPr wrap="square" lIns="54864" rIns="54864" tIns="54864" bIns="54864">
            <a:spAutoFit/>
          </a:bodyPr>
          <a:lstStyle/>
          <a:p>
            <a:pPr algn="ctr">
              <a:spcAft>
                <a:spcPts val="400"/>
              </a:spcAft>
              <a:defRPr sz="1500" b="1">
                <a:solidFill>
                  <a:srgbClr val="23303A"/>
                </a:solidFill>
                <a:latin typeface="Aptos"/>
              </a:defRPr>
            </a:pPr>
            <a:r>
              <a:t>Final governing conclusion: classify the change, obtain the source-supported approval or exception evidence before the relevant proceed point, then retain implementation and review evidence. Where the source is silent, this paper claims no extra authority.</a:t>
            </a:r>
          </a:p>
        </p:txBody>
      </p:sp>
      <p:sp>
        <p:nvSpPr>
          <p:cNvPr id="9" name="TextBox 8"/>
          <p:cNvSpPr txBox="1"/>
          <p:nvPr/>
        </p:nvSpPr>
        <p:spPr>
          <a:xfrm>
            <a:off x="822960" y="5852160"/>
            <a:ext cx="10607040" cy="320040"/>
          </a:xfrm>
          <a:prstGeom prst="rect">
            <a:avLst/>
          </a:prstGeom>
          <a:noFill/>
        </p:spPr>
        <p:txBody>
          <a:bodyPr wrap="square" lIns="54864" rIns="54864" tIns="54864" bIns="54864">
            <a:spAutoFit/>
          </a:bodyPr>
          <a:lstStyle/>
          <a:p>
            <a:pPr algn="ctr">
              <a:spcAft>
                <a:spcPts val="400"/>
              </a:spcAft>
              <a:defRPr sz="1000" b="0">
                <a:solidFill>
                  <a:srgbClr val="687A84"/>
                </a:solidFill>
                <a:latin typeface="Aptos"/>
              </a:defRPr>
            </a:pPr>
            <a:r>
              <a:t>Basis: change_authority_source_bundle.pdf (sole supplied source; no outside guidance).</a:t>
            </a:r>
          </a:p>
        </p:txBody>
      </p:sp>
      <p:sp>
        <p:nvSpPr>
          <p:cNvPr id="10" name="TextBox 9"/>
          <p:cNvSpPr txBox="1"/>
          <p:nvPr/>
        </p:nvSpPr>
        <p:spPr>
          <a:xfrm>
            <a:off x="530352" y="6537960"/>
            <a:ext cx="10972800" cy="164592"/>
          </a:xfrm>
          <a:prstGeom prst="rect">
            <a:avLst/>
          </a:prstGeom>
          <a:noFill/>
        </p:spPr>
        <p:txBody>
          <a:bodyPr wrap="square" lIns="54864" rIns="54864" tIns="54864" bIns="54864">
            <a:spAutoFit/>
          </a:bodyPr>
          <a:lstStyle/>
          <a:p>
            <a:pPr>
              <a:spcAft>
                <a:spcPts val="400"/>
              </a:spcAft>
              <a:defRPr sz="800" b="0">
                <a:solidFill>
                  <a:srgbClr val="687A84"/>
                </a:solidFill>
                <a:latin typeface="Aptos"/>
              </a:defRPr>
            </a:pPr>
            <a:r>
              <a:t>Saltmarsh Market Research  •  Unified change-authority position  |  8/8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