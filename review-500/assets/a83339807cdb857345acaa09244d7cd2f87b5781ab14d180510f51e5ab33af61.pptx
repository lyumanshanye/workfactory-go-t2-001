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Shelf-life exposure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645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E4E5"/>
                </a:solidFill>
              </a:defRPr>
            </a:pPr>
            <a:r>
              <a:t>01 /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A"/>
                </a:solidFill>
              </a:defRPr>
            </a:pPr>
            <a:r>
              <a:t>Blank projected review pack | six-case capacity | use with the workbook instrument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303520" cy="914400"/>
          </a:xfrm>
          <a:prstGeom prst="rect">
            <a:avLst/>
          </a:prstGeom>
          <a:solidFill>
            <a:srgbClr val="EAF3F7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0">
                <a:solidFill>
                  <a:srgbClr val="243447"/>
                </a:solidFill>
              </a:defRPr>
            </a:pPr>
            <a:r>
              <a:t>Use this pack to transfer the six-case intake, compare dispatch week / forwarder lane / transhipment hub, and record a factual panel record.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30352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43447"/>
                </a:solidFill>
              </a:defRPr>
            </a:pPr>
            <a:r>
              <a:t>Workflow</a:t>
            </a:r>
            <a:br/>
            <a:r>
              <a:t>1  Complete Case Intake in the workbook.</a:t>
            </a:r>
            <a:br/>
            <a:r>
              <a:t>2  Review formula-linked exposure outputs.</a:t>
            </a:r>
            <a:br/>
            <a:r>
              <a:t>3  Bring the six case slots and comparisons into this pack.</a:t>
            </a:r>
            <a:br/>
            <a:r>
              <a:t>4  Record evidence separately from interpretation.</a:t>
            </a:r>
            <a:br/>
            <a:r>
              <a:t>5  Capture the panel's factual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5212080" cy="914400"/>
          </a:xfrm>
          <a:prstGeom prst="rect">
            <a:avLst/>
          </a:prstGeom>
          <a:solidFill>
            <a:srgbClr val="147D86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Legend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21208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0">
                <a:solidFill>
                  <a:srgbClr val="243447"/>
                </a:solidFill>
              </a:defRPr>
            </a:pPr>
            <a:r>
              <a:t>Blank writing areas = enter during review</a:t>
            </a:r>
            <a:br/>
            <a:r>
              <a:t>Yellow in workbook = user entry</a:t>
            </a:r>
            <a:br/>
            <a:r>
              <a:t>Blue in workbook = derived formula output</a:t>
            </a:r>
            <a:br/>
            <a:r>
              <a:t>Green in workbook / pack = factual panel record</a:t>
            </a:r>
            <a:br/>
            <a:r>
              <a:t>Controlled wording: complaint_type, evidence_status, forwarder_lane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10972800" cy="731520"/>
          </a:xfrm>
          <a:prstGeom prst="rect">
            <a:avLst/>
          </a:prstGeom>
          <a:solidFill>
            <a:srgbClr val="EEF5EE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200" b="0">
                <a:solidFill>
                  <a:srgbClr val="5B6B7A"/>
                </a:solidFill>
              </a:defRPr>
            </a:pPr>
            <a:r>
              <a:t>Shared fields: case_id · dispatch_week · forwarder_lane · transhipment_hub · product · lot · manufacture_date · expiry_date · received_date · complaint_type · evidence_status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Case overview | six available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645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E4E5"/>
                </a:solidFill>
              </a:defRPr>
            </a:pPr>
            <a:r>
              <a:t>02 /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A"/>
                </a:solidFill>
              </a:defRPr>
            </a:pPr>
            <a:r>
              <a:t>Transfer one row per case from Case Intake. Leave unused slots empty.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1475716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388"/>
                <a:gridCol w="1639388"/>
                <a:gridCol w="1639388"/>
                <a:gridCol w="1639388"/>
                <a:gridCol w="1639388"/>
                <a:gridCol w="1639388"/>
                <a:gridCol w="1639388"/>
              </a:tblGrid>
              <a:tr h="63354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case_id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dispatch_week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forwarder_lane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transhipment_hub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product / lot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manufacture_date / expiry_date / received_date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complaint_type / evidence_status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5B6B7A"/>
                </a:solidFill>
              </a:defRPr>
            </a:pPr>
            <a:r>
              <a:t>No case facts, dates, counts, percentages, or findings are prefilled.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Dispatch-week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645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E4E5"/>
                </a:solidFill>
              </a:defRPr>
            </a:pPr>
            <a:r>
              <a:t>03 /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A"/>
                </a:solidFill>
              </a:defRPr>
            </a:pPr>
            <a:r>
              <a:t>Use the same dispatch_week wording as the workbook; record only observed values and derived counts.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9270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770"/>
                <a:gridCol w="2731770"/>
                <a:gridCol w="2731770"/>
                <a:gridCol w="2731770"/>
              </a:tblGrid>
              <a:tr h="56170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dispatch_week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case_count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expired_at_receipt_count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mean_days_remaining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532120"/>
            <a:ext cx="10607040" cy="685800"/>
          </a:xfrm>
          <a:prstGeom prst="rect">
            <a:avLst/>
          </a:prstGeom>
          <a:solidFill>
            <a:srgbClr val="EEF5EE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243447"/>
                </a:solidFill>
              </a:defRPr>
            </a:pPr>
            <a:r>
              <a:t>Comparison note (factual):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Forwarder-lane and transhipment-hub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645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E4E5"/>
                </a:solidFill>
              </a:defRPr>
            </a:pPr>
            <a:r>
              <a:t>04 /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A"/>
                </a:solidFill>
              </a:defRPr>
            </a:pPr>
            <a:r>
              <a:t>Keep lane and hub as separate dimensions so concentration can be examined without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5486400" cy="320040"/>
          </a:xfrm>
          <a:prstGeom prst="rect">
            <a:avLst/>
          </a:prstGeom>
          <a:solidFill>
            <a:srgbClr val="147D86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Forwarder lane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81328"/>
          <a:ext cx="5486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8915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forwarder_lane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case_count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expired_at_receipt_count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9632" y="1078992"/>
            <a:ext cx="5486400" cy="320040"/>
          </a:xfrm>
          <a:prstGeom prst="rect">
            <a:avLst/>
          </a:prstGeom>
          <a:solidFill>
            <a:srgbClr val="147D86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Transhipment hub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9632" y="1481328"/>
          <a:ext cx="54864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0945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transhipment_hub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case_count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expired_at_receipt_count</a:t>
                      </a:r>
                    </a:p>
                  </a:txBody>
                  <a:tcPr marL="45720" marR="45720" marT="36576" marB="36576">
                    <a:solidFill>
                      <a:srgbClr val="147D86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43447"/>
                          </a:solidFill>
                        </a:defRPr>
                      </a:pPr>
                    </a:p>
                  </a:txBody>
                  <a:tcPr marL="45720" marR="4572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486400"/>
            <a:ext cx="10789920" cy="594360"/>
          </a:xfrm>
          <a:prstGeom prst="rect">
            <a:avLst/>
          </a:prstGeom>
          <a:solidFill>
            <a:srgbClr val="EEF5EE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500" b="1">
                <a:solidFill>
                  <a:srgbClr val="243447"/>
                </a:solidFill>
              </a:defRPr>
            </a:pPr>
            <a:r>
              <a:t>Hub / lane observation (factual):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645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E4E5"/>
                </a:solidFill>
              </a:defRPr>
            </a:pPr>
            <a:r>
              <a:t>05 /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A"/>
                </a:solidFill>
              </a:defRPr>
            </a:pPr>
            <a:r>
              <a:t>Separate what is documented from how the pattern is read. Use evidence_status exactly as entered in the workbook.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394960" cy="384048"/>
          </a:xfrm>
          <a:prstGeom prst="rect">
            <a:avLst/>
          </a:prstGeom>
          <a:solidFill>
            <a:srgbClr val="147D86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Evidence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39496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43447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394960" cy="384048"/>
          </a:xfrm>
          <a:prstGeom prst="rect">
            <a:avLst/>
          </a:prstGeom>
          <a:solidFill>
            <a:srgbClr val="147D86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Interpretation to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64208"/>
            <a:ext cx="539496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43447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5559552"/>
            <a:ext cx="10789920" cy="594360"/>
          </a:xfrm>
          <a:prstGeom prst="rect">
            <a:avLst/>
          </a:prstGeom>
          <a:solidFill>
            <a:srgbClr val="EEF5EE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400" b="1">
                <a:solidFill>
                  <a:srgbClr val="243447"/>
                </a:solidFill>
              </a:defRPr>
            </a:pPr>
            <a:r>
              <a:t>Evidence status notes (entered / plausible / confirmed / insufficient evidence):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Factual panel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1645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E4E5"/>
                </a:solidFill>
              </a:defRPr>
            </a:pPr>
            <a:r>
              <a:t>06 /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B7A"/>
                </a:solidFill>
              </a:defRPr>
            </a:pPr>
            <a:r>
              <a:t>Record what the panel observed or agreed. This page intentionally contains no recommendation field.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2331720" cy="411480"/>
          </a:xfrm>
          <a:prstGeom prst="rect">
            <a:avLst/>
          </a:prstGeom>
          <a:solidFill>
            <a:srgbClr val="147D86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factual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34440"/>
            <a:ext cx="8412480" cy="1417320"/>
          </a:xfrm>
          <a:prstGeom prst="rect">
            <a:avLst/>
          </a:prstGeom>
          <a:solidFill>
            <a:srgbClr val="EEF5EE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43447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331720" cy="411480"/>
          </a:xfrm>
          <a:prstGeom prst="rect">
            <a:avLst/>
          </a:prstGeom>
          <a:solidFill>
            <a:srgbClr val="147D86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evidence 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834640"/>
            <a:ext cx="8412480" cy="1417320"/>
          </a:xfrm>
          <a:prstGeom prst="rect">
            <a:avLst/>
          </a:prstGeom>
          <a:solidFill>
            <a:srgbClr val="EEF5EE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43447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2331720" cy="640080"/>
          </a:xfrm>
          <a:prstGeom prst="rect">
            <a:avLst/>
          </a:prstGeom>
          <a:solidFill>
            <a:srgbClr val="147D86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period comparison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434840"/>
            <a:ext cx="8412480" cy="1417320"/>
          </a:xfrm>
          <a:prstGeom prst="rect">
            <a:avLst/>
          </a:prstGeom>
          <a:solidFill>
            <a:srgbClr val="EEF5EE"/>
          </a:solidFill>
          <a:ln>
            <a:solidFill>
              <a:srgbClr val="B7C5D0"/>
            </a:solidFill>
          </a:ln>
        </p:spPr>
        <p:txBody>
          <a:bodyPr wrap="square" lIns="73152" rIns="73152" tIns="73152" bIns="73152" anchor="t">
            <a:spAutoFit/>
          </a:bodyPr>
          <a:lstStyle/>
          <a:p>
            <a:pPr>
              <a:defRPr sz="1600" b="0">
                <a:solidFill>
                  <a:srgbClr val="243447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144768"/>
            <a:ext cx="106984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>
              <a:defRPr sz="1100" b="0">
                <a:solidFill>
                  <a:srgbClr val="5B6B7A"/>
                </a:solidFill>
              </a:defRPr>
            </a:pPr>
            <a:r>
              <a:t>Keep this record factual and traceable to the workbook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