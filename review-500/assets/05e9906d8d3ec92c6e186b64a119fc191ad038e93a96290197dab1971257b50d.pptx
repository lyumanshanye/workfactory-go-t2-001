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7324D"/>
                </a:solidFill>
                <a:latin typeface="Aptos"/>
              </a:defRPr>
            </a:pPr>
            <a:r>
              <a:t>AI coding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058400" cy="32918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008A8A"/>
                </a:solidFill>
                <a:latin typeface="Aptos"/>
              </a:defRPr>
            </a:pPr>
            <a:r>
              <a:t>One-quarter controlled pilot design for partner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0784"/>
            <a:ext cx="7406640" cy="5029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22313F"/>
                </a:solidFill>
                <a:latin typeface="Aptos"/>
              </a:defRPr>
            </a:pPr>
            <a:r>
              <a:t>The decision is whether the protocol can produce usable evidence — not whether to adopt, select a vendor or roll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3035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64008" cy="219456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80360"/>
            <a:ext cx="50109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Approval sought — 12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82112"/>
            <a:ext cx="5010912" cy="1664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Approve the controlled design, measurement rule, authority boundary and formula-based one-quarter budget.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No account, licence activation, onboarding or treatment access occurs before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64008" cy="219456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4828031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82112"/>
            <a:ext cx="4828031" cy="166420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Eleven eligible delivery squads, including Marlowe Logistics work.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Six allocation clusters: three assigned treatment and three control; not all eleven squads receive treatment.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02  The design separates assignment from ordinary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Concurrent comparison plus baseline adjustment; controlled access is the treatment.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438912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31821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Baseline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82112" cy="385876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By 14 July: inventory and remove/disable ad hoc access; retain history log.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15 July–11 October: no governed assistant access in either condition; collect baseline.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344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34440"/>
            <a:ext cx="64008" cy="438912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71600"/>
            <a:ext cx="31821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Matched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73352"/>
            <a:ext cx="3182112" cy="385876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Freeze roster/repository map; build six connected work clusters covering all 11 squads.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Pair clusters on seniority mix, client setting/permission posture and codebase age. Randomize one per pair to treatment.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3444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234440"/>
            <a:ext cx="64008" cy="438912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371600"/>
            <a:ext cx="31821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What is compared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673352"/>
            <a:ext cx="3182112" cy="385876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Primary estimate: (treated pilot − treated baseline) − (control pilot − control baseline).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Balance helps but does not eliminate confounding; small cluster count limits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03  Calendar, access and population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Funded access is bounded to one defined quarter.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06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356616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15 Jul–11 Oct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2313432" cy="30358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Pre-pilot comparison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No governed access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Freeze roster and repositories; map six clusters; pre-generate constrained randomization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34440"/>
            <a:ext cx="2606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234440"/>
            <a:ext cx="64008" cy="356616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37160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12 October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673352"/>
            <a:ext cx="2313432" cy="30358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Partners approve design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Approval precedes every treatment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26060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64008" cy="356616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13 Oct–9 Nov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73352"/>
            <a:ext cx="2313432" cy="30358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Funded quarter begins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Fixed onboarding/ramp-up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Treatment accounts only after approval; controls have no account, plug-in, credential or copied output.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23444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234440"/>
            <a:ext cx="64008" cy="356616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1371600"/>
            <a:ext cx="217627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10 Nov–12 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1673352"/>
            <a:ext cx="2176272" cy="30358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Steady-state primary window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13 Jan–11 Feb: final 30-day defect observation, lock/report/adjudicate.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10607040" cy="53035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2313F"/>
                </a:solidFill>
                <a:latin typeface="Aptos"/>
              </a:defRPr>
            </a:pPr>
            <a:r>
              <a:t>Meaningful exposure = approved interaction on ≥2 distinct working days + approved repository-context event in a week. It is a secondary implementation measure; licence assignment does not prove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04  Estimand and analysis are cluster-aware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The main result follows assignment, even when people do not use the assistant.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64008" cy="192024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5056631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Exactly one primary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5056631" cy="13898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Median work-item lead time (hours from first “In Progress” to first production deployment) for production-bound eligible items. Unit: allocation-cluster-week median. Lower is better.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Source: work-management + deployment systems; weekly extraction; Data Quality Lead.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64008" cy="192024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056631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Primary estimand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5056631" cy="13898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Intention-to-treat, baseline-adjusted difference-in-differences in cluster-week median lead time: (T pilot − T pre-pilot) − (C pilot − C pre-pilot), hours. Negative is faster.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01568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01568"/>
            <a:ext cx="64008" cy="192024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38728"/>
            <a:ext cx="5056631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Analysis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5056631" cy="13898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Aggregate to cluster-week; matched cluster-pair / weekly-block resampling produces effect size and two-sided 95% CI. Cluster-weeks are repeated measures, not independent trials. Randomization inference is sensitivity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01568"/>
            <a:ext cx="5349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01568"/>
            <a:ext cx="64008" cy="192024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538728"/>
            <a:ext cx="5056631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Pre-activation precision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5056631" cy="13898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H = 1.96 × √(sT²/3 + sC²/3) hours from blinded baseline cluster-change variability. If H &gt; 12.0 hours: do not activate as evaluable; revise or close. No promise of significance.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05  Metric hierarchy prevents cherry-picking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Only the primary outcome can satisfy the benefit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443484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36392" cy="390448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Median work-item lead time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Benefit threshold: upper 95% CI for the primary effect ≤ −8.0 hours.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Flow is secondary context, not customer value or individual productivity.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64008" cy="443484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7160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73352"/>
            <a:ext cx="3136392" cy="390448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Quality: confirmed P1/P2 defects within 30 days ÷ deployments ×100; breach if adjusted T−C &gt;2.0 defects/100 deployments.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Client: service-breach days ÷ scheduled service days ×100; breach if adjusted T−C &gt;1.0 percentage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43484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Secondary / diagnostic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73352"/>
            <a:ext cx="3136392" cy="3904487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Workforce: five-item pulse at baseline, week 4, quarter-end.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Diagnostics: meaningful exposure, training, support and contamination.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Lines of code, suggestion counts and acceptance rate are not productivity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06  Fixed decision rule — ordered and non-overlapping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Applied unchanged at quarter-end; a noisy favourable point estimate is not enough.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0432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70432"/>
            <a:ext cx="64008" cy="4526280"/>
          </a:xfrm>
          <a:prstGeom prst="rect">
            <a:avLst/>
          </a:prstGeom>
          <a:solidFill>
            <a:srgbClr val="B8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07592"/>
            <a:ext cx="31821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0  Severe override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9344"/>
            <a:ext cx="3182112" cy="3995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Threshold: 1 credible indication that client source code or confidential information left / became available outside approved boundaries.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Immediate pause. No continuation unless Partners authorize restart after Security closure. Delivery cannot offset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70432"/>
            <a:ext cx="3474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170432"/>
            <a:ext cx="64008" cy="452628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07592"/>
            <a:ext cx="31821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1  Non-evaluable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09344"/>
            <a:ext cx="3182112" cy="3995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No severe event, but any of: &lt;2 clusters per arm with ≥80% scheduled primary coverage; required roster/repo, work/deployment or client-service data unavailable; H &gt;12.0h; untraceable allocation.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No expansion: close or seek redesigned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70432"/>
            <a:ext cx="3429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70432"/>
            <a:ext cx="64008" cy="452628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07592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2 / 3  Evidence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09344"/>
            <a:ext cx="3136392" cy="399592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Evaluable + no quality/client breach + upper 95% CI ≤ −8.0h → evidence supports controlled continuation.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Otherwise, evaluable → evidence supports no continuation.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The ordered categories cannot overlap.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07  Different failures receive different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Missing evidence is not a routine performance signal, and it is not a security breach.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425196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Permission withdrawal / feed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73352"/>
            <a:ext cx="3136392" cy="3721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Client Coordination stops collection and records scope/date/reason. Data Quality logs the feed incident, preserves missingness codes and tests the 80% coverage rule.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Can lead to non-evaluable; never substitute zero or infer benefit.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64008" cy="425196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7160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Staffing, repository &amp; work-mix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73352"/>
            <a:ext cx="3136392" cy="3721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Frozen baseline assignment remains traceable. Log joiners/leavers/transfers, seniority mix, repo creation/retirement/transfer, client/project/phase and all calendar shocks.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New repos excluded; transferred repos retain baseline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64008" cy="4251960"/>
          </a:xfrm>
          <a:prstGeom prst="rect">
            <a:avLst/>
          </a:prstGeom>
          <a:solidFill>
            <a:srgbClr val="B8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Credible boundary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73352"/>
            <a:ext cx="3136392" cy="37216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Security Lead / Incident Commander may pause access. Preserve logs/configuration; notify Legal/Privacy, Sponsor, Client Coordination and affected client as required; investigate.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Restart: Security closure + Legal/Privacy concurrence + corrected controls + explicit Partner authorization.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08  Operating ownership and data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Protocol approval, administration, independent analysis, safety authority and adjudication are distinct.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88720"/>
            <a:ext cx="64008" cy="448056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3136392" cy="3950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Partners: approve / adjudicate / restart authorization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Maude Waddington: one-quarter funding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Aleksy Yablonski: protocol &amp; amendments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Yusuf Bergqvist: reset, access, onboarding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Theo Navarro: permissions, client service / coordination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1887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188720"/>
            <a:ext cx="64008" cy="448056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2588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Independent 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627632"/>
            <a:ext cx="3136392" cy="3950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Data Quality Lead: sources, coverage, change log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Independent Analysis Lead: random draw, locked analysis, classification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Security Lead: continuous monitoring, pause, incident closure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Any amendment is versioned, justified, approved and cannot replace the original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64008" cy="448056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3639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Minimum data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27632"/>
            <a:ext cx="3136392" cy="395020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Purpose-limited fields; role-based access; pseudonymous analytic extracts; cluster aggregate to Partners.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Linked operational data remains re-identifiable — not “anonymous.”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Raw linked data: delete 90 days after adjudication; aggregated record/amendments: 12 months.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09  Budget is a reproducible planning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Inputs are decision variables, not vendor quotations or promised client savings.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329184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50109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One-quarter pilot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73352"/>
            <a:ext cx="5010912" cy="2761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 × L × 3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+ Henable × Renable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+ Hmeasure × Rmeasure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+ Hsupport × Rsupport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N = activated named-user licences; L = unknown monthly licence rate; 3 = months in funded one-quarter window. All hours and loaded rates remain approved planning inputs.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0749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64008" cy="3291840"/>
          </a:xfrm>
          <a:prstGeom prst="rect">
            <a:avLst/>
          </a:prstGeom>
          <a:solidFill>
            <a:srgbClr val="E6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7823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What this does / does not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73352"/>
            <a:ext cx="4782312" cy="27614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Separates licence, enablement, measurement and support/security effort.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Delivery-cost effect is reported only if measured. Do not monetize client value, satisfaction or savings from internal telemetry.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Funding one quarter does not commit Dalefield to a later purchase.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10424160" cy="51206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2313F"/>
                </a:solidFill>
                <a:latin typeface="Aptos"/>
              </a:defRPr>
            </a:pPr>
            <a:r>
              <a:t>Limits to carry into discussion: six clusters constrain precision; balance cannot eliminate confounding; adherence and cross-work contamination complicate interpretation; no historical performance or pricing is supplied.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E6E7A"/>
                </a:solidFill>
              </a:defRPr>
            </a:pPr>
            <a:r>
              <a:t>DALEFIELD ALLIANCE  |  CONTROLLED PILOT DESIGN  |  12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7324D"/>
                </a:solidFill>
                <a:latin typeface="Aptos"/>
              </a:defRPr>
            </a:pPr>
            <a:r>
              <a:t>10  Specific approval sought on 12 October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49808"/>
            <a:ext cx="10698480" cy="25603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5E6E7A"/>
                </a:solidFill>
                <a:latin typeface="Aptos"/>
              </a:defRPr>
            </a:pPr>
            <a:r>
              <a:t>Approve a design that can generate an actable evidence record — not a rollout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105613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6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98448"/>
            <a:ext cx="64008" cy="3520440"/>
          </a:xfrm>
          <a:prstGeom prst="rect">
            <a:avLst/>
          </a:prstGeom>
          <a:solidFill>
            <a:srgbClr val="00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7"/>
            <a:ext cx="10268712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Partners are asked to approve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268712" cy="299008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1. Scope of eleven squads; 15 July–11 October baseline; 13 October–12 January funded quarter; six matched allocation clusters and post-approval-only access.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2. The fixed primary outcome, analysis and threshold: cluster-week median work-item lead time; baseline-adjusted difference-in-differences; upper 95% CI ≤ −8.0 hours, subject to guardrails.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3. The ordered non-evaluable / continuation / no-continuation rule; severe security pause authority; data controls, amendment trail and formula-based budget.</a:t>
            </a: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50" b="0">
                <a:solidFill>
                  <a:srgbClr val="22313F"/>
                </a:solidFill>
                <a:latin typeface="Aptos"/>
              </a:defRPr>
            </a:pPr>
            <a:r>
              <a:t>This approval does not select a commercial vendor, authorize enterprise adoption, or recommend rollout.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57800"/>
            <a:ext cx="10424160" cy="384048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7324D"/>
                </a:solidFill>
                <a:latin typeface="Aptos"/>
              </a:defRPr>
            </a:pPr>
            <a:r>
              <a:t>If approved, access may begin only after this meeting and only within the defined one-quarter pilot. The end-of-quarter disposition remains governed by the same fixed rule.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