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6F8"/>
        </a:solidFill>
        <a:effectLst/>
      </p:bgPr>
    </p:bg>
    <p:spTree>
      <p:nvGrpSpPr>
        <p:cNvPr id="1" name=""/>
        <p:cNvGrpSpPr/>
        <p:nvPr/>
      </p:nvGrpSpPr>
      <p:grpSpPr/>
      <p:sp>
        <p:nvSpPr>
          <p:cNvPr id="2" name="Rectangle 1"/>
          <p:cNvSpPr/>
          <p:nvPr/>
        </p:nvSpPr>
        <p:spPr>
          <a:xfrm>
            <a:off x="0" y="0"/>
            <a:ext cx="3886200" cy="6858000"/>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8368"/>
            <a:ext cx="2743200" cy="365760"/>
          </a:xfrm>
          <a:prstGeom prst="rect">
            <a:avLst/>
          </a:prstGeom>
          <a:noFill/>
        </p:spPr>
        <p:txBody>
          <a:bodyPr wrap="square" lIns="45720" rIns="45720" anchor="t">
            <a:spAutoFit/>
          </a:bodyPr>
          <a:lstStyle/>
          <a:p>
            <a:pPr algn="l">
              <a:spcBef>
                <a:spcPts val="0"/>
              </a:spcBef>
              <a:spcAft>
                <a:spcPts val="0"/>
              </a:spcAft>
              <a:defRPr sz="1100" b="1">
                <a:solidFill>
                  <a:srgbClr val="FFFFFF"/>
                </a:solidFill>
                <a:latin typeface="Aptos"/>
              </a:defRPr>
            </a:pPr>
            <a:r>
              <a:t>LATCHFORD</a:t>
            </a:r>
          </a:p>
          <a:p>
            <a:pPr algn="l">
              <a:spcBef>
                <a:spcPts val="0"/>
              </a:spcBef>
              <a:spcAft>
                <a:spcPts val="0"/>
              </a:spcAft>
              <a:defRPr sz="1100" b="1">
                <a:solidFill>
                  <a:srgbClr val="FFFFFF"/>
                </a:solidFill>
                <a:latin typeface="Aptos"/>
              </a:defRPr>
            </a:pPr>
            <a:r>
              <a:t>ASSOCIATES</a:t>
            </a:r>
          </a:p>
        </p:txBody>
      </p:sp>
      <p:sp>
        <p:nvSpPr>
          <p:cNvPr id="4" name="TextBox 3"/>
          <p:cNvSpPr txBox="1"/>
          <p:nvPr/>
        </p:nvSpPr>
        <p:spPr>
          <a:xfrm>
            <a:off x="502920" y="1600200"/>
            <a:ext cx="2971800" cy="1508760"/>
          </a:xfrm>
          <a:prstGeom prst="rect">
            <a:avLst/>
          </a:prstGeom>
          <a:noFill/>
        </p:spPr>
        <p:txBody>
          <a:bodyPr wrap="square" lIns="45720" rIns="45720" anchor="t">
            <a:spAutoFit/>
          </a:bodyPr>
          <a:lstStyle/>
          <a:p>
            <a:pPr algn="l">
              <a:spcBef>
                <a:spcPts val="0"/>
              </a:spcBef>
              <a:spcAft>
                <a:spcPts val="0"/>
              </a:spcAft>
              <a:defRPr sz="3000" b="1">
                <a:solidFill>
                  <a:srgbClr val="FFFFFF"/>
                </a:solidFill>
                <a:latin typeface="Aptos"/>
              </a:defRPr>
            </a:pPr>
            <a:r>
              <a:t>Arrival</a:t>
            </a:r>
          </a:p>
          <a:p>
            <a:pPr algn="l">
              <a:spcBef>
                <a:spcPts val="0"/>
              </a:spcBef>
              <a:spcAft>
                <a:spcPts val="0"/>
              </a:spcAft>
              <a:defRPr sz="3000" b="1">
                <a:solidFill>
                  <a:srgbClr val="FFFFFF"/>
                </a:solidFill>
                <a:latin typeface="Aptos"/>
              </a:defRPr>
            </a:pPr>
            <a:r>
              <a:t>communication</a:t>
            </a:r>
          </a:p>
          <a:p>
            <a:pPr algn="l">
              <a:spcBef>
                <a:spcPts val="0"/>
              </a:spcBef>
              <a:spcAft>
                <a:spcPts val="0"/>
              </a:spcAft>
              <a:defRPr sz="3000" b="1">
                <a:solidFill>
                  <a:srgbClr val="FFFFFF"/>
                </a:solidFill>
                <a:latin typeface="Aptos"/>
              </a:defRPr>
            </a:pPr>
            <a:r>
              <a:t>template</a:t>
            </a:r>
          </a:p>
        </p:txBody>
      </p:sp>
      <p:sp>
        <p:nvSpPr>
          <p:cNvPr id="5" name="TextBox 4"/>
          <p:cNvSpPr txBox="1"/>
          <p:nvPr/>
        </p:nvSpPr>
        <p:spPr>
          <a:xfrm>
            <a:off x="502920" y="5257800"/>
            <a:ext cx="2697480" cy="548640"/>
          </a:xfrm>
          <a:prstGeom prst="rect">
            <a:avLst/>
          </a:prstGeom>
          <a:noFill/>
        </p:spPr>
        <p:txBody>
          <a:bodyPr wrap="square" lIns="45720" rIns="45720" anchor="t">
            <a:spAutoFit/>
          </a:bodyPr>
          <a:lstStyle/>
          <a:p>
            <a:pPr algn="l">
              <a:spcBef>
                <a:spcPts val="0"/>
              </a:spcBef>
              <a:spcAft>
                <a:spcPts val="0"/>
              </a:spcAft>
              <a:defRPr sz="1100" b="0">
                <a:solidFill>
                  <a:srgbClr val="D5E5F0"/>
                </a:solidFill>
                <a:latin typeface="Aptos"/>
              </a:defRPr>
            </a:pPr>
            <a:r>
              <a:t>Temporary credential transition</a:t>
            </a:r>
          </a:p>
          <a:p>
            <a:pPr algn="l">
              <a:spcBef>
                <a:spcPts val="0"/>
              </a:spcBef>
              <a:spcAft>
                <a:spcPts val="0"/>
              </a:spcAft>
              <a:defRPr sz="1100" b="0">
                <a:solidFill>
                  <a:srgbClr val="D5E5F0"/>
                </a:solidFill>
                <a:latin typeface="Aptos"/>
              </a:defRPr>
            </a:pPr>
            <a:r>
              <a:t>&amp; lobby-demand planning</a:t>
            </a:r>
          </a:p>
        </p:txBody>
      </p:sp>
      <p:sp>
        <p:nvSpPr>
          <p:cNvPr id="6" name="TextBox 5"/>
          <p:cNvSpPr txBox="1"/>
          <p:nvPr/>
        </p:nvSpPr>
        <p:spPr>
          <a:xfrm>
            <a:off x="4434840" y="731520"/>
            <a:ext cx="6903720" cy="365760"/>
          </a:xfrm>
          <a:prstGeom prst="rect">
            <a:avLst/>
          </a:prstGeom>
          <a:noFill/>
        </p:spPr>
        <p:txBody>
          <a:bodyPr wrap="square" lIns="45720" rIns="45720" anchor="t">
            <a:spAutoFit/>
          </a:bodyPr>
          <a:lstStyle/>
          <a:p>
            <a:pPr algn="l">
              <a:spcBef>
                <a:spcPts val="0"/>
              </a:spcBef>
              <a:spcAft>
                <a:spcPts val="0"/>
              </a:spcAft>
              <a:defRPr sz="1500" b="1">
                <a:solidFill>
                  <a:srgbClr val="148484"/>
                </a:solidFill>
                <a:latin typeface="Aptos"/>
              </a:defRPr>
            </a:pPr>
            <a:r>
              <a:t>Use case: Thistledown Logistics headquarters move</a:t>
            </a:r>
          </a:p>
        </p:txBody>
      </p:sp>
      <p:sp>
        <p:nvSpPr>
          <p:cNvPr id="7" name="TextBox 6"/>
          <p:cNvSpPr txBox="1"/>
          <p:nvPr/>
        </p:nvSpPr>
        <p:spPr>
          <a:xfrm>
            <a:off x="4434840" y="1234440"/>
            <a:ext cx="6583680" cy="960120"/>
          </a:xfrm>
          <a:prstGeom prst="rect">
            <a:avLst/>
          </a:prstGeom>
          <a:noFill/>
        </p:spPr>
        <p:txBody>
          <a:bodyPr wrap="square" lIns="45720" rIns="45720" anchor="t">
            <a:spAutoFit/>
          </a:bodyPr>
          <a:lstStyle/>
          <a:p>
            <a:pPr algn="l">
              <a:spcBef>
                <a:spcPts val="0"/>
              </a:spcBef>
              <a:spcAft>
                <a:spcPts val="0"/>
              </a:spcAft>
              <a:defRPr sz="2100" b="1">
                <a:solidFill>
                  <a:srgbClr val="14273F"/>
                </a:solidFill>
                <a:latin typeface="Aptos"/>
              </a:defRPr>
            </a:pPr>
            <a:r>
              <a:t>A reusable message set and planning aid for a five-day move while physical access cards and mobile credentials may both apply.</a:t>
            </a:r>
          </a:p>
        </p:txBody>
      </p:sp>
      <p:sp>
        <p:nvSpPr>
          <p:cNvPr id="8" name="Rounded Rectangle 7"/>
          <p:cNvSpPr/>
          <p:nvPr/>
        </p:nvSpPr>
        <p:spPr>
          <a:xfrm>
            <a:off x="4434840" y="2606040"/>
            <a:ext cx="3246120" cy="1426464"/>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34840" y="2606040"/>
            <a:ext cx="73152" cy="1426464"/>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2752344"/>
            <a:ext cx="291693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DOCUMENT CONTROL</a:t>
            </a:r>
          </a:p>
        </p:txBody>
      </p:sp>
      <p:sp>
        <p:nvSpPr>
          <p:cNvPr id="11" name="TextBox 10"/>
          <p:cNvSpPr txBox="1"/>
          <p:nvPr/>
        </p:nvSpPr>
        <p:spPr>
          <a:xfrm>
            <a:off x="4636007" y="3108960"/>
            <a:ext cx="2898648" cy="832104"/>
          </a:xfrm>
          <a:prstGeom prst="rect">
            <a:avLst/>
          </a:prstGeom>
          <a:noFill/>
        </p:spPr>
        <p:txBody>
          <a:bodyPr wrap="square" lIns="45720" rIns="45720" anchor="t">
            <a:spAutoFit/>
          </a:bodyPr>
          <a:lstStyle/>
          <a:p>
            <a:pPr algn="l">
              <a:spcBef>
                <a:spcPts val="0"/>
              </a:spcBef>
              <a:spcAft>
                <a:spcPts val="0"/>
              </a:spcAft>
              <a:defRPr sz="1050" b="0">
                <a:solidFill>
                  <a:srgbClr val="222B35"/>
                </a:solidFill>
                <a:latin typeface="Aptos"/>
              </a:defRPr>
            </a:pPr>
            <a:r>
              <a:t>Tenant / move: [Tenant name] — [Move identifier]</a:t>
            </a:r>
          </a:p>
          <a:p>
            <a:pPr algn="l">
              <a:spcBef>
                <a:spcPts val="0"/>
              </a:spcBef>
              <a:spcAft>
                <a:spcPts val="0"/>
              </a:spcAft>
              <a:defRPr sz="1050" b="0">
                <a:solidFill>
                  <a:srgbClr val="222B35"/>
                </a:solidFill>
                <a:latin typeface="Aptos"/>
              </a:defRPr>
            </a:pPr>
            <a:r>
              <a:t>Template owner: [Role / team]</a:t>
            </a:r>
          </a:p>
          <a:p>
            <a:pPr algn="l">
              <a:spcBef>
                <a:spcPts val="0"/>
              </a:spcBef>
              <a:spcAft>
                <a:spcPts val="0"/>
              </a:spcAft>
              <a:defRPr sz="1050" b="0">
                <a:solidFill>
                  <a:srgbClr val="222B35"/>
                </a:solidFill>
                <a:latin typeface="Aptos"/>
              </a:defRPr>
            </a:pPr>
            <a:r>
              <a:t>Version: [v#]  •  Effective date: [date]</a:t>
            </a:r>
          </a:p>
        </p:txBody>
      </p:sp>
      <p:sp>
        <p:nvSpPr>
          <p:cNvPr id="12" name="Rounded Rectangle 11"/>
          <p:cNvSpPr/>
          <p:nvPr/>
        </p:nvSpPr>
        <p:spPr>
          <a:xfrm>
            <a:off x="6492239" y="2743200"/>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7" y="2766060"/>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4" name="Rounded Rectangle 13"/>
          <p:cNvSpPr/>
          <p:nvPr/>
        </p:nvSpPr>
        <p:spPr>
          <a:xfrm>
            <a:off x="7955279" y="2606040"/>
            <a:ext cx="3611880" cy="1426464"/>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2606040"/>
            <a:ext cx="73152" cy="1426464"/>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2752344"/>
            <a:ext cx="328269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BRIEF FACTS + DERIVED BASELINE</a:t>
            </a:r>
          </a:p>
        </p:txBody>
      </p:sp>
      <p:sp>
        <p:nvSpPr>
          <p:cNvPr id="17" name="TextBox 16"/>
          <p:cNvSpPr txBox="1"/>
          <p:nvPr/>
        </p:nvSpPr>
        <p:spPr>
          <a:xfrm>
            <a:off x="8156448" y="3108960"/>
            <a:ext cx="3264408" cy="832104"/>
          </a:xfrm>
          <a:prstGeom prst="rect">
            <a:avLst/>
          </a:prstGeom>
          <a:noFill/>
        </p:spPr>
        <p:txBody>
          <a:bodyPr wrap="square" lIns="45720" rIns="45720" anchor="t">
            <a:spAutoFit/>
          </a:bodyPr>
          <a:lstStyle/>
          <a:p>
            <a:pPr algn="l">
              <a:spcBef>
                <a:spcPts val="0"/>
              </a:spcBef>
              <a:spcAft>
                <a:spcPts val="0"/>
              </a:spcAft>
              <a:defRPr sz="960" b="0">
                <a:solidFill>
                  <a:srgbClr val="222B35"/>
                </a:solidFill>
                <a:latin typeface="Aptos"/>
              </a:defRPr>
            </a:pPr>
            <a:r>
              <a:t>Confirmed: Thistledown Logistics • 240 employees • five-day move</a:t>
            </a:r>
          </a:p>
          <a:p>
            <a:pPr algn="l">
              <a:spcBef>
                <a:spcPts val="0"/>
              </a:spcBef>
              <a:spcAft>
                <a:spcPts val="0"/>
              </a:spcAft>
              <a:defRPr sz="960" b="0">
                <a:solidFill>
                  <a:srgbClr val="222B35"/>
                </a:solidFill>
                <a:latin typeface="Aptos"/>
              </a:defRPr>
            </a:pPr>
            <a:r>
              <a:t>Planning assumption: even distribution → 240 / 5 = 48 scheduled employee arrivals/day</a:t>
            </a:r>
          </a:p>
        </p:txBody>
      </p:sp>
      <p:sp>
        <p:nvSpPr>
          <p:cNvPr id="18" name="Rounded Rectangle 17"/>
          <p:cNvSpPr/>
          <p:nvPr/>
        </p:nvSpPr>
        <p:spPr>
          <a:xfrm>
            <a:off x="10378439" y="2743200"/>
            <a:ext cx="987552" cy="228600"/>
          </a:xfrm>
          <a:prstGeom prst="roundRect">
            <a:avLst/>
          </a:prstGeom>
          <a:solidFill>
            <a:srgbClr val="E7F5EF"/>
          </a:solidFill>
          <a:ln>
            <a:solidFill>
              <a:srgbClr val="E7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42447" y="2766060"/>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148484"/>
                </a:solidFill>
                <a:latin typeface="Aptos"/>
              </a:defRPr>
            </a:pPr>
            <a:r>
              <a:t>CONFIRMED</a:t>
            </a:r>
          </a:p>
        </p:txBody>
      </p:sp>
      <p:sp>
        <p:nvSpPr>
          <p:cNvPr id="20" name="Rounded Rectangle 19"/>
          <p:cNvSpPr/>
          <p:nvPr/>
        </p:nvSpPr>
        <p:spPr>
          <a:xfrm>
            <a:off x="4434840" y="4343400"/>
            <a:ext cx="1600200"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4366260"/>
            <a:ext cx="1472184"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HOW TO READ THIS TEMPLATE</a:t>
            </a:r>
          </a:p>
        </p:txBody>
      </p:sp>
      <p:sp>
        <p:nvSpPr>
          <p:cNvPr id="22" name="TextBox 21"/>
          <p:cNvSpPr txBox="1"/>
          <p:nvPr/>
        </p:nvSpPr>
        <p:spPr>
          <a:xfrm>
            <a:off x="4434840" y="4681728"/>
            <a:ext cx="6812280" cy="685800"/>
          </a:xfrm>
          <a:prstGeom prst="rect">
            <a:avLst/>
          </a:prstGeom>
          <a:noFill/>
        </p:spPr>
        <p:txBody>
          <a:bodyPr wrap="square" lIns="45720" rIns="45720" anchor="t">
            <a:spAutoFit/>
          </a:bodyPr>
          <a:lstStyle/>
          <a:p>
            <a:pPr algn="l">
              <a:spcBef>
                <a:spcPts val="0"/>
              </a:spcBef>
              <a:spcAft>
                <a:spcPts val="0"/>
              </a:spcAft>
              <a:defRPr sz="1220" b="0">
                <a:solidFill>
                  <a:srgbClr val="222B35"/>
                </a:solidFill>
                <a:latin typeface="Aptos"/>
              </a:defRPr>
            </a:pPr>
            <a:r>
              <a:t>Green = confirmed brief fact  |  Amber = planning case  |  Blue = resolve locally / replace before sending. This communication tool does not replace local security, IT, emergency, or tenant policy.</a:t>
            </a:r>
          </a:p>
        </p:txBody>
      </p:sp>
      <p:sp>
        <p:nvSpPr>
          <p:cNvPr id="23" name="TextBox 22"/>
          <p:cNvSpPr txBox="1"/>
          <p:nvPr/>
        </p:nvSpPr>
        <p:spPr>
          <a:xfrm>
            <a:off x="4434840" y="5687568"/>
            <a:ext cx="6675120" cy="347472"/>
          </a:xfrm>
          <a:prstGeom prst="rect">
            <a:avLst/>
          </a:prstGeom>
          <a:noFill/>
        </p:spPr>
        <p:txBody>
          <a:bodyPr wrap="square" lIns="45720" rIns="45720" anchor="t">
            <a:spAutoFit/>
          </a:bodyPr>
          <a:lstStyle/>
          <a:p>
            <a:pPr algn="l">
              <a:spcBef>
                <a:spcPts val="0"/>
              </a:spcBef>
              <a:spcAft>
                <a:spcPts val="0"/>
              </a:spcAft>
              <a:defRPr sz="960" b="0">
                <a:solidFill>
                  <a:srgbClr val="5C6A78"/>
                </a:solidFill>
                <a:latin typeface="Aptos"/>
              </a:defRPr>
            </a:pPr>
            <a:r>
              <a:t>Reusable for another tenant (for example, Silverbrook Supply or Thornbury Analytics) after all bracketed fields and planning inputs are reviewed.</a:t>
            </a:r>
          </a:p>
        </p:txBody>
      </p:sp>
      <p:sp>
        <p:nvSpPr>
          <p:cNvPr id="24" name="Rectangle 23"/>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Arrival communication template • editable document-control fields • not an authorization record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Configure before sending</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02</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Make the uncertainty explicit—do not turn local decisions into implied rules.</a:t>
            </a:r>
          </a:p>
        </p:txBody>
      </p:sp>
      <p:sp>
        <p:nvSpPr>
          <p:cNvPr id="6" name="Rounded Rectangle 5"/>
          <p:cNvSpPr/>
          <p:nvPr/>
        </p:nvSpPr>
        <p:spPr>
          <a:xfrm>
            <a:off x="457200" y="1170432"/>
            <a:ext cx="3584448" cy="4553712"/>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70432"/>
            <a:ext cx="73152" cy="4553712"/>
          </a:xfrm>
          <a:prstGeom prst="rect">
            <a:avLst/>
          </a:prstGeom>
          <a:solidFill>
            <a:srgbClr val="235F98"/>
          </a:solidFill>
          <a:ln>
            <a:solidFill>
              <a:srgbClr val="235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16736"/>
            <a:ext cx="3255264"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1. COMPLETE THE LOCAL FIELDS</a:t>
            </a:r>
          </a:p>
        </p:txBody>
      </p:sp>
      <p:sp>
        <p:nvSpPr>
          <p:cNvPr id="9" name="TextBox 8"/>
          <p:cNvSpPr txBox="1"/>
          <p:nvPr/>
        </p:nvSpPr>
        <p:spPr>
          <a:xfrm>
            <a:off x="658368" y="1673352"/>
            <a:ext cx="3236976" cy="3959352"/>
          </a:xfrm>
          <a:prstGeom prst="rect">
            <a:avLst/>
          </a:prstGeom>
          <a:noFill/>
        </p:spPr>
        <p:txBody>
          <a:bodyPr wrap="square" lIns="45720" rIns="45720" anchor="t">
            <a:spAutoFit/>
          </a:bodyPr>
          <a:lstStyle/>
          <a:p>
            <a:pPr algn="l">
              <a:spcBef>
                <a:spcPts val="0"/>
              </a:spcBef>
              <a:spcAft>
                <a:spcPts val="0"/>
              </a:spcAft>
              <a:defRPr sz="1050" b="0">
                <a:solidFill>
                  <a:srgbClr val="222B35"/>
                </a:solidFill>
                <a:latin typeface="Aptos"/>
              </a:defRPr>
            </a:pPr>
            <a:r>
              <a:t>Tenant / move: [Tenant] / [Move ID]</a:t>
            </a:r>
          </a:p>
          <a:p>
            <a:pPr algn="l">
              <a:spcBef>
                <a:spcPts val="0"/>
              </a:spcBef>
              <a:spcAft>
                <a:spcPts val="0"/>
              </a:spcAft>
              <a:defRPr sz="1050" b="0">
                <a:solidFill>
                  <a:srgbClr val="222B35"/>
                </a:solidFill>
                <a:latin typeface="Aptos"/>
              </a:defRPr>
            </a:pPr>
            <a:r>
              <a:t>Move dates / arrival window: [confirm]</a:t>
            </a:r>
          </a:p>
          <a:p>
            <a:pPr algn="l">
              <a:spcBef>
                <a:spcPts val="0"/>
              </a:spcBef>
              <a:spcAft>
                <a:spcPts val="0"/>
              </a:spcAft>
              <a:defRPr sz="1050" b="0">
                <a:solidFill>
                  <a:srgbClr val="222B35"/>
                </a:solidFill>
                <a:latin typeface="Aptos"/>
              </a:defRPr>
            </a:pPr>
            <a:r>
              <a:t>Current credential status: [confirm dual-system dates]</a:t>
            </a:r>
          </a:p>
          <a:p>
            <a:pPr algn="l">
              <a:spcBef>
                <a:spcPts val="0"/>
              </a:spcBef>
              <a:spcAft>
                <a:spcPts val="0"/>
              </a:spcAft>
              <a:defRPr sz="1050" b="0">
                <a:solidFill>
                  <a:srgbClr val="222B35"/>
                </a:solidFill>
                <a:latin typeface="Aptos"/>
              </a:defRPr>
            </a:pPr>
            <a:r>
              <a:t>Routine setup route: [IT / support channel]</a:t>
            </a:r>
          </a:p>
          <a:p>
            <a:pPr algn="l">
              <a:spcBef>
                <a:spcPts val="0"/>
              </a:spcBef>
              <a:spcAft>
                <a:spcPts val="0"/>
              </a:spcAft>
              <a:defRPr sz="1050" b="0">
                <a:solidFill>
                  <a:srgbClr val="222B35"/>
                </a:solidFill>
                <a:latin typeface="Aptos"/>
              </a:defRPr>
            </a:pPr>
            <a:r>
              <a:t>Access decision route: [Security / authorized channel]</a:t>
            </a:r>
          </a:p>
          <a:p>
            <a:pPr algn="l">
              <a:spcBef>
                <a:spcPts val="0"/>
              </a:spcBef>
              <a:spcAft>
                <a:spcPts val="0"/>
              </a:spcAft>
              <a:defRPr sz="1050" b="0">
                <a:solidFill>
                  <a:srgbClr val="222B35"/>
                </a:solidFill>
                <a:latin typeface="Aptos"/>
              </a:defRPr>
            </a:pPr>
            <a:r>
              <a:t>Tenant-status route: [Tenant HR / employer contact]</a:t>
            </a:r>
          </a:p>
          <a:p>
            <a:pPr algn="l">
              <a:spcBef>
                <a:spcPts val="0"/>
              </a:spcBef>
              <a:spcAft>
                <a:spcPts val="0"/>
              </a:spcAft>
              <a:defRPr sz="1050" b="0">
                <a:solidFill>
                  <a:srgbClr val="222B35"/>
                </a:solidFill>
                <a:latin typeface="Aptos"/>
              </a:defRPr>
            </a:pPr>
            <a:r>
              <a:t>Urgent safety route: [applicable emergency or Security channel]</a:t>
            </a:r>
          </a:p>
          <a:p>
            <a:pPr algn="l">
              <a:spcBef>
                <a:spcPts val="0"/>
              </a:spcBef>
              <a:spcAft>
                <a:spcPts val="0"/>
              </a:spcAft>
              <a:defRPr sz="1050" b="0">
                <a:solidFill>
                  <a:srgbClr val="222B35"/>
                </a:solidFill>
                <a:latin typeface="Aptos"/>
              </a:defRPr>
            </a:pPr>
            <a:r>
              <a:t>Reception / arrival coordination: [role / channel]</a:t>
            </a:r>
          </a:p>
        </p:txBody>
      </p:sp>
      <p:sp>
        <p:nvSpPr>
          <p:cNvPr id="10" name="Rounded Rectangle 9"/>
          <p:cNvSpPr/>
          <p:nvPr/>
        </p:nvSpPr>
        <p:spPr>
          <a:xfrm>
            <a:off x="2852928" y="1307592"/>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16936" y="1330451"/>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2" name="Rounded Rectangle 11"/>
          <p:cNvSpPr/>
          <p:nvPr/>
        </p:nvSpPr>
        <p:spPr>
          <a:xfrm>
            <a:off x="4297680" y="1170432"/>
            <a:ext cx="3584448" cy="4553712"/>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170432"/>
            <a:ext cx="73152" cy="45537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316736"/>
            <a:ext cx="3255264"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2. RETAIN THESE FACTS</a:t>
            </a:r>
          </a:p>
        </p:txBody>
      </p:sp>
      <p:sp>
        <p:nvSpPr>
          <p:cNvPr id="15" name="TextBox 14"/>
          <p:cNvSpPr txBox="1"/>
          <p:nvPr/>
        </p:nvSpPr>
        <p:spPr>
          <a:xfrm>
            <a:off x="4498848" y="1673352"/>
            <a:ext cx="3236976" cy="3959352"/>
          </a:xfrm>
          <a:prstGeom prst="rect">
            <a:avLst/>
          </a:prstGeom>
          <a:noFill/>
        </p:spPr>
        <p:txBody>
          <a:bodyPr wrap="square" lIns="45720" rIns="45720" anchor="t">
            <a:spAutoFit/>
          </a:bodyPr>
          <a:lstStyle/>
          <a:p>
            <a:pPr algn="l">
              <a:spcBef>
                <a:spcPts val="0"/>
              </a:spcBef>
              <a:spcAft>
                <a:spcPts val="0"/>
              </a:spcAft>
              <a:defRPr sz="1050" b="0">
                <a:solidFill>
                  <a:srgbClr val="222B35"/>
                </a:solidFill>
                <a:latin typeface="Aptos"/>
              </a:defRPr>
            </a:pPr>
            <a:r>
              <a:t>• The move covers 240 employees over five days.</a:t>
            </a:r>
          </a:p>
          <a:p>
            <a:pPr algn="l">
              <a:spcBef>
                <a:spcPts val="0"/>
              </a:spcBef>
              <a:spcAft>
                <a:spcPts val="0"/>
              </a:spcAft>
              <a:defRPr sz="1050" b="0">
                <a:solidFill>
                  <a:srgbClr val="222B35"/>
                </a:solidFill>
                <a:latin typeface="Aptos"/>
              </a:defRPr>
            </a:pPr>
            <a:r>
              <a:t>• Under even distribution, plan on 48 scheduled employee arrivals each day.</a:t>
            </a:r>
          </a:p>
          <a:p>
            <a:pPr algn="l">
              <a:spcBef>
                <a:spcPts val="0"/>
              </a:spcBef>
              <a:spcAft>
                <a:spcPts val="0"/>
              </a:spcAft>
              <a:defRPr sz="1050" b="0">
                <a:solidFill>
                  <a:srgbClr val="222B35"/>
                </a:solidFill>
                <a:latin typeface="Aptos"/>
              </a:defRPr>
            </a:pPr>
            <a:r>
              <a:t>• During the temporary transition, either a physical access card or mobile credential may apply.</a:t>
            </a:r>
          </a:p>
          <a:p>
            <a:pPr algn="l">
              <a:spcBef>
                <a:spcPts val="0"/>
              </a:spcBef>
              <a:spcAft>
                <a:spcPts val="0"/>
              </a:spcAft>
              <a:defRPr sz="1050" b="0">
                <a:solidFill>
                  <a:srgbClr val="222B35"/>
                </a:solidFill>
                <a:latin typeface="Aptos"/>
              </a:defRPr>
            </a:pPr>
            <a:r>
              <a:t>• Some occupants may be unable to complete setup.</a:t>
            </a:r>
          </a:p>
          <a:p>
            <a:pPr algn="l">
              <a:spcBef>
                <a:spcPts val="0"/>
              </a:spcBef>
              <a:spcAft>
                <a:spcPts val="0"/>
              </a:spcAft>
              <a:defRPr sz="1050" b="0">
                <a:solidFill>
                  <a:srgbClr val="222B35"/>
                </a:solidFill>
                <a:latin typeface="Aptos"/>
              </a:defRPr>
            </a:pPr>
          </a:p>
          <a:p>
            <a:pPr algn="l">
              <a:spcBef>
                <a:spcPts val="0"/>
              </a:spcBef>
              <a:spcAft>
                <a:spcPts val="0"/>
              </a:spcAft>
              <a:defRPr sz="1050" b="0">
                <a:solidFill>
                  <a:srgbClr val="222B35"/>
                </a:solidFill>
                <a:latin typeface="Aptos"/>
              </a:defRPr>
            </a:pPr>
            <a:r>
              <a:t>Do not add unconfirmed hours, ID rules, escort rules, contacts, or entry promises.</a:t>
            </a:r>
          </a:p>
        </p:txBody>
      </p:sp>
      <p:sp>
        <p:nvSpPr>
          <p:cNvPr id="16" name="Rounded Rectangle 15"/>
          <p:cNvSpPr/>
          <p:nvPr/>
        </p:nvSpPr>
        <p:spPr>
          <a:xfrm>
            <a:off x="6693408" y="1307592"/>
            <a:ext cx="987552" cy="228600"/>
          </a:xfrm>
          <a:prstGeom prst="roundRect">
            <a:avLst/>
          </a:prstGeom>
          <a:solidFill>
            <a:srgbClr val="E7F5EF"/>
          </a:solidFill>
          <a:ln>
            <a:solidFill>
              <a:srgbClr val="E7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57416" y="1330451"/>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148484"/>
                </a:solidFill>
                <a:latin typeface="Aptos"/>
              </a:defRPr>
            </a:pPr>
            <a:r>
              <a:t>CONFIRMED</a:t>
            </a:r>
          </a:p>
        </p:txBody>
      </p:sp>
      <p:sp>
        <p:nvSpPr>
          <p:cNvPr id="18" name="Rounded Rectangle 17"/>
          <p:cNvSpPr/>
          <p:nvPr/>
        </p:nvSpPr>
        <p:spPr>
          <a:xfrm>
            <a:off x="8138160" y="1170432"/>
            <a:ext cx="3584448" cy="4553712"/>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1170432"/>
            <a:ext cx="73152" cy="4553712"/>
          </a:xfrm>
          <a:prstGeom prst="rect">
            <a:avLst/>
          </a:prstGeom>
          <a:solidFill>
            <a:srgbClr val="CA922B"/>
          </a:solidFill>
          <a:ln>
            <a:solidFill>
              <a:srgbClr val="CA9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1316736"/>
            <a:ext cx="3255264"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3. SEND ONLY AFTER CONFIRMATION</a:t>
            </a:r>
          </a:p>
        </p:txBody>
      </p:sp>
      <p:sp>
        <p:nvSpPr>
          <p:cNvPr id="21" name="TextBox 20"/>
          <p:cNvSpPr txBox="1"/>
          <p:nvPr/>
        </p:nvSpPr>
        <p:spPr>
          <a:xfrm>
            <a:off x="8339328" y="1673352"/>
            <a:ext cx="3236976" cy="3959352"/>
          </a:xfrm>
          <a:prstGeom prst="rect">
            <a:avLst/>
          </a:prstGeom>
          <a:noFill/>
        </p:spPr>
        <p:txBody>
          <a:bodyPr wrap="square" lIns="45720" rIns="45720" anchor="t">
            <a:spAutoFit/>
          </a:bodyPr>
          <a:lstStyle/>
          <a:p>
            <a:pPr algn="l">
              <a:spcBef>
                <a:spcPts val="0"/>
              </a:spcBef>
              <a:spcAft>
                <a:spcPts val="0"/>
              </a:spcAft>
              <a:defRPr sz="1050" b="0">
                <a:solidFill>
                  <a:srgbClr val="222B35"/>
                </a:solidFill>
                <a:latin typeface="Aptos"/>
              </a:defRPr>
            </a:pPr>
            <a:r>
              <a:t>[ ] Audience wording checked</a:t>
            </a:r>
          </a:p>
          <a:p>
            <a:pPr algn="l">
              <a:spcBef>
                <a:spcPts val="0"/>
              </a:spcBef>
              <a:spcAft>
                <a:spcPts val="0"/>
              </a:spcAft>
              <a:defRPr sz="1050" b="0">
                <a:solidFill>
                  <a:srgbClr val="222B35"/>
                </a:solidFill>
                <a:latin typeface="Aptos"/>
              </a:defRPr>
            </a:pPr>
            <a:r>
              <a:t>[ ] Host / sponsor fields added where needed</a:t>
            </a:r>
          </a:p>
          <a:p>
            <a:pPr algn="l">
              <a:spcBef>
                <a:spcPts val="0"/>
              </a:spcBef>
              <a:spcAft>
                <a:spcPts val="0"/>
              </a:spcAft>
              <a:defRPr sz="1050" b="0">
                <a:solidFill>
                  <a:srgbClr val="222B35"/>
                </a:solidFill>
                <a:latin typeface="Aptos"/>
              </a:defRPr>
            </a:pPr>
            <a:r>
              <a:t>[ ] Credential status and escalation routes confirmed</a:t>
            </a:r>
          </a:p>
          <a:p>
            <a:pPr algn="l">
              <a:spcBef>
                <a:spcPts val="0"/>
              </a:spcBef>
              <a:spcAft>
                <a:spcPts val="0"/>
              </a:spcAft>
              <a:defRPr sz="1050" b="0">
                <a:solidFill>
                  <a:srgbClr val="222B35"/>
                </a:solidFill>
                <a:latin typeface="Aptos"/>
              </a:defRPr>
            </a:pPr>
            <a:r>
              <a:t>[ ] Safety route reviewed locally</a:t>
            </a:r>
          </a:p>
          <a:p>
            <a:pPr algn="l">
              <a:spcBef>
                <a:spcPts val="0"/>
              </a:spcBef>
              <a:spcAft>
                <a:spcPts val="0"/>
              </a:spcAft>
              <a:defRPr sz="1050" b="0">
                <a:solidFill>
                  <a:srgbClr val="222B35"/>
                </a:solidFill>
                <a:latin typeface="Aptos"/>
              </a:defRPr>
            </a:pPr>
            <a:r>
              <a:t>[ ] Any non-employee volumes clearly tagged as assumptions</a:t>
            </a:r>
          </a:p>
          <a:p>
            <a:pPr algn="l">
              <a:spcBef>
                <a:spcPts val="0"/>
              </a:spcBef>
              <a:spcAft>
                <a:spcPts val="0"/>
              </a:spcAft>
              <a:defRPr sz="1050" b="0">
                <a:solidFill>
                  <a:srgbClr val="222B35"/>
                </a:solidFill>
                <a:latin typeface="Aptos"/>
              </a:defRPr>
            </a:pPr>
          </a:p>
          <a:p>
            <a:pPr algn="l">
              <a:spcBef>
                <a:spcPts val="0"/>
              </a:spcBef>
              <a:spcAft>
                <a:spcPts val="0"/>
              </a:spcAft>
              <a:defRPr sz="1050" b="0">
                <a:solidFill>
                  <a:srgbClr val="222B35"/>
                </a:solidFill>
                <a:latin typeface="Aptos"/>
              </a:defRPr>
            </a:pPr>
            <a:r>
              <a:t>Keep bracketed fields editable. Remove internal planning notes from recipient-facing messages if local practice requires it.</a:t>
            </a:r>
          </a:p>
        </p:txBody>
      </p:sp>
      <p:sp>
        <p:nvSpPr>
          <p:cNvPr id="22" name="Rounded Rectangle 21"/>
          <p:cNvSpPr/>
          <p:nvPr/>
        </p:nvSpPr>
        <p:spPr>
          <a:xfrm>
            <a:off x="10533888" y="1307592"/>
            <a:ext cx="987552" cy="228600"/>
          </a:xfrm>
          <a:prstGeom prst="roundRect">
            <a:avLst/>
          </a:prstGeom>
          <a:solidFill>
            <a:srgbClr val="FFF7E5"/>
          </a:solidFill>
          <a:ln>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330451"/>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CA922B"/>
                </a:solidFill>
                <a:latin typeface="Aptos"/>
              </a:defRPr>
            </a:pPr>
            <a:r>
              <a:t>PLANNING</a:t>
            </a:r>
          </a:p>
        </p:txBody>
      </p:sp>
      <p:sp>
        <p:nvSpPr>
          <p:cNvPr id="24" name="Rectangle 23"/>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Editable template • replace bracketed fields before 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Audience messages I — employees and executives</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03</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Copy, complete bracketed fields, then send through the appropriate tenant communication channel.</a:t>
            </a:r>
          </a:p>
        </p:txBody>
      </p:sp>
      <p:sp>
        <p:nvSpPr>
          <p:cNvPr id="6" name="Rounded Rectangle 5"/>
          <p:cNvSpPr/>
          <p:nvPr/>
        </p:nvSpPr>
        <p:spPr>
          <a:xfrm>
            <a:off x="457200" y="1143000"/>
            <a:ext cx="5605272" cy="518464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43000"/>
            <a:ext cx="73152" cy="5184648"/>
          </a:xfrm>
          <a:prstGeom prst="rect">
            <a:avLst/>
          </a:prstGeom>
          <a:solidFill>
            <a:srgbClr val="235F98"/>
          </a:solidFill>
          <a:ln>
            <a:solidFill>
              <a:srgbClr val="235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9304"/>
            <a:ext cx="5276088"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EMPLOYEE ARRIVAL MESSAGE</a:t>
            </a:r>
          </a:p>
        </p:txBody>
      </p:sp>
      <p:sp>
        <p:nvSpPr>
          <p:cNvPr id="9" name="TextBox 8"/>
          <p:cNvSpPr txBox="1"/>
          <p:nvPr/>
        </p:nvSpPr>
        <p:spPr>
          <a:xfrm>
            <a:off x="658368" y="1645920"/>
            <a:ext cx="5257800" cy="4590288"/>
          </a:xfrm>
          <a:prstGeom prst="rect">
            <a:avLst/>
          </a:prstGeom>
          <a:noFill/>
        </p:spPr>
        <p:txBody>
          <a:bodyPr wrap="square" lIns="45720" rIns="45720" anchor="t">
            <a:spAutoFit/>
          </a:bodyPr>
          <a:lstStyle/>
          <a:p>
            <a:pPr algn="l">
              <a:spcBef>
                <a:spcPts val="0"/>
              </a:spcBef>
              <a:spcAft>
                <a:spcPts val="0"/>
              </a:spcAft>
              <a:defRPr sz="1070" b="0">
                <a:solidFill>
                  <a:srgbClr val="222B35"/>
                </a:solidFill>
                <a:latin typeface="Aptos"/>
              </a:defRPr>
            </a:pPr>
            <a:r>
              <a:t>Welcome to [Tenant] at [location / arrival point] on [date]. During this temporary transition, your confirmed route may use either a physical access card or a mobile credential—please follow the route provided by [tenant / authorized team].</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If you cannot complete mobile setup, use [routine setup help: IT / support channel]. Reception can direct you to the applicable route, but cannot reset credentials or approve access. Do not share or borrow credentials.</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If your credential or access status is uncertain, [Security / authorized access channel] handles access decisions; [Tenant HR / employer contact] handles employee or tenant-status questions. This message does not confirm entry, activation, or immediate resolution.</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Next contact: [arrival coordination role / channel]</a:t>
            </a:r>
          </a:p>
        </p:txBody>
      </p:sp>
      <p:sp>
        <p:nvSpPr>
          <p:cNvPr id="10" name="Rounded Rectangle 9"/>
          <p:cNvSpPr/>
          <p:nvPr/>
        </p:nvSpPr>
        <p:spPr>
          <a:xfrm>
            <a:off x="4873752" y="1280160"/>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03019"/>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2" name="Rounded Rectangle 11"/>
          <p:cNvSpPr/>
          <p:nvPr/>
        </p:nvSpPr>
        <p:spPr>
          <a:xfrm>
            <a:off x="6291072" y="1143000"/>
            <a:ext cx="5431536" cy="518464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143000"/>
            <a:ext cx="73152" cy="5184648"/>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289304"/>
            <a:ext cx="5102352"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EXECUTIVE ARRIVAL MESSAGE</a:t>
            </a:r>
          </a:p>
        </p:txBody>
      </p:sp>
      <p:sp>
        <p:nvSpPr>
          <p:cNvPr id="15" name="TextBox 14"/>
          <p:cNvSpPr txBox="1"/>
          <p:nvPr/>
        </p:nvSpPr>
        <p:spPr>
          <a:xfrm>
            <a:off x="6492240" y="1645920"/>
            <a:ext cx="5084064" cy="4590288"/>
          </a:xfrm>
          <a:prstGeom prst="rect">
            <a:avLst/>
          </a:prstGeom>
          <a:noFill/>
        </p:spPr>
        <p:txBody>
          <a:bodyPr wrap="square" lIns="45720" rIns="45720" anchor="t">
            <a:spAutoFit/>
          </a:bodyPr>
          <a:lstStyle/>
          <a:p>
            <a:pPr algn="l">
              <a:spcBef>
                <a:spcPts val="0"/>
              </a:spcBef>
              <a:spcAft>
                <a:spcPts val="0"/>
              </a:spcAft>
              <a:defRPr sz="1110" b="0">
                <a:solidFill>
                  <a:srgbClr val="222B35"/>
                </a:solidFill>
                <a:latin typeface="Aptos"/>
              </a:defRPr>
            </a:pPr>
            <a:r>
              <a:t>For your [date] arrival, the current transition may require either a physical access card or a mobile credential. Please use the credential route confirmed by [authorized team].</a:t>
            </a:r>
          </a:p>
          <a:p>
            <a:pPr algn="l">
              <a:spcBef>
                <a:spcPts val="0"/>
              </a:spcBef>
              <a:spcAft>
                <a:spcPts val="0"/>
              </a:spcAft>
              <a:defRPr sz="1110" b="0">
                <a:solidFill>
                  <a:srgbClr val="222B35"/>
                </a:solidFill>
                <a:latin typeface="Aptos"/>
              </a:defRPr>
            </a:pPr>
          </a:p>
          <a:p>
            <a:pPr algn="l">
              <a:spcBef>
                <a:spcPts val="0"/>
              </a:spcBef>
              <a:spcAft>
                <a:spcPts val="0"/>
              </a:spcAft>
              <a:defRPr sz="1110" b="0">
                <a:solidFill>
                  <a:srgbClr val="222B35"/>
                </a:solidFill>
                <a:latin typeface="Aptos"/>
              </a:defRPr>
            </a:pPr>
            <a:r>
              <a:t>If assistance is needed, contact [discreet arrival-support role / channel]. Credential troubleshooting follows [IT / support route]; access questions follow [Security / authorized channel].</a:t>
            </a:r>
          </a:p>
          <a:p>
            <a:pPr algn="l">
              <a:spcBef>
                <a:spcPts val="0"/>
              </a:spcBef>
              <a:spcAft>
                <a:spcPts val="0"/>
              </a:spcAft>
              <a:defRPr sz="1110" b="0">
                <a:solidFill>
                  <a:srgbClr val="222B35"/>
                </a:solidFill>
                <a:latin typeface="Aptos"/>
              </a:defRPr>
            </a:pPr>
          </a:p>
          <a:p>
            <a:pPr algn="l">
              <a:spcBef>
                <a:spcPts val="0"/>
              </a:spcBef>
              <a:spcAft>
                <a:spcPts val="0"/>
              </a:spcAft>
              <a:defRPr sz="1110" b="0">
                <a:solidFill>
                  <a:srgbClr val="222B35"/>
                </a:solidFill>
                <a:latin typeface="Aptos"/>
              </a:defRPr>
            </a:pPr>
            <a:r>
              <a:t>This message does not create an exemption, bypass, or access entitlement.</a:t>
            </a:r>
          </a:p>
          <a:p>
            <a:pPr algn="l">
              <a:spcBef>
                <a:spcPts val="0"/>
              </a:spcBef>
              <a:spcAft>
                <a:spcPts val="0"/>
              </a:spcAft>
              <a:defRPr sz="1110" b="0">
                <a:solidFill>
                  <a:srgbClr val="222B35"/>
                </a:solidFill>
                <a:latin typeface="Aptos"/>
              </a:defRPr>
            </a:pPr>
          </a:p>
          <a:p>
            <a:pPr algn="l">
              <a:spcBef>
                <a:spcPts val="0"/>
              </a:spcBef>
              <a:spcAft>
                <a:spcPts val="0"/>
              </a:spcAft>
              <a:defRPr sz="1110" b="0">
                <a:solidFill>
                  <a:srgbClr val="222B35"/>
                </a:solidFill>
                <a:latin typeface="Aptos"/>
              </a:defRPr>
            </a:pPr>
            <a:r>
              <a:t>Next contact: [executive coordinator / tenant-experience role]</a:t>
            </a:r>
          </a:p>
        </p:txBody>
      </p:sp>
      <p:sp>
        <p:nvSpPr>
          <p:cNvPr id="16" name="Rounded Rectangle 15"/>
          <p:cNvSpPr/>
          <p:nvPr/>
        </p:nvSpPr>
        <p:spPr>
          <a:xfrm>
            <a:off x="10533888" y="1280160"/>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97896" y="1303019"/>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8" name="Rectangle 17"/>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Recipient-facing wording • conditional credential language • no implied access entitlement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Audience messages II — visitors and service providers</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04</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Arrival coordination is not the same as access authorization.</a:t>
            </a:r>
          </a:p>
        </p:txBody>
      </p:sp>
      <p:sp>
        <p:nvSpPr>
          <p:cNvPr id="6" name="Rounded Rectangle 5"/>
          <p:cNvSpPr/>
          <p:nvPr/>
        </p:nvSpPr>
        <p:spPr>
          <a:xfrm>
            <a:off x="457200" y="1143000"/>
            <a:ext cx="5605272" cy="518464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43000"/>
            <a:ext cx="73152" cy="5184648"/>
          </a:xfrm>
          <a:prstGeom prst="rect">
            <a:avLst/>
          </a:prstGeom>
          <a:solidFill>
            <a:srgbClr val="235F98"/>
          </a:solidFill>
          <a:ln>
            <a:solidFill>
              <a:srgbClr val="235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9304"/>
            <a:ext cx="5276088"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VISITOR ARRIVAL MESSAGE</a:t>
            </a:r>
          </a:p>
        </p:txBody>
      </p:sp>
      <p:sp>
        <p:nvSpPr>
          <p:cNvPr id="9" name="TextBox 8"/>
          <p:cNvSpPr txBox="1"/>
          <p:nvPr/>
        </p:nvSpPr>
        <p:spPr>
          <a:xfrm>
            <a:off x="658368" y="1645920"/>
            <a:ext cx="5257800" cy="4590288"/>
          </a:xfrm>
          <a:prstGeom prst="rect">
            <a:avLst/>
          </a:prstGeom>
          <a:noFill/>
        </p:spPr>
        <p:txBody>
          <a:bodyPr wrap="square" lIns="45720" rIns="45720" anchor="t">
            <a:spAutoFit/>
          </a:bodyPr>
          <a:lstStyle/>
          <a:p>
            <a:pPr algn="l">
              <a:spcBef>
                <a:spcPts val="0"/>
              </a:spcBef>
              <a:spcAft>
                <a:spcPts val="0"/>
              </a:spcAft>
              <a:defRPr sz="1090" b="0">
                <a:solidFill>
                  <a:srgbClr val="222B35"/>
                </a:solidFill>
                <a:latin typeface="Aptos"/>
              </a:defRPr>
            </a:pPr>
            <a:r>
              <a:t>Your visit to [Tenant] is scheduled for [date / time]. Please coordinate with your host or sponsor, [host name / role], before arrival; they can confirm the visit context.</a:t>
            </a:r>
          </a:p>
          <a:p>
            <a:pPr algn="l">
              <a:spcBef>
                <a:spcPts val="0"/>
              </a:spcBef>
              <a:spcAft>
                <a:spcPts val="0"/>
              </a:spcAft>
              <a:defRPr sz="1090" b="0">
                <a:solidFill>
                  <a:srgbClr val="222B35"/>
                </a:solidFill>
                <a:latin typeface="Aptos"/>
              </a:defRPr>
            </a:pPr>
          </a:p>
          <a:p>
            <a:pPr algn="l">
              <a:spcBef>
                <a:spcPts val="0"/>
              </a:spcBef>
              <a:spcAft>
                <a:spcPts val="0"/>
              </a:spcAft>
              <a:defRPr sz="1090" b="0">
                <a:solidFill>
                  <a:srgbClr val="222B35"/>
                </a:solidFill>
                <a:latin typeface="Aptos"/>
              </a:defRPr>
            </a:pPr>
            <a:r>
              <a:t>At arrival, follow [local check-in / identification / escort requirement — confirm locally]. If your host is unavailable or arrival details need updating, use [host / reception escalation role].</a:t>
            </a:r>
          </a:p>
          <a:p>
            <a:pPr algn="l">
              <a:spcBef>
                <a:spcPts val="0"/>
              </a:spcBef>
              <a:spcAft>
                <a:spcPts val="0"/>
              </a:spcAft>
              <a:defRPr sz="1090" b="0">
                <a:solidFill>
                  <a:srgbClr val="222B35"/>
                </a:solidFill>
                <a:latin typeface="Aptos"/>
              </a:defRPr>
            </a:pPr>
          </a:p>
          <a:p>
            <a:pPr algn="l">
              <a:spcBef>
                <a:spcPts val="0"/>
              </a:spcBef>
              <a:spcAft>
                <a:spcPts val="0"/>
              </a:spcAft>
              <a:defRPr sz="1090" b="0">
                <a:solidFill>
                  <a:srgbClr val="222B35"/>
                </a:solidFill>
                <a:latin typeface="Aptos"/>
              </a:defRPr>
            </a:pPr>
            <a:r>
              <a:t>Arrival assistance does not confirm access. Local requirements and any authorization remain subject to the applicable process.</a:t>
            </a:r>
          </a:p>
          <a:p>
            <a:pPr algn="l">
              <a:spcBef>
                <a:spcPts val="0"/>
              </a:spcBef>
              <a:spcAft>
                <a:spcPts val="0"/>
              </a:spcAft>
              <a:defRPr sz="1090" b="0">
                <a:solidFill>
                  <a:srgbClr val="222B35"/>
                </a:solidFill>
                <a:latin typeface="Aptos"/>
              </a:defRPr>
            </a:pPr>
          </a:p>
          <a:p>
            <a:pPr algn="l">
              <a:spcBef>
                <a:spcPts val="0"/>
              </a:spcBef>
              <a:spcAft>
                <a:spcPts val="0"/>
              </a:spcAft>
              <a:defRPr sz="1090" b="0">
                <a:solidFill>
                  <a:srgbClr val="222B35"/>
                </a:solidFill>
                <a:latin typeface="Aptos"/>
              </a:defRPr>
            </a:pPr>
            <a:r>
              <a:t>Next contact: [host or sponsor contact / role]</a:t>
            </a:r>
          </a:p>
        </p:txBody>
      </p:sp>
      <p:sp>
        <p:nvSpPr>
          <p:cNvPr id="10" name="Rounded Rectangle 9"/>
          <p:cNvSpPr/>
          <p:nvPr/>
        </p:nvSpPr>
        <p:spPr>
          <a:xfrm>
            <a:off x="4873752" y="1280160"/>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03019"/>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2" name="Rounded Rectangle 11"/>
          <p:cNvSpPr/>
          <p:nvPr/>
        </p:nvSpPr>
        <p:spPr>
          <a:xfrm>
            <a:off x="6291072" y="1143000"/>
            <a:ext cx="5431536" cy="518464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143000"/>
            <a:ext cx="73152" cy="5184648"/>
          </a:xfrm>
          <a:prstGeom prst="rect">
            <a:avLst/>
          </a:prstGeom>
          <a:solidFill>
            <a:srgbClr val="CA922B"/>
          </a:solidFill>
          <a:ln>
            <a:solidFill>
              <a:srgbClr val="CA9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289304"/>
            <a:ext cx="5102352"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SERVICE-PROVIDER ARRIVAL MESSAGE</a:t>
            </a:r>
          </a:p>
        </p:txBody>
      </p:sp>
      <p:sp>
        <p:nvSpPr>
          <p:cNvPr id="15" name="TextBox 14"/>
          <p:cNvSpPr txBox="1"/>
          <p:nvPr/>
        </p:nvSpPr>
        <p:spPr>
          <a:xfrm>
            <a:off x="6492240" y="1645920"/>
            <a:ext cx="5084064" cy="4590288"/>
          </a:xfrm>
          <a:prstGeom prst="rect">
            <a:avLst/>
          </a:prstGeom>
          <a:noFill/>
        </p:spPr>
        <p:txBody>
          <a:bodyPr wrap="square" lIns="45720" rIns="45720" anchor="t">
            <a:spAutoFit/>
          </a:bodyPr>
          <a:lstStyle/>
          <a:p>
            <a:pPr algn="l">
              <a:spcBef>
                <a:spcPts val="0"/>
              </a:spcBef>
              <a:spcAft>
                <a:spcPts val="0"/>
              </a:spcAft>
              <a:defRPr sz="1070" b="0">
                <a:solidFill>
                  <a:srgbClr val="222B35"/>
                </a:solidFill>
                <a:latin typeface="Aptos"/>
              </a:defRPr>
            </a:pPr>
            <a:r>
              <a:t>For [service / delivery / work], please arrive for the confirmed [appointment / work order / service request] with [accountable tenant sponsor / Facilities contact].</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Use [local arrival / receiving instruction — confirm locally]. Any loading, service-area, or restricted-area access requires the applicable local authorization; arrival alone does not provide it.</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If operational details change, contact [Facilities / sponsoring team role]. Security access questions follow [authorized Security channel].</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Next contact: [Facilities / sponsor / work-order owner]</a:t>
            </a:r>
          </a:p>
        </p:txBody>
      </p:sp>
      <p:sp>
        <p:nvSpPr>
          <p:cNvPr id="16" name="Rounded Rectangle 15"/>
          <p:cNvSpPr/>
          <p:nvPr/>
        </p:nvSpPr>
        <p:spPr>
          <a:xfrm>
            <a:off x="10533888" y="1280160"/>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97896" y="1303019"/>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8" name="Rectangle 17"/>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Keep host, sponsor, appointment, work-order, and local-requirement fields configurable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Route the issue to the right owner</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05</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Reception coordinates communication and arrival support; it does not decide authorization or eligibility.</a:t>
            </a:r>
          </a:p>
        </p:txBody>
      </p:sp>
      <p:sp>
        <p:nvSpPr>
          <p:cNvPr id="6" name="Rectangle 5"/>
          <p:cNvSpPr/>
          <p:nvPr/>
        </p:nvSpPr>
        <p:spPr>
          <a:xfrm>
            <a:off x="457200" y="1234440"/>
            <a:ext cx="1965960" cy="438912"/>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7492" y="1266444"/>
            <a:ext cx="1865376" cy="384048"/>
          </a:xfrm>
          <a:prstGeom prst="rect">
            <a:avLst/>
          </a:prstGeom>
          <a:noFill/>
        </p:spPr>
        <p:txBody>
          <a:bodyPr wrap="square" lIns="0" rIns="0" tIns="0" bIns="0" anchor="ctr">
            <a:spAutoFit/>
          </a:bodyPr>
          <a:lstStyle/>
          <a:p>
            <a:pPr algn="ctr">
              <a:spcBef>
                <a:spcPts val="0"/>
              </a:spcBef>
              <a:spcAft>
                <a:spcPts val="0"/>
              </a:spcAft>
              <a:defRPr sz="910" b="1">
                <a:solidFill>
                  <a:srgbClr val="FFFFFF"/>
                </a:solidFill>
                <a:latin typeface="Aptos"/>
              </a:defRPr>
            </a:pPr>
            <a:r>
              <a:t>Situation</a:t>
            </a:r>
          </a:p>
        </p:txBody>
      </p:sp>
      <p:sp>
        <p:nvSpPr>
          <p:cNvPr id="8" name="Rectangle 7"/>
          <p:cNvSpPr/>
          <p:nvPr/>
        </p:nvSpPr>
        <p:spPr>
          <a:xfrm>
            <a:off x="2423160" y="1234440"/>
            <a:ext cx="3246120" cy="438912"/>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3452" y="1266444"/>
            <a:ext cx="3145536" cy="384048"/>
          </a:xfrm>
          <a:prstGeom prst="rect">
            <a:avLst/>
          </a:prstGeom>
          <a:noFill/>
        </p:spPr>
        <p:txBody>
          <a:bodyPr wrap="square" lIns="0" rIns="0" tIns="0" bIns="0" anchor="ctr">
            <a:spAutoFit/>
          </a:bodyPr>
          <a:lstStyle/>
          <a:p>
            <a:pPr algn="ctr">
              <a:spcBef>
                <a:spcPts val="0"/>
              </a:spcBef>
              <a:spcAft>
                <a:spcPts val="0"/>
              </a:spcAft>
              <a:defRPr sz="910" b="1">
                <a:solidFill>
                  <a:srgbClr val="FFFFFF"/>
                </a:solidFill>
                <a:latin typeface="Aptos"/>
              </a:defRPr>
            </a:pPr>
            <a:r>
              <a:t>Reception / concierge action</a:t>
            </a:r>
          </a:p>
        </p:txBody>
      </p:sp>
      <p:sp>
        <p:nvSpPr>
          <p:cNvPr id="10" name="Rectangle 9"/>
          <p:cNvSpPr/>
          <p:nvPr/>
        </p:nvSpPr>
        <p:spPr>
          <a:xfrm>
            <a:off x="5669279" y="1234440"/>
            <a:ext cx="2423160" cy="438912"/>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9571" y="1266444"/>
            <a:ext cx="2322576" cy="384048"/>
          </a:xfrm>
          <a:prstGeom prst="rect">
            <a:avLst/>
          </a:prstGeom>
          <a:noFill/>
        </p:spPr>
        <p:txBody>
          <a:bodyPr wrap="square" lIns="0" rIns="0" tIns="0" bIns="0" anchor="ctr">
            <a:spAutoFit/>
          </a:bodyPr>
          <a:lstStyle/>
          <a:p>
            <a:pPr algn="ctr">
              <a:spcBef>
                <a:spcPts val="0"/>
              </a:spcBef>
              <a:spcAft>
                <a:spcPts val="0"/>
              </a:spcAft>
              <a:defRPr sz="910" b="1">
                <a:solidFill>
                  <a:srgbClr val="FFFFFF"/>
                </a:solidFill>
                <a:latin typeface="Aptos"/>
              </a:defRPr>
            </a:pPr>
            <a:r>
              <a:t>Possible accountable owner</a:t>
            </a:r>
          </a:p>
        </p:txBody>
      </p:sp>
      <p:sp>
        <p:nvSpPr>
          <p:cNvPr id="12" name="Rectangle 11"/>
          <p:cNvSpPr/>
          <p:nvPr/>
        </p:nvSpPr>
        <p:spPr>
          <a:xfrm>
            <a:off x="8092440" y="1234440"/>
            <a:ext cx="3639312" cy="438912"/>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42731" y="1266444"/>
            <a:ext cx="3538728" cy="384048"/>
          </a:xfrm>
          <a:prstGeom prst="rect">
            <a:avLst/>
          </a:prstGeom>
          <a:noFill/>
        </p:spPr>
        <p:txBody>
          <a:bodyPr wrap="square" lIns="0" rIns="0" tIns="0" bIns="0" anchor="ctr">
            <a:spAutoFit/>
          </a:bodyPr>
          <a:lstStyle/>
          <a:p>
            <a:pPr algn="ctr">
              <a:spcBef>
                <a:spcPts val="0"/>
              </a:spcBef>
              <a:spcAft>
                <a:spcPts val="0"/>
              </a:spcAft>
              <a:defRPr sz="910" b="1">
                <a:solidFill>
                  <a:srgbClr val="FFFFFF"/>
                </a:solidFill>
                <a:latin typeface="Aptos"/>
              </a:defRPr>
            </a:pPr>
            <a:r>
              <a:t>Editable escalation field</a:t>
            </a:r>
          </a:p>
        </p:txBody>
      </p:sp>
      <p:sp>
        <p:nvSpPr>
          <p:cNvPr id="14" name="Rectangle 13"/>
          <p:cNvSpPr/>
          <p:nvPr/>
        </p:nvSpPr>
        <p:spPr>
          <a:xfrm>
            <a:off x="457200" y="1673352"/>
            <a:ext cx="1965960"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7492" y="1705356"/>
            <a:ext cx="186537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Routine mobile credential setup help</a:t>
            </a:r>
          </a:p>
        </p:txBody>
      </p:sp>
      <p:sp>
        <p:nvSpPr>
          <p:cNvPr id="16" name="Rectangle 15"/>
          <p:cNvSpPr/>
          <p:nvPr/>
        </p:nvSpPr>
        <p:spPr>
          <a:xfrm>
            <a:off x="2423160" y="1673352"/>
            <a:ext cx="3246120"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73452" y="1705356"/>
            <a:ext cx="314553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Direct using the approved route; collect only the minimum needed to route.</a:t>
            </a:r>
          </a:p>
        </p:txBody>
      </p:sp>
      <p:sp>
        <p:nvSpPr>
          <p:cNvPr id="18" name="Rectangle 17"/>
          <p:cNvSpPr/>
          <p:nvPr/>
        </p:nvSpPr>
        <p:spPr>
          <a:xfrm>
            <a:off x="5669279" y="1673352"/>
            <a:ext cx="2423160"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19571" y="1705356"/>
            <a:ext cx="232257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IT or credential-support team</a:t>
            </a:r>
          </a:p>
        </p:txBody>
      </p:sp>
      <p:sp>
        <p:nvSpPr>
          <p:cNvPr id="20" name="Rectangle 19"/>
          <p:cNvSpPr/>
          <p:nvPr/>
        </p:nvSpPr>
        <p:spPr>
          <a:xfrm>
            <a:off x="8092440" y="1673352"/>
            <a:ext cx="3639312"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2731" y="1705356"/>
            <a:ext cx="3538728"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[IT / support channel]</a:t>
            </a:r>
          </a:p>
        </p:txBody>
      </p:sp>
      <p:sp>
        <p:nvSpPr>
          <p:cNvPr id="22" name="Rectangle 21"/>
          <p:cNvSpPr/>
          <p:nvPr/>
        </p:nvSpPr>
        <p:spPr>
          <a:xfrm>
            <a:off x="457200" y="2331720"/>
            <a:ext cx="1965960" cy="65836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 y="2363724"/>
            <a:ext cx="186537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Physical access or entry decision</a:t>
            </a:r>
          </a:p>
        </p:txBody>
      </p:sp>
      <p:sp>
        <p:nvSpPr>
          <p:cNvPr id="24" name="Rectangle 23"/>
          <p:cNvSpPr/>
          <p:nvPr/>
        </p:nvSpPr>
        <p:spPr>
          <a:xfrm>
            <a:off x="2423160" y="2331720"/>
            <a:ext cx="3246120" cy="65836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73452" y="2363724"/>
            <a:ext cx="314553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Do not approve, reset, bypass, lend, or disable controls.</a:t>
            </a:r>
          </a:p>
        </p:txBody>
      </p:sp>
      <p:sp>
        <p:nvSpPr>
          <p:cNvPr id="26" name="Rectangle 25"/>
          <p:cNvSpPr/>
          <p:nvPr/>
        </p:nvSpPr>
        <p:spPr>
          <a:xfrm>
            <a:off x="5669279" y="2331720"/>
            <a:ext cx="2423160" cy="65836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19571" y="2363724"/>
            <a:ext cx="232257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Security / authorized access function</a:t>
            </a:r>
          </a:p>
        </p:txBody>
      </p:sp>
      <p:sp>
        <p:nvSpPr>
          <p:cNvPr id="28" name="Rectangle 27"/>
          <p:cNvSpPr/>
          <p:nvPr/>
        </p:nvSpPr>
        <p:spPr>
          <a:xfrm>
            <a:off x="8092440" y="2331720"/>
            <a:ext cx="3639312" cy="65836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42731" y="2363724"/>
            <a:ext cx="3538728"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[Security authorization channel]</a:t>
            </a:r>
          </a:p>
        </p:txBody>
      </p:sp>
      <p:sp>
        <p:nvSpPr>
          <p:cNvPr id="30" name="Rectangle 29"/>
          <p:cNvSpPr/>
          <p:nvPr/>
        </p:nvSpPr>
        <p:spPr>
          <a:xfrm>
            <a:off x="457200" y="2990087"/>
            <a:ext cx="1965960"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 y="3022091"/>
            <a:ext cx="186537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Employee / tenant-status question</a:t>
            </a:r>
          </a:p>
        </p:txBody>
      </p:sp>
      <p:sp>
        <p:nvSpPr>
          <p:cNvPr id="32" name="Rectangle 31"/>
          <p:cNvSpPr/>
          <p:nvPr/>
        </p:nvSpPr>
        <p:spPr>
          <a:xfrm>
            <a:off x="2423160" y="2990087"/>
            <a:ext cx="3246120"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73452" y="3022091"/>
            <a:ext cx="314553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Do not determine employment, visitor eligibility, or tenant status.</a:t>
            </a:r>
          </a:p>
        </p:txBody>
      </p:sp>
      <p:sp>
        <p:nvSpPr>
          <p:cNvPr id="34" name="Rectangle 33"/>
          <p:cNvSpPr/>
          <p:nvPr/>
        </p:nvSpPr>
        <p:spPr>
          <a:xfrm>
            <a:off x="5669279" y="2990087"/>
            <a:ext cx="2423160"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19571" y="3022091"/>
            <a:ext cx="2322576"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Tenant HR / employer contact</a:t>
            </a:r>
          </a:p>
        </p:txBody>
      </p:sp>
      <p:sp>
        <p:nvSpPr>
          <p:cNvPr id="36" name="Rectangle 35"/>
          <p:cNvSpPr/>
          <p:nvPr/>
        </p:nvSpPr>
        <p:spPr>
          <a:xfrm>
            <a:off x="8092440" y="2990087"/>
            <a:ext cx="3639312" cy="658368"/>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42731" y="3022091"/>
            <a:ext cx="3538728" cy="603503"/>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[Tenant HR channel]</a:t>
            </a:r>
          </a:p>
        </p:txBody>
      </p:sp>
      <p:sp>
        <p:nvSpPr>
          <p:cNvPr id="38" name="Rectangle 37"/>
          <p:cNvSpPr/>
          <p:nvPr/>
        </p:nvSpPr>
        <p:spPr>
          <a:xfrm>
            <a:off x="457200" y="3648455"/>
            <a:ext cx="1965960" cy="74980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7492" y="3680459"/>
            <a:ext cx="1865376" cy="694944"/>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Urgent safety incident</a:t>
            </a:r>
          </a:p>
        </p:txBody>
      </p:sp>
      <p:sp>
        <p:nvSpPr>
          <p:cNvPr id="40" name="Rectangle 39"/>
          <p:cNvSpPr/>
          <p:nvPr/>
        </p:nvSpPr>
        <p:spPr>
          <a:xfrm>
            <a:off x="2423160" y="3648455"/>
            <a:ext cx="3246120" cy="74980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73452" y="3680459"/>
            <a:ext cx="3145536" cy="694944"/>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Prioritize immediate safety and escalate under local procedure; keep credential issue separate.</a:t>
            </a:r>
          </a:p>
        </p:txBody>
      </p:sp>
      <p:sp>
        <p:nvSpPr>
          <p:cNvPr id="42" name="Rectangle 41"/>
          <p:cNvSpPr/>
          <p:nvPr/>
        </p:nvSpPr>
        <p:spPr>
          <a:xfrm>
            <a:off x="5669279" y="3648455"/>
            <a:ext cx="2423160" cy="74980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19571" y="3680459"/>
            <a:ext cx="2322576" cy="694944"/>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Applicable emergency or Security channel</a:t>
            </a:r>
          </a:p>
        </p:txBody>
      </p:sp>
      <p:sp>
        <p:nvSpPr>
          <p:cNvPr id="44" name="Rectangle 43"/>
          <p:cNvSpPr/>
          <p:nvPr/>
        </p:nvSpPr>
        <p:spPr>
          <a:xfrm>
            <a:off x="8092440" y="3648455"/>
            <a:ext cx="3639312" cy="749808"/>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42731" y="3680459"/>
            <a:ext cx="3538728" cy="694944"/>
          </a:xfrm>
          <a:prstGeom prst="rect">
            <a:avLst/>
          </a:prstGeom>
          <a:noFill/>
        </p:spPr>
        <p:txBody>
          <a:bodyPr wrap="square" lIns="0" rIns="0" tIns="0" bIns="0" anchor="ctr">
            <a:spAutoFit/>
          </a:bodyPr>
          <a:lstStyle/>
          <a:p>
            <a:pPr algn="ctr">
              <a:spcBef>
                <a:spcPts val="0"/>
              </a:spcBef>
              <a:spcAft>
                <a:spcPts val="0"/>
              </a:spcAft>
              <a:defRPr sz="910" b="0">
                <a:solidFill>
                  <a:srgbClr val="222B35"/>
                </a:solidFill>
                <a:latin typeface="Aptos"/>
              </a:defRPr>
            </a:pPr>
            <a:r>
              <a:t>[urgent safety channel]</a:t>
            </a:r>
          </a:p>
        </p:txBody>
      </p:sp>
      <p:sp>
        <p:nvSpPr>
          <p:cNvPr id="46" name="Rounded Rectangle 45"/>
          <p:cNvSpPr/>
          <p:nvPr/>
        </p:nvSpPr>
        <p:spPr>
          <a:xfrm>
            <a:off x="502920" y="4800600"/>
            <a:ext cx="1143000" cy="228600"/>
          </a:xfrm>
          <a:prstGeom prst="roundRect">
            <a:avLst/>
          </a:prstGeom>
          <a:solidFill>
            <a:srgbClr val="FDECEB"/>
          </a:solidFill>
          <a:ln>
            <a:solidFill>
              <a:srgbClr val="FDE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4823460"/>
            <a:ext cx="1014983" cy="164592"/>
          </a:xfrm>
          <a:prstGeom prst="rect">
            <a:avLst/>
          </a:prstGeom>
          <a:noFill/>
        </p:spPr>
        <p:txBody>
          <a:bodyPr wrap="square" lIns="0" rIns="0" tIns="0" bIns="0" anchor="t">
            <a:spAutoFit/>
          </a:bodyPr>
          <a:lstStyle/>
          <a:p>
            <a:pPr algn="l">
              <a:spcBef>
                <a:spcPts val="0"/>
              </a:spcBef>
              <a:spcAft>
                <a:spcPts val="0"/>
              </a:spcAft>
              <a:defRPr sz="730" b="1">
                <a:solidFill>
                  <a:srgbClr val="A4433E"/>
                </a:solidFill>
                <a:latin typeface="Aptos"/>
              </a:defRPr>
            </a:pPr>
            <a:r>
              <a:t>PRIVACY BOUNDARY</a:t>
            </a:r>
          </a:p>
        </p:txBody>
      </p:sp>
      <p:sp>
        <p:nvSpPr>
          <p:cNvPr id="48" name="TextBox 47"/>
          <p:cNvSpPr txBox="1"/>
          <p:nvPr/>
        </p:nvSpPr>
        <p:spPr>
          <a:xfrm>
            <a:off x="502920" y="5129784"/>
            <a:ext cx="10881360" cy="420624"/>
          </a:xfrm>
          <a:prstGeom prst="rect">
            <a:avLst/>
          </a:prstGeom>
          <a:noFill/>
        </p:spPr>
        <p:txBody>
          <a:bodyPr wrap="square" lIns="45720" rIns="45720" anchor="t">
            <a:spAutoFit/>
          </a:bodyPr>
          <a:lstStyle/>
          <a:p>
            <a:pPr algn="l">
              <a:spcBef>
                <a:spcPts val="0"/>
              </a:spcBef>
              <a:spcAft>
                <a:spcPts val="0"/>
              </a:spcAft>
              <a:defRPr sz="1120" b="0">
                <a:solidFill>
                  <a:srgbClr val="222B35"/>
                </a:solidFill>
                <a:latin typeface="Aptos"/>
              </a:defRPr>
            </a:pPr>
            <a:r>
              <a:t>Do not ask reception to collect or circulate passwords, credential secrets, detailed device information, or unnecessary employee-status details. Use role-based routing and the least information needed to direct the person.</a:t>
            </a:r>
          </a:p>
        </p:txBody>
      </p:sp>
      <p:sp>
        <p:nvSpPr>
          <p:cNvPr id="49" name="Rounded Rectangle 48"/>
          <p:cNvSpPr/>
          <p:nvPr/>
        </p:nvSpPr>
        <p:spPr>
          <a:xfrm>
            <a:off x="502920" y="5715000"/>
            <a:ext cx="1188720" cy="228600"/>
          </a:xfrm>
          <a:prstGeom prst="roundRect">
            <a:avLst/>
          </a:prstGeom>
          <a:solidFill>
            <a:srgbClr val="FDECEB"/>
          </a:solidFill>
          <a:ln>
            <a:solidFill>
              <a:srgbClr val="FDE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8" y="5737860"/>
            <a:ext cx="1060704" cy="164592"/>
          </a:xfrm>
          <a:prstGeom prst="rect">
            <a:avLst/>
          </a:prstGeom>
          <a:noFill/>
        </p:spPr>
        <p:txBody>
          <a:bodyPr wrap="square" lIns="0" rIns="0" tIns="0" bIns="0" anchor="t">
            <a:spAutoFit/>
          </a:bodyPr>
          <a:lstStyle/>
          <a:p>
            <a:pPr algn="l">
              <a:spcBef>
                <a:spcPts val="0"/>
              </a:spcBef>
              <a:spcAft>
                <a:spcPts val="0"/>
              </a:spcAft>
              <a:defRPr sz="730" b="1">
                <a:solidFill>
                  <a:srgbClr val="A4433E"/>
                </a:solidFill>
                <a:latin typeface="Aptos"/>
              </a:defRPr>
            </a:pPr>
            <a:r>
              <a:t>DECISION BOUNDARY</a:t>
            </a:r>
          </a:p>
        </p:txBody>
      </p:sp>
      <p:sp>
        <p:nvSpPr>
          <p:cNvPr id="51" name="TextBox 50"/>
          <p:cNvSpPr txBox="1"/>
          <p:nvPr/>
        </p:nvSpPr>
        <p:spPr>
          <a:xfrm>
            <a:off x="1810512" y="5724144"/>
            <a:ext cx="9281160" cy="256032"/>
          </a:xfrm>
          <a:prstGeom prst="rect">
            <a:avLst/>
          </a:prstGeom>
          <a:noFill/>
        </p:spPr>
        <p:txBody>
          <a:bodyPr wrap="square" lIns="45720" rIns="45720" anchor="t">
            <a:spAutoFit/>
          </a:bodyPr>
          <a:lstStyle/>
          <a:p>
            <a:pPr algn="l">
              <a:spcBef>
                <a:spcPts val="0"/>
              </a:spcBef>
              <a:spcAft>
                <a:spcPts val="0"/>
              </a:spcAft>
              <a:defRPr sz="1060" b="0">
                <a:solidFill>
                  <a:srgbClr val="5C6A78"/>
                </a:solidFill>
                <a:latin typeface="Aptos"/>
              </a:defRPr>
            </a:pPr>
            <a:r>
              <a:t>This template supports communication and planning; it is not a security policy, authorization record, or evidence of a right to enter.</a:t>
            </a:r>
          </a:p>
        </p:txBody>
      </p:sp>
      <p:sp>
        <p:nvSpPr>
          <p:cNvPr id="52" name="Rectangle 51"/>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Editable template • replace bracketed fields before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Daily lobby-demand model — definitions and assumptions</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06</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A planning aid for a five-day move, not a forecast, staffing approval, or authorization decision.</a:t>
            </a:r>
          </a:p>
        </p:txBody>
      </p:sp>
      <p:sp>
        <p:nvSpPr>
          <p:cNvPr id="6" name="Rounded Rectangle 5"/>
          <p:cNvSpPr/>
          <p:nvPr/>
        </p:nvSpPr>
        <p:spPr>
          <a:xfrm>
            <a:off x="457200" y="1170432"/>
            <a:ext cx="3657600" cy="443484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70432"/>
            <a:ext cx="73152" cy="4434840"/>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16736"/>
            <a:ext cx="332841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BRIEF FACTS + BASELINE</a:t>
            </a:r>
          </a:p>
        </p:txBody>
      </p:sp>
      <p:sp>
        <p:nvSpPr>
          <p:cNvPr id="9" name="TextBox 8"/>
          <p:cNvSpPr txBox="1"/>
          <p:nvPr/>
        </p:nvSpPr>
        <p:spPr>
          <a:xfrm>
            <a:off x="658368" y="1673352"/>
            <a:ext cx="3310128" cy="3840479"/>
          </a:xfrm>
          <a:prstGeom prst="rect">
            <a:avLst/>
          </a:prstGeom>
          <a:noFill/>
        </p:spPr>
        <p:txBody>
          <a:bodyPr wrap="square" lIns="45720" rIns="45720" anchor="t">
            <a:spAutoFit/>
          </a:bodyPr>
          <a:lstStyle/>
          <a:p>
            <a:pPr algn="l">
              <a:spcBef>
                <a:spcPts val="0"/>
              </a:spcBef>
              <a:spcAft>
                <a:spcPts val="0"/>
              </a:spcAft>
              <a:defRPr sz="1060" b="0">
                <a:solidFill>
                  <a:srgbClr val="222B35"/>
                </a:solidFill>
                <a:latin typeface="Aptos"/>
              </a:defRPr>
            </a:pPr>
            <a:r>
              <a:t>Confirmed brief facts: 240 employees over five days.</a:t>
            </a:r>
          </a:p>
          <a:p>
            <a:pPr algn="l">
              <a:spcBef>
                <a:spcPts val="0"/>
              </a:spcBef>
              <a:spcAft>
                <a:spcPts val="0"/>
              </a:spcAft>
              <a:defRPr sz="1060" b="0">
                <a:solidFill>
                  <a:srgbClr val="222B35"/>
                </a:solidFill>
                <a:latin typeface="Aptos"/>
              </a:defRPr>
            </a:pPr>
          </a:p>
          <a:p>
            <a:pPr algn="l">
              <a:spcBef>
                <a:spcPts val="0"/>
              </a:spcBef>
              <a:spcAft>
                <a:spcPts val="0"/>
              </a:spcAft>
              <a:defRPr sz="1060" b="0">
                <a:solidFill>
                  <a:srgbClr val="222B35"/>
                </a:solidFill>
                <a:latin typeface="Aptos"/>
              </a:defRPr>
            </a:pPr>
            <a:r>
              <a:t>Planning assumption: 240 / 5 = 48 scheduled employee arrivals per day under even distribution.</a:t>
            </a:r>
          </a:p>
          <a:p>
            <a:pPr algn="l">
              <a:spcBef>
                <a:spcPts val="0"/>
              </a:spcBef>
              <a:spcAft>
                <a:spcPts val="0"/>
              </a:spcAft>
              <a:defRPr sz="1060" b="0">
                <a:solidFill>
                  <a:srgbClr val="222B35"/>
                </a:solidFill>
                <a:latin typeface="Aptos"/>
              </a:defRPr>
            </a:pPr>
          </a:p>
          <a:p>
            <a:pPr algn="l">
              <a:spcBef>
                <a:spcPts val="0"/>
              </a:spcBef>
              <a:spcAft>
                <a:spcPts val="0"/>
              </a:spcAft>
              <a:defRPr sz="1060" b="0">
                <a:solidFill>
                  <a:srgbClr val="222B35"/>
                </a:solidFill>
                <a:latin typeface="Aptos"/>
              </a:defRPr>
            </a:pPr>
            <a:r>
              <a:t>Total people arriving in this model stays at 48 each day. A credential-assistance case is a subset / interaction—not another person. Alternative adoption and failure cases must never be added together.</a:t>
            </a:r>
          </a:p>
        </p:txBody>
      </p:sp>
      <p:sp>
        <p:nvSpPr>
          <p:cNvPr id="10" name="Rounded Rectangle 9"/>
          <p:cNvSpPr/>
          <p:nvPr/>
        </p:nvSpPr>
        <p:spPr>
          <a:xfrm>
            <a:off x="2926080" y="1307592"/>
            <a:ext cx="987552" cy="228600"/>
          </a:xfrm>
          <a:prstGeom prst="roundRect">
            <a:avLst/>
          </a:prstGeom>
          <a:solidFill>
            <a:srgbClr val="E7F5EF"/>
          </a:solidFill>
          <a:ln>
            <a:solidFill>
              <a:srgbClr val="E7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0088" y="1330451"/>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148484"/>
                </a:solidFill>
                <a:latin typeface="Aptos"/>
              </a:defRPr>
            </a:pPr>
            <a:r>
              <a:t>CONFIRMED</a:t>
            </a:r>
          </a:p>
        </p:txBody>
      </p:sp>
      <p:sp>
        <p:nvSpPr>
          <p:cNvPr id="12" name="Rounded Rectangle 11"/>
          <p:cNvSpPr/>
          <p:nvPr/>
        </p:nvSpPr>
        <p:spPr>
          <a:xfrm>
            <a:off x="4343400" y="1170432"/>
            <a:ext cx="3657600" cy="443484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170432"/>
            <a:ext cx="73152" cy="4434840"/>
          </a:xfrm>
          <a:prstGeom prst="rect">
            <a:avLst/>
          </a:prstGeom>
          <a:solidFill>
            <a:srgbClr val="CA922B"/>
          </a:solidFill>
          <a:ln>
            <a:solidFill>
              <a:srgbClr val="CA9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316736"/>
            <a:ext cx="332841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PLANNING CASES</a:t>
            </a:r>
          </a:p>
        </p:txBody>
      </p:sp>
      <p:sp>
        <p:nvSpPr>
          <p:cNvPr id="15" name="TextBox 14"/>
          <p:cNvSpPr txBox="1"/>
          <p:nvPr/>
        </p:nvSpPr>
        <p:spPr>
          <a:xfrm>
            <a:off x="4544568" y="1673352"/>
            <a:ext cx="3310128" cy="3840479"/>
          </a:xfrm>
          <a:prstGeom prst="rect">
            <a:avLst/>
          </a:prstGeom>
          <a:noFill/>
        </p:spPr>
        <p:txBody>
          <a:bodyPr wrap="square" lIns="45720" rIns="45720" anchor="t">
            <a:spAutoFit/>
          </a:bodyPr>
          <a:lstStyle/>
          <a:p>
            <a:pPr algn="l">
              <a:spcBef>
                <a:spcPts val="0"/>
              </a:spcBef>
              <a:spcAft>
                <a:spcPts val="0"/>
              </a:spcAft>
              <a:defRPr sz="1070" b="0">
                <a:solidFill>
                  <a:srgbClr val="222B35"/>
                </a:solidFill>
                <a:latin typeface="Aptos"/>
              </a:defRPr>
            </a:pPr>
            <a:r>
              <a:t>Mobile adoption cases: 60%, 85%, 100%</a:t>
            </a:r>
          </a:p>
          <a:p>
            <a:pPr algn="l">
              <a:spcBef>
                <a:spcPts val="0"/>
              </a:spcBef>
              <a:spcAft>
                <a:spcPts val="0"/>
              </a:spcAft>
              <a:defRPr sz="1070" b="0">
                <a:solidFill>
                  <a:srgbClr val="222B35"/>
                </a:solidFill>
                <a:latin typeface="Aptos"/>
              </a:defRPr>
            </a:pPr>
            <a:r>
              <a:t>Setup-failure cases: 5%, 15%</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Failure denominator = mobile setup attempts only.</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Formula:</a:t>
            </a:r>
          </a:p>
          <a:p>
            <a:pPr algn="l">
              <a:spcBef>
                <a:spcPts val="0"/>
              </a:spcBef>
              <a:spcAft>
                <a:spcPts val="0"/>
              </a:spcAft>
              <a:defRPr sz="1070" b="0">
                <a:solidFill>
                  <a:srgbClr val="222B35"/>
                </a:solidFill>
                <a:latin typeface="Aptos"/>
              </a:defRPr>
            </a:pPr>
            <a:r>
              <a:t>mobile attempts = 48 × adoption</a:t>
            </a:r>
          </a:p>
          <a:p>
            <a:pPr algn="l">
              <a:spcBef>
                <a:spcPts val="0"/>
              </a:spcBef>
              <a:spcAft>
                <a:spcPts val="0"/>
              </a:spcAft>
              <a:defRPr sz="1070" b="0">
                <a:solidFill>
                  <a:srgbClr val="222B35"/>
                </a:solidFill>
                <a:latin typeface="Aptos"/>
              </a:defRPr>
            </a:pPr>
            <a:r>
              <a:t>failed setups = mobile attempts × failure rate</a:t>
            </a:r>
          </a:p>
          <a:p>
            <a:pPr algn="l">
              <a:spcBef>
                <a:spcPts val="0"/>
              </a:spcBef>
              <a:spcAft>
                <a:spcPts val="0"/>
              </a:spcAft>
              <a:defRPr sz="1070" b="0">
                <a:solidFill>
                  <a:srgbClr val="222B35"/>
                </a:solidFill>
                <a:latin typeface="Aptos"/>
              </a:defRPr>
            </a:pPr>
            <a:r>
              <a:t>credential attention cases = physical-card route + failed setups</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Displayed as expected daily cases to one decimal; not individual predictions.</a:t>
            </a:r>
          </a:p>
        </p:txBody>
      </p:sp>
      <p:sp>
        <p:nvSpPr>
          <p:cNvPr id="16" name="Rounded Rectangle 15"/>
          <p:cNvSpPr/>
          <p:nvPr/>
        </p:nvSpPr>
        <p:spPr>
          <a:xfrm>
            <a:off x="6812280" y="1307592"/>
            <a:ext cx="987552" cy="228600"/>
          </a:xfrm>
          <a:prstGeom prst="roundRect">
            <a:avLst/>
          </a:prstGeom>
          <a:solidFill>
            <a:srgbClr val="FFF7E5"/>
          </a:solidFill>
          <a:ln>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76288" y="1330451"/>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CA922B"/>
                </a:solidFill>
                <a:latin typeface="Aptos"/>
              </a:defRPr>
            </a:pPr>
            <a:r>
              <a:t>PLANNING</a:t>
            </a:r>
          </a:p>
        </p:txBody>
      </p:sp>
      <p:sp>
        <p:nvSpPr>
          <p:cNvPr id="18" name="Rounded Rectangle 17"/>
          <p:cNvSpPr/>
          <p:nvPr/>
        </p:nvSpPr>
        <p:spPr>
          <a:xfrm>
            <a:off x="8229600" y="1170432"/>
            <a:ext cx="3493008" cy="443484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170432"/>
            <a:ext cx="73152" cy="4434840"/>
          </a:xfrm>
          <a:prstGeom prst="rect">
            <a:avLst/>
          </a:prstGeom>
          <a:solidFill>
            <a:srgbClr val="235F98"/>
          </a:solidFill>
          <a:ln>
            <a:solidFill>
              <a:srgbClr val="235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0768" y="1316736"/>
            <a:ext cx="3163824"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LOCAL INPUTS (OPTIONAL)</a:t>
            </a:r>
          </a:p>
        </p:txBody>
      </p:sp>
      <p:sp>
        <p:nvSpPr>
          <p:cNvPr id="21" name="TextBox 20"/>
          <p:cNvSpPr txBox="1"/>
          <p:nvPr/>
        </p:nvSpPr>
        <p:spPr>
          <a:xfrm>
            <a:off x="8430768" y="1673352"/>
            <a:ext cx="3145536" cy="3840479"/>
          </a:xfrm>
          <a:prstGeom prst="rect">
            <a:avLst/>
          </a:prstGeom>
          <a:noFill/>
        </p:spPr>
        <p:txBody>
          <a:bodyPr wrap="square" lIns="45720" rIns="45720" anchor="t">
            <a:spAutoFit/>
          </a:bodyPr>
          <a:lstStyle/>
          <a:p>
            <a:pPr algn="l">
              <a:spcBef>
                <a:spcPts val="0"/>
              </a:spcBef>
              <a:spcAft>
                <a:spcPts val="0"/>
              </a:spcAft>
              <a:defRPr sz="1040" b="0">
                <a:solidFill>
                  <a:srgbClr val="222B35"/>
                </a:solidFill>
                <a:latin typeface="Aptos"/>
              </a:defRPr>
            </a:pPr>
            <a:r>
              <a:t>Visitor/day: [planning assumption]</a:t>
            </a:r>
          </a:p>
          <a:p>
            <a:pPr algn="l">
              <a:spcBef>
                <a:spcPts val="0"/>
              </a:spcBef>
              <a:spcAft>
                <a:spcPts val="0"/>
              </a:spcAft>
              <a:defRPr sz="1040" b="0">
                <a:solidFill>
                  <a:srgbClr val="222B35"/>
                </a:solidFill>
                <a:latin typeface="Aptos"/>
              </a:defRPr>
            </a:pPr>
            <a:r>
              <a:t>Executive/day: [planning assumption]</a:t>
            </a:r>
          </a:p>
          <a:p>
            <a:pPr algn="l">
              <a:spcBef>
                <a:spcPts val="0"/>
              </a:spcBef>
              <a:spcAft>
                <a:spcPts val="0"/>
              </a:spcAft>
              <a:defRPr sz="1040" b="0">
                <a:solidFill>
                  <a:srgbClr val="222B35"/>
                </a:solidFill>
                <a:latin typeface="Aptos"/>
              </a:defRPr>
            </a:pPr>
            <a:r>
              <a:t>Service provider/day: [planning assumption]</a:t>
            </a:r>
          </a:p>
          <a:p>
            <a:pPr algn="l">
              <a:spcBef>
                <a:spcPts val="0"/>
              </a:spcBef>
              <a:spcAft>
                <a:spcPts val="0"/>
              </a:spcAft>
              <a:defRPr sz="1040" b="0">
                <a:solidFill>
                  <a:srgbClr val="222B35"/>
                </a:solidFill>
                <a:latin typeface="Aptos"/>
              </a:defRPr>
            </a:pPr>
          </a:p>
          <a:p>
            <a:pPr algn="l">
              <a:spcBef>
                <a:spcPts val="0"/>
              </a:spcBef>
              <a:spcAft>
                <a:spcPts val="0"/>
              </a:spcAft>
              <a:defRPr sz="1040" b="0">
                <a:solidFill>
                  <a:srgbClr val="222B35"/>
                </a:solidFill>
                <a:latin typeface="Aptos"/>
              </a:defRPr>
            </a:pPr>
            <a:r>
              <a:t>No non-employee volumes are included in the employee model because none were supplied. If populated, label each input as an assumption and add each person once to the applicable daily total—do not apply employee credential failure rates to them unless locally justified.</a:t>
            </a:r>
          </a:p>
        </p:txBody>
      </p:sp>
      <p:sp>
        <p:nvSpPr>
          <p:cNvPr id="22" name="Rounded Rectangle 21"/>
          <p:cNvSpPr/>
          <p:nvPr/>
        </p:nvSpPr>
        <p:spPr>
          <a:xfrm>
            <a:off x="10533888" y="1307592"/>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330451"/>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24" name="TextBox 23"/>
          <p:cNvSpPr txBox="1"/>
          <p:nvPr/>
        </p:nvSpPr>
        <p:spPr>
          <a:xfrm>
            <a:off x="502920" y="5888736"/>
            <a:ext cx="10698480" cy="292608"/>
          </a:xfrm>
          <a:prstGeom prst="rect">
            <a:avLst/>
          </a:prstGeom>
          <a:noFill/>
        </p:spPr>
        <p:txBody>
          <a:bodyPr wrap="square" lIns="45720" rIns="45720" anchor="t">
            <a:spAutoFit/>
          </a:bodyPr>
          <a:lstStyle/>
          <a:p>
            <a:pPr algn="l">
              <a:spcBef>
                <a:spcPts val="0"/>
              </a:spcBef>
              <a:spcAft>
                <a:spcPts val="0"/>
              </a:spcAft>
              <a:defRPr sz="1040" b="0">
                <a:solidFill>
                  <a:srgbClr val="5C6A78"/>
                </a:solidFill>
                <a:latin typeface="Aptos"/>
              </a:defRPr>
            </a:pPr>
            <a:r>
              <a:t>Interpretation: lower mobile adoption increases the physical-card route; higher setup failure increases routine credential-help interactions among mobile attempts. These cases show possible pressure points only.</a:t>
            </a:r>
          </a:p>
        </p:txBody>
      </p:sp>
      <p:sp>
        <p:nvSpPr>
          <p:cNvPr id="25" name="Rectangle 24"/>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Editable template • replace bracketed fields before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Daily scenario output — 48 scheduled employee arrivals</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07</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All values are alternative planning cases per day. Expected interaction values are rounded to one decimal.</a:t>
            </a:r>
          </a:p>
        </p:txBody>
      </p:sp>
      <p:sp>
        <p:nvSpPr>
          <p:cNvPr id="6" name="Rectangle 5"/>
          <p:cNvSpPr/>
          <p:nvPr/>
        </p:nvSpPr>
        <p:spPr>
          <a:xfrm>
            <a:off x="475488" y="1298448"/>
            <a:ext cx="1078992"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 y="1330451"/>
            <a:ext cx="978407"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Mobile</a:t>
            </a:r>
          </a:p>
          <a:p>
            <a:pPr algn="ctr">
              <a:spcBef>
                <a:spcPts val="0"/>
              </a:spcBef>
              <a:spcAft>
                <a:spcPts val="0"/>
              </a:spcAft>
              <a:defRPr sz="950" b="1">
                <a:solidFill>
                  <a:srgbClr val="FFFFFF"/>
                </a:solidFill>
                <a:latin typeface="Aptos"/>
              </a:defRPr>
            </a:pPr>
            <a:r>
              <a:t>adoption</a:t>
            </a:r>
          </a:p>
        </p:txBody>
      </p:sp>
      <p:sp>
        <p:nvSpPr>
          <p:cNvPr id="8" name="Rectangle 7"/>
          <p:cNvSpPr/>
          <p:nvPr/>
        </p:nvSpPr>
        <p:spPr>
          <a:xfrm>
            <a:off x="1554480" y="1298448"/>
            <a:ext cx="1024128"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4772" y="1330451"/>
            <a:ext cx="923544"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Setup</a:t>
            </a:r>
          </a:p>
          <a:p>
            <a:pPr algn="ctr">
              <a:spcBef>
                <a:spcPts val="0"/>
              </a:spcBef>
              <a:spcAft>
                <a:spcPts val="0"/>
              </a:spcAft>
              <a:defRPr sz="950" b="1">
                <a:solidFill>
                  <a:srgbClr val="FFFFFF"/>
                </a:solidFill>
                <a:latin typeface="Aptos"/>
              </a:defRPr>
            </a:pPr>
            <a:r>
              <a:t>failure</a:t>
            </a:r>
          </a:p>
        </p:txBody>
      </p:sp>
      <p:sp>
        <p:nvSpPr>
          <p:cNvPr id="10" name="Rectangle 9"/>
          <p:cNvSpPr/>
          <p:nvPr/>
        </p:nvSpPr>
        <p:spPr>
          <a:xfrm>
            <a:off x="2578608" y="1298448"/>
            <a:ext cx="1325880"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28900" y="1330451"/>
            <a:ext cx="1225295"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Scheduled</a:t>
            </a:r>
          </a:p>
          <a:p>
            <a:pPr algn="ctr">
              <a:spcBef>
                <a:spcPts val="0"/>
              </a:spcBef>
              <a:spcAft>
                <a:spcPts val="0"/>
              </a:spcAft>
              <a:defRPr sz="950" b="1">
                <a:solidFill>
                  <a:srgbClr val="FFFFFF"/>
                </a:solidFill>
                <a:latin typeface="Aptos"/>
              </a:defRPr>
            </a:pPr>
            <a:r>
              <a:t>employees</a:t>
            </a:r>
          </a:p>
        </p:txBody>
      </p:sp>
      <p:sp>
        <p:nvSpPr>
          <p:cNvPr id="12" name="Rectangle 11"/>
          <p:cNvSpPr/>
          <p:nvPr/>
        </p:nvSpPr>
        <p:spPr>
          <a:xfrm>
            <a:off x="3904488" y="1298448"/>
            <a:ext cx="1481328"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4780" y="1330451"/>
            <a:ext cx="1380744"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Mobile setup</a:t>
            </a:r>
          </a:p>
          <a:p>
            <a:pPr algn="ctr">
              <a:spcBef>
                <a:spcPts val="0"/>
              </a:spcBef>
              <a:spcAft>
                <a:spcPts val="0"/>
              </a:spcAft>
              <a:defRPr sz="950" b="1">
                <a:solidFill>
                  <a:srgbClr val="FFFFFF"/>
                </a:solidFill>
                <a:latin typeface="Aptos"/>
              </a:defRPr>
            </a:pPr>
            <a:r>
              <a:t>attempts</a:t>
            </a:r>
          </a:p>
        </p:txBody>
      </p:sp>
      <p:sp>
        <p:nvSpPr>
          <p:cNvPr id="14" name="Rectangle 13"/>
          <p:cNvSpPr/>
          <p:nvPr/>
        </p:nvSpPr>
        <p:spPr>
          <a:xfrm>
            <a:off x="5385816" y="1298448"/>
            <a:ext cx="1408176"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36108" y="1330451"/>
            <a:ext cx="1307592"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Physical-card</a:t>
            </a:r>
          </a:p>
          <a:p>
            <a:pPr algn="ctr">
              <a:spcBef>
                <a:spcPts val="0"/>
              </a:spcBef>
              <a:spcAft>
                <a:spcPts val="0"/>
              </a:spcAft>
              <a:defRPr sz="950" b="1">
                <a:solidFill>
                  <a:srgbClr val="FFFFFF"/>
                </a:solidFill>
                <a:latin typeface="Aptos"/>
              </a:defRPr>
            </a:pPr>
            <a:r>
              <a:t>route</a:t>
            </a:r>
          </a:p>
        </p:txBody>
      </p:sp>
      <p:sp>
        <p:nvSpPr>
          <p:cNvPr id="16" name="Rectangle 15"/>
          <p:cNvSpPr/>
          <p:nvPr/>
        </p:nvSpPr>
        <p:spPr>
          <a:xfrm>
            <a:off x="6793992" y="1298448"/>
            <a:ext cx="1417320"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44284" y="1330451"/>
            <a:ext cx="1316736"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Routine failed</a:t>
            </a:r>
          </a:p>
          <a:p>
            <a:pPr algn="ctr">
              <a:spcBef>
                <a:spcPts val="0"/>
              </a:spcBef>
              <a:spcAft>
                <a:spcPts val="0"/>
              </a:spcAft>
              <a:defRPr sz="950" b="1">
                <a:solidFill>
                  <a:srgbClr val="FFFFFF"/>
                </a:solidFill>
                <a:latin typeface="Aptos"/>
              </a:defRPr>
            </a:pPr>
            <a:r>
              <a:t>setups</a:t>
            </a:r>
          </a:p>
        </p:txBody>
      </p:sp>
      <p:sp>
        <p:nvSpPr>
          <p:cNvPr id="18" name="Rectangle 17"/>
          <p:cNvSpPr/>
          <p:nvPr/>
        </p:nvSpPr>
        <p:spPr>
          <a:xfrm>
            <a:off x="8211312" y="1298448"/>
            <a:ext cx="1847088" cy="512064"/>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1604" y="1330451"/>
            <a:ext cx="1746504" cy="457200"/>
          </a:xfrm>
          <a:prstGeom prst="rect">
            <a:avLst/>
          </a:prstGeom>
          <a:noFill/>
        </p:spPr>
        <p:txBody>
          <a:bodyPr wrap="square" lIns="0" rIns="0" tIns="0" bIns="0" anchor="ctr">
            <a:spAutoFit/>
          </a:bodyPr>
          <a:lstStyle/>
          <a:p>
            <a:pPr algn="ctr">
              <a:spcBef>
                <a:spcPts val="0"/>
              </a:spcBef>
              <a:spcAft>
                <a:spcPts val="0"/>
              </a:spcAft>
              <a:defRPr sz="950" b="1">
                <a:solidFill>
                  <a:srgbClr val="FFFFFF"/>
                </a:solidFill>
                <a:latin typeface="Aptos"/>
              </a:defRPr>
            </a:pPr>
            <a:r>
              <a:t>Credential</a:t>
            </a:r>
          </a:p>
          <a:p>
            <a:pPr algn="ctr">
              <a:spcBef>
                <a:spcPts val="0"/>
              </a:spcBef>
              <a:spcAft>
                <a:spcPts val="0"/>
              </a:spcAft>
              <a:defRPr sz="950" b="1">
                <a:solidFill>
                  <a:srgbClr val="FFFFFF"/>
                </a:solidFill>
                <a:latin typeface="Aptos"/>
              </a:defRPr>
            </a:pPr>
            <a:r>
              <a:t>attention cases*</a:t>
            </a:r>
          </a:p>
        </p:txBody>
      </p:sp>
      <p:sp>
        <p:nvSpPr>
          <p:cNvPr id="20" name="Rectangle 19"/>
          <p:cNvSpPr/>
          <p:nvPr/>
        </p:nvSpPr>
        <p:spPr>
          <a:xfrm>
            <a:off x="475488" y="1810512"/>
            <a:ext cx="1078992"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 y="1842516"/>
            <a:ext cx="978407"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60%</a:t>
            </a:r>
          </a:p>
        </p:txBody>
      </p:sp>
      <p:sp>
        <p:nvSpPr>
          <p:cNvPr id="22" name="Rectangle 21"/>
          <p:cNvSpPr/>
          <p:nvPr/>
        </p:nvSpPr>
        <p:spPr>
          <a:xfrm>
            <a:off x="1554480" y="1810512"/>
            <a:ext cx="102412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04772" y="1842516"/>
            <a:ext cx="9235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5%</a:t>
            </a:r>
          </a:p>
        </p:txBody>
      </p:sp>
      <p:sp>
        <p:nvSpPr>
          <p:cNvPr id="24" name="Rectangle 23"/>
          <p:cNvSpPr/>
          <p:nvPr/>
        </p:nvSpPr>
        <p:spPr>
          <a:xfrm>
            <a:off x="2578608" y="1810512"/>
            <a:ext cx="1325880"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28900" y="1842516"/>
            <a:ext cx="1225295"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26" name="Rectangle 25"/>
          <p:cNvSpPr/>
          <p:nvPr/>
        </p:nvSpPr>
        <p:spPr>
          <a:xfrm>
            <a:off x="3904488" y="1810512"/>
            <a:ext cx="148132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54780" y="1842516"/>
            <a:ext cx="13807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28.8</a:t>
            </a:r>
          </a:p>
        </p:txBody>
      </p:sp>
      <p:sp>
        <p:nvSpPr>
          <p:cNvPr id="28" name="Rectangle 27"/>
          <p:cNvSpPr/>
          <p:nvPr/>
        </p:nvSpPr>
        <p:spPr>
          <a:xfrm>
            <a:off x="5385816" y="1810512"/>
            <a:ext cx="1408176"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36108" y="1842516"/>
            <a:ext cx="1307592"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19.2</a:t>
            </a:r>
          </a:p>
        </p:txBody>
      </p:sp>
      <p:sp>
        <p:nvSpPr>
          <p:cNvPr id="30" name="Rectangle 29"/>
          <p:cNvSpPr/>
          <p:nvPr/>
        </p:nvSpPr>
        <p:spPr>
          <a:xfrm>
            <a:off x="6793992" y="1810512"/>
            <a:ext cx="1417320"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44284" y="1842516"/>
            <a:ext cx="1316736"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1.4</a:t>
            </a:r>
          </a:p>
        </p:txBody>
      </p:sp>
      <p:sp>
        <p:nvSpPr>
          <p:cNvPr id="32" name="Rectangle 31"/>
          <p:cNvSpPr/>
          <p:nvPr/>
        </p:nvSpPr>
        <p:spPr>
          <a:xfrm>
            <a:off x="8211312" y="1810512"/>
            <a:ext cx="184708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61604" y="1842516"/>
            <a:ext cx="174650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20.6</a:t>
            </a:r>
          </a:p>
        </p:txBody>
      </p:sp>
      <p:sp>
        <p:nvSpPr>
          <p:cNvPr id="34" name="Rectangle 33"/>
          <p:cNvSpPr/>
          <p:nvPr/>
        </p:nvSpPr>
        <p:spPr>
          <a:xfrm>
            <a:off x="475488" y="2295144"/>
            <a:ext cx="1078992"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5780" y="2327148"/>
            <a:ext cx="978407"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60%</a:t>
            </a:r>
          </a:p>
        </p:txBody>
      </p:sp>
      <p:sp>
        <p:nvSpPr>
          <p:cNvPr id="36" name="Rectangle 35"/>
          <p:cNvSpPr/>
          <p:nvPr/>
        </p:nvSpPr>
        <p:spPr>
          <a:xfrm>
            <a:off x="1554480" y="2295144"/>
            <a:ext cx="102412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04772" y="2327148"/>
            <a:ext cx="9235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15%</a:t>
            </a:r>
          </a:p>
        </p:txBody>
      </p:sp>
      <p:sp>
        <p:nvSpPr>
          <p:cNvPr id="38" name="Rectangle 37"/>
          <p:cNvSpPr/>
          <p:nvPr/>
        </p:nvSpPr>
        <p:spPr>
          <a:xfrm>
            <a:off x="2578608" y="2295144"/>
            <a:ext cx="1325880"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28900" y="2327148"/>
            <a:ext cx="1225295"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40" name="Rectangle 39"/>
          <p:cNvSpPr/>
          <p:nvPr/>
        </p:nvSpPr>
        <p:spPr>
          <a:xfrm>
            <a:off x="3904488" y="2295144"/>
            <a:ext cx="148132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54780" y="2327148"/>
            <a:ext cx="13807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28.8</a:t>
            </a:r>
          </a:p>
        </p:txBody>
      </p:sp>
      <p:sp>
        <p:nvSpPr>
          <p:cNvPr id="42" name="Rectangle 41"/>
          <p:cNvSpPr/>
          <p:nvPr/>
        </p:nvSpPr>
        <p:spPr>
          <a:xfrm>
            <a:off x="5385816" y="2295144"/>
            <a:ext cx="1408176"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36108" y="2327148"/>
            <a:ext cx="1307592"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19.2</a:t>
            </a:r>
          </a:p>
        </p:txBody>
      </p:sp>
      <p:sp>
        <p:nvSpPr>
          <p:cNvPr id="44" name="Rectangle 43"/>
          <p:cNvSpPr/>
          <p:nvPr/>
        </p:nvSpPr>
        <p:spPr>
          <a:xfrm>
            <a:off x="6793992" y="2295144"/>
            <a:ext cx="1417320"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44284" y="2327148"/>
            <a:ext cx="1316736"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4.3</a:t>
            </a:r>
          </a:p>
        </p:txBody>
      </p:sp>
      <p:sp>
        <p:nvSpPr>
          <p:cNvPr id="46" name="Rectangle 45"/>
          <p:cNvSpPr/>
          <p:nvPr/>
        </p:nvSpPr>
        <p:spPr>
          <a:xfrm>
            <a:off x="8211312" y="2295144"/>
            <a:ext cx="184708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61604" y="2327148"/>
            <a:ext cx="174650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23.5</a:t>
            </a:r>
          </a:p>
        </p:txBody>
      </p:sp>
      <p:sp>
        <p:nvSpPr>
          <p:cNvPr id="48" name="Rectangle 47"/>
          <p:cNvSpPr/>
          <p:nvPr/>
        </p:nvSpPr>
        <p:spPr>
          <a:xfrm>
            <a:off x="475488" y="2779776"/>
            <a:ext cx="1078992"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5780" y="2811780"/>
            <a:ext cx="978407"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85%</a:t>
            </a:r>
          </a:p>
        </p:txBody>
      </p:sp>
      <p:sp>
        <p:nvSpPr>
          <p:cNvPr id="50" name="Rectangle 49"/>
          <p:cNvSpPr/>
          <p:nvPr/>
        </p:nvSpPr>
        <p:spPr>
          <a:xfrm>
            <a:off x="1554480" y="2779776"/>
            <a:ext cx="102412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04772" y="2811780"/>
            <a:ext cx="9235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5%</a:t>
            </a:r>
          </a:p>
        </p:txBody>
      </p:sp>
      <p:sp>
        <p:nvSpPr>
          <p:cNvPr id="52" name="Rectangle 51"/>
          <p:cNvSpPr/>
          <p:nvPr/>
        </p:nvSpPr>
        <p:spPr>
          <a:xfrm>
            <a:off x="2578608" y="2779776"/>
            <a:ext cx="1325880"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28900" y="2811780"/>
            <a:ext cx="1225295"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54" name="Rectangle 53"/>
          <p:cNvSpPr/>
          <p:nvPr/>
        </p:nvSpPr>
        <p:spPr>
          <a:xfrm>
            <a:off x="3904488" y="2779776"/>
            <a:ext cx="148132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54780" y="2811780"/>
            <a:ext cx="13807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40.8</a:t>
            </a:r>
          </a:p>
        </p:txBody>
      </p:sp>
      <p:sp>
        <p:nvSpPr>
          <p:cNvPr id="56" name="Rectangle 55"/>
          <p:cNvSpPr/>
          <p:nvPr/>
        </p:nvSpPr>
        <p:spPr>
          <a:xfrm>
            <a:off x="5385816" y="2779776"/>
            <a:ext cx="1408176"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36108" y="2811780"/>
            <a:ext cx="1307592"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7.2</a:t>
            </a:r>
          </a:p>
        </p:txBody>
      </p:sp>
      <p:sp>
        <p:nvSpPr>
          <p:cNvPr id="58" name="Rectangle 57"/>
          <p:cNvSpPr/>
          <p:nvPr/>
        </p:nvSpPr>
        <p:spPr>
          <a:xfrm>
            <a:off x="6793992" y="2779776"/>
            <a:ext cx="1417320"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44284" y="2811780"/>
            <a:ext cx="1316736"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2.0</a:t>
            </a:r>
          </a:p>
        </p:txBody>
      </p:sp>
      <p:sp>
        <p:nvSpPr>
          <p:cNvPr id="60" name="Rectangle 59"/>
          <p:cNvSpPr/>
          <p:nvPr/>
        </p:nvSpPr>
        <p:spPr>
          <a:xfrm>
            <a:off x="8211312" y="2779776"/>
            <a:ext cx="184708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61604" y="2811780"/>
            <a:ext cx="174650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9.2</a:t>
            </a:r>
          </a:p>
        </p:txBody>
      </p:sp>
      <p:sp>
        <p:nvSpPr>
          <p:cNvPr id="62" name="Rectangle 61"/>
          <p:cNvSpPr/>
          <p:nvPr/>
        </p:nvSpPr>
        <p:spPr>
          <a:xfrm>
            <a:off x="475488" y="3264408"/>
            <a:ext cx="1078992"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25780" y="3296412"/>
            <a:ext cx="978407"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85%</a:t>
            </a:r>
          </a:p>
        </p:txBody>
      </p:sp>
      <p:sp>
        <p:nvSpPr>
          <p:cNvPr id="64" name="Rectangle 63"/>
          <p:cNvSpPr/>
          <p:nvPr/>
        </p:nvSpPr>
        <p:spPr>
          <a:xfrm>
            <a:off x="1554480" y="3264408"/>
            <a:ext cx="102412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604772" y="3296412"/>
            <a:ext cx="9235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15%</a:t>
            </a:r>
          </a:p>
        </p:txBody>
      </p:sp>
      <p:sp>
        <p:nvSpPr>
          <p:cNvPr id="66" name="Rectangle 65"/>
          <p:cNvSpPr/>
          <p:nvPr/>
        </p:nvSpPr>
        <p:spPr>
          <a:xfrm>
            <a:off x="2578608" y="3264408"/>
            <a:ext cx="1325880"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628900" y="3296412"/>
            <a:ext cx="1225295"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68" name="Rectangle 67"/>
          <p:cNvSpPr/>
          <p:nvPr/>
        </p:nvSpPr>
        <p:spPr>
          <a:xfrm>
            <a:off x="3904488" y="3264408"/>
            <a:ext cx="148132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954780" y="3296412"/>
            <a:ext cx="13807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40.8</a:t>
            </a:r>
          </a:p>
        </p:txBody>
      </p:sp>
      <p:sp>
        <p:nvSpPr>
          <p:cNvPr id="70" name="Rectangle 69"/>
          <p:cNvSpPr/>
          <p:nvPr/>
        </p:nvSpPr>
        <p:spPr>
          <a:xfrm>
            <a:off x="5385816" y="3264408"/>
            <a:ext cx="1408176"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436108" y="3296412"/>
            <a:ext cx="1307592"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7.2</a:t>
            </a:r>
          </a:p>
        </p:txBody>
      </p:sp>
      <p:sp>
        <p:nvSpPr>
          <p:cNvPr id="72" name="Rectangle 71"/>
          <p:cNvSpPr/>
          <p:nvPr/>
        </p:nvSpPr>
        <p:spPr>
          <a:xfrm>
            <a:off x="6793992" y="3264408"/>
            <a:ext cx="1417320"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44284" y="3296412"/>
            <a:ext cx="1316736"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6.1</a:t>
            </a:r>
          </a:p>
        </p:txBody>
      </p:sp>
      <p:sp>
        <p:nvSpPr>
          <p:cNvPr id="74" name="Rectangle 73"/>
          <p:cNvSpPr/>
          <p:nvPr/>
        </p:nvSpPr>
        <p:spPr>
          <a:xfrm>
            <a:off x="8211312" y="3264408"/>
            <a:ext cx="184708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261604" y="3296412"/>
            <a:ext cx="174650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13.3</a:t>
            </a:r>
          </a:p>
        </p:txBody>
      </p:sp>
      <p:sp>
        <p:nvSpPr>
          <p:cNvPr id="76" name="Rectangle 75"/>
          <p:cNvSpPr/>
          <p:nvPr/>
        </p:nvSpPr>
        <p:spPr>
          <a:xfrm>
            <a:off x="475488" y="3749040"/>
            <a:ext cx="1078992"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25780" y="3781044"/>
            <a:ext cx="978407"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100%</a:t>
            </a:r>
          </a:p>
        </p:txBody>
      </p:sp>
      <p:sp>
        <p:nvSpPr>
          <p:cNvPr id="78" name="Rectangle 77"/>
          <p:cNvSpPr/>
          <p:nvPr/>
        </p:nvSpPr>
        <p:spPr>
          <a:xfrm>
            <a:off x="1554480" y="3749040"/>
            <a:ext cx="102412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604772" y="3781044"/>
            <a:ext cx="9235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5%</a:t>
            </a:r>
          </a:p>
        </p:txBody>
      </p:sp>
      <p:sp>
        <p:nvSpPr>
          <p:cNvPr id="80" name="Rectangle 79"/>
          <p:cNvSpPr/>
          <p:nvPr/>
        </p:nvSpPr>
        <p:spPr>
          <a:xfrm>
            <a:off x="2578608" y="3749040"/>
            <a:ext cx="1325880"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28900" y="3781044"/>
            <a:ext cx="1225295"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82" name="Rectangle 81"/>
          <p:cNvSpPr/>
          <p:nvPr/>
        </p:nvSpPr>
        <p:spPr>
          <a:xfrm>
            <a:off x="3904488" y="3749040"/>
            <a:ext cx="148132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954780" y="3781044"/>
            <a:ext cx="13807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84" name="Rectangle 83"/>
          <p:cNvSpPr/>
          <p:nvPr/>
        </p:nvSpPr>
        <p:spPr>
          <a:xfrm>
            <a:off x="5385816" y="3749040"/>
            <a:ext cx="1408176"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36108" y="3781044"/>
            <a:ext cx="1307592"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0.0</a:t>
            </a:r>
          </a:p>
        </p:txBody>
      </p:sp>
      <p:sp>
        <p:nvSpPr>
          <p:cNvPr id="86" name="Rectangle 85"/>
          <p:cNvSpPr/>
          <p:nvPr/>
        </p:nvSpPr>
        <p:spPr>
          <a:xfrm>
            <a:off x="6793992" y="3749040"/>
            <a:ext cx="1417320"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844284" y="3781044"/>
            <a:ext cx="1316736"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2.4</a:t>
            </a:r>
          </a:p>
        </p:txBody>
      </p:sp>
      <p:sp>
        <p:nvSpPr>
          <p:cNvPr id="88" name="Rectangle 87"/>
          <p:cNvSpPr/>
          <p:nvPr/>
        </p:nvSpPr>
        <p:spPr>
          <a:xfrm>
            <a:off x="8211312" y="3749040"/>
            <a:ext cx="1847088" cy="484632"/>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261604" y="3781044"/>
            <a:ext cx="174650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2.4</a:t>
            </a:r>
          </a:p>
        </p:txBody>
      </p:sp>
      <p:sp>
        <p:nvSpPr>
          <p:cNvPr id="90" name="Rectangle 89"/>
          <p:cNvSpPr/>
          <p:nvPr/>
        </p:nvSpPr>
        <p:spPr>
          <a:xfrm>
            <a:off x="475488" y="4233672"/>
            <a:ext cx="1078992"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25780" y="4265676"/>
            <a:ext cx="978407"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100%</a:t>
            </a:r>
          </a:p>
        </p:txBody>
      </p:sp>
      <p:sp>
        <p:nvSpPr>
          <p:cNvPr id="92" name="Rectangle 91"/>
          <p:cNvSpPr/>
          <p:nvPr/>
        </p:nvSpPr>
        <p:spPr>
          <a:xfrm>
            <a:off x="1554480" y="4233672"/>
            <a:ext cx="102412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604772" y="4265676"/>
            <a:ext cx="9235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15%</a:t>
            </a:r>
          </a:p>
        </p:txBody>
      </p:sp>
      <p:sp>
        <p:nvSpPr>
          <p:cNvPr id="94" name="Rectangle 93"/>
          <p:cNvSpPr/>
          <p:nvPr/>
        </p:nvSpPr>
        <p:spPr>
          <a:xfrm>
            <a:off x="2578608" y="4233672"/>
            <a:ext cx="1325880"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28900" y="4265676"/>
            <a:ext cx="1225295"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96" name="Rectangle 95"/>
          <p:cNvSpPr/>
          <p:nvPr/>
        </p:nvSpPr>
        <p:spPr>
          <a:xfrm>
            <a:off x="3904488" y="4233672"/>
            <a:ext cx="148132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954780" y="4265676"/>
            <a:ext cx="138074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48.0</a:t>
            </a:r>
          </a:p>
        </p:txBody>
      </p:sp>
      <p:sp>
        <p:nvSpPr>
          <p:cNvPr id="98" name="Rectangle 97"/>
          <p:cNvSpPr/>
          <p:nvPr/>
        </p:nvSpPr>
        <p:spPr>
          <a:xfrm>
            <a:off x="5385816" y="4233672"/>
            <a:ext cx="1408176"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436108" y="4265676"/>
            <a:ext cx="1307592"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0.0</a:t>
            </a:r>
          </a:p>
        </p:txBody>
      </p:sp>
      <p:sp>
        <p:nvSpPr>
          <p:cNvPr id="100" name="Rectangle 99"/>
          <p:cNvSpPr/>
          <p:nvPr/>
        </p:nvSpPr>
        <p:spPr>
          <a:xfrm>
            <a:off x="6793992" y="4233672"/>
            <a:ext cx="1417320"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844284" y="4265676"/>
            <a:ext cx="1316736"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7.2</a:t>
            </a:r>
          </a:p>
        </p:txBody>
      </p:sp>
      <p:sp>
        <p:nvSpPr>
          <p:cNvPr id="102" name="Rectangle 101"/>
          <p:cNvSpPr/>
          <p:nvPr/>
        </p:nvSpPr>
        <p:spPr>
          <a:xfrm>
            <a:off x="8211312" y="4233672"/>
            <a:ext cx="1847088" cy="484632"/>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261604" y="4265676"/>
            <a:ext cx="1746504" cy="429768"/>
          </a:xfrm>
          <a:prstGeom prst="rect">
            <a:avLst/>
          </a:prstGeom>
          <a:noFill/>
        </p:spPr>
        <p:txBody>
          <a:bodyPr wrap="square" lIns="0" rIns="0" tIns="0" bIns="0" anchor="ctr">
            <a:spAutoFit/>
          </a:bodyPr>
          <a:lstStyle/>
          <a:p>
            <a:pPr algn="ctr">
              <a:spcBef>
                <a:spcPts val="0"/>
              </a:spcBef>
              <a:spcAft>
                <a:spcPts val="0"/>
              </a:spcAft>
              <a:defRPr sz="950" b="0">
                <a:solidFill>
                  <a:srgbClr val="222B35"/>
                </a:solidFill>
                <a:latin typeface="Aptos"/>
              </a:defRPr>
            </a:pPr>
            <a:r>
              <a:t>7.2</a:t>
            </a:r>
          </a:p>
        </p:txBody>
      </p:sp>
      <p:sp>
        <p:nvSpPr>
          <p:cNvPr id="104" name="Rounded Rectangle 103"/>
          <p:cNvSpPr/>
          <p:nvPr/>
        </p:nvSpPr>
        <p:spPr>
          <a:xfrm>
            <a:off x="9372600" y="1280160"/>
            <a:ext cx="2340864" cy="3419856"/>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372600" y="1280160"/>
            <a:ext cx="73152" cy="3419856"/>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573768" y="1426463"/>
            <a:ext cx="2011680"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READ THE OUTPUT</a:t>
            </a:r>
          </a:p>
        </p:txBody>
      </p:sp>
      <p:sp>
        <p:nvSpPr>
          <p:cNvPr id="107" name="TextBox 106"/>
          <p:cNvSpPr txBox="1"/>
          <p:nvPr/>
        </p:nvSpPr>
        <p:spPr>
          <a:xfrm>
            <a:off x="9573768" y="1783080"/>
            <a:ext cx="1993392" cy="2825496"/>
          </a:xfrm>
          <a:prstGeom prst="rect">
            <a:avLst/>
          </a:prstGeom>
          <a:noFill/>
        </p:spPr>
        <p:txBody>
          <a:bodyPr wrap="square" lIns="45720" rIns="45720" anchor="t">
            <a:spAutoFit/>
          </a:bodyPr>
          <a:lstStyle/>
          <a:p>
            <a:pPr algn="l">
              <a:spcBef>
                <a:spcPts val="0"/>
              </a:spcBef>
              <a:spcAft>
                <a:spcPts val="0"/>
              </a:spcAft>
              <a:defRPr sz="969" b="0">
                <a:solidFill>
                  <a:srgbClr val="222B35"/>
                </a:solidFill>
                <a:latin typeface="Aptos"/>
              </a:defRPr>
            </a:pPr>
            <a:r>
              <a:t>48.0 is the total people in scope each day.</a:t>
            </a:r>
          </a:p>
          <a:p>
            <a:pPr algn="l">
              <a:spcBef>
                <a:spcPts val="0"/>
              </a:spcBef>
              <a:spcAft>
                <a:spcPts val="0"/>
              </a:spcAft>
              <a:defRPr sz="969" b="0">
                <a:solidFill>
                  <a:srgbClr val="222B35"/>
                </a:solidFill>
                <a:latin typeface="Aptos"/>
              </a:defRPr>
            </a:pPr>
          </a:p>
          <a:p>
            <a:pPr algn="l">
              <a:spcBef>
                <a:spcPts val="0"/>
              </a:spcBef>
              <a:spcAft>
                <a:spcPts val="0"/>
              </a:spcAft>
              <a:defRPr sz="969" b="0">
                <a:solidFill>
                  <a:srgbClr val="222B35"/>
                </a:solidFill>
                <a:latin typeface="Aptos"/>
              </a:defRPr>
            </a:pPr>
            <a:r>
              <a:t>Physical-card route and failed setup are planning workload components.</a:t>
            </a:r>
          </a:p>
          <a:p>
            <a:pPr algn="l">
              <a:spcBef>
                <a:spcPts val="0"/>
              </a:spcBef>
              <a:spcAft>
                <a:spcPts val="0"/>
              </a:spcAft>
              <a:defRPr sz="969" b="0">
                <a:solidFill>
                  <a:srgbClr val="222B35"/>
                </a:solidFill>
                <a:latin typeface="Aptos"/>
              </a:defRPr>
            </a:pPr>
          </a:p>
          <a:p>
            <a:pPr algn="l">
              <a:spcBef>
                <a:spcPts val="0"/>
              </a:spcBef>
              <a:spcAft>
                <a:spcPts val="0"/>
              </a:spcAft>
              <a:defRPr sz="969" b="0">
                <a:solidFill>
                  <a:srgbClr val="222B35"/>
                </a:solidFill>
                <a:latin typeface="Aptos"/>
              </a:defRPr>
            </a:pPr>
            <a:r>
              <a:t>*Attention cases = physical-card route + routine failed mobile setups. It is not a headcount and does not add people to 48.0.</a:t>
            </a:r>
          </a:p>
        </p:txBody>
      </p:sp>
      <p:sp>
        <p:nvSpPr>
          <p:cNvPr id="108" name="Rounded Rectangle 107"/>
          <p:cNvSpPr/>
          <p:nvPr/>
        </p:nvSpPr>
        <p:spPr>
          <a:xfrm>
            <a:off x="10524744" y="1417319"/>
            <a:ext cx="987552" cy="228600"/>
          </a:xfrm>
          <a:prstGeom prst="roundRect">
            <a:avLst/>
          </a:prstGeom>
          <a:solidFill>
            <a:srgbClr val="FFF7E5"/>
          </a:solidFill>
          <a:ln>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588752" y="1440179"/>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CA922B"/>
                </a:solidFill>
                <a:latin typeface="Aptos"/>
              </a:defRPr>
            </a:pPr>
            <a:r>
              <a:t>CASE</a:t>
            </a:r>
          </a:p>
        </p:txBody>
      </p:sp>
      <p:sp>
        <p:nvSpPr>
          <p:cNvPr id="110" name="Rounded Rectangle 109"/>
          <p:cNvSpPr/>
          <p:nvPr/>
        </p:nvSpPr>
        <p:spPr>
          <a:xfrm>
            <a:off x="502920" y="4892040"/>
            <a:ext cx="1325880" cy="228600"/>
          </a:xfrm>
          <a:prstGeom prst="roundRect">
            <a:avLst/>
          </a:prstGeom>
          <a:solidFill>
            <a:srgbClr val="FFF7E5"/>
          </a:solidFill>
          <a:ln>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66928" y="4914900"/>
            <a:ext cx="1197864" cy="164592"/>
          </a:xfrm>
          <a:prstGeom prst="rect">
            <a:avLst/>
          </a:prstGeom>
          <a:noFill/>
        </p:spPr>
        <p:txBody>
          <a:bodyPr wrap="square" lIns="0" rIns="0" tIns="0" bIns="0" anchor="t">
            <a:spAutoFit/>
          </a:bodyPr>
          <a:lstStyle/>
          <a:p>
            <a:pPr algn="l">
              <a:spcBef>
                <a:spcPts val="0"/>
              </a:spcBef>
              <a:spcAft>
                <a:spcPts val="0"/>
              </a:spcAft>
              <a:defRPr sz="730" b="1">
                <a:solidFill>
                  <a:srgbClr val="CA922B"/>
                </a:solidFill>
                <a:latin typeface="Aptos"/>
              </a:defRPr>
            </a:pPr>
            <a:r>
              <a:t>UNCERTAINTY VISIBLE</a:t>
            </a:r>
          </a:p>
        </p:txBody>
      </p:sp>
      <p:sp>
        <p:nvSpPr>
          <p:cNvPr id="112" name="TextBox 111"/>
          <p:cNvSpPr txBox="1"/>
          <p:nvPr/>
        </p:nvSpPr>
        <p:spPr>
          <a:xfrm>
            <a:off x="502920" y="5212080"/>
            <a:ext cx="8458200" cy="777240"/>
          </a:xfrm>
          <a:prstGeom prst="rect">
            <a:avLst/>
          </a:prstGeom>
          <a:noFill/>
        </p:spPr>
        <p:txBody>
          <a:bodyPr wrap="square" lIns="45720" rIns="45720" anchor="t">
            <a:spAutoFit/>
          </a:bodyPr>
          <a:lstStyle/>
          <a:p>
            <a:pPr algn="l">
              <a:spcBef>
                <a:spcPts val="0"/>
              </a:spcBef>
              <a:spcAft>
                <a:spcPts val="0"/>
              </a:spcAft>
              <a:defRPr sz="1200" b="0">
                <a:solidFill>
                  <a:srgbClr val="222B35"/>
                </a:solidFill>
                <a:latin typeface="Aptos"/>
              </a:defRPr>
            </a:pPr>
            <a:r>
              <a:t>Range in this model: 2.4 credential-attention cases/day (100% mobile, 5% failure) to 23.5/day (60% mobile, 15% failure). Use the range to discuss where arrival support may be needed; do not infer queue limits, staffing ratios, or service-time guarantees.</a:t>
            </a:r>
          </a:p>
        </p:txBody>
      </p:sp>
      <p:sp>
        <p:nvSpPr>
          <p:cNvPr id="113" name="Rectangle 112"/>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Daily planning cases • failure rate applies only to mobile setup attempts • no double-counting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Five-day planning view — keep people and workload separate</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08</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Even distribution is a planning assumption; replace it if the tenant supplies a confirmed arrival schedule.</a:t>
            </a:r>
          </a:p>
        </p:txBody>
      </p:sp>
      <p:sp>
        <p:nvSpPr>
          <p:cNvPr id="6" name="Rectangle 5"/>
          <p:cNvSpPr/>
          <p:nvPr/>
        </p:nvSpPr>
        <p:spPr>
          <a:xfrm>
            <a:off x="457200" y="1261872"/>
            <a:ext cx="1115568" cy="493776"/>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7492" y="1293875"/>
            <a:ext cx="1014983" cy="438912"/>
          </a:xfrm>
          <a:prstGeom prst="rect">
            <a:avLst/>
          </a:prstGeom>
          <a:noFill/>
        </p:spPr>
        <p:txBody>
          <a:bodyPr wrap="square" lIns="0" rIns="0" tIns="0" bIns="0" anchor="ctr">
            <a:spAutoFit/>
          </a:bodyPr>
          <a:lstStyle/>
          <a:p>
            <a:pPr algn="ctr">
              <a:spcBef>
                <a:spcPts val="0"/>
              </a:spcBef>
              <a:spcAft>
                <a:spcPts val="0"/>
              </a:spcAft>
              <a:defRPr sz="919" b="1">
                <a:solidFill>
                  <a:srgbClr val="FFFFFF"/>
                </a:solidFill>
                <a:latin typeface="Aptos"/>
              </a:defRPr>
            </a:pPr>
            <a:r>
              <a:t>Move day</a:t>
            </a:r>
          </a:p>
        </p:txBody>
      </p:sp>
      <p:sp>
        <p:nvSpPr>
          <p:cNvPr id="8" name="Rectangle 7"/>
          <p:cNvSpPr/>
          <p:nvPr/>
        </p:nvSpPr>
        <p:spPr>
          <a:xfrm>
            <a:off x="1572768" y="1261872"/>
            <a:ext cx="1847088" cy="493776"/>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23060" y="1293875"/>
            <a:ext cx="1746504" cy="438912"/>
          </a:xfrm>
          <a:prstGeom prst="rect">
            <a:avLst/>
          </a:prstGeom>
          <a:noFill/>
        </p:spPr>
        <p:txBody>
          <a:bodyPr wrap="square" lIns="0" rIns="0" tIns="0" bIns="0" anchor="ctr">
            <a:spAutoFit/>
          </a:bodyPr>
          <a:lstStyle/>
          <a:p>
            <a:pPr algn="ctr">
              <a:spcBef>
                <a:spcPts val="0"/>
              </a:spcBef>
              <a:spcAft>
                <a:spcPts val="0"/>
              </a:spcAft>
              <a:defRPr sz="919" b="1">
                <a:solidFill>
                  <a:srgbClr val="FFFFFF"/>
                </a:solidFill>
                <a:latin typeface="Aptos"/>
              </a:defRPr>
            </a:pPr>
            <a:r>
              <a:t>Scheduled employee arrivals</a:t>
            </a:r>
          </a:p>
        </p:txBody>
      </p:sp>
      <p:sp>
        <p:nvSpPr>
          <p:cNvPr id="10" name="Rectangle 9"/>
          <p:cNvSpPr/>
          <p:nvPr/>
        </p:nvSpPr>
        <p:spPr>
          <a:xfrm>
            <a:off x="3419856" y="1261872"/>
            <a:ext cx="2148840" cy="493776"/>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0148" y="1293875"/>
            <a:ext cx="2048256" cy="438912"/>
          </a:xfrm>
          <a:prstGeom prst="rect">
            <a:avLst/>
          </a:prstGeom>
          <a:noFill/>
        </p:spPr>
        <p:txBody>
          <a:bodyPr wrap="square" lIns="0" rIns="0" tIns="0" bIns="0" anchor="ctr">
            <a:spAutoFit/>
          </a:bodyPr>
          <a:lstStyle/>
          <a:p>
            <a:pPr algn="ctr">
              <a:spcBef>
                <a:spcPts val="0"/>
              </a:spcBef>
              <a:spcAft>
                <a:spcPts val="0"/>
              </a:spcAft>
              <a:defRPr sz="919" b="1">
                <a:solidFill>
                  <a:srgbClr val="FFFFFF"/>
                </a:solidFill>
                <a:latin typeface="Aptos"/>
              </a:defRPr>
            </a:pPr>
            <a:r>
              <a:t>Low attention case</a:t>
            </a:r>
          </a:p>
          <a:p>
            <a:pPr algn="ctr">
              <a:spcBef>
                <a:spcPts val="0"/>
              </a:spcBef>
              <a:spcAft>
                <a:spcPts val="0"/>
              </a:spcAft>
              <a:defRPr sz="919" b="1">
                <a:solidFill>
                  <a:srgbClr val="FFFFFF"/>
                </a:solidFill>
                <a:latin typeface="Aptos"/>
              </a:defRPr>
            </a:pPr>
            <a:r>
              <a:t>100% mobile / 5% failure</a:t>
            </a:r>
          </a:p>
        </p:txBody>
      </p:sp>
      <p:sp>
        <p:nvSpPr>
          <p:cNvPr id="12" name="Rectangle 11"/>
          <p:cNvSpPr/>
          <p:nvPr/>
        </p:nvSpPr>
        <p:spPr>
          <a:xfrm>
            <a:off x="5568696" y="1261872"/>
            <a:ext cx="2240280" cy="493776"/>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18988" y="1293875"/>
            <a:ext cx="2139696" cy="438912"/>
          </a:xfrm>
          <a:prstGeom prst="rect">
            <a:avLst/>
          </a:prstGeom>
          <a:noFill/>
        </p:spPr>
        <p:txBody>
          <a:bodyPr wrap="square" lIns="0" rIns="0" tIns="0" bIns="0" anchor="ctr">
            <a:spAutoFit/>
          </a:bodyPr>
          <a:lstStyle/>
          <a:p>
            <a:pPr algn="ctr">
              <a:spcBef>
                <a:spcPts val="0"/>
              </a:spcBef>
              <a:spcAft>
                <a:spcPts val="0"/>
              </a:spcAft>
              <a:defRPr sz="919" b="1">
                <a:solidFill>
                  <a:srgbClr val="FFFFFF"/>
                </a:solidFill>
                <a:latin typeface="Aptos"/>
              </a:defRPr>
            </a:pPr>
            <a:r>
              <a:t>High attention case</a:t>
            </a:r>
          </a:p>
          <a:p>
            <a:pPr algn="ctr">
              <a:spcBef>
                <a:spcPts val="0"/>
              </a:spcBef>
              <a:spcAft>
                <a:spcPts val="0"/>
              </a:spcAft>
              <a:defRPr sz="919" b="1">
                <a:solidFill>
                  <a:srgbClr val="FFFFFF"/>
                </a:solidFill>
                <a:latin typeface="Aptos"/>
              </a:defRPr>
            </a:pPr>
            <a:r>
              <a:t>60% mobile / 15% failure</a:t>
            </a:r>
          </a:p>
        </p:txBody>
      </p:sp>
      <p:sp>
        <p:nvSpPr>
          <p:cNvPr id="14" name="Rectangle 13"/>
          <p:cNvSpPr/>
          <p:nvPr/>
        </p:nvSpPr>
        <p:spPr>
          <a:xfrm>
            <a:off x="7808975" y="1261872"/>
            <a:ext cx="3877056" cy="493776"/>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59267" y="1293875"/>
            <a:ext cx="3776472" cy="438912"/>
          </a:xfrm>
          <a:prstGeom prst="rect">
            <a:avLst/>
          </a:prstGeom>
          <a:noFill/>
        </p:spPr>
        <p:txBody>
          <a:bodyPr wrap="square" lIns="0" rIns="0" tIns="0" bIns="0" anchor="ctr">
            <a:spAutoFit/>
          </a:bodyPr>
          <a:lstStyle/>
          <a:p>
            <a:pPr algn="ctr">
              <a:spcBef>
                <a:spcPts val="0"/>
              </a:spcBef>
              <a:spcAft>
                <a:spcPts val="0"/>
              </a:spcAft>
              <a:defRPr sz="919" b="1">
                <a:solidFill>
                  <a:srgbClr val="FFFFFF"/>
                </a:solidFill>
                <a:latin typeface="Aptos"/>
              </a:defRPr>
            </a:pPr>
            <a:r>
              <a:t>Non-employee overlay</a:t>
            </a:r>
          </a:p>
        </p:txBody>
      </p:sp>
      <p:sp>
        <p:nvSpPr>
          <p:cNvPr id="16" name="Rectangle 15"/>
          <p:cNvSpPr/>
          <p:nvPr/>
        </p:nvSpPr>
        <p:spPr>
          <a:xfrm>
            <a:off x="457200" y="1755648"/>
            <a:ext cx="1115568"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 y="1787651"/>
            <a:ext cx="1014983"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Day 1</a:t>
            </a:r>
          </a:p>
        </p:txBody>
      </p:sp>
      <p:sp>
        <p:nvSpPr>
          <p:cNvPr id="18" name="Rectangle 17"/>
          <p:cNvSpPr/>
          <p:nvPr/>
        </p:nvSpPr>
        <p:spPr>
          <a:xfrm>
            <a:off x="1572768" y="1755648"/>
            <a:ext cx="1847088"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23060" y="1787651"/>
            <a:ext cx="1746504"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48.0</a:t>
            </a:r>
          </a:p>
        </p:txBody>
      </p:sp>
      <p:sp>
        <p:nvSpPr>
          <p:cNvPr id="20" name="Rectangle 19"/>
          <p:cNvSpPr/>
          <p:nvPr/>
        </p:nvSpPr>
        <p:spPr>
          <a:xfrm>
            <a:off x="3419856" y="1755648"/>
            <a:ext cx="2148840"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0148" y="1787651"/>
            <a:ext cx="204825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2.4</a:t>
            </a:r>
          </a:p>
        </p:txBody>
      </p:sp>
      <p:sp>
        <p:nvSpPr>
          <p:cNvPr id="22" name="Rectangle 21"/>
          <p:cNvSpPr/>
          <p:nvPr/>
        </p:nvSpPr>
        <p:spPr>
          <a:xfrm>
            <a:off x="5568696" y="1755648"/>
            <a:ext cx="2240280"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8988" y="1787651"/>
            <a:ext cx="213969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23.5</a:t>
            </a:r>
          </a:p>
        </p:txBody>
      </p:sp>
      <p:sp>
        <p:nvSpPr>
          <p:cNvPr id="24" name="Rectangle 23"/>
          <p:cNvSpPr/>
          <p:nvPr/>
        </p:nvSpPr>
        <p:spPr>
          <a:xfrm>
            <a:off x="7808975" y="1755648"/>
            <a:ext cx="3877056"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59267" y="1787651"/>
            <a:ext cx="3776472"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[visitor / executive / service provider assumptions]</a:t>
            </a:r>
          </a:p>
        </p:txBody>
      </p:sp>
      <p:sp>
        <p:nvSpPr>
          <p:cNvPr id="26" name="Rectangle 25"/>
          <p:cNvSpPr/>
          <p:nvPr/>
        </p:nvSpPr>
        <p:spPr>
          <a:xfrm>
            <a:off x="457200" y="2267712"/>
            <a:ext cx="1115568"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 y="2299716"/>
            <a:ext cx="1014983"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Day 2</a:t>
            </a:r>
          </a:p>
        </p:txBody>
      </p:sp>
      <p:sp>
        <p:nvSpPr>
          <p:cNvPr id="28" name="Rectangle 27"/>
          <p:cNvSpPr/>
          <p:nvPr/>
        </p:nvSpPr>
        <p:spPr>
          <a:xfrm>
            <a:off x="1572768" y="2267712"/>
            <a:ext cx="1847088"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23060" y="2299716"/>
            <a:ext cx="1746504"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48.0</a:t>
            </a:r>
          </a:p>
        </p:txBody>
      </p:sp>
      <p:sp>
        <p:nvSpPr>
          <p:cNvPr id="30" name="Rectangle 29"/>
          <p:cNvSpPr/>
          <p:nvPr/>
        </p:nvSpPr>
        <p:spPr>
          <a:xfrm>
            <a:off x="3419856" y="2267712"/>
            <a:ext cx="2148840"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70148" y="2299716"/>
            <a:ext cx="204825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2.4</a:t>
            </a:r>
          </a:p>
        </p:txBody>
      </p:sp>
      <p:sp>
        <p:nvSpPr>
          <p:cNvPr id="32" name="Rectangle 31"/>
          <p:cNvSpPr/>
          <p:nvPr/>
        </p:nvSpPr>
        <p:spPr>
          <a:xfrm>
            <a:off x="5568696" y="2267712"/>
            <a:ext cx="2240280"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8988" y="2299716"/>
            <a:ext cx="213969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23.5</a:t>
            </a:r>
          </a:p>
        </p:txBody>
      </p:sp>
      <p:sp>
        <p:nvSpPr>
          <p:cNvPr id="34" name="Rectangle 33"/>
          <p:cNvSpPr/>
          <p:nvPr/>
        </p:nvSpPr>
        <p:spPr>
          <a:xfrm>
            <a:off x="7808975" y="2267712"/>
            <a:ext cx="3877056"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59267" y="2299716"/>
            <a:ext cx="3776472"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[visitor / executive / service provider assumptions]</a:t>
            </a:r>
          </a:p>
        </p:txBody>
      </p:sp>
      <p:sp>
        <p:nvSpPr>
          <p:cNvPr id="36" name="Rectangle 35"/>
          <p:cNvSpPr/>
          <p:nvPr/>
        </p:nvSpPr>
        <p:spPr>
          <a:xfrm>
            <a:off x="457200" y="2779776"/>
            <a:ext cx="1115568"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7492" y="2811780"/>
            <a:ext cx="1014983"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Day 3</a:t>
            </a:r>
          </a:p>
        </p:txBody>
      </p:sp>
      <p:sp>
        <p:nvSpPr>
          <p:cNvPr id="38" name="Rectangle 37"/>
          <p:cNvSpPr/>
          <p:nvPr/>
        </p:nvSpPr>
        <p:spPr>
          <a:xfrm>
            <a:off x="1572768" y="2779776"/>
            <a:ext cx="1847088"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3060" y="2811780"/>
            <a:ext cx="1746504"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48.0</a:t>
            </a:r>
          </a:p>
        </p:txBody>
      </p:sp>
      <p:sp>
        <p:nvSpPr>
          <p:cNvPr id="40" name="Rectangle 39"/>
          <p:cNvSpPr/>
          <p:nvPr/>
        </p:nvSpPr>
        <p:spPr>
          <a:xfrm>
            <a:off x="3419856" y="2779776"/>
            <a:ext cx="2148840"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0148" y="2811780"/>
            <a:ext cx="204825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2.4</a:t>
            </a:r>
          </a:p>
        </p:txBody>
      </p:sp>
      <p:sp>
        <p:nvSpPr>
          <p:cNvPr id="42" name="Rectangle 41"/>
          <p:cNvSpPr/>
          <p:nvPr/>
        </p:nvSpPr>
        <p:spPr>
          <a:xfrm>
            <a:off x="5568696" y="2779776"/>
            <a:ext cx="2240280"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18988" y="2811780"/>
            <a:ext cx="213969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23.5</a:t>
            </a:r>
          </a:p>
        </p:txBody>
      </p:sp>
      <p:sp>
        <p:nvSpPr>
          <p:cNvPr id="44" name="Rectangle 43"/>
          <p:cNvSpPr/>
          <p:nvPr/>
        </p:nvSpPr>
        <p:spPr>
          <a:xfrm>
            <a:off x="7808975" y="2779776"/>
            <a:ext cx="3877056"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59267" y="2811780"/>
            <a:ext cx="3776472"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[visitor / executive / service provider assumptions]</a:t>
            </a:r>
          </a:p>
        </p:txBody>
      </p:sp>
      <p:sp>
        <p:nvSpPr>
          <p:cNvPr id="46" name="Rectangle 45"/>
          <p:cNvSpPr/>
          <p:nvPr/>
        </p:nvSpPr>
        <p:spPr>
          <a:xfrm>
            <a:off x="457200" y="3291840"/>
            <a:ext cx="1115568"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 y="3323844"/>
            <a:ext cx="1014983"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Day 4</a:t>
            </a:r>
          </a:p>
        </p:txBody>
      </p:sp>
      <p:sp>
        <p:nvSpPr>
          <p:cNvPr id="48" name="Rectangle 47"/>
          <p:cNvSpPr/>
          <p:nvPr/>
        </p:nvSpPr>
        <p:spPr>
          <a:xfrm>
            <a:off x="1572768" y="3291840"/>
            <a:ext cx="1847088"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623060" y="3323844"/>
            <a:ext cx="1746504"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48.0</a:t>
            </a:r>
          </a:p>
        </p:txBody>
      </p:sp>
      <p:sp>
        <p:nvSpPr>
          <p:cNvPr id="50" name="Rectangle 49"/>
          <p:cNvSpPr/>
          <p:nvPr/>
        </p:nvSpPr>
        <p:spPr>
          <a:xfrm>
            <a:off x="3419856" y="3291840"/>
            <a:ext cx="2148840"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470148" y="3323844"/>
            <a:ext cx="204825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2.4</a:t>
            </a:r>
          </a:p>
        </p:txBody>
      </p:sp>
      <p:sp>
        <p:nvSpPr>
          <p:cNvPr id="52" name="Rectangle 51"/>
          <p:cNvSpPr/>
          <p:nvPr/>
        </p:nvSpPr>
        <p:spPr>
          <a:xfrm>
            <a:off x="5568696" y="3291840"/>
            <a:ext cx="2240280"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18988" y="3323844"/>
            <a:ext cx="213969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23.5</a:t>
            </a:r>
          </a:p>
        </p:txBody>
      </p:sp>
      <p:sp>
        <p:nvSpPr>
          <p:cNvPr id="54" name="Rectangle 53"/>
          <p:cNvSpPr/>
          <p:nvPr/>
        </p:nvSpPr>
        <p:spPr>
          <a:xfrm>
            <a:off x="7808975" y="3291840"/>
            <a:ext cx="3877056" cy="512064"/>
          </a:xfrm>
          <a:prstGeom prst="rect">
            <a:avLst/>
          </a:prstGeom>
          <a:solidFill>
            <a:srgbClr val="F2F6F8"/>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59267" y="3323844"/>
            <a:ext cx="3776472"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[visitor / executive / service provider assumptions]</a:t>
            </a:r>
          </a:p>
        </p:txBody>
      </p:sp>
      <p:sp>
        <p:nvSpPr>
          <p:cNvPr id="56" name="Rectangle 55"/>
          <p:cNvSpPr/>
          <p:nvPr/>
        </p:nvSpPr>
        <p:spPr>
          <a:xfrm>
            <a:off x="457200" y="3803904"/>
            <a:ext cx="1115568"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7492" y="3835908"/>
            <a:ext cx="1014983"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Day 5</a:t>
            </a:r>
          </a:p>
        </p:txBody>
      </p:sp>
      <p:sp>
        <p:nvSpPr>
          <p:cNvPr id="58" name="Rectangle 57"/>
          <p:cNvSpPr/>
          <p:nvPr/>
        </p:nvSpPr>
        <p:spPr>
          <a:xfrm>
            <a:off x="1572768" y="3803904"/>
            <a:ext cx="1847088"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623060" y="3835908"/>
            <a:ext cx="1746504"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48.0</a:t>
            </a:r>
          </a:p>
        </p:txBody>
      </p:sp>
      <p:sp>
        <p:nvSpPr>
          <p:cNvPr id="60" name="Rectangle 59"/>
          <p:cNvSpPr/>
          <p:nvPr/>
        </p:nvSpPr>
        <p:spPr>
          <a:xfrm>
            <a:off x="3419856" y="3803904"/>
            <a:ext cx="2148840"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70148" y="3835908"/>
            <a:ext cx="204825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2.4</a:t>
            </a:r>
          </a:p>
        </p:txBody>
      </p:sp>
      <p:sp>
        <p:nvSpPr>
          <p:cNvPr id="62" name="Rectangle 61"/>
          <p:cNvSpPr/>
          <p:nvPr/>
        </p:nvSpPr>
        <p:spPr>
          <a:xfrm>
            <a:off x="5568696" y="3803904"/>
            <a:ext cx="2240280"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18988" y="3835908"/>
            <a:ext cx="2139696"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23.5</a:t>
            </a:r>
          </a:p>
        </p:txBody>
      </p:sp>
      <p:sp>
        <p:nvSpPr>
          <p:cNvPr id="64" name="Rectangle 63"/>
          <p:cNvSpPr/>
          <p:nvPr/>
        </p:nvSpPr>
        <p:spPr>
          <a:xfrm>
            <a:off x="7808975" y="3803904"/>
            <a:ext cx="3877056" cy="512064"/>
          </a:xfrm>
          <a:prstGeom prst="rect">
            <a:avLst/>
          </a:prstGeom>
          <a:solidFill>
            <a:srgbClr val="FFFFFF"/>
          </a:solidFill>
          <a:ln>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59267" y="3835908"/>
            <a:ext cx="3776472" cy="457200"/>
          </a:xfrm>
          <a:prstGeom prst="rect">
            <a:avLst/>
          </a:prstGeom>
          <a:noFill/>
        </p:spPr>
        <p:txBody>
          <a:bodyPr wrap="square" lIns="0" rIns="0" tIns="0" bIns="0" anchor="ctr">
            <a:spAutoFit/>
          </a:bodyPr>
          <a:lstStyle/>
          <a:p>
            <a:pPr algn="ctr">
              <a:spcBef>
                <a:spcPts val="0"/>
              </a:spcBef>
              <a:spcAft>
                <a:spcPts val="0"/>
              </a:spcAft>
              <a:defRPr sz="919" b="0">
                <a:solidFill>
                  <a:srgbClr val="222B35"/>
                </a:solidFill>
                <a:latin typeface="Aptos"/>
              </a:defRPr>
            </a:pPr>
            <a:r>
              <a:t>[visitor / executive / service provider assumptions]</a:t>
            </a:r>
          </a:p>
        </p:txBody>
      </p:sp>
      <p:sp>
        <p:nvSpPr>
          <p:cNvPr id="66" name="Rounded Rectangle 65"/>
          <p:cNvSpPr/>
          <p:nvPr/>
        </p:nvSpPr>
        <p:spPr>
          <a:xfrm>
            <a:off x="457200" y="4645152"/>
            <a:ext cx="5440680" cy="132588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57200" y="4645152"/>
            <a:ext cx="73152" cy="1325880"/>
          </a:xfrm>
          <a:prstGeom prst="rect">
            <a:avLst/>
          </a:prstGeom>
          <a:solidFill>
            <a:srgbClr val="235F98"/>
          </a:solidFill>
          <a:ln>
            <a:solidFill>
              <a:srgbClr val="235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8368" y="4791456"/>
            <a:ext cx="511149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USE IN A TEAM HUDDLE</a:t>
            </a:r>
          </a:p>
        </p:txBody>
      </p:sp>
      <p:sp>
        <p:nvSpPr>
          <p:cNvPr id="69" name="TextBox 68"/>
          <p:cNvSpPr txBox="1"/>
          <p:nvPr/>
        </p:nvSpPr>
        <p:spPr>
          <a:xfrm>
            <a:off x="658368" y="5148072"/>
            <a:ext cx="5093208" cy="731519"/>
          </a:xfrm>
          <a:prstGeom prst="rect">
            <a:avLst/>
          </a:prstGeom>
          <a:noFill/>
        </p:spPr>
        <p:txBody>
          <a:bodyPr wrap="square" lIns="45720" rIns="45720" anchor="t">
            <a:spAutoFit/>
          </a:bodyPr>
          <a:lstStyle/>
          <a:p>
            <a:pPr algn="l">
              <a:spcBef>
                <a:spcPts val="0"/>
              </a:spcBef>
              <a:spcAft>
                <a:spcPts val="0"/>
              </a:spcAft>
              <a:defRPr sz="1030" b="0">
                <a:solidFill>
                  <a:srgbClr val="222B35"/>
                </a:solidFill>
                <a:latin typeface="Aptos"/>
              </a:defRPr>
            </a:pPr>
            <a:r>
              <a:t>Reception, Facilities, Security, and tenant-experience colleagues can compare the daily baseline with the credential-attention range, then confirm local routes and practical coverage. This deck does not authorize staffing, access, or security changes.</a:t>
            </a:r>
          </a:p>
        </p:txBody>
      </p:sp>
      <p:sp>
        <p:nvSpPr>
          <p:cNvPr id="70" name="Rounded Rectangle 69"/>
          <p:cNvSpPr/>
          <p:nvPr/>
        </p:nvSpPr>
        <p:spPr>
          <a:xfrm>
            <a:off x="4709160" y="4782312"/>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73168" y="4805172"/>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72" name="Rounded Rectangle 71"/>
          <p:cNvSpPr/>
          <p:nvPr/>
        </p:nvSpPr>
        <p:spPr>
          <a:xfrm>
            <a:off x="6144768" y="4645152"/>
            <a:ext cx="5577840" cy="132588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44768" y="4645152"/>
            <a:ext cx="73152" cy="1325880"/>
          </a:xfrm>
          <a:prstGeom prst="rect">
            <a:avLst/>
          </a:prstGeom>
          <a:solidFill>
            <a:srgbClr val="CA922B"/>
          </a:solidFill>
          <a:ln>
            <a:solidFill>
              <a:srgbClr val="CA9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45936" y="4791456"/>
            <a:ext cx="5248655"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IF THE ARRIVAL PATTERN CHANGES</a:t>
            </a:r>
          </a:p>
        </p:txBody>
      </p:sp>
      <p:sp>
        <p:nvSpPr>
          <p:cNvPr id="75" name="TextBox 74"/>
          <p:cNvSpPr txBox="1"/>
          <p:nvPr/>
        </p:nvSpPr>
        <p:spPr>
          <a:xfrm>
            <a:off x="6345936" y="5148072"/>
            <a:ext cx="5230368" cy="731519"/>
          </a:xfrm>
          <a:prstGeom prst="rect">
            <a:avLst/>
          </a:prstGeom>
          <a:noFill/>
        </p:spPr>
        <p:txBody>
          <a:bodyPr wrap="square" lIns="45720" rIns="45720" anchor="t">
            <a:spAutoFit/>
          </a:bodyPr>
          <a:lstStyle/>
          <a:p>
            <a:pPr algn="l">
              <a:spcBef>
                <a:spcPts val="0"/>
              </a:spcBef>
              <a:spcAft>
                <a:spcPts val="0"/>
              </a:spcAft>
              <a:defRPr sz="1050" b="0">
                <a:solidFill>
                  <a:srgbClr val="222B35"/>
                </a:solidFill>
                <a:latin typeface="Aptos"/>
              </a:defRPr>
            </a:pPr>
            <a:r>
              <a:t>Replace 48.0 only with a confirmed schedule or a clearly labeled planning assumption. Recalculate mobile attempts and failures from that daily baseline. Do not use the five-day total (240) as a single-day lobby count.</a:t>
            </a:r>
          </a:p>
        </p:txBody>
      </p:sp>
      <p:sp>
        <p:nvSpPr>
          <p:cNvPr id="76" name="Rounded Rectangle 75"/>
          <p:cNvSpPr/>
          <p:nvPr/>
        </p:nvSpPr>
        <p:spPr>
          <a:xfrm>
            <a:off x="10533888" y="4782312"/>
            <a:ext cx="987552" cy="228600"/>
          </a:xfrm>
          <a:prstGeom prst="roundRect">
            <a:avLst/>
          </a:prstGeom>
          <a:solidFill>
            <a:srgbClr val="FFF7E5"/>
          </a:solidFill>
          <a:ln>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597896" y="4805172"/>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CA922B"/>
                </a:solidFill>
                <a:latin typeface="Aptos"/>
              </a:defRPr>
            </a:pPr>
            <a:r>
              <a:t>PLANNING</a:t>
            </a:r>
          </a:p>
        </p:txBody>
      </p:sp>
      <p:sp>
        <p:nvSpPr>
          <p:cNvPr id="78" name="Rectangle 77"/>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Editable template • replace bracketed fields before 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Rare, serious exception — urgent safety incident</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09</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Treat an immediate safety concern involving a person who cannot complete credentials separately from routine setup help.</a:t>
            </a:r>
          </a:p>
        </p:txBody>
      </p:sp>
      <p:sp>
        <p:nvSpPr>
          <p:cNvPr id="6" name="Rounded Rectangle 5"/>
          <p:cNvSpPr/>
          <p:nvPr/>
        </p:nvSpPr>
        <p:spPr>
          <a:xfrm>
            <a:off x="457200" y="1207008"/>
            <a:ext cx="3611880" cy="448056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07008"/>
            <a:ext cx="73152" cy="4480560"/>
          </a:xfrm>
          <a:prstGeom prst="rect">
            <a:avLst/>
          </a:prstGeom>
          <a:solidFill>
            <a:srgbClr val="A4433E"/>
          </a:solidFill>
          <a:ln>
            <a:solidFill>
              <a:srgbClr val="A4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53312"/>
            <a:ext cx="328269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1. PRIORITIZE SAFETY</a:t>
            </a:r>
          </a:p>
        </p:txBody>
      </p:sp>
      <p:sp>
        <p:nvSpPr>
          <p:cNvPr id="9" name="TextBox 8"/>
          <p:cNvSpPr txBox="1"/>
          <p:nvPr/>
        </p:nvSpPr>
        <p:spPr>
          <a:xfrm>
            <a:off x="658368" y="1709928"/>
            <a:ext cx="3264408" cy="3886200"/>
          </a:xfrm>
          <a:prstGeom prst="rect">
            <a:avLst/>
          </a:prstGeom>
          <a:noFill/>
        </p:spPr>
        <p:txBody>
          <a:bodyPr wrap="square" lIns="45720" rIns="45720" anchor="t">
            <a:spAutoFit/>
          </a:bodyPr>
          <a:lstStyle/>
          <a:p>
            <a:pPr algn="l">
              <a:spcBef>
                <a:spcPts val="0"/>
              </a:spcBef>
              <a:spcAft>
                <a:spcPts val="0"/>
              </a:spcAft>
              <a:defRPr sz="1100" b="0">
                <a:solidFill>
                  <a:srgbClr val="222B35"/>
                </a:solidFill>
                <a:latin typeface="Aptos"/>
              </a:defRPr>
            </a:pPr>
            <a:r>
              <a:t>If there is an urgent safety concern, use [applicable local emergency or Security channel] immediately and follow local emergency procedures.</a:t>
            </a:r>
          </a:p>
          <a:p>
            <a:pPr algn="l">
              <a:spcBef>
                <a:spcPts val="0"/>
              </a:spcBef>
              <a:spcAft>
                <a:spcPts val="0"/>
              </a:spcAft>
              <a:defRPr sz="1100" b="0">
                <a:solidFill>
                  <a:srgbClr val="222B35"/>
                </a:solidFill>
                <a:latin typeface="Aptos"/>
              </a:defRPr>
            </a:pPr>
          </a:p>
          <a:p>
            <a:pPr algn="l">
              <a:spcBef>
                <a:spcPts val="0"/>
              </a:spcBef>
              <a:spcAft>
                <a:spcPts val="0"/>
              </a:spcAft>
              <a:defRPr sz="1100" b="0">
                <a:solidFill>
                  <a:srgbClr val="222B35"/>
                </a:solidFill>
                <a:latin typeface="Aptos"/>
              </a:defRPr>
            </a:pPr>
            <a:r>
              <a:t>Describe only the minimum information needed to route the incident. Do not troubleshoot credentials as the response to the safety concern.</a:t>
            </a:r>
          </a:p>
        </p:txBody>
      </p:sp>
      <p:sp>
        <p:nvSpPr>
          <p:cNvPr id="10" name="Rounded Rectangle 9"/>
          <p:cNvSpPr/>
          <p:nvPr/>
        </p:nvSpPr>
        <p:spPr>
          <a:xfrm>
            <a:off x="2880360" y="1344168"/>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1367028"/>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2" name="Rounded Rectangle 11"/>
          <p:cNvSpPr/>
          <p:nvPr/>
        </p:nvSpPr>
        <p:spPr>
          <a:xfrm>
            <a:off x="4315968" y="1207008"/>
            <a:ext cx="3611880" cy="448056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207008"/>
            <a:ext cx="73152" cy="4480560"/>
          </a:xfrm>
          <a:prstGeom prst="rect">
            <a:avLst/>
          </a:prstGeom>
          <a:solidFill>
            <a:srgbClr val="A4433E"/>
          </a:solidFill>
          <a:ln>
            <a:solidFill>
              <a:srgbClr val="A4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353312"/>
            <a:ext cx="328269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2. KEEP BOUNDARIES INTACT</a:t>
            </a:r>
          </a:p>
        </p:txBody>
      </p:sp>
      <p:sp>
        <p:nvSpPr>
          <p:cNvPr id="15" name="TextBox 14"/>
          <p:cNvSpPr txBox="1"/>
          <p:nvPr/>
        </p:nvSpPr>
        <p:spPr>
          <a:xfrm>
            <a:off x="4517136" y="1709928"/>
            <a:ext cx="3264408" cy="3886200"/>
          </a:xfrm>
          <a:prstGeom prst="rect">
            <a:avLst/>
          </a:prstGeom>
          <a:noFill/>
        </p:spPr>
        <p:txBody>
          <a:bodyPr wrap="square" lIns="45720" rIns="45720" anchor="t">
            <a:spAutoFit/>
          </a:bodyPr>
          <a:lstStyle/>
          <a:p>
            <a:pPr algn="l">
              <a:spcBef>
                <a:spcPts val="0"/>
              </a:spcBef>
              <a:spcAft>
                <a:spcPts val="0"/>
              </a:spcAft>
              <a:defRPr sz="1100" b="0">
                <a:solidFill>
                  <a:srgbClr val="222B35"/>
                </a:solidFill>
                <a:latin typeface="Aptos"/>
              </a:defRPr>
            </a:pPr>
            <a:r>
              <a:t>Urgency does not authorize an improvised access workaround. Do not lend or share credentials, bypass access controls, disable security, or admit an unverified person.</a:t>
            </a:r>
          </a:p>
          <a:p>
            <a:pPr algn="l">
              <a:spcBef>
                <a:spcPts val="0"/>
              </a:spcBef>
              <a:spcAft>
                <a:spcPts val="0"/>
              </a:spcAft>
              <a:defRPr sz="1100" b="0">
                <a:solidFill>
                  <a:srgbClr val="222B35"/>
                </a:solidFill>
                <a:latin typeface="Aptos"/>
              </a:defRPr>
            </a:pPr>
          </a:p>
          <a:p>
            <a:pPr algn="l">
              <a:spcBef>
                <a:spcPts val="0"/>
              </a:spcBef>
              <a:spcAft>
                <a:spcPts val="0"/>
              </a:spcAft>
              <a:defRPr sz="1100" b="0">
                <a:solidFill>
                  <a:srgbClr val="222B35"/>
                </a:solidFill>
                <a:latin typeface="Aptos"/>
              </a:defRPr>
            </a:pPr>
            <a:r>
              <a:t>Any access decision remains with the applicable authorized function; credential troubleshooting can resume through the configured route when appropriate.</a:t>
            </a:r>
          </a:p>
        </p:txBody>
      </p:sp>
      <p:sp>
        <p:nvSpPr>
          <p:cNvPr id="16" name="Rounded Rectangle 15"/>
          <p:cNvSpPr/>
          <p:nvPr/>
        </p:nvSpPr>
        <p:spPr>
          <a:xfrm>
            <a:off x="6739128" y="1344168"/>
            <a:ext cx="987552" cy="228600"/>
          </a:xfrm>
          <a:prstGeom prst="roundRect">
            <a:avLst/>
          </a:prstGeom>
          <a:solidFill>
            <a:srgbClr val="FDECEB"/>
          </a:solidFill>
          <a:ln>
            <a:solidFill>
              <a:srgbClr val="FDE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1367028"/>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A4433E"/>
                </a:solidFill>
                <a:latin typeface="Aptos"/>
              </a:defRPr>
            </a:pPr>
            <a:r>
              <a:t>BOUNDARY</a:t>
            </a:r>
          </a:p>
        </p:txBody>
      </p:sp>
      <p:sp>
        <p:nvSpPr>
          <p:cNvPr id="18" name="Rounded Rectangle 17"/>
          <p:cNvSpPr/>
          <p:nvPr/>
        </p:nvSpPr>
        <p:spPr>
          <a:xfrm>
            <a:off x="8174736" y="1207008"/>
            <a:ext cx="3547872" cy="4480560"/>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1207008"/>
            <a:ext cx="73152" cy="4480560"/>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5904" y="1353312"/>
            <a:ext cx="3218688"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3. RECORD / HAND OFF LOCALLY</a:t>
            </a:r>
          </a:p>
        </p:txBody>
      </p:sp>
      <p:sp>
        <p:nvSpPr>
          <p:cNvPr id="21" name="TextBox 20"/>
          <p:cNvSpPr txBox="1"/>
          <p:nvPr/>
        </p:nvSpPr>
        <p:spPr>
          <a:xfrm>
            <a:off x="8375904" y="1709928"/>
            <a:ext cx="3200400" cy="3886200"/>
          </a:xfrm>
          <a:prstGeom prst="rect">
            <a:avLst/>
          </a:prstGeom>
          <a:noFill/>
        </p:spPr>
        <p:txBody>
          <a:bodyPr wrap="square" lIns="45720" rIns="45720" anchor="t">
            <a:spAutoFit/>
          </a:bodyPr>
          <a:lstStyle/>
          <a:p>
            <a:pPr algn="l">
              <a:spcBef>
                <a:spcPts val="0"/>
              </a:spcBef>
              <a:spcAft>
                <a:spcPts val="0"/>
              </a:spcAft>
              <a:defRPr sz="1070" b="0">
                <a:solidFill>
                  <a:srgbClr val="222B35"/>
                </a:solidFill>
                <a:latin typeface="Aptos"/>
              </a:defRPr>
            </a:pPr>
            <a:r>
              <a:t>Urgent safety escalation: [channel]</a:t>
            </a:r>
          </a:p>
          <a:p>
            <a:pPr algn="l">
              <a:spcBef>
                <a:spcPts val="0"/>
              </a:spcBef>
              <a:spcAft>
                <a:spcPts val="0"/>
              </a:spcAft>
              <a:defRPr sz="1070" b="0">
                <a:solidFill>
                  <a:srgbClr val="222B35"/>
                </a:solidFill>
                <a:latin typeface="Aptos"/>
              </a:defRPr>
            </a:pPr>
            <a:r>
              <a:t>Access authorization: [Security channel]</a:t>
            </a:r>
          </a:p>
          <a:p>
            <a:pPr algn="l">
              <a:spcBef>
                <a:spcPts val="0"/>
              </a:spcBef>
              <a:spcAft>
                <a:spcPts val="0"/>
              </a:spcAft>
              <a:defRPr sz="1070" b="0">
                <a:solidFill>
                  <a:srgbClr val="222B35"/>
                </a:solidFill>
                <a:latin typeface="Aptos"/>
              </a:defRPr>
            </a:pPr>
            <a:r>
              <a:t>Routine credential help: [IT / credential support]</a:t>
            </a:r>
          </a:p>
          <a:p>
            <a:pPr algn="l">
              <a:spcBef>
                <a:spcPts val="0"/>
              </a:spcBef>
              <a:spcAft>
                <a:spcPts val="0"/>
              </a:spcAft>
              <a:defRPr sz="1070" b="0">
                <a:solidFill>
                  <a:srgbClr val="222B35"/>
                </a:solidFill>
                <a:latin typeface="Aptos"/>
              </a:defRPr>
            </a:pPr>
            <a:r>
              <a:t>Employee / tenant-status question: [Tenant HR]</a:t>
            </a:r>
          </a:p>
          <a:p>
            <a:pPr algn="l">
              <a:spcBef>
                <a:spcPts val="0"/>
              </a:spcBef>
              <a:spcAft>
                <a:spcPts val="0"/>
              </a:spcAft>
              <a:defRPr sz="1070" b="0">
                <a:solidFill>
                  <a:srgbClr val="222B35"/>
                </a:solidFill>
                <a:latin typeface="Aptos"/>
              </a:defRPr>
            </a:pPr>
          </a:p>
          <a:p>
            <a:pPr algn="l">
              <a:spcBef>
                <a:spcPts val="0"/>
              </a:spcBef>
              <a:spcAft>
                <a:spcPts val="0"/>
              </a:spcAft>
              <a:defRPr sz="1070" b="0">
                <a:solidFill>
                  <a:srgbClr val="222B35"/>
                </a:solidFill>
                <a:latin typeface="Aptos"/>
              </a:defRPr>
            </a:pPr>
            <a:r>
              <a:t>Reception role: receive, direct, and coordinate within local procedure—not approve access, determine eligibility, or reset credentials.</a:t>
            </a:r>
          </a:p>
        </p:txBody>
      </p:sp>
      <p:sp>
        <p:nvSpPr>
          <p:cNvPr id="22" name="Rounded Rectangle 21"/>
          <p:cNvSpPr/>
          <p:nvPr/>
        </p:nvSpPr>
        <p:spPr>
          <a:xfrm>
            <a:off x="10533888" y="1344168"/>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367028"/>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24" name="TextBox 23"/>
          <p:cNvSpPr txBox="1"/>
          <p:nvPr/>
        </p:nvSpPr>
        <p:spPr>
          <a:xfrm>
            <a:off x="502920" y="5943600"/>
            <a:ext cx="10744200" cy="228600"/>
          </a:xfrm>
          <a:prstGeom prst="rect">
            <a:avLst/>
          </a:prstGeom>
          <a:noFill/>
        </p:spPr>
        <p:txBody>
          <a:bodyPr wrap="square" lIns="45720" rIns="45720" anchor="t">
            <a:spAutoFit/>
          </a:bodyPr>
          <a:lstStyle/>
          <a:p>
            <a:pPr algn="l">
              <a:spcBef>
                <a:spcPts val="0"/>
              </a:spcBef>
              <a:spcAft>
                <a:spcPts val="0"/>
              </a:spcAft>
              <a:defRPr sz="980" b="0">
                <a:solidFill>
                  <a:srgbClr val="5C6A78"/>
                </a:solidFill>
                <a:latin typeface="Aptos"/>
              </a:defRPr>
            </a:pPr>
            <a:r>
              <a:t>Safety handling must be confirmed locally before release; no local emergency contact details, response times, or building procedures are asserted here.</a:t>
            </a:r>
          </a:p>
        </p:txBody>
      </p:sp>
      <p:sp>
        <p:nvSpPr>
          <p:cNvPr id="25" name="Rectangle 24"/>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Separate branch: urgent safety response ≠ routine credential troubleshooting ≠ access authorization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0312"/>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0607040" cy="384048"/>
          </a:xfrm>
          <a:prstGeom prst="rect">
            <a:avLst/>
          </a:prstGeom>
          <a:noFill/>
        </p:spPr>
        <p:txBody>
          <a:bodyPr wrap="square" lIns="45720" rIns="45720" anchor="t">
            <a:spAutoFit/>
          </a:bodyPr>
          <a:lstStyle/>
          <a:p>
            <a:pPr algn="l">
              <a:spcBef>
                <a:spcPts val="0"/>
              </a:spcBef>
              <a:spcAft>
                <a:spcPts val="0"/>
              </a:spcAft>
              <a:defRPr sz="2500" b="1">
                <a:solidFill>
                  <a:srgbClr val="14273F"/>
                </a:solidFill>
                <a:latin typeface="Aptos"/>
              </a:defRPr>
            </a:pPr>
            <a:r>
              <a:t>Peer-review quick check</a:t>
            </a:r>
          </a:p>
        </p:txBody>
      </p:sp>
      <p:sp>
        <p:nvSpPr>
          <p:cNvPr id="4" name="TextBox 3"/>
          <p:cNvSpPr txBox="1"/>
          <p:nvPr/>
        </p:nvSpPr>
        <p:spPr>
          <a:xfrm>
            <a:off x="11201400" y="374904"/>
            <a:ext cx="502920" cy="274320"/>
          </a:xfrm>
          <a:prstGeom prst="rect">
            <a:avLst/>
          </a:prstGeom>
          <a:noFill/>
        </p:spPr>
        <p:txBody>
          <a:bodyPr wrap="square" lIns="45720" rIns="45720" anchor="t">
            <a:spAutoFit/>
          </a:bodyPr>
          <a:lstStyle/>
          <a:p>
            <a:pPr algn="r">
              <a:spcBef>
                <a:spcPts val="0"/>
              </a:spcBef>
              <a:spcAft>
                <a:spcPts val="0"/>
              </a:spcAft>
              <a:defRPr sz="1000" b="1">
                <a:solidFill>
                  <a:srgbClr val="5C6A78"/>
                </a:solidFill>
                <a:latin typeface="Aptos"/>
              </a:defRPr>
            </a:pPr>
            <a:r>
              <a:t>10</a:t>
            </a:r>
          </a:p>
        </p:txBody>
      </p:sp>
      <p:sp>
        <p:nvSpPr>
          <p:cNvPr id="5" name="TextBox 4"/>
          <p:cNvSpPr txBox="1"/>
          <p:nvPr/>
        </p:nvSpPr>
        <p:spPr>
          <a:xfrm>
            <a:off x="457200" y="758952"/>
            <a:ext cx="11155680" cy="274320"/>
          </a:xfrm>
          <a:prstGeom prst="rect">
            <a:avLst/>
          </a:prstGeom>
          <a:noFill/>
        </p:spPr>
        <p:txBody>
          <a:bodyPr wrap="square" lIns="45720" rIns="45720" anchor="t">
            <a:spAutoFit/>
          </a:bodyPr>
          <a:lstStyle/>
          <a:p>
            <a:pPr algn="l">
              <a:spcBef>
                <a:spcPts val="0"/>
              </a:spcBef>
              <a:spcAft>
                <a:spcPts val="0"/>
              </a:spcAft>
              <a:defRPr sz="1050" b="0">
                <a:solidFill>
                  <a:srgbClr val="5C6A78"/>
                </a:solidFill>
                <a:latin typeface="Aptos"/>
              </a:defRPr>
            </a:pPr>
            <a:r>
              <a:t>Use this final slide to validate a completed version before distribution.</a:t>
            </a:r>
          </a:p>
        </p:txBody>
      </p:sp>
      <p:sp>
        <p:nvSpPr>
          <p:cNvPr id="6" name="Rounded Rectangle 5"/>
          <p:cNvSpPr/>
          <p:nvPr/>
        </p:nvSpPr>
        <p:spPr>
          <a:xfrm>
            <a:off x="457200" y="1207008"/>
            <a:ext cx="3657600" cy="440740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07008"/>
            <a:ext cx="73152" cy="4407408"/>
          </a:xfrm>
          <a:prstGeom prst="rect">
            <a:avLst/>
          </a:prstGeom>
          <a:solidFill>
            <a:srgbClr val="235F98"/>
          </a:solidFill>
          <a:ln>
            <a:solidFill>
              <a:srgbClr val="235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53312"/>
            <a:ext cx="332841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MESSAGE CHECK</a:t>
            </a:r>
          </a:p>
        </p:txBody>
      </p:sp>
      <p:sp>
        <p:nvSpPr>
          <p:cNvPr id="9" name="TextBox 8"/>
          <p:cNvSpPr txBox="1"/>
          <p:nvPr/>
        </p:nvSpPr>
        <p:spPr>
          <a:xfrm>
            <a:off x="658368" y="1709928"/>
            <a:ext cx="3310128" cy="3813048"/>
          </a:xfrm>
          <a:prstGeom prst="rect">
            <a:avLst/>
          </a:prstGeom>
          <a:noFill/>
        </p:spPr>
        <p:txBody>
          <a:bodyPr wrap="square" lIns="45720" rIns="45720" anchor="t">
            <a:spAutoFit/>
          </a:bodyPr>
          <a:lstStyle/>
          <a:p>
            <a:pPr algn="l">
              <a:spcBef>
                <a:spcPts val="0"/>
              </a:spcBef>
              <a:spcAft>
                <a:spcPts val="0"/>
              </a:spcAft>
              <a:defRPr sz="1019" b="0">
                <a:solidFill>
                  <a:srgbClr val="222B35"/>
                </a:solidFill>
                <a:latin typeface="Aptos"/>
              </a:defRPr>
            </a:pPr>
            <a:r>
              <a:t>[ ] Employee message names both possible credential routes and the setup-failure route</a:t>
            </a:r>
          </a:p>
          <a:p>
            <a:pPr algn="l">
              <a:spcBef>
                <a:spcPts val="0"/>
              </a:spcBef>
              <a:spcAft>
                <a:spcPts val="0"/>
              </a:spcAft>
              <a:defRPr sz="1019" b="0">
                <a:solidFill>
                  <a:srgbClr val="222B35"/>
                </a:solidFill>
                <a:latin typeface="Aptos"/>
              </a:defRPr>
            </a:pPr>
            <a:r>
              <a:t>[ ] Visitor message names a host / sponsor and configurable local requirements</a:t>
            </a:r>
          </a:p>
          <a:p>
            <a:pPr algn="l">
              <a:spcBef>
                <a:spcPts val="0"/>
              </a:spcBef>
              <a:spcAft>
                <a:spcPts val="0"/>
              </a:spcAft>
              <a:defRPr sz="1019" b="0">
                <a:solidFill>
                  <a:srgbClr val="222B35"/>
                </a:solidFill>
                <a:latin typeface="Aptos"/>
              </a:defRPr>
            </a:pPr>
            <a:r>
              <a:t>[ ] Executive message is discreet, conditional, and has no exemption</a:t>
            </a:r>
          </a:p>
          <a:p>
            <a:pPr algn="l">
              <a:spcBef>
                <a:spcPts val="0"/>
              </a:spcBef>
              <a:spcAft>
                <a:spcPts val="0"/>
              </a:spcAft>
              <a:defRPr sz="1019" b="0">
                <a:solidFill>
                  <a:srgbClr val="222B35"/>
                </a:solidFill>
                <a:latin typeface="Aptos"/>
              </a:defRPr>
            </a:pPr>
            <a:r>
              <a:t>[ ] Service-provider message names a sponsor / appointment / work order and does not imply restricted-area access</a:t>
            </a:r>
          </a:p>
          <a:p>
            <a:pPr algn="l">
              <a:spcBef>
                <a:spcPts val="0"/>
              </a:spcBef>
              <a:spcAft>
                <a:spcPts val="0"/>
              </a:spcAft>
              <a:defRPr sz="1019" b="0">
                <a:solidFill>
                  <a:srgbClr val="222B35"/>
                </a:solidFill>
                <a:latin typeface="Aptos"/>
              </a:defRPr>
            </a:pPr>
            <a:r>
              <a:t>[ ] Each message has a configured next contact</a:t>
            </a:r>
          </a:p>
        </p:txBody>
      </p:sp>
      <p:sp>
        <p:nvSpPr>
          <p:cNvPr id="10" name="Rounded Rectangle 9"/>
          <p:cNvSpPr/>
          <p:nvPr/>
        </p:nvSpPr>
        <p:spPr>
          <a:xfrm>
            <a:off x="2926080" y="1344168"/>
            <a:ext cx="987552" cy="228600"/>
          </a:xfrm>
          <a:prstGeom prst="roundRect">
            <a:avLst/>
          </a:prstGeom>
          <a:solidFill>
            <a:srgbClr val="E8F1FA"/>
          </a:solidFill>
          <a:ln>
            <a:solidFill>
              <a:srgbClr val="E8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0088" y="1367028"/>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235F98"/>
                </a:solidFill>
                <a:latin typeface="Aptos"/>
              </a:defRPr>
            </a:pPr>
            <a:r>
              <a:t>LOCAL</a:t>
            </a:r>
          </a:p>
        </p:txBody>
      </p:sp>
      <p:sp>
        <p:nvSpPr>
          <p:cNvPr id="12" name="Rounded Rectangle 11"/>
          <p:cNvSpPr/>
          <p:nvPr/>
        </p:nvSpPr>
        <p:spPr>
          <a:xfrm>
            <a:off x="4361688" y="1207008"/>
            <a:ext cx="3657600" cy="440740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1688" y="1207008"/>
            <a:ext cx="73152" cy="4407408"/>
          </a:xfrm>
          <a:prstGeom prst="rect">
            <a:avLst/>
          </a:prstGeom>
          <a:solidFill>
            <a:srgbClr val="CA922B"/>
          </a:solidFill>
          <a:ln>
            <a:solidFill>
              <a:srgbClr val="CA9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5" y="1353312"/>
            <a:ext cx="3328416"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MODEL CHECK</a:t>
            </a:r>
          </a:p>
        </p:txBody>
      </p:sp>
      <p:sp>
        <p:nvSpPr>
          <p:cNvPr id="15" name="TextBox 14"/>
          <p:cNvSpPr txBox="1"/>
          <p:nvPr/>
        </p:nvSpPr>
        <p:spPr>
          <a:xfrm>
            <a:off x="4562855" y="1709928"/>
            <a:ext cx="3310128" cy="3813048"/>
          </a:xfrm>
          <a:prstGeom prst="rect">
            <a:avLst/>
          </a:prstGeom>
          <a:noFill/>
        </p:spPr>
        <p:txBody>
          <a:bodyPr wrap="square" lIns="45720" rIns="45720" anchor="t">
            <a:spAutoFit/>
          </a:bodyPr>
          <a:lstStyle/>
          <a:p>
            <a:pPr algn="l">
              <a:spcBef>
                <a:spcPts val="0"/>
              </a:spcBef>
              <a:spcAft>
                <a:spcPts val="0"/>
              </a:spcAft>
              <a:defRPr sz="1019" b="0">
                <a:solidFill>
                  <a:srgbClr val="222B35"/>
                </a:solidFill>
                <a:latin typeface="Aptos"/>
              </a:defRPr>
            </a:pPr>
            <a:r>
              <a:t>[ ] 240 employees / five days / 48 per day is retained or the change is labeled</a:t>
            </a:r>
          </a:p>
          <a:p>
            <a:pPr algn="l">
              <a:spcBef>
                <a:spcPts val="0"/>
              </a:spcBef>
              <a:spcAft>
                <a:spcPts val="0"/>
              </a:spcAft>
              <a:defRPr sz="1019" b="0">
                <a:solidFill>
                  <a:srgbClr val="222B35"/>
                </a:solidFill>
                <a:latin typeface="Aptos"/>
              </a:defRPr>
            </a:pPr>
            <a:r>
              <a:t>[ ] Adoption: 60%, 85%, 100% cases shown</a:t>
            </a:r>
          </a:p>
          <a:p>
            <a:pPr algn="l">
              <a:spcBef>
                <a:spcPts val="0"/>
              </a:spcBef>
              <a:spcAft>
                <a:spcPts val="0"/>
              </a:spcAft>
              <a:defRPr sz="1019" b="0">
                <a:solidFill>
                  <a:srgbClr val="222B35"/>
                </a:solidFill>
                <a:latin typeface="Aptos"/>
              </a:defRPr>
            </a:pPr>
            <a:r>
              <a:t>[ ] Failure: 5%, 15% cases shown</a:t>
            </a:r>
          </a:p>
          <a:p>
            <a:pPr algn="l">
              <a:spcBef>
                <a:spcPts val="0"/>
              </a:spcBef>
              <a:spcAft>
                <a:spcPts val="0"/>
              </a:spcAft>
              <a:defRPr sz="1019" b="0">
                <a:solidFill>
                  <a:srgbClr val="222B35"/>
                </a:solidFill>
                <a:latin typeface="Aptos"/>
              </a:defRPr>
            </a:pPr>
            <a:r>
              <a:t>[ ] Failure applies to mobile setup attempts</a:t>
            </a:r>
          </a:p>
          <a:p>
            <a:pPr algn="l">
              <a:spcBef>
                <a:spcPts val="0"/>
              </a:spcBef>
              <a:spcAft>
                <a:spcPts val="0"/>
              </a:spcAft>
              <a:defRPr sz="1019" b="0">
                <a:solidFill>
                  <a:srgbClr val="222B35"/>
                </a:solidFill>
                <a:latin typeface="Aptos"/>
              </a:defRPr>
            </a:pPr>
            <a:r>
              <a:t>[ ] Assistance is not counted as another arrival</a:t>
            </a:r>
          </a:p>
          <a:p>
            <a:pPr algn="l">
              <a:spcBef>
                <a:spcPts val="0"/>
              </a:spcBef>
              <a:spcAft>
                <a:spcPts val="0"/>
              </a:spcAft>
              <a:defRPr sz="1019" b="0">
                <a:solidFill>
                  <a:srgbClr val="222B35"/>
                </a:solidFill>
                <a:latin typeface="Aptos"/>
              </a:defRPr>
            </a:pPr>
            <a:r>
              <a:t>[ ] Other volumes, if used, are labelled assumptions</a:t>
            </a:r>
          </a:p>
        </p:txBody>
      </p:sp>
      <p:sp>
        <p:nvSpPr>
          <p:cNvPr id="16" name="Rounded Rectangle 15"/>
          <p:cNvSpPr/>
          <p:nvPr/>
        </p:nvSpPr>
        <p:spPr>
          <a:xfrm>
            <a:off x="6830568" y="1344168"/>
            <a:ext cx="987552" cy="228600"/>
          </a:xfrm>
          <a:prstGeom prst="roundRect">
            <a:avLst/>
          </a:prstGeom>
          <a:solidFill>
            <a:srgbClr val="FFF7E5"/>
          </a:solidFill>
          <a:ln>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94576" y="1367028"/>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CA922B"/>
                </a:solidFill>
                <a:latin typeface="Aptos"/>
              </a:defRPr>
            </a:pPr>
            <a:r>
              <a:t>PLANNING</a:t>
            </a:r>
          </a:p>
        </p:txBody>
      </p:sp>
      <p:sp>
        <p:nvSpPr>
          <p:cNvPr id="18" name="Rounded Rectangle 17"/>
          <p:cNvSpPr/>
          <p:nvPr/>
        </p:nvSpPr>
        <p:spPr>
          <a:xfrm>
            <a:off x="8266175" y="1207008"/>
            <a:ext cx="3456432" cy="4407408"/>
          </a:xfrm>
          <a:prstGeom prst="roundRect">
            <a:avLst/>
          </a:prstGeom>
          <a:solidFill>
            <a:srgbClr val="FFFFFF"/>
          </a:solidFill>
          <a:ln w="11430">
            <a:solidFill>
              <a:srgbClr val="CFD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66175" y="1207008"/>
            <a:ext cx="73152" cy="4407408"/>
          </a:xfrm>
          <a:prstGeom prst="rect">
            <a:avLst/>
          </a:prstGeom>
          <a:solidFill>
            <a:srgbClr val="148484"/>
          </a:solidFill>
          <a:ln>
            <a:solidFill>
              <a:srgbClr val="148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7344" y="1353312"/>
            <a:ext cx="3127248" cy="283464"/>
          </a:xfrm>
          <a:prstGeom prst="rect">
            <a:avLst/>
          </a:prstGeom>
          <a:noFill/>
        </p:spPr>
        <p:txBody>
          <a:bodyPr wrap="square" lIns="45720" rIns="45720" anchor="t">
            <a:spAutoFit/>
          </a:bodyPr>
          <a:lstStyle/>
          <a:p>
            <a:pPr algn="l">
              <a:spcBef>
                <a:spcPts val="0"/>
              </a:spcBef>
              <a:spcAft>
                <a:spcPts val="0"/>
              </a:spcAft>
              <a:defRPr sz="1300" b="1">
                <a:solidFill>
                  <a:srgbClr val="14273F"/>
                </a:solidFill>
                <a:latin typeface="Aptos"/>
              </a:defRPr>
            </a:pPr>
            <a:r>
              <a:t>GOVERNANCE CHECK</a:t>
            </a:r>
          </a:p>
        </p:txBody>
      </p:sp>
      <p:sp>
        <p:nvSpPr>
          <p:cNvPr id="21" name="TextBox 20"/>
          <p:cNvSpPr txBox="1"/>
          <p:nvPr/>
        </p:nvSpPr>
        <p:spPr>
          <a:xfrm>
            <a:off x="8467344" y="1709928"/>
            <a:ext cx="3108960" cy="3813048"/>
          </a:xfrm>
          <a:prstGeom prst="rect">
            <a:avLst/>
          </a:prstGeom>
          <a:noFill/>
        </p:spPr>
        <p:txBody>
          <a:bodyPr wrap="square" lIns="45720" rIns="45720" anchor="t">
            <a:spAutoFit/>
          </a:bodyPr>
          <a:lstStyle/>
          <a:p>
            <a:pPr algn="l">
              <a:spcBef>
                <a:spcPts val="0"/>
              </a:spcBef>
              <a:spcAft>
                <a:spcPts val="0"/>
              </a:spcAft>
              <a:defRPr sz="1010" b="0">
                <a:solidFill>
                  <a:srgbClr val="222B35"/>
                </a:solidFill>
                <a:latin typeface="Aptos"/>
              </a:defRPr>
            </a:pPr>
            <a:r>
              <a:t>[ ] Local contacts and requirements completed</a:t>
            </a:r>
          </a:p>
          <a:p>
            <a:pPr algn="l">
              <a:spcBef>
                <a:spcPts val="0"/>
              </a:spcBef>
              <a:spcAft>
                <a:spcPts val="0"/>
              </a:spcAft>
              <a:defRPr sz="1010" b="0">
                <a:solidFill>
                  <a:srgbClr val="222B35"/>
                </a:solidFill>
                <a:latin typeface="Aptos"/>
              </a:defRPr>
            </a:pPr>
            <a:r>
              <a:t>[ ] Routine support / access / tenant-status / urgent-safety routes are distinct</a:t>
            </a:r>
          </a:p>
          <a:p>
            <a:pPr algn="l">
              <a:spcBef>
                <a:spcPts val="0"/>
              </a:spcBef>
              <a:spcAft>
                <a:spcPts val="0"/>
              </a:spcAft>
              <a:defRPr sz="1010" b="0">
                <a:solidFill>
                  <a:srgbClr val="222B35"/>
                </a:solidFill>
                <a:latin typeface="Aptos"/>
              </a:defRPr>
            </a:pPr>
            <a:r>
              <a:t>[ ] No passwords, credential secrets, or unnecessary personal data requested</a:t>
            </a:r>
          </a:p>
          <a:p>
            <a:pPr algn="l">
              <a:spcBef>
                <a:spcPts val="0"/>
              </a:spcBef>
              <a:spcAft>
                <a:spcPts val="0"/>
              </a:spcAft>
              <a:defRPr sz="1010" b="0">
                <a:solidFill>
                  <a:srgbClr val="222B35"/>
                </a:solidFill>
                <a:latin typeface="Aptos"/>
              </a:defRPr>
            </a:pPr>
            <a:r>
              <a:t>[ ] No promises of entry, activation, service time, capacity, or staffing level</a:t>
            </a:r>
          </a:p>
          <a:p>
            <a:pPr algn="l">
              <a:spcBef>
                <a:spcPts val="0"/>
              </a:spcBef>
              <a:spcAft>
                <a:spcPts val="0"/>
              </a:spcAft>
              <a:defRPr sz="1010" b="0">
                <a:solidFill>
                  <a:srgbClr val="222B35"/>
                </a:solidFill>
                <a:latin typeface="Aptos"/>
              </a:defRPr>
            </a:pPr>
            <a:r>
              <a:t>[ ] Template owner, version, effective date, tenant, and move ID updated</a:t>
            </a:r>
          </a:p>
        </p:txBody>
      </p:sp>
      <p:sp>
        <p:nvSpPr>
          <p:cNvPr id="22" name="Rounded Rectangle 21"/>
          <p:cNvSpPr/>
          <p:nvPr/>
        </p:nvSpPr>
        <p:spPr>
          <a:xfrm>
            <a:off x="10533887" y="1344168"/>
            <a:ext cx="987552" cy="228600"/>
          </a:xfrm>
          <a:prstGeom prst="roundRect">
            <a:avLst/>
          </a:prstGeom>
          <a:solidFill>
            <a:srgbClr val="FDECEB"/>
          </a:solidFill>
          <a:ln>
            <a:solidFill>
              <a:srgbClr val="FDE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5" y="1367028"/>
            <a:ext cx="859536" cy="164592"/>
          </a:xfrm>
          <a:prstGeom prst="rect">
            <a:avLst/>
          </a:prstGeom>
          <a:noFill/>
        </p:spPr>
        <p:txBody>
          <a:bodyPr wrap="square" lIns="0" rIns="0" tIns="0" bIns="0" anchor="t">
            <a:spAutoFit/>
          </a:bodyPr>
          <a:lstStyle/>
          <a:p>
            <a:pPr algn="l">
              <a:spcBef>
                <a:spcPts val="0"/>
              </a:spcBef>
              <a:spcAft>
                <a:spcPts val="0"/>
              </a:spcAft>
              <a:defRPr sz="730" b="1">
                <a:solidFill>
                  <a:srgbClr val="A4433E"/>
                </a:solidFill>
                <a:latin typeface="Aptos"/>
              </a:defRPr>
            </a:pPr>
            <a:r>
              <a:t>BOUNDARY</a:t>
            </a:r>
          </a:p>
        </p:txBody>
      </p:sp>
      <p:sp>
        <p:nvSpPr>
          <p:cNvPr id="24" name="TextBox 23"/>
          <p:cNvSpPr txBox="1"/>
          <p:nvPr/>
        </p:nvSpPr>
        <p:spPr>
          <a:xfrm>
            <a:off x="502920" y="5925312"/>
            <a:ext cx="10515600" cy="237744"/>
          </a:xfrm>
          <a:prstGeom prst="rect">
            <a:avLst/>
          </a:prstGeom>
          <a:noFill/>
        </p:spPr>
        <p:txBody>
          <a:bodyPr wrap="square" lIns="45720" rIns="45720" anchor="t">
            <a:spAutoFit/>
          </a:bodyPr>
          <a:lstStyle/>
          <a:p>
            <a:pPr algn="l">
              <a:spcBef>
                <a:spcPts val="0"/>
              </a:spcBef>
              <a:spcAft>
                <a:spcPts val="0"/>
              </a:spcAft>
              <a:defRPr sz="1000" b="0">
                <a:solidFill>
                  <a:srgbClr val="5C6A78"/>
                </a:solidFill>
                <a:latin typeface="Aptos"/>
              </a:defRPr>
            </a:pPr>
            <a:r>
              <a:t>Final use limitation: This editable template supports clear communication and lobby-demand planning. It does not replace local policy or make an authorization decision.</a:t>
            </a:r>
          </a:p>
        </p:txBody>
      </p:sp>
      <p:sp>
        <p:nvSpPr>
          <p:cNvPr id="25" name="Rectangle 24"/>
          <p:cNvSpPr/>
          <p:nvPr/>
        </p:nvSpPr>
        <p:spPr>
          <a:xfrm>
            <a:off x="0" y="6565392"/>
            <a:ext cx="12191695" cy="292608"/>
          </a:xfrm>
          <a:prstGeom prst="rect">
            <a:avLst/>
          </a:prstGeom>
          <a:solidFill>
            <a:srgbClr val="14273F"/>
          </a:solidFill>
          <a:ln>
            <a:solidFill>
              <a:srgbClr val="142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606540"/>
            <a:ext cx="10881360" cy="164592"/>
          </a:xfrm>
          <a:prstGeom prst="rect">
            <a:avLst/>
          </a:prstGeom>
          <a:noFill/>
        </p:spPr>
        <p:txBody>
          <a:bodyPr wrap="square" lIns="0" rIns="0" tIns="0" bIns="0" anchor="t">
            <a:spAutoFit/>
          </a:bodyPr>
          <a:lstStyle/>
          <a:p>
            <a:pPr algn="l">
              <a:spcBef>
                <a:spcPts val="0"/>
              </a:spcBef>
              <a:spcAft>
                <a:spcPts val="0"/>
              </a:spcAft>
              <a:defRPr sz="750" b="0">
                <a:solidFill>
                  <a:srgbClr val="FFFFFF"/>
                </a:solidFill>
                <a:latin typeface="Aptos"/>
              </a:defRPr>
            </a:pPr>
            <a:r>
              <a:t>End of template • retain a completed copy under local document-control practice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Arrival communication template — Thistledown Logistics</dc:title>
  <dc:subject>Reusable dual-credential arrival communications and lobby-demand planning</dc:subject>
  <dc:creator>Latchford Associates</dc:creator>
  <cp:keywords>arrival, mobile credential, physical access card, concierge, template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