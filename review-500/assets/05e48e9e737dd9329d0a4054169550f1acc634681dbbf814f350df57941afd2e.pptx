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21792"/>
            <a:ext cx="1234440" cy="109728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400" b="0">
                <a:solidFill>
                  <a:srgbClr val="18232D"/>
                </a:solidFill>
                <a:latin typeface="Aptos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698480" cy="1005840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3000" b="1">
                <a:solidFill>
                  <a:srgbClr val="FFFFFF"/>
                </a:solidFill>
                <a:latin typeface="Aptos"/>
              </a:defRPr>
            </a:pPr>
            <a:r>
              <a:t>2025 OPEX reconciliation</a:t>
            </a:r>
            <a:br/>
            <a:r>
              <a:t>Northgale Cooperative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2240280"/>
            <a:ext cx="8961120" cy="384048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700" b="0">
                <a:solidFill>
                  <a:srgbClr val="C9DFE8"/>
                </a:solidFill>
                <a:latin typeface="Aptos"/>
              </a:defRPr>
            </a:pPr>
            <a:r>
              <a:t>Junipergate Consortium | Chicago multi-tenant property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2971800"/>
            <a:ext cx="10287000" cy="822960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2000" b="0">
                <a:solidFill>
                  <a:srgbClr val="FFFFFF"/>
                </a:solidFill>
                <a:latin typeface="Aptos"/>
              </a:defRPr>
            </a:pPr>
            <a:r>
              <a:t>Counsel-facing factual record for Sofia Garrido’s 20 February 2026 decision</a:t>
            </a:r>
            <a:br/>
            <a:r>
              <a:t>Review version: 12 February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5212080"/>
            <a:ext cx="8046720" cy="411480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300" b="0">
                <a:solidFill>
                  <a:srgbClr val="C9DFE8"/>
                </a:solidFill>
                <a:latin typeface="Aptos"/>
              </a:defRPr>
            </a:pPr>
            <a:r>
              <a:t>Purpose: reconstruct the schedule, distinguish stated positions, and document controlled next steps — without deciding the customer response.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6656832"/>
            <a:ext cx="11155680" cy="137160"/>
          </a:xfrm>
          <a:prstGeom prst="rect">
            <a:avLst/>
          </a:prstGeom>
          <a:solidFill>
            <a:srgbClr val="F7F9FA"/>
          </a:solidFill>
          <a:ln>
            <a:solidFill>
              <a:srgbClr val="F7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800" b="0">
                <a:solidFill>
                  <a:srgbClr val="536472"/>
                </a:solidFill>
                <a:latin typeface="Aptos"/>
              </a:defRPr>
            </a:pPr>
            <a:r>
              <a:t>Junipergate / Northgale — operational fact pack | supplied case workbook | legal snapshot current through 31 January 2026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28600"/>
            <a:ext cx="11384280" cy="347472"/>
          </a:xfrm>
          <a:prstGeom prst="rect">
            <a:avLst/>
          </a:prstGeom>
          <a:solidFill>
            <a:srgbClr val="F7F9FA"/>
          </a:solidFill>
          <a:ln>
            <a:solidFill>
              <a:srgbClr val="F7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2400" b="1">
                <a:solidFill>
                  <a:srgbClr val="17324D"/>
                </a:solidFill>
                <a:latin typeface="Aptos"/>
              </a:defRPr>
            </a:pPr>
            <a:r>
              <a:t>Decision frame | facts to support counsel, not a decision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621792"/>
            <a:ext cx="11155680" cy="256032"/>
          </a:xfrm>
          <a:prstGeom prst="rect">
            <a:avLst/>
          </a:prstGeom>
          <a:solidFill>
            <a:srgbClr val="F7F9FA"/>
          </a:solidFill>
          <a:ln>
            <a:solidFill>
              <a:srgbClr val="F7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000" b="0">
                <a:solidFill>
                  <a:srgbClr val="536472"/>
                </a:solidFill>
                <a:latin typeface="Aptos"/>
              </a:defRPr>
            </a:pPr>
            <a:r>
              <a:t>Scope is the 2025 Chicago operating-expense reconciliation and Northgale’s credit assertion.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47104"/>
            <a:ext cx="11384280" cy="109728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400" b="0">
                <a:solidFill>
                  <a:srgbClr val="18232D"/>
                </a:solidFill>
                <a:latin typeface="Aptos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051560"/>
          <a:ext cx="1115568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4572000"/>
                <a:gridCol w="4617720"/>
              </a:tblGrid>
              <a:tr h="30861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Role / gate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Known fact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Boundary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</a:tr>
              <a:tr h="30861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Northgale Cooperative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Stated credit request: $78,000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Customer assertion; not an established entitlement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Sofia Garrido — legal counsel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Decision date: 20 Feb 2026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Counsel alone decides response, legal position, and any credit authorization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</a:tr>
              <a:tr h="30861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Noor / Gabriel / Paloma / Antoni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Review version due 12 Feb; Gabriel has 6 analyst hours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Operational reconstruction, lease validation, mapping governance and controls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94360" y="2743200"/>
            <a:ext cx="3474720" cy="1143000"/>
          </a:xfrm>
          <a:prstGeom prst="rect">
            <a:avLst/>
          </a:prstGeom>
          <a:solidFill>
            <a:srgbClr val="E2EEF3"/>
          </a:solidFill>
          <a:ln>
            <a:solidFill>
              <a:srgbClr val="C4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800" b="1">
                <a:solidFill>
                  <a:srgbClr val="17324D"/>
                </a:solidFill>
                <a:latin typeface="Aptos"/>
              </a:defRPr>
            </a:pPr>
            <a:r>
              <a:t>Original billed</a:t>
            </a:r>
            <a:br/>
            <a:r>
              <a:t>$237,277</a:t>
            </a:r>
          </a:p>
        </p:txBody>
      </p:sp>
      <p:sp>
        <p:nvSpPr>
          <p:cNvPr id="7" name="Rectangle 6"/>
          <p:cNvSpPr/>
          <p:nvPr/>
        </p:nvSpPr>
        <p:spPr>
          <a:xfrm>
            <a:off x="4361688" y="2743200"/>
            <a:ext cx="3474720" cy="1143000"/>
          </a:xfrm>
          <a:prstGeom prst="rect">
            <a:avLst/>
          </a:prstGeom>
          <a:solidFill>
            <a:srgbClr val="E9F4F0"/>
          </a:solidFill>
          <a:ln>
            <a:solidFill>
              <a:srgbClr val="B8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800" b="1">
                <a:solidFill>
                  <a:srgbClr val="2D786B"/>
                </a:solidFill>
                <a:latin typeface="Aptos"/>
              </a:defRPr>
            </a:pPr>
            <a:r>
              <a:t>Reconstructed supportable charge</a:t>
            </a:r>
            <a:br/>
            <a:r>
              <a:t>$193,549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2743200"/>
            <a:ext cx="2926080" cy="1143000"/>
          </a:xfrm>
          <a:prstGeom prst="rect">
            <a:avLst/>
          </a:prstGeom>
          <a:solidFill>
            <a:srgbClr val="F8ECEC"/>
          </a:solidFill>
          <a:ln>
            <a:solidFill>
              <a:srgbClr val="E8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800" b="1">
                <a:solidFill>
                  <a:srgbClr val="B64848"/>
                </a:solidFill>
                <a:latin typeface="Aptos"/>
              </a:defRPr>
            </a:pPr>
            <a:r>
              <a:t>Arithmetic difference</a:t>
            </a:r>
            <a:br/>
            <a:r>
              <a:t>$43,728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4251960"/>
            <a:ext cx="10561320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700"/>
              </a:spcAft>
              <a:defRPr sz="1300" b="0">
                <a:solidFill>
                  <a:srgbClr val="18232D"/>
                </a:solidFill>
                <a:latin typeface="Aptos"/>
              </a:defRPr>
            </a:pPr>
            <a:r>
              <a:t>• Factual source: Northgale_2025_OPEX_case_materials.xlsx. Amounts are reconstructed from retained source transactions, not titles, subtotals, blank separators or calculated rows.</a:t>
            </a:r>
          </a:p>
          <a:p>
            <a:pPr>
              <a:spcAft>
                <a:spcPts val="700"/>
              </a:spcAft>
              <a:defRPr sz="1300">
                <a:solidFill>
                  <a:srgbClr val="18232D"/>
                </a:solidFill>
                <a:latin typeface="Aptos"/>
              </a:defRPr>
            </a:pPr>
            <a:r>
              <a:t>• Accounting classification is presented separately from lease treatment. No accounting correction is characterized as a conclusion about breach, waiver, liability, remedy or credit entitlement.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6656832"/>
            <a:ext cx="11155680" cy="137160"/>
          </a:xfrm>
          <a:prstGeom prst="rect">
            <a:avLst/>
          </a:prstGeom>
          <a:solidFill>
            <a:srgbClr val="F7F9FA"/>
          </a:solidFill>
          <a:ln>
            <a:solidFill>
              <a:srgbClr val="F7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800" b="0">
                <a:solidFill>
                  <a:srgbClr val="536472"/>
                </a:solidFill>
                <a:latin typeface="Aptos"/>
              </a:defRPr>
            </a:pPr>
            <a:r>
              <a:t>Junipergate / Northgale — operational fact pack | supplied case workbook | legal snapshot current through 31 January 2026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28600"/>
            <a:ext cx="11384280" cy="347472"/>
          </a:xfrm>
          <a:prstGeom prst="rect">
            <a:avLst/>
          </a:prstGeom>
          <a:solidFill>
            <a:srgbClr val="F7F9FA"/>
          </a:solidFill>
          <a:ln>
            <a:solidFill>
              <a:srgbClr val="F7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2400" b="1">
                <a:solidFill>
                  <a:srgbClr val="17324D"/>
                </a:solidFill>
                <a:latin typeface="Aptos"/>
              </a:defRPr>
            </a:pPr>
            <a:r>
              <a:t>Source integrity | normalized transaction universe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621792"/>
            <a:ext cx="11155680" cy="256032"/>
          </a:xfrm>
          <a:prstGeom prst="rect">
            <a:avLst/>
          </a:prstGeom>
          <a:solidFill>
            <a:srgbClr val="F7F9FA"/>
          </a:solidFill>
          <a:ln>
            <a:solidFill>
              <a:srgbClr val="F7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000" b="0">
                <a:solidFill>
                  <a:srgbClr val="536472"/>
                </a:solidFill>
                <a:latin typeface="Aptos"/>
              </a:defRPr>
            </a:pPr>
            <a:r>
              <a:t>Method: retain approved current source records; preserve superseded versions as lineage only.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47104"/>
            <a:ext cx="11384280" cy="109728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400" b="0">
                <a:solidFill>
                  <a:srgbClr val="18232D"/>
                </a:solidFill>
                <a:latin typeface="Aptos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005840"/>
          <a:ext cx="111556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4297680"/>
                <a:gridCol w="4023360"/>
              </a:tblGrid>
              <a:tr h="34290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Source condition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Action in reconstruction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Evidence / result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</a:tr>
              <a:tr h="34290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Merged title, repeated headers, blank rows, section &amp; grand totals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Excluded from line universe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Only rows marked Transaction enter analysis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TX-210, two migration versions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Retain v2 Approved ($18,000); v1 Superseded ($17,500) lineage only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Shared source ID / MIG-771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</a:tr>
              <a:tr h="34290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TX-200 visually suppressed row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Included after substance check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Approved Refuse removal transaction, $40,000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Text currency and parenthetical credit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Parsed to numeric sign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TX-120 $96,000; TX-140 $110,000; TX-170 ($12,000)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</a:tr>
              <a:tr h="34290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TX-180 support unavailable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Held unresolved at $0 in asserted supportable charge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No substitute amount or rationale used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94360" y="3474720"/>
            <a:ext cx="5394960" cy="1143000"/>
          </a:xfrm>
          <a:prstGeom prst="rect">
            <a:avLst/>
          </a:prstGeom>
          <a:solidFill>
            <a:srgbClr val="E9F4F0"/>
          </a:solidFill>
          <a:ln>
            <a:solidFill>
              <a:srgbClr val="B8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900" b="1">
                <a:solidFill>
                  <a:srgbClr val="2D786B"/>
                </a:solidFill>
                <a:latin typeface="Aptos"/>
              </a:defRPr>
            </a:pPr>
            <a:r>
              <a:t>Retained supported recoverable actual</a:t>
            </a:r>
            <a:br/>
            <a:r>
              <a:t>$715,000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3474720"/>
            <a:ext cx="4846320" cy="1143000"/>
          </a:xfrm>
          <a:prstGeom prst="rect">
            <a:avLst/>
          </a:prstGeom>
          <a:solidFill>
            <a:srgbClr val="F8ECEC"/>
          </a:solidFill>
          <a:ln>
            <a:solidFill>
              <a:srgbClr val="E8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700" b="1">
                <a:solidFill>
                  <a:srgbClr val="B64848"/>
                </a:solidFill>
                <a:latin typeface="Aptos"/>
              </a:defRPr>
            </a:pPr>
            <a:r>
              <a:t>Superseded TX-210 excluded from totals</a:t>
            </a:r>
            <a:br/>
            <a:r>
              <a:t>$17,500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4983480"/>
            <a:ext cx="10515600" cy="987552"/>
          </a:xfrm>
          <a:prstGeom prst="rect">
            <a:avLst/>
          </a:prstGeom>
          <a:solidFill>
            <a:srgbClr val="FFFFFF"/>
          </a:solidFill>
          <a:ln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700"/>
              </a:spcAft>
              <a:defRPr sz="1300" b="0">
                <a:solidFill>
                  <a:srgbClr val="18232D"/>
                </a:solidFill>
                <a:latin typeface="Aptos"/>
              </a:defRPr>
            </a:pPr>
            <a:r>
              <a:t>• Component evidence is used only for TX-140 and TX-150. Each supported component sums to its legacy source line; no residual allocation is invented.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" y="6656832"/>
            <a:ext cx="11155680" cy="137160"/>
          </a:xfrm>
          <a:prstGeom prst="rect">
            <a:avLst/>
          </a:prstGeom>
          <a:solidFill>
            <a:srgbClr val="F7F9FA"/>
          </a:solidFill>
          <a:ln>
            <a:solidFill>
              <a:srgbClr val="F7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800" b="0">
                <a:solidFill>
                  <a:srgbClr val="536472"/>
                </a:solidFill>
                <a:latin typeface="Aptos"/>
              </a:defRPr>
            </a:pPr>
            <a:r>
              <a:t>Junipergate / Northgale — operational fact pack | supplied case workbook | legal snapshot current through 31 January 2026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28600"/>
            <a:ext cx="11384280" cy="347472"/>
          </a:xfrm>
          <a:prstGeom prst="rect">
            <a:avLst/>
          </a:prstGeom>
          <a:solidFill>
            <a:srgbClr val="F7F9FA"/>
          </a:solidFill>
          <a:ln>
            <a:solidFill>
              <a:srgbClr val="F7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2400" b="1">
                <a:solidFill>
                  <a:srgbClr val="17324D"/>
                </a:solidFill>
                <a:latin typeface="Aptos"/>
              </a:defRPr>
            </a:pPr>
            <a:r>
              <a:t>Contractual and legal boundaries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621792"/>
            <a:ext cx="11155680" cy="256032"/>
          </a:xfrm>
          <a:prstGeom prst="rect">
            <a:avLst/>
          </a:prstGeom>
          <a:solidFill>
            <a:srgbClr val="F7F9FA"/>
          </a:solidFill>
          <a:ln>
            <a:solidFill>
              <a:srgbClr val="F7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000" b="0">
                <a:solidFill>
                  <a:srgbClr val="536472"/>
                </a:solidFill>
                <a:latin typeface="Aptos"/>
              </a:defRPr>
            </a:pPr>
            <a:r>
              <a:t>Lease treatment is the calculation authority; supplied Illinois snapshot is an operational boundary, not broader research.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47104"/>
            <a:ext cx="11384280" cy="109728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400" b="0">
                <a:solidFill>
                  <a:srgbClr val="18232D"/>
                </a:solidFill>
                <a:latin typeface="Aptos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051560"/>
          <a:ext cx="1110996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4800600"/>
                <a:gridCol w="4754880"/>
              </a:tblGrid>
              <a:tr h="576072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Topic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Applied boundary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Implication here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</a:tr>
              <a:tr h="576072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Lease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Defines recoverable categories, exclusions, 25.00% tenant share, 95.00% target, fee rate/base and gross-up right.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Controls reconstruction. Legacy labels and enterprise codes do not amend it.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Gross-up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Only supported, recoverable portions that vary with occupancy; target/actual relationship only if actual &lt; target.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Fixed bases stay actual. Gross-up does not make excluded or unsupported cost recoverable.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</a:tr>
              <a:tr h="576072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Fixed costs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Taxes, insurance and source-designated fixed contract bases receive no gross-up.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Tax / insurance gross-up = $0; security base / standing retainer gross-up = $0.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Illinois snapshot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Current through 31 January 2026: no separate statutory formula or automatic credit outcome displaces the commercial lease.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No assertion of breach, remedy, interest, fees or statutory liability; those remain for counsel.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4343400"/>
            <a:ext cx="10561320" cy="777240"/>
          </a:xfrm>
          <a:prstGeom prst="rect">
            <a:avLst/>
          </a:prstGeom>
          <a:solidFill>
            <a:srgbClr val="E2EEF3"/>
          </a:solidFill>
          <a:ln>
            <a:solidFill>
              <a:srgbClr val="C4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400" b="1">
                <a:solidFill>
                  <a:srgbClr val="17324D"/>
                </a:solidFill>
                <a:latin typeface="Aptos"/>
              </a:defRPr>
            </a:pPr>
            <a:r>
              <a:t>Accounting governance constraint  |  Enterprise code = classification.  Lease-treatment attribute = controlled contractual treatment.  Neither historical labeling nor the chart changes recoverability.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6656832"/>
            <a:ext cx="11155680" cy="137160"/>
          </a:xfrm>
          <a:prstGeom prst="rect">
            <a:avLst/>
          </a:prstGeom>
          <a:solidFill>
            <a:srgbClr val="F7F9FA"/>
          </a:solidFill>
          <a:ln>
            <a:solidFill>
              <a:srgbClr val="F7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800" b="0">
                <a:solidFill>
                  <a:srgbClr val="536472"/>
                </a:solidFill>
                <a:latin typeface="Aptos"/>
              </a:defRPr>
            </a:pPr>
            <a:r>
              <a:t>Junipergate / Northgale — operational fact pack | supplied case workbook | legal snapshot current through 31 January 2026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28600"/>
            <a:ext cx="11384280" cy="347472"/>
          </a:xfrm>
          <a:prstGeom prst="rect">
            <a:avLst/>
          </a:prstGeom>
          <a:solidFill>
            <a:srgbClr val="F7F9FA"/>
          </a:solidFill>
          <a:ln>
            <a:solidFill>
              <a:srgbClr val="F7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2400" b="1">
                <a:solidFill>
                  <a:srgbClr val="17324D"/>
                </a:solidFill>
                <a:latin typeface="Aptos"/>
              </a:defRPr>
            </a:pPr>
            <a:r>
              <a:t>Reconciliation appendix A | source-line treatment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621792"/>
            <a:ext cx="11155680" cy="256032"/>
          </a:xfrm>
          <a:prstGeom prst="rect">
            <a:avLst/>
          </a:prstGeom>
          <a:solidFill>
            <a:srgbClr val="F7F9FA"/>
          </a:solidFill>
          <a:ln>
            <a:solidFill>
              <a:srgbClr val="F7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000" b="0">
                <a:solidFill>
                  <a:srgbClr val="536472"/>
                </a:solidFill>
                <a:latin typeface="Aptos"/>
              </a:defRPr>
            </a:pPr>
            <a:r>
              <a:t>Every material amount retains source ID, legacy description, classification and treatment. Amount shown is source actual, before gross-up.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47104"/>
            <a:ext cx="11384280" cy="109728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400" b="0">
                <a:solidFill>
                  <a:srgbClr val="18232D"/>
                </a:solidFill>
                <a:latin typeface="Aptos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914400"/>
          <a:ext cx="1124712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/>
                <a:gridCol w="3017520"/>
                <a:gridCol w="731520"/>
                <a:gridCol w="731520"/>
                <a:gridCol w="685800"/>
                <a:gridCol w="713232"/>
                <a:gridCol w="4709160"/>
              </a:tblGrid>
              <a:tr h="58420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ID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Legacy description / supported component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Actual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Enterprise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Sensitivity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Support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Treatment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</a:tr>
              <a:tr h="58420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TX-100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County tax pass-through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$180,000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62010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Fixed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Available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Recoverable actual; no gross-up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TX-110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Property &amp; casualty insurance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$82,000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62020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Fixed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Available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Recoverable actual; no gross-up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</a:tr>
              <a:tr h="58420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TX-120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Night cleaning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$96,000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61010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Variable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Available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Recoverable; gross-up eligible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TX-130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Electric + water service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$72,000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61015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Variable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Available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Recoverable; gross-up eligible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</a:tr>
              <a:tr h="58420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TX-140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Guard desk / lobby security — Contract base / fixed coverage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$70,000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61020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Fixed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Available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Recoverable actual; no gross-up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TX-140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Guard desk / lobby security — After-hours staffing variable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$40,000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61020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Variable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Available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Recoverable; gross-up eligible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</a:tr>
              <a:tr h="58420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TX-150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Winter services bundle — Lobby attendance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$25,000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61040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Variable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Available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Recoverable; gross-up eligible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TX-150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Winter services bundle — Snow/ice standing retainer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$40,000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61040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Fixed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Available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Recoverable actual; no gross-up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38912" y="6656832"/>
            <a:ext cx="11155680" cy="137160"/>
          </a:xfrm>
          <a:prstGeom prst="rect">
            <a:avLst/>
          </a:prstGeom>
          <a:solidFill>
            <a:srgbClr val="F7F9FA"/>
          </a:solidFill>
          <a:ln>
            <a:solidFill>
              <a:srgbClr val="F7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800" b="0">
                <a:solidFill>
                  <a:srgbClr val="536472"/>
                </a:solidFill>
                <a:latin typeface="Aptos"/>
              </a:defRPr>
            </a:pPr>
            <a:r>
              <a:t>Junipergate / Northgale — operational fact pack | supplied case workbook | legal snapshot current through 31 January 2026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28600"/>
            <a:ext cx="11384280" cy="347472"/>
          </a:xfrm>
          <a:prstGeom prst="rect">
            <a:avLst/>
          </a:prstGeom>
          <a:solidFill>
            <a:srgbClr val="F7F9FA"/>
          </a:solidFill>
          <a:ln>
            <a:solidFill>
              <a:srgbClr val="F7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2400" b="1">
                <a:solidFill>
                  <a:srgbClr val="17324D"/>
                </a:solidFill>
                <a:latin typeface="Aptos"/>
              </a:defRPr>
            </a:pPr>
            <a:r>
              <a:t>Reconciliation appendix B | remaining lines and normalized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621792"/>
            <a:ext cx="11155680" cy="256032"/>
          </a:xfrm>
          <a:prstGeom prst="rect">
            <a:avLst/>
          </a:prstGeom>
          <a:solidFill>
            <a:srgbClr val="F7F9FA"/>
          </a:solidFill>
          <a:ln>
            <a:solidFill>
              <a:srgbClr val="F7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000" b="0">
                <a:solidFill>
                  <a:srgbClr val="536472"/>
                </a:solidFill>
                <a:latin typeface="Aptos"/>
              </a:defRPr>
            </a:pPr>
            <a:r>
              <a:t>Supported split components recombine to source transaction values exactly.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47104"/>
            <a:ext cx="11384280" cy="109728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400" b="0">
                <a:solidFill>
                  <a:srgbClr val="18232D"/>
                </a:solidFill>
                <a:latin typeface="Aptos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914400"/>
          <a:ext cx="1124712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/>
                <a:gridCol w="3017520"/>
                <a:gridCol w="731520"/>
                <a:gridCol w="731520"/>
                <a:gridCol w="685800"/>
                <a:gridCol w="713232"/>
                <a:gridCol w="4709160"/>
              </a:tblGrid>
              <a:tr h="474345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ID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Legacy description / supported component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Actual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Enterprise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Sensitivity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Support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Treatment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</a:tr>
              <a:tr h="474345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TX-160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Roof membrane replacement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$45,000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69910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Excluded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Available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Lease-excluded capital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4345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TX-170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Tenant event recovery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($12,000)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69920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Credit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Available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Recoverable credit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</a:tr>
              <a:tr h="474345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TX-180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Operations consulting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$30,000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69930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Unresolved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Unavailable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Support unresolved — hold at $0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4345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TX-190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Elevator preventive maintenance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$36,000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61060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Fixed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Available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Recoverable actual; no gross-up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</a:tr>
              <a:tr h="474345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TX-200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Refuse removal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$40,000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61050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Variable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Available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Recoverable; gross-up eligible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4345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TX-210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Pest control annual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$18,000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61010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Variable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Available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Recoverable; gross-up eligible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</a:tr>
              <a:tr h="474345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TX-220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Life safety inspection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$28,000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61060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Fixed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Available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Recoverable actual; no gross-up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4892040"/>
          <a:ext cx="10332720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4023360"/>
                <a:gridCol w="1645920"/>
                <a:gridCol w="1645920"/>
                <a:gridCol w="2011680"/>
              </a:tblGrid>
              <a:tr h="95596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Selected calculation lineage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Legacy / component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Allowed actual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Gross-up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Post-adjustment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</a:tr>
              <a:tr h="95596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TX-100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County tax pass-through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$180,000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$180,000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5596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TX-110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Property &amp; casualty insurance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$82,000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$0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$82,000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</a:tr>
              <a:tr h="95596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TX-120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Night cleaning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$96,000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$11,294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$107,294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5596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TX-130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Electric + water service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$72,000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$8,471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$80,471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</a:tr>
              <a:tr h="95596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TX-140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Guard desk / lobby security — After-hours staffing variable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$40,000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$4,706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$44,706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5596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TX-150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Winter services bundle — Lobby attendance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$25,000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$2,941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$27,941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</a:tr>
              <a:tr h="95596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TX-160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Roof membrane replacement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5596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TX-180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Operations consulting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$0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$0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$0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</a:tr>
              <a:tr h="95596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TX-200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Refuse removal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$40,000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$4,706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$44,706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560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TX-210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Pest control annual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$18,000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$2,118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8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$20,118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38912" y="6656832"/>
            <a:ext cx="11155680" cy="137160"/>
          </a:xfrm>
          <a:prstGeom prst="rect">
            <a:avLst/>
          </a:prstGeom>
          <a:solidFill>
            <a:srgbClr val="F7F9FA"/>
          </a:solidFill>
          <a:ln>
            <a:solidFill>
              <a:srgbClr val="F7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800" b="0">
                <a:solidFill>
                  <a:srgbClr val="536472"/>
                </a:solidFill>
                <a:latin typeface="Aptos"/>
              </a:defRPr>
            </a:pPr>
            <a:r>
              <a:t>Junipergate / Northgale — operational fact pack | supplied case workbook | legal snapshot current through 31 January 2026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28600"/>
            <a:ext cx="11384280" cy="347472"/>
          </a:xfrm>
          <a:prstGeom prst="rect">
            <a:avLst/>
          </a:prstGeom>
          <a:solidFill>
            <a:srgbClr val="F7F9FA"/>
          </a:solidFill>
          <a:ln>
            <a:solidFill>
              <a:srgbClr val="F7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2400" b="1">
                <a:solidFill>
                  <a:srgbClr val="17324D"/>
                </a:solidFill>
                <a:latin typeface="Aptos"/>
              </a:defRPr>
            </a:pPr>
            <a:r>
              <a:t>Permitted gross-up and management fee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621792"/>
            <a:ext cx="11155680" cy="256032"/>
          </a:xfrm>
          <a:prstGeom prst="rect">
            <a:avLst/>
          </a:prstGeom>
          <a:solidFill>
            <a:srgbClr val="F7F9FA"/>
          </a:solidFill>
          <a:ln>
            <a:solidFill>
              <a:srgbClr val="F7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000" b="0">
                <a:solidFill>
                  <a:srgbClr val="536472"/>
                </a:solidFill>
                <a:latin typeface="Aptos"/>
              </a:defRPr>
            </a:pPr>
            <a:r>
              <a:t>2025 actual occupancy 85.00% | lease target 95.00% | multiplier 1.117647.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47104"/>
            <a:ext cx="11384280" cy="109728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400" b="0">
                <a:solidFill>
                  <a:srgbClr val="18232D"/>
                </a:solidFill>
                <a:latin typeface="Aptos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960120"/>
          <a:ext cx="713232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097280"/>
                <a:gridCol w="1463040"/>
                <a:gridCol w="1463040"/>
              </a:tblGrid>
              <a:tr h="32004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Expense / supported component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Treatment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Allowed actual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Gross-up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</a:tr>
              <a:tr h="32004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County tax pass-through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Fixed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$180,000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Property &amp; casualty insurance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Fixed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$82,000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$0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</a:tr>
              <a:tr h="32004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Night cleaning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Variable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$96,000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$11,294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Electric + water service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Variable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$72,000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$8,471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</a:tr>
              <a:tr h="32004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Guard desk / lobby security — Contract base / fixed coverage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Fixed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$70,000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Guard desk / lobby security — After-hours staffing variable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Variable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$40,000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$4,706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</a:tr>
              <a:tr h="32004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Winter services bundle — Lobby attendance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Variable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$25,000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$2,941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Winter services bundle — Snow/ice standing retainer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Fixed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$40,000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$0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</a:tr>
              <a:tr h="32004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Elevator preventive maintenance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Fixed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$36,000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Refuse removal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Variable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$40,000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$4,706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</a:tr>
              <a:tr h="32004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Pest control annual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Variable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$18,000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$2,118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Life safety inspection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Fixed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$28,000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$0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955279" y="1051560"/>
            <a:ext cx="3337560" cy="914400"/>
          </a:xfrm>
          <a:prstGeom prst="rect">
            <a:avLst/>
          </a:prstGeom>
          <a:solidFill>
            <a:srgbClr val="E9F4F0"/>
          </a:solidFill>
          <a:ln>
            <a:solidFill>
              <a:srgbClr val="B8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800" b="1">
                <a:solidFill>
                  <a:srgbClr val="2D786B"/>
                </a:solidFill>
                <a:latin typeface="Aptos"/>
              </a:defRPr>
            </a:pPr>
            <a:r>
              <a:t>Permitted gross-up</a:t>
            </a:r>
            <a:br/>
            <a:r>
              <a:t>$34,235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79" y="2148840"/>
            <a:ext cx="3337560" cy="1097280"/>
          </a:xfrm>
          <a:prstGeom prst="rect">
            <a:avLst/>
          </a:prstGeom>
          <a:solidFill>
            <a:srgbClr val="E2EEF3"/>
          </a:solidFill>
          <a:ln>
            <a:solidFill>
              <a:srgbClr val="C4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300" b="1">
                <a:solidFill>
                  <a:srgbClr val="17324D"/>
                </a:solidFill>
                <a:latin typeface="Aptos"/>
              </a:defRPr>
            </a:pPr>
            <a:r>
              <a:t>Fee base</a:t>
            </a:r>
            <a:br/>
            <a:r>
              <a:t>$499,235</a:t>
            </a:r>
            <a:br/>
            <a:r>
              <a:t>(5.00%; excludes taxes, insurance, fee)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79" y="3474720"/>
            <a:ext cx="3337560" cy="914400"/>
          </a:xfrm>
          <a:prstGeom prst="rect">
            <a:avLst/>
          </a:prstGeom>
          <a:solidFill>
            <a:srgbClr val="E2EEF3"/>
          </a:solidFill>
          <a:ln>
            <a:solidFill>
              <a:srgbClr val="C4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800" b="1">
                <a:solidFill>
                  <a:srgbClr val="17324D"/>
                </a:solidFill>
                <a:latin typeface="Aptos"/>
              </a:defRPr>
            </a:pPr>
            <a:r>
              <a:t>Permitted management fee</a:t>
            </a:r>
            <a:br/>
            <a:r>
              <a:t>$24,962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5394960"/>
            <a:ext cx="10561320" cy="475488"/>
          </a:xfrm>
          <a:prstGeom prst="rect">
            <a:avLst/>
          </a:prstGeom>
          <a:solidFill>
            <a:srgbClr val="F7F9FA"/>
          </a:solidFill>
          <a:ln>
            <a:solidFill>
              <a:srgbClr val="F7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100" b="0">
                <a:solidFill>
                  <a:srgbClr val="536472"/>
                </a:solidFill>
                <a:latin typeface="Aptos"/>
              </a:defRPr>
            </a:pPr>
            <a:r>
              <a:t>Formula: eligible variable actual × (95.00% ÷ 85.00% − 1). Fixed components use multiplier one. No downward adjustment is created when actual occupancy meets or exceeds target.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6656832"/>
            <a:ext cx="11155680" cy="137160"/>
          </a:xfrm>
          <a:prstGeom prst="rect">
            <a:avLst/>
          </a:prstGeom>
          <a:solidFill>
            <a:srgbClr val="F7F9FA"/>
          </a:solidFill>
          <a:ln>
            <a:solidFill>
              <a:srgbClr val="F7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800" b="0">
                <a:solidFill>
                  <a:srgbClr val="536472"/>
                </a:solidFill>
                <a:latin typeface="Aptos"/>
              </a:defRPr>
            </a:pPr>
            <a:r>
              <a:t>Junipergate / Northgale — operational fact pack | supplied case workbook | legal snapshot current through 31 January 2026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28600"/>
            <a:ext cx="11384280" cy="347472"/>
          </a:xfrm>
          <a:prstGeom prst="rect">
            <a:avLst/>
          </a:prstGeom>
          <a:solidFill>
            <a:srgbClr val="F7F9FA"/>
          </a:solidFill>
          <a:ln>
            <a:solidFill>
              <a:srgbClr val="F7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2400" b="1">
                <a:solidFill>
                  <a:srgbClr val="17324D"/>
                </a:solidFill>
                <a:latin typeface="Aptos"/>
              </a:defRPr>
            </a:pPr>
            <a:r>
              <a:t>Dispute bridge | positions remain distinct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621792"/>
            <a:ext cx="11155680" cy="256032"/>
          </a:xfrm>
          <a:prstGeom prst="rect">
            <a:avLst/>
          </a:prstGeom>
          <a:solidFill>
            <a:srgbClr val="F7F9FA"/>
          </a:solidFill>
          <a:ln>
            <a:solidFill>
              <a:srgbClr val="F7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000" b="0">
                <a:solidFill>
                  <a:srgbClr val="536472"/>
                </a:solidFill>
                <a:latin typeface="Aptos"/>
              </a:defRPr>
            </a:pPr>
            <a:r>
              <a:t>Arithmetic reconstruction only; this deck does not recommend a response.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47104"/>
            <a:ext cx="11384280" cy="109728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400" b="0">
                <a:solidFill>
                  <a:srgbClr val="18232D"/>
                </a:solidFill>
                <a:latin typeface="Aptos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960120"/>
          <a:ext cx="64008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2040"/>
                <a:gridCol w="1508760"/>
              </a:tblGrid>
              <a:tr h="43434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Billed-to-supportable bridge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Tenant-charge effect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</a:tr>
              <a:tr h="43434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Current-schedule billed charge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$237,277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Duplicate TX-210 (superseded version)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($5,134)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</a:tr>
              <a:tr h="43434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Capital TX-160 excluded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($13,202)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Unavailable support TX-180 held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($8,801)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</a:tr>
              <a:tr h="43434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Credit TX-170 parsed; included once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Gross-up scope corrected (fixed portions removed)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($12,824)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</a:tr>
              <a:tr h="43434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Management-fee base corrected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($3,766)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Invoice rounding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($0)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</a:tr>
              <a:tr h="43434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Reconstructed supportable charge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$193,549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223760" y="960120"/>
          <a:ext cx="39776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417320"/>
              </a:tblGrid>
              <a:tr h="50292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Credit comparison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Amount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</a:tr>
              <a:tr h="50292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Northgale claimed credit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$78,000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Calculated billed less supportable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$43,728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</a:tr>
              <a:tr h="50292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Difference between positions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$34,272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223760" y="3337560"/>
            <a:ext cx="3977639" cy="1965960"/>
          </a:xfrm>
          <a:prstGeom prst="rect">
            <a:avLst/>
          </a:prstGeom>
          <a:solidFill>
            <a:srgbClr val="FFFFFF"/>
          </a:solidFill>
          <a:ln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700"/>
              </a:spcAft>
              <a:defRPr sz="1100" b="0">
                <a:solidFill>
                  <a:srgbClr val="18232D"/>
                </a:solidFill>
                <a:latin typeface="Aptos"/>
              </a:defRPr>
            </a:pPr>
            <a:r>
              <a:t>• Bounded issues: duplicate version; capital exclusion; unavailable support; signed credit; fixed-cost / mixed-service gross-up; fee base.</a:t>
            </a:r>
          </a:p>
          <a:p>
            <a:pPr>
              <a:spcAft>
                <a:spcPts val="700"/>
              </a:spcAft>
              <a:defRPr sz="1100">
                <a:solidFill>
                  <a:srgbClr val="18232D"/>
                </a:solidFill>
                <a:latin typeface="Aptos"/>
              </a:defRPr>
            </a:pPr>
            <a:r>
              <a:t>• Source treatment is documented; reconstructed treatment applies supplied lease and component evidence.</a:t>
            </a:r>
          </a:p>
          <a:p>
            <a:pPr>
              <a:spcAft>
                <a:spcPts val="700"/>
              </a:spcAft>
              <a:defRPr sz="1100">
                <a:solidFill>
                  <a:srgbClr val="18232D"/>
                </a:solidFill>
                <a:latin typeface="Aptos"/>
              </a:defRPr>
            </a:pPr>
            <a:r>
              <a:t>• Any response path is a counsel decision input, not a property-management recommendation.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6656832"/>
            <a:ext cx="11155680" cy="137160"/>
          </a:xfrm>
          <a:prstGeom prst="rect">
            <a:avLst/>
          </a:prstGeom>
          <a:solidFill>
            <a:srgbClr val="F7F9FA"/>
          </a:solidFill>
          <a:ln>
            <a:solidFill>
              <a:srgbClr val="F7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800" b="0">
                <a:solidFill>
                  <a:srgbClr val="536472"/>
                </a:solidFill>
                <a:latin typeface="Aptos"/>
              </a:defRPr>
            </a:pPr>
            <a:r>
              <a:t>Junipergate / Northgale — operational fact pack | supplied case workbook | legal snapshot current through 31 January 2026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28600"/>
            <a:ext cx="11384280" cy="347472"/>
          </a:xfrm>
          <a:prstGeom prst="rect">
            <a:avLst/>
          </a:prstGeom>
          <a:solidFill>
            <a:srgbClr val="F7F9FA"/>
          </a:solidFill>
          <a:ln>
            <a:solidFill>
              <a:srgbClr val="F7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2400" b="1">
                <a:solidFill>
                  <a:srgbClr val="17324D"/>
                </a:solidFill>
                <a:latin typeface="Aptos"/>
              </a:defRPr>
            </a:pPr>
            <a:r>
              <a:t>2026 occupancy scenarios | corrected lease treatment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621792"/>
            <a:ext cx="11155680" cy="256032"/>
          </a:xfrm>
          <a:prstGeom prst="rect">
            <a:avLst/>
          </a:prstGeom>
          <a:solidFill>
            <a:srgbClr val="F7F9FA"/>
          </a:solidFill>
          <a:ln>
            <a:solidFill>
              <a:srgbClr val="F7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000" b="0">
                <a:solidFill>
                  <a:srgbClr val="536472"/>
                </a:solidFill>
                <a:latin typeface="Aptos"/>
              </a:defRPr>
            </a:pPr>
            <a:r>
              <a:t>Forecast assumptions are supplied category-level inputs; fixed costs do not scale with occupancy.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47104"/>
            <a:ext cx="11384280" cy="109728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400" b="0">
                <a:solidFill>
                  <a:srgbClr val="18232D"/>
                </a:solidFill>
                <a:latin typeface="Aptos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97280"/>
          <a:ext cx="10561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914400"/>
                <a:gridCol w="1325880"/>
                <a:gridCol w="1234440"/>
                <a:gridCol w="1051560"/>
                <a:gridCol w="1554480"/>
                <a:gridCol w="1508760"/>
                <a:gridCol w="1554480"/>
              </a:tblGrid>
              <a:tr h="45720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Scenario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Occupancy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Actual costs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Permitted G/U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Fee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Corrected NG charge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Current budget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Impact: corrected − current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</a:tr>
              <a:tr h="45720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Low occupancy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82.00%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$735,000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$45,341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$25,567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$201,477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$216,530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($15,053)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Base occupancy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88.00%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$735,000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$22,750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$24,438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$195,547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$201,767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($6,220)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</a:tr>
              <a:tr h="45720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High occupancy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96.00%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$735,000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$23,300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$189,575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$186,900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$2,675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94360" y="3429000"/>
            <a:ext cx="1060704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700"/>
              </a:spcAft>
              <a:defRPr sz="1300" b="0">
                <a:solidFill>
                  <a:srgbClr val="18232D"/>
                </a:solidFill>
                <a:latin typeface="Aptos"/>
              </a:defRPr>
            </a:pPr>
            <a:r>
              <a:t>• Corrected model: $286,000 variable-cost assumption responds only through lease-permitted gross-up. Fixed taxes, insurance, security base, standing retainer, elevator and life safety remain supplied actual amounts.</a:t>
            </a:r>
          </a:p>
          <a:p>
            <a:pPr>
              <a:spcAft>
                <a:spcPts val="700"/>
              </a:spcAft>
              <a:defRPr sz="1300">
                <a:solidFill>
                  <a:srgbClr val="18232D"/>
                </a:solidFill>
                <a:latin typeface="Aptos"/>
              </a:defRPr>
            </a:pPr>
            <a:r>
              <a:t>• Current-budget charge is the supplied baseline carrying forward broad gross-up; impact uses corrected projected charge less that corresponding current-budget charge.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5303520"/>
            <a:ext cx="10561320" cy="438912"/>
          </a:xfrm>
          <a:prstGeom prst="rect">
            <a:avLst/>
          </a:prstGeom>
          <a:solidFill>
            <a:srgbClr val="E2EEF3"/>
          </a:solidFill>
          <a:ln>
            <a:solidFill>
              <a:srgbClr val="C4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200" b="1">
                <a:solidFill>
                  <a:srgbClr val="17324D"/>
                </a:solidFill>
                <a:latin typeface="Aptos"/>
              </a:defRPr>
            </a:pPr>
            <a:r>
              <a:t>High occupancy is above the 95.00% target: permitted gross-up is $0 — no downward adjustment is created.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6656832"/>
            <a:ext cx="11155680" cy="137160"/>
          </a:xfrm>
          <a:prstGeom prst="rect">
            <a:avLst/>
          </a:prstGeom>
          <a:solidFill>
            <a:srgbClr val="F7F9FA"/>
          </a:solidFill>
          <a:ln>
            <a:solidFill>
              <a:srgbClr val="F7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800" b="0">
                <a:solidFill>
                  <a:srgbClr val="536472"/>
                </a:solidFill>
                <a:latin typeface="Aptos"/>
              </a:defRPr>
            </a:pPr>
            <a:r>
              <a:t>Junipergate / Northgale — operational fact pack | supplied case workbook | legal snapshot current through 31 January 2026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28600"/>
            <a:ext cx="11384280" cy="347472"/>
          </a:xfrm>
          <a:prstGeom prst="rect">
            <a:avLst/>
          </a:prstGeom>
          <a:solidFill>
            <a:srgbClr val="F7F9FA"/>
          </a:solidFill>
          <a:ln>
            <a:solidFill>
              <a:srgbClr val="F7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2400" b="1">
                <a:solidFill>
                  <a:srgbClr val="17324D"/>
                </a:solidFill>
                <a:latin typeface="Aptos"/>
              </a:defRPr>
            </a:pPr>
            <a:r>
              <a:t>Authorized reconstruction change record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621792"/>
            <a:ext cx="11155680" cy="256032"/>
          </a:xfrm>
          <a:prstGeom prst="rect">
            <a:avLst/>
          </a:prstGeom>
          <a:solidFill>
            <a:srgbClr val="F7F9FA"/>
          </a:solidFill>
          <a:ln>
            <a:solidFill>
              <a:srgbClr val="F7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000" b="0">
                <a:solidFill>
                  <a:srgbClr val="536472"/>
                </a:solidFill>
                <a:latin typeface="Aptos"/>
              </a:defRPr>
            </a:pPr>
            <a:r>
              <a:t>Source state is preserved; no migration or legacy record is silently overwritten.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47104"/>
            <a:ext cx="11384280" cy="109728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400" b="0">
                <a:solidFill>
                  <a:srgbClr val="18232D"/>
                </a:solidFill>
                <a:latin typeface="Aptos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960120"/>
          <a:ext cx="1110996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212080"/>
                <a:gridCol w="4069080"/>
              </a:tblGrid>
              <a:tr h="57150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Change class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Controlled action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Financial / audit effect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Duplicate removal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TX-210 v1 Superseded retained as lineage; v2 Approved counted once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Bridge effect shown; no duplicate actual cost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Parsing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Text currency normalized; parenthetical TX-170 credit retains negative sign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Credit included once in recoverable actual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</a:tr>
              <a:tr h="57150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Mapping / split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TX-140 and TX-150 split only to component-register evidence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Fixed and variable components recombine to source amount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Support hold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TX-180 unavailable support remains unresolved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Asserted supportable contribution: $0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</a:tr>
              <a:tr h="57150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Gross-up / fee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Fixed portions reclassified to multiplier one; fee base rebuilt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Permitted G/U $34,235; fee $24,962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94360" y="4892040"/>
            <a:ext cx="10515600" cy="685800"/>
          </a:xfrm>
          <a:prstGeom prst="rect">
            <a:avLst/>
          </a:prstGeom>
          <a:solidFill>
            <a:srgbClr val="E9F4F0"/>
          </a:solidFill>
          <a:ln>
            <a:solidFill>
              <a:srgbClr val="B8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400" b="1">
                <a:solidFill>
                  <a:srgbClr val="2D786B"/>
                </a:solidFill>
                <a:latin typeface="Aptos"/>
              </a:defRPr>
            </a:pPr>
            <a:r>
              <a:t>Resulting building-level supportable pool  $774,197  = recoverable actual $715,000 + permitted gross-up $34,235 + permitted fee $24,962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6656832"/>
            <a:ext cx="11155680" cy="137160"/>
          </a:xfrm>
          <a:prstGeom prst="rect">
            <a:avLst/>
          </a:prstGeom>
          <a:solidFill>
            <a:srgbClr val="F7F9FA"/>
          </a:solidFill>
          <a:ln>
            <a:solidFill>
              <a:srgbClr val="F7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800" b="0">
                <a:solidFill>
                  <a:srgbClr val="536472"/>
                </a:solidFill>
                <a:latin typeface="Aptos"/>
              </a:defRPr>
            </a:pPr>
            <a:r>
              <a:t>Junipergate / Northgale — operational fact pack | supplied case workbook | legal snapshot current through 31 January 2026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28600"/>
            <a:ext cx="11384280" cy="347472"/>
          </a:xfrm>
          <a:prstGeom prst="rect">
            <a:avLst/>
          </a:prstGeom>
          <a:solidFill>
            <a:srgbClr val="F7F9FA"/>
          </a:solidFill>
          <a:ln>
            <a:solidFill>
              <a:srgbClr val="F7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2400" b="1">
                <a:solidFill>
                  <a:srgbClr val="17324D"/>
                </a:solidFill>
                <a:latin typeface="Aptos"/>
              </a:defRPr>
            </a:pPr>
            <a:r>
              <a:t>Immediate review and transition-period procedure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621792"/>
            <a:ext cx="11155680" cy="256032"/>
          </a:xfrm>
          <a:prstGeom prst="rect">
            <a:avLst/>
          </a:prstGeom>
          <a:solidFill>
            <a:srgbClr val="F7F9FA"/>
          </a:solidFill>
          <a:ln>
            <a:solidFill>
              <a:srgbClr val="F7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000" b="0">
                <a:solidFill>
                  <a:srgbClr val="536472"/>
                </a:solidFill>
                <a:latin typeface="Aptos"/>
              </a:defRPr>
            </a:pPr>
            <a:r>
              <a:t>Six-hour fallback is risk-based; it is not an invoice-by-invoice re-pull.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47104"/>
            <a:ext cx="11384280" cy="109728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400" b="0">
                <a:solidFill>
                  <a:srgbClr val="18232D"/>
                </a:solidFill>
                <a:latin typeface="Aptos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005840"/>
          <a:ext cx="1110996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5852160"/>
                <a:gridCol w="3886200"/>
              </a:tblGrid>
              <a:tr h="43434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Time box / owner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Executable action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Escalation / output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</a:tr>
              <a:tr h="43434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0.5 hr | Gabriel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Lock source export; filter to transaction rows; confirm hidden / duplicate / text-sign records.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Exception register includes source ID, version, support status and legacy label.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2.0 hr | Gabriel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Review high-dollar, migration-affected, gross-up-sensitive and ambiguous TX-140 / TX-150 against available support.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Hold unavailable or conflicting support at $0; do not infer replacement support.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</a:tr>
              <a:tr h="43434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1.5 hr | Paloma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Validate tenant share, exclusions, fee base and treatment attributes against supplied lease extract.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Lease-treatment exception goes to Noor / Sofia gate; code alone cannot resolve it.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1.0 hr | Antoni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Confirm approved code mapping and effective-date control for reviewed lines.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Ambiguous split stays exception; retain legacy source lineage.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</a:tr>
              <a:tr h="43434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1.0 hr | Noor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Reconcile bridge, record coverage limit and assemble factual pack.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Lower-risk items rely on existing Available status; not revalidated invoice-by-invoice.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94360" y="4069080"/>
            <a:ext cx="10515600" cy="1097280"/>
          </a:xfrm>
          <a:prstGeom prst="rect">
            <a:avLst/>
          </a:prstGeom>
          <a:solidFill>
            <a:srgbClr val="E2EEF3"/>
          </a:solidFill>
          <a:ln>
            <a:solidFill>
              <a:srgbClr val="C4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300" b="1">
                <a:solidFill>
                  <a:srgbClr val="17324D"/>
                </a:solidFill>
                <a:latin typeface="Aptos"/>
              </a:defRPr>
            </a:pPr>
            <a:r>
              <a:t>Transition dual reference: preserve immutable Source ID + legacy description + version; attach approved enterprise code and separate lease-treatment attribute. Combined lines require component evidence and named review. Unsupported split = hold / exception, never a forced classification.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6656832"/>
            <a:ext cx="11155680" cy="137160"/>
          </a:xfrm>
          <a:prstGeom prst="rect">
            <a:avLst/>
          </a:prstGeom>
          <a:solidFill>
            <a:srgbClr val="F7F9FA"/>
          </a:solidFill>
          <a:ln>
            <a:solidFill>
              <a:srgbClr val="F7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800" b="0">
                <a:solidFill>
                  <a:srgbClr val="536472"/>
                </a:solidFill>
                <a:latin typeface="Aptos"/>
              </a:defRPr>
            </a:pPr>
            <a:r>
              <a:t>Junipergate / Northgale — operational fact pack | supplied case workbook | legal snapshot current through 31 January 2026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28600"/>
            <a:ext cx="11384280" cy="347472"/>
          </a:xfrm>
          <a:prstGeom prst="rect">
            <a:avLst/>
          </a:prstGeom>
          <a:solidFill>
            <a:srgbClr val="F7F9FA"/>
          </a:solidFill>
          <a:ln>
            <a:solidFill>
              <a:srgbClr val="F7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2400" b="1">
                <a:solidFill>
                  <a:srgbClr val="17324D"/>
                </a:solidFill>
                <a:latin typeface="Aptos"/>
              </a:defRPr>
            </a:pPr>
            <a:r>
              <a:t>2026 end-state procedure | controlled enterprise coding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621792"/>
            <a:ext cx="11155680" cy="256032"/>
          </a:xfrm>
          <a:prstGeom prst="rect">
            <a:avLst/>
          </a:prstGeom>
          <a:solidFill>
            <a:srgbClr val="F7F9FA"/>
          </a:solidFill>
          <a:ln>
            <a:solidFill>
              <a:srgbClr val="F7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000" b="0">
                <a:solidFill>
                  <a:srgbClr val="536472"/>
                </a:solidFill>
                <a:latin typeface="Aptos"/>
              </a:defRPr>
            </a:pPr>
            <a:r>
              <a:t>Enterprise codes become primary without losing historical traceability or lease controls.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47104"/>
            <a:ext cx="11384280" cy="109728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400" b="0">
                <a:solidFill>
                  <a:srgbClr val="18232D"/>
                </a:solidFill>
                <a:latin typeface="Aptos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005840"/>
          <a:ext cx="111099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554480"/>
                <a:gridCol w="5303520"/>
                <a:gridCol w="2926080"/>
              </a:tblGrid>
              <a:tr h="51816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Step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Primary owner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Required control / evidence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Exception path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</a:tr>
              <a:tr h="51816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Ingest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Gabriel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Immutable source ID, legacy description, version, amount, support status retained.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Missing source or support → hold queue.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Classify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Antoni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Primary enterprise code from approved, effective-dated mapping; mapping version retained.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No active mapping → block posting / controlled mapping request.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</a:tr>
              <a:tr h="51816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Lease attribute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Paloma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Separate recoverability, fixed/variable and gross-up eligibility attribute; evidence link.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Ambiguous / combined line → component evidence + named lease review.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Approve / post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Noor + control owner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Dual review for material exceptions; preserve original state and approval trail.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Unresolved item excluded from asserted recoverable pool pending disposition.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</a:tr>
              <a:tr h="51816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Reconcile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Gabriel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Monthly source-to-code-to-lease-treatment reconciliation; exception aging.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Escalate material or customer-facing exception to Noor / counsel gate.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94360" y="4709160"/>
            <a:ext cx="10515600" cy="685800"/>
          </a:xfrm>
          <a:prstGeom prst="rect">
            <a:avLst/>
          </a:prstGeom>
          <a:solidFill>
            <a:srgbClr val="E2EEF3"/>
          </a:solidFill>
          <a:ln>
            <a:solidFill>
              <a:srgbClr val="C4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400" b="1">
                <a:solidFill>
                  <a:srgbClr val="17324D"/>
                </a:solidFill>
                <a:latin typeface="Aptos"/>
              </a:defRPr>
            </a:pPr>
            <a:r>
              <a:t>Governance rule: chart-of-accounts classification never changes the lease-treatment field. Mapping changes are effective-dated, approved and auditable; historic lineage is immutable.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6656832"/>
            <a:ext cx="11155680" cy="137160"/>
          </a:xfrm>
          <a:prstGeom prst="rect">
            <a:avLst/>
          </a:prstGeom>
          <a:solidFill>
            <a:srgbClr val="F7F9FA"/>
          </a:solidFill>
          <a:ln>
            <a:solidFill>
              <a:srgbClr val="F7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800" b="0">
                <a:solidFill>
                  <a:srgbClr val="536472"/>
                </a:solidFill>
                <a:latin typeface="Aptos"/>
              </a:defRPr>
            </a:pPr>
            <a:r>
              <a:t>Junipergate / Northgale — operational fact pack | supplied case workbook | legal snapshot current through 31 January 2026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28600"/>
            <a:ext cx="11384280" cy="347472"/>
          </a:xfrm>
          <a:prstGeom prst="rect">
            <a:avLst/>
          </a:prstGeom>
          <a:solidFill>
            <a:srgbClr val="F7F9FA"/>
          </a:solidFill>
          <a:ln>
            <a:solidFill>
              <a:srgbClr val="F7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2400" b="1">
                <a:solidFill>
                  <a:srgbClr val="17324D"/>
                </a:solidFill>
                <a:latin typeface="Aptos"/>
              </a:defRPr>
            </a:pPr>
            <a:r>
              <a:t>Roadmap | gates, owners and dependencies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621792"/>
            <a:ext cx="11155680" cy="256032"/>
          </a:xfrm>
          <a:prstGeom prst="rect">
            <a:avLst/>
          </a:prstGeom>
          <a:solidFill>
            <a:srgbClr val="F7F9FA"/>
          </a:solidFill>
          <a:ln>
            <a:solidFill>
              <a:srgbClr val="F7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000" b="0">
                <a:solidFill>
                  <a:srgbClr val="536472"/>
                </a:solidFill>
                <a:latin typeface="Aptos"/>
              </a:defRPr>
            </a:pPr>
            <a:r>
              <a:t>Counsel’s decision remains a gate. The operational team does not decide the customer response.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47104"/>
            <a:ext cx="11384280" cy="109728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1400" b="0">
                <a:solidFill>
                  <a:srgbClr val="18232D"/>
                </a:solidFill>
                <a:latin typeface="Aptos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960120"/>
          <a:ext cx="1110996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5074920"/>
                <a:gridCol w="4709160"/>
              </a:tblGrid>
              <a:tr h="468629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Date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Milestone / accountable owner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Dependency / outcome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</a:tr>
              <a:tr h="468629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03–11 Feb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Risk-based source review and exception register — Gabriel; lease validation — Paloma; mapping validation — Antoni; coordination — Noor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Six-hour review allocation; source and treatment exceptions held visible.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12 Feb 2026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Review version delivered — Noor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Bridge, line appendix, scenarios and limitations ready for counsel review.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</a:tr>
              <a:tr h="468629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20 Feb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Counsel decision gate — Sofia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Customer response, legal position and any credit authorization reserved to Sofia.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After counsel gate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Customer-response handling — Noor / Sofia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Only authorized response and any approved posting / communication proceeds.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</a:tr>
              <a:tr h="468629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01 Mar–30 Apr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Transition controls and mapping build — Antoni / Paloma / Gabriel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Effective-dated mapping, lease attribute, source lineage and exception workflow configured.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01 May 2026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End-state cutover — Antoni / Gabriel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Enterprise codes primary; controlled posting gate active.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</a:tr>
              <a:tr h="468636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31 May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Post-cutover validation — Gabriel / Noor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10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Source-to-code-to-lease treatment reconciliation; aging exceptions escalated.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5074920"/>
          <a:ext cx="1051560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5212080"/>
                <a:gridCol w="2468880"/>
              </a:tblGrid>
              <a:tr h="22860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Implementation cost | one-time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Calculation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17324D"/>
                    </a:solidFill>
                  </a:tcPr>
                </a:tc>
              </a:tr>
              <a:tr h="22860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Transition effort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supplied hours × supplied rates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$2,450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Recurring control effort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shown separately: Gabriel 2 hrs/month, Paloma 1 hrs/month, Antoni 1.5 hrs/month, Noor 1 hrs/month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>
                        <a:defRPr sz="900" b="0">
                          <a:solidFill>
                            <a:srgbClr val="18232D"/>
                          </a:solidFill>
                          <a:latin typeface="Aptos"/>
                        </a:defRPr>
                      </a:pPr>
                      <a:r>
                        <a:t>Not added to one-time cost</a:t>
                      </a:r>
                    </a:p>
                  </a:txBody>
                  <a:tcPr anchor="ctr">
                    <a:solidFill>
                      <a:srgbClr val="EAF1F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38912" y="6656832"/>
            <a:ext cx="11155680" cy="137160"/>
          </a:xfrm>
          <a:prstGeom prst="rect">
            <a:avLst/>
          </a:prstGeom>
          <a:solidFill>
            <a:srgbClr val="F7F9FA"/>
          </a:solidFill>
          <a:ln>
            <a:solidFill>
              <a:srgbClr val="F7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defRPr sz="800" b="0">
                <a:solidFill>
                  <a:srgbClr val="536472"/>
                </a:solidFill>
                <a:latin typeface="Aptos"/>
              </a:defRPr>
            </a:pPr>
            <a:r>
              <a:t>Junipergate / Northgale — operational fact pack | supplied case workbook | legal snapshot current through 31 January 2026 |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