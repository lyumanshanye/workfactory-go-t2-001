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7955279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1" i="0">
                <a:solidFill>
                  <a:srgbClr val="005B60"/>
                </a:solidFill>
                <a:latin typeface="Aptos"/>
              </a:rPr>
              <a:t>DECISION MEMO  /  22 SEPTEMBER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11064240" cy="9144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3100" b="1" i="0">
                <a:solidFill>
                  <a:srgbClr val="121F30"/>
                </a:solidFill>
                <a:latin typeface="Aptos"/>
              </a:rPr>
              <a:t>Hold a bounded position
for Ravensmoor's hosted ERP move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2084831"/>
            <a:ext cx="1069848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0" i="0">
                <a:solidFill>
                  <a:srgbClr val="5C6977"/>
                </a:solidFill>
                <a:latin typeface="Aptos"/>
              </a:rPr>
              <a:t>Aleksy Calderon  |  Information Systems Manager  |  Elmsworth Solutions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852928"/>
            <a:ext cx="10972800" cy="960120"/>
          </a:xfrm>
          <a:prstGeom prst="roundRect">
            <a:avLst>
              <a:gd name="adj" fmla="val 8000"/>
            </a:avLst>
          </a:prstGeom>
          <a:solidFill>
            <a:srgbClr val="F6F8FA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3054096"/>
            <a:ext cx="1417320" cy="23774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1" i="0">
                <a:solidFill>
                  <a:srgbClr val="005B60"/>
                </a:solidFill>
                <a:latin typeface="Aptos"/>
              </a:rPr>
              <a:t>SITUATION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2990088"/>
            <a:ext cx="914400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 i="0">
                <a:solidFill>
                  <a:srgbClr val="202B37"/>
                </a:solidFill>
                <a:latin typeface="Aptos"/>
              </a:rPr>
              <a:t>Vendor retires the on-premises edition in 11 months and has quoted hosted migration at 2.3× current annual maintenance.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4187952"/>
            <a:ext cx="3291840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1" i="0">
                <a:solidFill>
                  <a:srgbClr val="005B60"/>
                </a:solidFill>
                <a:latin typeface="Aptos"/>
              </a:rPr>
              <a:t>KNOWN FACTS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4462272"/>
            <a:ext cx="3337560" cy="10058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 i="0">
                <a:solidFill>
                  <a:srgbClr val="202B37"/>
                </a:solidFill>
                <a:latin typeface="Aptos"/>
              </a:rPr>
              <a:t>•  Sites in England + Republic of Ireland
•  Phased go-live is possible
•  Exit extraction is separately charged today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4187952"/>
            <a:ext cx="3337560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1" i="0">
                <a:solidFill>
                  <a:srgbClr val="005B60"/>
                </a:solidFill>
                <a:latin typeface="Aptos"/>
              </a:rPr>
              <a:t>AUTHORITY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4462272"/>
            <a:ext cx="3337560" cy="10058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 i="0">
                <a:solidFill>
                  <a:srgbClr val="202B37"/>
                </a:solidFill>
                <a:latin typeface="Aptos"/>
              </a:rPr>
              <a:t>Three-year average subscription ≤ 1.75×M.
One-time migration services sit outside that ceiling and need separate control.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45552" y="4187952"/>
            <a:ext cx="3246120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1" i="0">
                <a:solidFill>
                  <a:srgbClr val="005B60"/>
                </a:solidFill>
                <a:latin typeface="Aptos"/>
              </a:rPr>
              <a:t>CALL OUTCOME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45552" y="4462272"/>
            <a:ext cx="3246120" cy="10058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 i="0">
                <a:solidFill>
                  <a:srgbClr val="202B37"/>
                </a:solidFill>
                <a:latin typeface="Aptos"/>
              </a:rPr>
              <a:t>Open once, trade in order, and do not accept a commitment outside Aleksy's envelope.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5897880"/>
            <a:ext cx="10789920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50" b="0" i="1">
                <a:solidFill>
                  <a:srgbClr val="5C6977"/>
                </a:solidFill>
                <a:latin typeface="Aptos"/>
              </a:rPr>
              <a:t>M = current annual maintenance (normalized unit; no underlying spend assumed).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6510528"/>
            <a:ext cx="11201400" cy="10972"/>
          </a:xfrm>
          <a:prstGeom prst="rect">
            <a:avLst/>
          </a:prstGeom>
          <a:solidFill>
            <a:srgbClr val="DAE1E7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" y="6565392"/>
            <a:ext cx="82296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50" b="0" i="0">
                <a:solidFill>
                  <a:srgbClr val="5C6977"/>
                </a:solidFill>
                <a:latin typeface="Aptos"/>
              </a:rPr>
              <a:t>Elmsworth Solutions  |  Internal call brief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547104"/>
            <a:ext cx="6858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50" b="0" i="0">
                <a:solidFill>
                  <a:srgbClr val="5C6977"/>
                </a:solidFill>
                <a:latin typeface="Aptos"/>
              </a:rPr>
              <a:t>01 / 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8589"/>
          </a:solidFill>
          <a:ln>
            <a:solidFill>
              <a:srgbClr val="0085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06424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1" i="0">
                <a:solidFill>
                  <a:srgbClr val="005B60"/>
                </a:solidFill>
                <a:latin typeface="Aptos"/>
              </a:rPr>
              <a:t>01  /  OPENING 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76656"/>
            <a:ext cx="1106424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700" b="1" i="0">
                <a:solidFill>
                  <a:srgbClr val="121F30"/>
                </a:solidFill>
                <a:latin typeface="Aptos"/>
              </a:rPr>
              <a:t>One package to put first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1261872"/>
            <a:ext cx="10972800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50" b="0" i="0">
                <a:solidFill>
                  <a:srgbClr val="5C6977"/>
                </a:solidFill>
                <a:latin typeface="Aptos"/>
              </a:rPr>
              <a:t>A credible anchor below Sasha's ceiling, with terms that control delivery and exit.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3657600" cy="4160520"/>
          </a:xfrm>
          <a:prstGeom prst="roundRect">
            <a:avLst>
              <a:gd name="adj" fmla="val 8000"/>
            </a:avLst>
          </a:prstGeom>
          <a:solidFill>
            <a:srgbClr val="121F30"/>
          </a:solidFill>
          <a:ln>
            <a:solidFill>
              <a:srgbClr val="121F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029968"/>
            <a:ext cx="310896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1" i="0">
                <a:solidFill>
                  <a:srgbClr val="ECAB3C"/>
                </a:solidFill>
                <a:latin typeface="Aptos"/>
              </a:rPr>
              <a:t>OPENING ASK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468880"/>
            <a:ext cx="3063240" cy="6858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ptos"/>
              </a:rPr>
              <a:t>1.30× M
three-year average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319272"/>
            <a:ext cx="2907792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 i="0">
                <a:solidFill>
                  <a:srgbClr val="E0F4F1"/>
                </a:solidFill>
                <a:latin typeface="Aptos"/>
              </a:rPr>
              <a:t>Illustrative path: 1.25× / 1.30× / 1.35× 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4069080"/>
            <a:ext cx="2926080" cy="10972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Aptos"/>
              </a:rPr>
              <a:t>Put this package first. It leaves room to move while staying below the authorised 1.75× average.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5440680"/>
            <a:ext cx="283464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1" i="0">
                <a:solidFill>
                  <a:srgbClr val="ECAB3C"/>
                </a:solidFill>
                <a:latin typeface="Aptos"/>
              </a:rPr>
              <a:t>POSITION, not a vendor commitment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60" y="1783080"/>
            <a:ext cx="7178040" cy="4160520"/>
          </a:xfrm>
          <a:prstGeom prst="roundRect">
            <a:avLst>
              <a:gd name="adj" fmla="val 8000"/>
            </a:avLst>
          </a:prstGeom>
          <a:solidFill>
            <a:srgbClr val="F6F8FA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0" y="2029968"/>
            <a:ext cx="649224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1" i="0">
                <a:solidFill>
                  <a:srgbClr val="005B60"/>
                </a:solidFill>
                <a:latin typeface="Aptos"/>
              </a:rPr>
              <a:t>THE PACKAGE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54880" y="2487168"/>
            <a:ext cx="100584" cy="100584"/>
          </a:xfrm>
          <a:prstGeom prst="rect">
            <a:avLst/>
          </a:prstGeom>
          <a:solidFill>
            <a:srgbClr val="005B60"/>
          </a:solidFill>
          <a:ln>
            <a:solidFill>
              <a:srgbClr val="005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37760" y="2423160"/>
            <a:ext cx="6217920" cy="585216"/>
          </a:xfrm>
          <a:prstGeom prst="rect">
            <a:avLst/>
          </a:prstGeom>
          <a:noFill/>
        </p:spPr>
        <p:txBody>
          <a:bodyPr wrap="square" lIns="73152" rIns="45720" bIns="27432">
            <a:spAutoFit/>
          </a:bodyPr>
          <a:lstStyle/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400" b="1">
                <a:solidFill>
                  <a:srgbClr val="005B60"/>
                </a:solidFill>
                <a:latin typeface="Aptos"/>
              </a:rPr>
              <a:t>Price  </a:t>
            </a:r>
            <a:r>
              <a:rPr sz="1400">
                <a:solidFill>
                  <a:srgbClr val="202B37"/>
                </a:solidFill>
                <a:latin typeface="Aptos"/>
              </a:rPr>
              <a:t>Three-year subscription path above; no uncapped renewal escalator. Proposed cap: 3% annually.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54880" y="3154679"/>
            <a:ext cx="100584" cy="100584"/>
          </a:xfrm>
          <a:prstGeom prst="rect">
            <a:avLst/>
          </a:prstGeom>
          <a:solidFill>
            <a:srgbClr val="005B60"/>
          </a:solidFill>
          <a:ln>
            <a:solidFill>
              <a:srgbClr val="005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37760" y="3090672"/>
            <a:ext cx="6217920" cy="585216"/>
          </a:xfrm>
          <a:prstGeom prst="rect">
            <a:avLst/>
          </a:prstGeom>
          <a:noFill/>
        </p:spPr>
        <p:txBody>
          <a:bodyPr wrap="square" lIns="73152" rIns="45720" bIns="27432">
            <a:spAutoFit/>
          </a:bodyPr>
          <a:lstStyle/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400" b="1">
                <a:solidFill>
                  <a:srgbClr val="005B60"/>
                </a:solidFill>
                <a:latin typeface="Aptos"/>
              </a:rPr>
              <a:t>Transition  </a:t>
            </a:r>
            <a:r>
              <a:rPr sz="1400">
                <a:solidFill>
                  <a:srgbClr val="202B37"/>
                </a:solidFill>
                <a:latin typeface="Aptos"/>
              </a:rPr>
              <a:t>Phased go-live plan, named vendor transition lead, and milestone acceptance.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54880" y="3822192"/>
            <a:ext cx="100584" cy="100584"/>
          </a:xfrm>
          <a:prstGeom prst="rect">
            <a:avLst/>
          </a:prstGeom>
          <a:solidFill>
            <a:srgbClr val="005B60"/>
          </a:solidFill>
          <a:ln>
            <a:solidFill>
              <a:srgbClr val="005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37760" y="3758184"/>
            <a:ext cx="6217920" cy="585216"/>
          </a:xfrm>
          <a:prstGeom prst="rect">
            <a:avLst/>
          </a:prstGeom>
          <a:noFill/>
        </p:spPr>
        <p:txBody>
          <a:bodyPr wrap="square" lIns="73152" rIns="45720" bIns="27432">
            <a:spAutoFit/>
          </a:bodyPr>
          <a:lstStyle/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400" b="1">
                <a:solidFill>
                  <a:srgbClr val="005B60"/>
                </a:solidFill>
                <a:latin typeface="Aptos"/>
              </a:rPr>
              <a:t>Services  </a:t>
            </a:r>
            <a:r>
              <a:rPr sz="1400">
                <a:solidFill>
                  <a:srgbClr val="202B37"/>
                </a:solidFill>
                <a:latin typeface="Aptos"/>
              </a:rPr>
              <a:t>Migration services priced once, itemised and agreed separately from recurring subscription.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54880" y="4489704"/>
            <a:ext cx="100584" cy="100584"/>
          </a:xfrm>
          <a:prstGeom prst="rect">
            <a:avLst/>
          </a:prstGeom>
          <a:solidFill>
            <a:srgbClr val="005B60"/>
          </a:solidFill>
          <a:ln>
            <a:solidFill>
              <a:srgbClr val="005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37760" y="4425696"/>
            <a:ext cx="6217920" cy="731520"/>
          </a:xfrm>
          <a:prstGeom prst="rect">
            <a:avLst/>
          </a:prstGeom>
          <a:noFill/>
        </p:spPr>
        <p:txBody>
          <a:bodyPr wrap="square" lIns="73152" rIns="45720" bIns="27432">
            <a:spAutoFit/>
          </a:bodyPr>
          <a:lstStyle/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400" b="1">
                <a:solidFill>
                  <a:srgbClr val="005B60"/>
                </a:solidFill>
                <a:latin typeface="Aptos"/>
              </a:rPr>
              <a:t>Continuity  </a:t>
            </a:r>
            <a:r>
              <a:rPr sz="1400">
                <a:solidFill>
                  <a:srgbClr val="202B37"/>
                </a:solidFill>
                <a:latin typeface="Aptos"/>
              </a:rPr>
              <a:t>Service levels with meaningful credits; hosting locations and final data-protection terms supplied for review.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0" y="5367528"/>
            <a:ext cx="6400800" cy="320040"/>
          </a:xfrm>
          <a:prstGeom prst="roundRect">
            <a:avLst>
              <a:gd name="adj" fmla="val 8000"/>
            </a:avLst>
          </a:prstGeom>
          <a:solidFill>
            <a:srgbClr val="E0F4F1"/>
          </a:solidFill>
          <a:ln>
            <a:solidFill>
              <a:srgbClr val="E0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19472" y="5431536"/>
            <a:ext cx="603504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50" b="1" i="0">
                <a:solidFill>
                  <a:srgbClr val="005B60"/>
                </a:solidFill>
                <a:latin typeface="Aptos"/>
              </a:rPr>
              <a:t>Never trade away the protected exit term on slide 5.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6510528"/>
            <a:ext cx="11201400" cy="10972"/>
          </a:xfrm>
          <a:prstGeom prst="rect">
            <a:avLst/>
          </a:prstGeom>
          <a:solidFill>
            <a:srgbClr val="DAE1E7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0352" y="6565392"/>
            <a:ext cx="82296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50" b="0" i="0">
                <a:solidFill>
                  <a:srgbClr val="5C6977"/>
                </a:solidFill>
                <a:latin typeface="Aptos"/>
              </a:rPr>
              <a:t>Elmsworth Solutions  |  Internal call brief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547104"/>
            <a:ext cx="6858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50" b="0" i="0">
                <a:solidFill>
                  <a:srgbClr val="5C6977"/>
                </a:solidFill>
                <a:latin typeface="Aptos"/>
              </a:rPr>
              <a:t>02 / 05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8589"/>
          </a:solidFill>
          <a:ln>
            <a:solidFill>
              <a:srgbClr val="0085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06424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1" i="0">
                <a:solidFill>
                  <a:srgbClr val="005B60"/>
                </a:solidFill>
                <a:latin typeface="Aptos"/>
              </a:rPr>
              <a:t>02  /  LIVE-CALL LADDER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76656"/>
            <a:ext cx="1106424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700" b="1" i="0">
                <a:solidFill>
                  <a:srgbClr val="121F30"/>
                </a:solidFill>
                <a:latin typeface="Aptos"/>
              </a:rPr>
              <a:t>Trade only in this order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1261872"/>
            <a:ext cx="10972800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50" b="0" i="0">
                <a:solidFill>
                  <a:srgbClr val="5C6977"/>
                </a:solidFill>
                <a:latin typeface="Aptos"/>
              </a:rPr>
              <a:t>Every Elmsworth move buys a specific vendor return. Exit-related flexibility starts only after two vendor concessions.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74519"/>
            <a:ext cx="2468880" cy="3977639"/>
          </a:xfrm>
          <a:prstGeom prst="roundRect">
            <a:avLst>
              <a:gd name="adj" fmla="val 8000"/>
            </a:avLst>
          </a:prstGeom>
          <a:solidFill>
            <a:srgbClr val="F6F8FA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1874519"/>
            <a:ext cx="2468880" cy="457200"/>
          </a:xfrm>
          <a:prstGeom prst="roundRect">
            <a:avLst>
              <a:gd name="adj" fmla="val 8000"/>
            </a:avLst>
          </a:prstGeom>
          <a:solidFill>
            <a:srgbClr val="005B60"/>
          </a:solidFill>
          <a:ln>
            <a:solidFill>
              <a:srgbClr val="005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975104"/>
            <a:ext cx="292608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1956816"/>
            <a:ext cx="17830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ptos"/>
              </a:rPr>
              <a:t>Reference call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560320"/>
            <a:ext cx="2057400" cy="2103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1" i="0">
                <a:solidFill>
                  <a:srgbClr val="005B60"/>
                </a:solidFill>
                <a:latin typeface="Aptos"/>
              </a:rPr>
              <a:t>ELMSWORTH GIVES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834640"/>
            <a:ext cx="2103120" cy="10972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50" b="0" i="0">
                <a:solidFill>
                  <a:srgbClr val="202B37"/>
                </a:solidFill>
                <a:latin typeface="Aptos"/>
              </a:rPr>
              <a:t>Bounded customer reference: one call, pre-approved message, no logo use.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8" y="4069080"/>
            <a:ext cx="2057400" cy="10972"/>
          </a:xfrm>
          <a:prstGeom prst="rect">
            <a:avLst/>
          </a:prstGeom>
          <a:solidFill>
            <a:srgbClr val="DAE1E7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4261104"/>
            <a:ext cx="2057400" cy="2103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1" i="0">
                <a:solidFill>
                  <a:srgbClr val="005B60"/>
                </a:solidFill>
                <a:latin typeface="Aptos"/>
              </a:rPr>
              <a:t>VENDOR MUST GIVE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4535424"/>
            <a:ext cx="2103120" cy="10058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50" b="1" i="0">
                <a:solidFill>
                  <a:srgbClr val="202B37"/>
                </a:solidFill>
                <a:latin typeface="Aptos"/>
              </a:rPr>
              <a:t>Vendor lowers average to 1.25×M and caps annual uplift at 2.5%.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46120" y="1874519"/>
            <a:ext cx="2468880" cy="3977639"/>
          </a:xfrm>
          <a:prstGeom prst="roundRect">
            <a:avLst>
              <a:gd name="adj" fmla="val 8000"/>
            </a:avLst>
          </a:prstGeom>
          <a:solidFill>
            <a:srgbClr val="F6F8FA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246120" y="1874519"/>
            <a:ext cx="2468880" cy="457200"/>
          </a:xfrm>
          <a:prstGeom prst="roundRect">
            <a:avLst>
              <a:gd name="adj" fmla="val 8000"/>
            </a:avLst>
          </a:prstGeom>
          <a:solidFill>
            <a:srgbClr val="005B60"/>
          </a:solidFill>
          <a:ln>
            <a:solidFill>
              <a:srgbClr val="005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10712" y="1975104"/>
            <a:ext cx="292608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39" y="1956816"/>
            <a:ext cx="17830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ptos"/>
              </a:rPr>
              <a:t>Phased go-live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9000" y="2560320"/>
            <a:ext cx="2057400" cy="2103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1" i="0">
                <a:solidFill>
                  <a:srgbClr val="005B60"/>
                </a:solidFill>
                <a:latin typeface="Aptos"/>
              </a:rPr>
              <a:t>ELMSWORTH GIVES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29000" y="2834640"/>
            <a:ext cx="2103120" cy="10972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50" b="0" i="0">
                <a:solidFill>
                  <a:srgbClr val="202B37"/>
                </a:solidFill>
                <a:latin typeface="Aptos"/>
              </a:rPr>
              <a:t>Accept a phased schedule if operational cutover criteria are written.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29000" y="4069080"/>
            <a:ext cx="2057400" cy="10972"/>
          </a:xfrm>
          <a:prstGeom prst="rect">
            <a:avLst/>
          </a:prstGeom>
          <a:solidFill>
            <a:srgbClr val="DAE1E7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29000" y="4261104"/>
            <a:ext cx="2057400" cy="2103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1" i="0">
                <a:solidFill>
                  <a:srgbClr val="005B60"/>
                </a:solidFill>
                <a:latin typeface="Aptos"/>
              </a:rPr>
              <a:t>VENDOR MUST GIVE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29000" y="4535424"/>
            <a:ext cx="2103120" cy="10058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50" b="1" i="0">
                <a:solidFill>
                  <a:srgbClr val="202B37"/>
                </a:solidFill>
                <a:latin typeface="Aptos"/>
              </a:rPr>
              <a:t>Vendor fixes migration scope/price, names a lead and adds milestone acceptance.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1874519"/>
            <a:ext cx="2468880" cy="3977639"/>
          </a:xfrm>
          <a:prstGeom prst="roundRect">
            <a:avLst>
              <a:gd name="adj" fmla="val 8000"/>
            </a:avLst>
          </a:prstGeom>
          <a:solidFill>
            <a:srgbClr val="F6F8FA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400800" y="1874519"/>
            <a:ext cx="2468880" cy="457200"/>
          </a:xfrm>
          <a:prstGeom prst="roundRect">
            <a:avLst>
              <a:gd name="adj" fmla="val 8000"/>
            </a:avLst>
          </a:prstGeom>
          <a:solidFill>
            <a:srgbClr val="005B60"/>
          </a:solidFill>
          <a:ln>
            <a:solidFill>
              <a:srgbClr val="005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65392" y="1975104"/>
            <a:ext cx="292608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1956816"/>
            <a:ext cx="17830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ptos"/>
              </a:rPr>
              <a:t>Exit rehearsal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2560320"/>
            <a:ext cx="2057400" cy="2103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1" i="0">
                <a:solidFill>
                  <a:srgbClr val="005B60"/>
                </a:solidFill>
                <a:latin typeface="Aptos"/>
              </a:rPr>
              <a:t>ELMSWORTH GIVES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2834640"/>
            <a:ext cx="2103120" cy="10972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50" b="0" i="0">
                <a:solidFill>
                  <a:srgbClr val="202B37"/>
                </a:solidFill>
                <a:latin typeface="Aptos"/>
              </a:rPr>
              <a:t>After rungs 1–2 only: allow a quarterly export rehearsal and data-mapping workshop.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0" y="4069080"/>
            <a:ext cx="2057400" cy="10972"/>
          </a:xfrm>
          <a:prstGeom prst="rect">
            <a:avLst/>
          </a:prstGeom>
          <a:solidFill>
            <a:srgbClr val="DAE1E7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0" y="4261104"/>
            <a:ext cx="2057400" cy="2103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1" i="0">
                <a:solidFill>
                  <a:srgbClr val="005B60"/>
                </a:solidFill>
                <a:latin typeface="Aptos"/>
              </a:rPr>
              <a:t>VENDOR MUST GIVE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4535424"/>
            <a:ext cx="2103120" cy="10058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50" b="1" i="0">
                <a:solidFill>
                  <a:srgbClr val="202B37"/>
                </a:solidFill>
                <a:latin typeface="Aptos"/>
              </a:rPr>
              <a:t>Vendor funds the rehearsal, provides 90-day exit assistance and documents processing locations.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555480" y="1874519"/>
            <a:ext cx="2468880" cy="3977639"/>
          </a:xfrm>
          <a:prstGeom prst="roundRect">
            <a:avLst>
              <a:gd name="adj" fmla="val 8000"/>
            </a:avLst>
          </a:prstGeom>
          <a:solidFill>
            <a:srgbClr val="F6F8FA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555480" y="1874519"/>
            <a:ext cx="2468880" cy="457200"/>
          </a:xfrm>
          <a:prstGeom prst="roundRect">
            <a:avLst>
              <a:gd name="adj" fmla="val 8000"/>
            </a:avLst>
          </a:prstGeom>
          <a:solidFill>
            <a:srgbClr val="005B60"/>
          </a:solidFill>
          <a:ln>
            <a:solidFill>
              <a:srgbClr val="005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20072" y="1975104"/>
            <a:ext cx="292608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0" y="1956816"/>
            <a:ext cx="17830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ptos"/>
              </a:rPr>
              <a:t>Case study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38359" y="2560320"/>
            <a:ext cx="2057400" cy="2103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1" i="0">
                <a:solidFill>
                  <a:srgbClr val="005B60"/>
                </a:solidFill>
                <a:latin typeface="Aptos"/>
              </a:rPr>
              <a:t>ELMSWORTH GIVES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38359" y="2834640"/>
            <a:ext cx="2103120" cy="10972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50" b="0" i="0">
                <a:solidFill>
                  <a:srgbClr val="202B37"/>
                </a:solidFill>
                <a:latin typeface="Aptos"/>
              </a:rPr>
              <a:t>Only if still needed: a controlled, anonymised case study after go-live.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738359" y="4069080"/>
            <a:ext cx="2057400" cy="10972"/>
          </a:xfrm>
          <a:prstGeom prst="rect">
            <a:avLst/>
          </a:prstGeom>
          <a:solidFill>
            <a:srgbClr val="DAE1E7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738359" y="4261104"/>
            <a:ext cx="2057400" cy="2103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1" i="0">
                <a:solidFill>
                  <a:srgbClr val="005B60"/>
                </a:solidFill>
                <a:latin typeface="Aptos"/>
              </a:rPr>
              <a:t>VENDOR MUST GIVE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38359" y="4535424"/>
            <a:ext cx="2103120" cy="10058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50" b="1" i="0">
                <a:solidFill>
                  <a:srgbClr val="202B37"/>
                </a:solidFill>
                <a:latin typeface="Aptos"/>
              </a:rPr>
              <a:t>Vendor moves to ≤1.55×M average, keeps the finite 3% cap and adds service credits.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4360" y="6071616"/>
            <a:ext cx="1097280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1" i="0">
                <a:solidFill>
                  <a:srgbClr val="AE4343"/>
                </a:solidFill>
                <a:latin typeface="Aptos"/>
              </a:rPr>
              <a:t>Stop the ladder if the return is not written into the order form, schedule or contract change.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2920" y="6510528"/>
            <a:ext cx="11201400" cy="10972"/>
          </a:xfrm>
          <a:prstGeom prst="rect">
            <a:avLst/>
          </a:prstGeom>
          <a:solidFill>
            <a:srgbClr val="DAE1E7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30352" y="6565392"/>
            <a:ext cx="82296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50" b="0" i="0">
                <a:solidFill>
                  <a:srgbClr val="5C6977"/>
                </a:solidFill>
                <a:latin typeface="Aptos"/>
              </a:rPr>
              <a:t>Elmsworth Solutions  |  Internal call brief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972800" y="6547104"/>
            <a:ext cx="6858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50" b="0" i="0">
                <a:solidFill>
                  <a:srgbClr val="5C6977"/>
                </a:solidFill>
                <a:latin typeface="Aptos"/>
              </a:rPr>
              <a:t>03 / 05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8589"/>
          </a:solidFill>
          <a:ln>
            <a:solidFill>
              <a:srgbClr val="0085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06424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1" i="0">
                <a:solidFill>
                  <a:srgbClr val="005B60"/>
                </a:solidFill>
                <a:latin typeface="Aptos"/>
              </a:rPr>
              <a:t>03  /  NORMALIZED COMMERCIAL EFFECT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76656"/>
            <a:ext cx="1106424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700" b="1" i="0">
                <a:solidFill>
                  <a:srgbClr val="121F30"/>
                </a:solidFill>
                <a:latin typeface="Aptos"/>
              </a:rPr>
              <a:t>Three-year view using 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1261872"/>
            <a:ext cx="10972800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50" b="0" i="0">
                <a:solidFill>
                  <a:srgbClr val="5C6977"/>
                </a:solidFill>
                <a:latin typeface="Aptos"/>
              </a:rPr>
              <a:t>Same baseline and period make the trade-off visible to Finance; migration services are shown separately.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10972800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 i="1">
                <a:solidFill>
                  <a:srgbClr val="5C6977"/>
                </a:solidFill>
                <a:latin typeface="Aptos"/>
              </a:rPr>
              <a:t>Illustrative subscription-only scenarios  |  M = current annual maintenance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148840"/>
            <a:ext cx="10927080" cy="502920"/>
          </a:xfrm>
          <a:prstGeom prst="roundRect">
            <a:avLst>
              <a:gd name="adj" fmla="val 8000"/>
            </a:avLst>
          </a:prstGeom>
          <a:solidFill>
            <a:srgbClr val="121F30"/>
          </a:solidFill>
          <a:ln>
            <a:solidFill>
              <a:srgbClr val="121F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304288"/>
            <a:ext cx="283464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ptos"/>
              </a:rPr>
              <a:t>SCENARIO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2304288"/>
            <a:ext cx="21031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ptos"/>
              </a:rPr>
              <a:t>YEAR 1 → YEAR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12280" y="2304288"/>
            <a:ext cx="160020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ptos"/>
              </a:rPr>
              <a:t>3-YEAR TOTAL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6840" y="2304288"/>
            <a:ext cx="20116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ptos"/>
              </a:rPr>
              <a:t>AVERAGE / YEAR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697480"/>
            <a:ext cx="10927080" cy="731520"/>
          </a:xfrm>
          <a:prstGeom prst="roundRect">
            <a:avLst>
              <a:gd name="adj" fmla="val 8000"/>
            </a:avLst>
          </a:prstGeom>
          <a:solidFill>
            <a:srgbClr val="F6F8FA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880360"/>
            <a:ext cx="283464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 i="0">
                <a:solidFill>
                  <a:srgbClr val="202B37"/>
                </a:solidFill>
                <a:latin typeface="Aptos"/>
              </a:rPr>
              <a:t>Vendor quote (known)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2880360"/>
            <a:ext cx="22402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0" i="0">
                <a:solidFill>
                  <a:srgbClr val="202B37"/>
                </a:solidFill>
                <a:latin typeface="Aptos"/>
              </a:rPr>
              <a:t>2.30 → 2.30 → 2.30×M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2280" y="2880360"/>
            <a:ext cx="164592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500" b="1" i="0">
                <a:solidFill>
                  <a:srgbClr val="ECAB3C"/>
                </a:solidFill>
                <a:latin typeface="Aptos"/>
              </a:rPr>
              <a:t>6.90×M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06840" y="2880360"/>
            <a:ext cx="20116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500" b="1" i="0">
                <a:solidFill>
                  <a:srgbClr val="ECAB3C"/>
                </a:solidFill>
                <a:latin typeface="Aptos"/>
              </a:rPr>
              <a:t>2.30×M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429000"/>
            <a:ext cx="10927080" cy="731520"/>
          </a:xfrm>
          <a:prstGeom prst="roundRect">
            <a:avLst>
              <a:gd name="adj" fmla="val 8000"/>
            </a:avLst>
          </a:prstGeom>
          <a:solidFill>
            <a:srgbClr val="E0F4F1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611880"/>
            <a:ext cx="283464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 i="0">
                <a:solidFill>
                  <a:srgbClr val="202B37"/>
                </a:solidFill>
                <a:latin typeface="Aptos"/>
              </a:rPr>
              <a:t>Proposed opening (position)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1920" y="3611880"/>
            <a:ext cx="22402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0" i="0">
                <a:solidFill>
                  <a:srgbClr val="202B37"/>
                </a:solidFill>
                <a:latin typeface="Aptos"/>
              </a:rPr>
              <a:t>1.25 → 1.30 → 1.35×M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2280" y="3611880"/>
            <a:ext cx="164592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500" b="1" i="0">
                <a:solidFill>
                  <a:srgbClr val="008589"/>
                </a:solidFill>
                <a:latin typeface="Aptos"/>
              </a:rPr>
              <a:t>3.90×M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06840" y="3611880"/>
            <a:ext cx="20116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500" b="1" i="0">
                <a:solidFill>
                  <a:srgbClr val="008589"/>
                </a:solidFill>
                <a:latin typeface="Aptos"/>
              </a:rPr>
              <a:t>1.30×M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343400"/>
            <a:ext cx="5303520" cy="960120"/>
          </a:xfrm>
          <a:prstGeom prst="roundRect">
            <a:avLst>
              <a:gd name="adj" fmla="val 8000"/>
            </a:avLst>
          </a:prstGeom>
          <a:solidFill>
            <a:srgbClr val="121F30"/>
          </a:solidFill>
          <a:ln>
            <a:solidFill>
              <a:srgbClr val="121F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7824" y="4535424"/>
            <a:ext cx="48463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1" i="0">
                <a:solidFill>
                  <a:srgbClr val="ECAB3C"/>
                </a:solidFill>
                <a:latin typeface="Aptos"/>
              </a:rPr>
              <a:t>INDICATIVE DIFFERENCE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" y="4818888"/>
            <a:ext cx="475488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ptos"/>
              </a:rPr>
              <a:t>3.00×M less over three years  |  43.5% below quote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99632" y="4343400"/>
            <a:ext cx="5367528" cy="960120"/>
          </a:xfrm>
          <a:prstGeom prst="roundRect">
            <a:avLst>
              <a:gd name="adj" fmla="val 8000"/>
            </a:avLst>
          </a:prstGeom>
          <a:solidFill>
            <a:srgbClr val="F6F8FA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28232" y="4535424"/>
            <a:ext cx="48463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1" i="0">
                <a:solidFill>
                  <a:srgbClr val="005B60"/>
                </a:solidFill>
                <a:latin typeface="Aptos"/>
              </a:rPr>
              <a:t>ASSUMPTIONS TO TEST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28232" y="4809744"/>
            <a:ext cx="480060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50" b="0" i="0">
                <a:solidFill>
                  <a:srgbClr val="202B37"/>
                </a:solidFill>
                <a:latin typeface="Aptos"/>
              </a:rPr>
              <a:t>Quote shown at 0% escalation because none was supplied. Opening path uses 3% cap as a proposed term. One-time migration services excluded from both totals and need a separate fixed quote.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5806440"/>
            <a:ext cx="1069848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50" b="1" i="0">
                <a:solidFill>
                  <a:srgbClr val="005B60"/>
                </a:solidFill>
                <a:latin typeface="Aptos"/>
              </a:rPr>
              <a:t>The 11-month deadline gives the vendor leverage; conditional commitment, scope gates and written acceptance preserve ours.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6510528"/>
            <a:ext cx="11201400" cy="10972"/>
          </a:xfrm>
          <a:prstGeom prst="rect">
            <a:avLst/>
          </a:prstGeom>
          <a:solidFill>
            <a:srgbClr val="DAE1E7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0352" y="6565392"/>
            <a:ext cx="82296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50" b="0" i="0">
                <a:solidFill>
                  <a:srgbClr val="5C6977"/>
                </a:solidFill>
                <a:latin typeface="Aptos"/>
              </a:rPr>
              <a:t>Elmsworth Solutions  |  Internal call brief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0" y="6547104"/>
            <a:ext cx="6858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50" b="0" i="0">
                <a:solidFill>
                  <a:srgbClr val="5C6977"/>
                </a:solidFill>
                <a:latin typeface="Aptos"/>
              </a:rPr>
              <a:t>04 / 05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8589"/>
          </a:solidFill>
          <a:ln>
            <a:solidFill>
              <a:srgbClr val="0085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06424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1" i="0">
                <a:solidFill>
                  <a:srgbClr val="005B60"/>
                </a:solidFill>
                <a:latin typeface="Aptos"/>
              </a:rPr>
              <a:t>04  /  BOUNDARIES AND CLOSE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76656"/>
            <a:ext cx="1106424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700" b="1" i="0">
                <a:solidFill>
                  <a:srgbClr val="121F30"/>
                </a:solidFill>
                <a:latin typeface="Aptos"/>
              </a:rPr>
              <a:t>One term never moves; everything else needs an owner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1261872"/>
            <a:ext cx="10972800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50" b="0" i="0">
                <a:solidFill>
                  <a:srgbClr val="5C6977"/>
                </a:solidFill>
                <a:latin typeface="Aptos"/>
              </a:rPr>
              <a:t>Use this wording to stop accidental acceptance and keep Finance and Legal in their lanes.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783080"/>
            <a:ext cx="10972800" cy="1170432"/>
          </a:xfrm>
          <a:prstGeom prst="roundRect">
            <a:avLst>
              <a:gd name="adj" fmla="val 8000"/>
            </a:avLst>
          </a:prstGeom>
          <a:solidFill>
            <a:srgbClr val="FFF6E2"/>
          </a:solidFill>
          <a:ln>
            <a:solidFill>
              <a:srgbClr val="F3CD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65960"/>
            <a:ext cx="237744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1" i="0">
                <a:solidFill>
                  <a:srgbClr val="AE4343"/>
                </a:solidFill>
                <a:latin typeface="Aptos"/>
              </a:rPr>
              <a:t>NON-NEGOTIABLE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267712"/>
            <a:ext cx="1024128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800" b="1" i="0">
                <a:solidFill>
                  <a:srgbClr val="121F30"/>
                </a:solidFill>
                <a:latin typeface="Aptos"/>
              </a:rPr>
              <a:t>At exit, Ravensmoor operational data must be practically exportable in a documented, usable format with no separate extraction fee.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246120"/>
            <a:ext cx="352044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1" i="0">
                <a:solidFill>
                  <a:srgbClr val="005B60"/>
                </a:solidFill>
                <a:latin typeface="Aptos"/>
              </a:rPr>
              <a:t>CALL CONTROL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538728"/>
            <a:ext cx="3520440" cy="9144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50" b="1" i="0">
                <a:solidFill>
                  <a:srgbClr val="202B37"/>
                </a:solidFill>
                <a:latin typeface="Aptos"/>
              </a:rPr>
              <a:t>If that term is refused, say: “We cannot accept this hosted renewal. I will pause today and request a written counterproposal; no commitment is authorised.”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0832" y="3246120"/>
            <a:ext cx="32461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1" i="0">
                <a:solidFill>
                  <a:srgbClr val="005B60"/>
                </a:solidFill>
                <a:latin typeface="Aptos"/>
              </a:rPr>
              <a:t>FINANCE  /  SASHA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70832" y="3538728"/>
            <a:ext cx="3246120" cy="9144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 i="0">
                <a:solidFill>
                  <a:srgbClr val="202B37"/>
                </a:solidFill>
                <a:latin typeface="Aptos"/>
              </a:rPr>
              <a:t>Aleksy may trade within the 1.75×M three-year average envelope. Sasha must approve any over-ceiling exposure before signature. Finance validates the separate migration-services quote.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2127" y="3246120"/>
            <a:ext cx="32461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1" i="0">
                <a:solidFill>
                  <a:srgbClr val="005B60"/>
                </a:solidFill>
                <a:latin typeface="Aptos"/>
              </a:rPr>
              <a:t>LEGAL VALIDATION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82127" y="3538728"/>
            <a:ext cx="3246120" cy="9144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50" b="0" i="0">
                <a:solidFill>
                  <a:srgbClr val="202B37"/>
                </a:solidFill>
                <a:latin typeface="Aptos"/>
              </a:rPr>
              <a:t>England: UK GDPR + Data Protection Act 2018. Republic of Ireland: EU GDPR + Irish supervisory context. Processing locations, transfer arrangements and final DPA terms are unresolved; Legal reviews before acceptance.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4983480"/>
            <a:ext cx="10972800" cy="822960"/>
          </a:xfrm>
          <a:prstGeom prst="roundRect">
            <a:avLst>
              <a:gd name="adj" fmla="val 8000"/>
            </a:avLst>
          </a:prstGeom>
          <a:solidFill>
            <a:srgbClr val="121F30"/>
          </a:solidFill>
          <a:ln>
            <a:solidFill>
              <a:srgbClr val="121F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5193792"/>
            <a:ext cx="1037844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1" i="0">
                <a:solidFill>
                  <a:srgbClr val="ECAB3C"/>
                </a:solidFill>
                <a:latin typeface="Aptos"/>
              </a:rPr>
              <a:t>DO NOT CONFUSE LOCATION WITH LAWFUL TRANSFER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468112"/>
            <a:ext cx="1024128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Aptos"/>
              </a:rPr>
              <a:t>Residency alone does not settle international access. Privacy paperwork complements, but does not replace, contractual exit, continuity and migration-assistance terms.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053328"/>
            <a:ext cx="1097280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50" b="1" i="0">
                <a:solidFill>
                  <a:srgbClr val="005B60"/>
                </a:solidFill>
                <a:latin typeface="Aptos"/>
              </a:rPr>
              <a:t>Mandate: open at 1.30×M average, trade only in order, and stop if fee-free usable export is absent.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6510528"/>
            <a:ext cx="11201400" cy="10972"/>
          </a:xfrm>
          <a:prstGeom prst="rect">
            <a:avLst/>
          </a:prstGeom>
          <a:solidFill>
            <a:srgbClr val="DAE1E7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0352" y="6565392"/>
            <a:ext cx="82296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50" b="0" i="0">
                <a:solidFill>
                  <a:srgbClr val="5C6977"/>
                </a:solidFill>
                <a:latin typeface="Aptos"/>
              </a:rPr>
              <a:t>Elmsworth Solutions  |  Internal call brief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547104"/>
            <a:ext cx="6858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50" b="0" i="0">
                <a:solidFill>
                  <a:srgbClr val="5C6977"/>
                </a:solidFill>
                <a:latin typeface="Aptos"/>
              </a:rPr>
              <a:t>05 / 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