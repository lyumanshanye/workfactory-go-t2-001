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E80"/>
          </a:solidFill>
          <a:ln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502920"/>
            <a:ext cx="32004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007E80"/>
                </a:solidFill>
                <a:latin typeface="Aptos"/>
              </a:rPr>
              <a:t>HOLLOWPINE FIELD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886968"/>
            <a:ext cx="996696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16304A"/>
                </a:solidFill>
                <a:latin typeface="Aptos"/>
              </a:rPr>
              <a:t>Target Site &amp;
Occupancy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856231"/>
            <a:ext cx="969264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5C6976"/>
                </a:solidFill>
                <a:latin typeface="Aptos"/>
              </a:rPr>
              <a:t>For Efua Sundqvist, Facilities Committee, and Legal Counsel | November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04872"/>
            <a:ext cx="10972800" cy="11704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214884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007E80"/>
                </a:solidFill>
                <a:latin typeface="Aptos"/>
              </a:rPr>
              <a:t>DECISION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9504"/>
            <a:ext cx="10012680" cy="4297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6304A"/>
                </a:solidFill>
                <a:latin typeface="Aptos"/>
              </a:rPr>
              <a:t>Approve conditional pursuit of Cedar Ridge Industrial Center - Building 4 as the single target site and phased occupancy configuration.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05072"/>
            <a:ext cx="2926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5C6976"/>
                </a:solidFill>
                <a:latin typeface="Aptos"/>
              </a:rPr>
              <a:t>COMMERCIAL 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251960"/>
            <a:ext cx="5047488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Cedar Ridge is the lowest projected 14-month option ($2.025M) and has documented 650 psf instrument-bay loading. Its exhaust retrofit creates the governing execution risk.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005072"/>
            <a:ext cx="29260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5C6976"/>
                </a:solidFill>
                <a:latin typeface="Aptos"/>
              </a:rPr>
              <a:t>AUTHORITY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251960"/>
            <a:ext cx="5074920" cy="6583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Aptos"/>
              </a:rPr>
              <a:t>Dagny Dunbar recommends commercial site, occupancy, cost, schedule, and contract gates. Callum Yamamoto retains biosafety and isotope-suite technical sign-off.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5257800"/>
            <a:ext cx="915314" cy="256032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5289804"/>
            <a:ext cx="7872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16304A"/>
                </a:solidFill>
                <a:latin typeface="Aptos"/>
              </a:rPr>
              <a:t>SOURCE FACT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257800"/>
            <a:ext cx="731520" cy="256032"/>
          </a:xfrm>
          <a:prstGeom prst="roundRect">
            <a:avLst>
              <a:gd name="adj" fmla="val 6000"/>
            </a:avLst>
          </a:prstGeom>
          <a:solidFill>
            <a:srgbClr val="FFF2CC"/>
          </a:solidFill>
          <a:ln>
            <a:solidFill>
              <a:srgbClr val="FFF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92807" y="5289804"/>
            <a:ext cx="6035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BE7700"/>
                </a:solidFill>
                <a:latin typeface="Aptos"/>
              </a:rPr>
              <a:t>ESTIMATE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5257800"/>
            <a:ext cx="1304848" cy="256032"/>
          </a:xfrm>
          <a:prstGeom prst="roundRect">
            <a:avLst>
              <a:gd name="adj" fmla="val 6000"/>
            </a:avLst>
          </a:prstGeom>
          <a:solidFill>
            <a:srgbClr val="EBF5EE"/>
          </a:solidFill>
          <a:ln>
            <a:solidFill>
              <a:srgbClr val="EBF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35808" y="5289804"/>
            <a:ext cx="11768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267D5B"/>
                </a:solidFill>
                <a:latin typeface="Aptos"/>
              </a:rPr>
              <a:t>PROJECTION /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806440"/>
            <a:ext cx="104241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Aptos"/>
              </a:rPr>
              <a:t>Recommendation is not approval: facilities committee action is requested; no biosafety or regulatory conclusion is made in this deck.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601968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Source: candidate_site_evidence.xlsx | labels distinguish source facts, estimates, projections, and confirmations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601968"/>
            <a:ext cx="61264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5C6976"/>
                </a:solidFill>
                <a:latin typeface="Aptos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0"/>
          </a:solidFill>
          <a:ln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07E80"/>
                </a:solidFill>
                <a:latin typeface="Aptos"/>
              </a:rPr>
              <a:t>OCCUPANCY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6304A"/>
                </a:solidFill>
                <a:latin typeface="Aptos"/>
              </a:rPr>
              <a:t>Recommended configuration: separate functions and permissions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10896"/>
            <a:ext cx="5943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Aptos"/>
              </a:rPr>
              <a:t>2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30352" y="1298448"/>
            <a:ext cx="3346704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" y="1298448"/>
            <a:ext cx="3346704" cy="50292"/>
          </a:xfrm>
          <a:prstGeom prst="roundRect">
            <a:avLst>
              <a:gd name="adj" fmla="val 6000"/>
            </a:avLst>
          </a:prstGeom>
          <a:solidFill>
            <a:srgbClr val="007E80"/>
          </a:solidFill>
          <a:ln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444751"/>
            <a:ext cx="30540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304A"/>
                </a:solidFill>
                <a:latin typeface="Aptos"/>
              </a:rPr>
              <a:t>General occupants | Cedar 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2889504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6304A"/>
                </a:solidFill>
                <a:latin typeface="Aptos"/>
              </a:rPr>
              <a:t>Move to general-area fit-out only at the Month 6 projected milestone.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23160"/>
            <a:ext cx="2834640" cy="123444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General occupancy access is distinct from laboratory access.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No general-user credential authorizes laboratory entry.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286207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Aptos"/>
              </a:rPr>
              <a:t>Commercial occupancy may begin before laboratory readiness; this is the phasing benefit.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1298448"/>
            <a:ext cx="3346704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25696" y="1298448"/>
            <a:ext cx="3346704" cy="50292"/>
          </a:xfrm>
          <a:prstGeom prst="roundRect">
            <a:avLst>
              <a:gd name="adj" fmla="val 6000"/>
            </a:avLst>
          </a:prstGeom>
          <a:solidFill>
            <a:srgbClr val="2C6BB0"/>
          </a:solidFill>
          <a:ln>
            <a:solidFill>
              <a:srgbClr val="2C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444751"/>
            <a:ext cx="30540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304A"/>
                </a:solidFill>
                <a:latin typeface="Aptos"/>
              </a:rPr>
              <a:t>Laboratory group | Cedar 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783080"/>
            <a:ext cx="2880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6304A"/>
                </a:solidFill>
                <a:latin typeface="Aptos"/>
              </a:rPr>
              <a:t>Wet lab, analytical lab, prep, and instrument bay move only after the laboratory gates.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432304"/>
            <a:ext cx="2880360" cy="123444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Controlled laboratory access for laboratory users.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Instrument bay: loading and vibration are separate acceptance tests.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4087368"/>
            <a:ext cx="286207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Aptos"/>
              </a:rPr>
              <a:t>Projected laboratory readiness is Month 11, subject to exhaust, access, and instrument acceptance.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298448"/>
            <a:ext cx="3346704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21040" y="1298448"/>
            <a:ext cx="3346704" cy="50292"/>
          </a:xfrm>
          <a:prstGeom prst="roundRect">
            <a:avLst>
              <a:gd name="adj" fmla="val 6000"/>
            </a:avLst>
          </a:prstGeom>
          <a:solidFill>
            <a:srgbClr val="BE7700"/>
          </a:solidFill>
          <a:ln>
            <a:solidFill>
              <a:srgbClr val="BE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1444751"/>
            <a:ext cx="3054096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304A"/>
                </a:solidFill>
                <a:latin typeface="Aptos"/>
              </a:rPr>
              <a:t>Isotope suite | one lab 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1783080"/>
            <a:ext cx="28803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6304A"/>
                </a:solidFill>
                <a:latin typeface="Aptos"/>
              </a:rPr>
              <a:t>A special controlled room inside the four-room laboratory program.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2432304"/>
            <a:ext cx="2880360" cy="1481328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Further controlled isotope-suite permission, separate from general lab access.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Separate controls and occupancy confirmation; general lab fit-out is not proof of suitability.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Callum Yamamoto provides technical sign-off.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4315968"/>
            <a:ext cx="2862072" cy="4754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Aptos"/>
              </a:rPr>
              <a:t>Modeled Month 12 gate, after laboratory readiness. Dagny does not authorize this occupancy.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601968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Source: candidate_site_evidence.xlsx | labels distinguish source facts, estimates, projections, and confirmations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601968"/>
            <a:ext cx="61264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5C6976"/>
                </a:solidFill>
                <a:latin typeface="Aptos"/>
              </a:rP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0"/>
          </a:solidFill>
          <a:ln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07E80"/>
                </a:solidFill>
                <a:latin typeface="Aptos"/>
              </a:rPr>
              <a:t>ALL CANDIDATES AGAINST SOURCE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6304A"/>
                </a:solidFill>
                <a:latin typeface="Aptos"/>
              </a:rPr>
              <a:t>Comparison: Cedar Ridge has the strongest conditional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10896"/>
            <a:ext cx="5943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Aptos"/>
              </a:rPr>
              <a:t>3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1874519" cy="1097280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59" y="1403604"/>
            <a:ext cx="1746503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Candidate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4872" y="1353312"/>
            <a:ext cx="1216152" cy="1097280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79" y="1403604"/>
            <a:ext cx="1088136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14-mo 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21024" y="1353312"/>
            <a:ext cx="2011680" cy="1097280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2" y="1403604"/>
            <a:ext cx="1883664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Schedule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32704" y="1353312"/>
            <a:ext cx="3017520" cy="1097280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96712" y="1403604"/>
            <a:ext cx="2889503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Technical 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50224" y="1353312"/>
            <a:ext cx="3054096" cy="1097280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1403604"/>
            <a:ext cx="2926079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Access / occupancy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2450591"/>
            <a:ext cx="1874519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59" y="2496311"/>
            <a:ext cx="1746503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Cedar Ridge
RECOMMEND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04872" y="2450591"/>
            <a:ext cx="1216152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496311"/>
            <a:ext cx="1088136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$2.025M
lowest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21024" y="2450591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2" y="2496311"/>
            <a:ext cx="1883664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Month 13 projected
1 month float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32704" y="2450591"/>
            <a:ext cx="30175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96712" y="2496311"/>
            <a:ext cx="2889503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650 psf documented vs 500 psf minimum. Vibration test required. Exhaust retrofit: 9 months after execution.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50224" y="2450591"/>
            <a:ext cx="3054096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14232" y="2496311"/>
            <a:ext cx="2926079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Can configure general / lab / isotope-suite permissions. Contract and commissioning gates required.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3547872"/>
            <a:ext cx="1874519" cy="1097280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59" y="3593591"/>
            <a:ext cx="1746503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Harbor Point
SET ASIDE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04872" y="3547872"/>
            <a:ext cx="1216152" cy="1097280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79" y="3593591"/>
            <a:ext cx="1088136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$2.197M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21024" y="3547872"/>
            <a:ext cx="2011680" cy="1097280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85032" y="3593591"/>
            <a:ext cx="1883664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Turnkey / earliest
readiness stated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32704" y="3547872"/>
            <a:ext cx="3017520" cy="1097280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96712" y="3593591"/>
            <a:ext cx="2889503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550 psf documented, but landlord cannot demonstrate &lt;=20 micrometers/sec RMS vibration.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50224" y="3547872"/>
            <a:ext cx="3054096" cy="1097280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3593591"/>
            <a:ext cx="2926079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No schedule advantage cures an un-demonstrated instrument-bay criterion.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4645152"/>
            <a:ext cx="1874519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59" y="4690872"/>
            <a:ext cx="1746503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Northline
SET ASIDE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04872" y="4645152"/>
            <a:ext cx="1216152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68879" y="4690872"/>
            <a:ext cx="1088136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$2.120M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21024" y="4645152"/>
            <a:ext cx="201168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85032" y="4690872"/>
            <a:ext cx="1883664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Duct extension: 2 months
may run with fit-out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32704" y="4645152"/>
            <a:ext cx="30175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96712" y="4690872"/>
            <a:ext cx="2889503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600 psf documented; vibration test would still be required.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50224" y="4645152"/>
            <a:ext cx="3054096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14232" y="4690872"/>
            <a:ext cx="2926079" cy="1005839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Landlord will not commit in lease to separated badging: controlled lab population cannot be contractually protected.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5715000"/>
            <a:ext cx="10881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304A"/>
                </a:solidFill>
                <a:latin typeface="Aptos"/>
              </a:rPr>
              <a:t>Decision logic combines cost, schedule, technical fit, and access controls. A single favorable feature is not treated as an occupancy authorization.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601968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Source: candidate_site_evidence.xlsx | labels distinguish source facts, estimates, projections, and confirmations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64240" y="6601968"/>
            <a:ext cx="61264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5C6976"/>
                </a:solidFill>
                <a:latin typeface="Aptos"/>
              </a:rP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0"/>
          </a:solidFill>
          <a:ln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07E80"/>
                </a:solidFill>
                <a:latin typeface="Aptos"/>
              </a:rPr>
              <a:t>14-MONTH OCCUPANCY COST | LIKE-FOR-LIKE BASIS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6304A"/>
                </a:solidFill>
                <a:latin typeface="Aptos"/>
              </a:rPr>
              <a:t>Cost advantage is real; exhaust schedule risk remains the trade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10896"/>
            <a:ext cx="5943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Aptos"/>
              </a:rPr>
              <a:t>4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53312"/>
            <a:ext cx="2971800" cy="475488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59" y="1403604"/>
            <a:ext cx="28437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Component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1353312"/>
            <a:ext cx="2057400" cy="475488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03604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Cedar Ridge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59552" y="1353312"/>
            <a:ext cx="2057400" cy="475488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1403604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Harbor Point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16952" y="1353312"/>
            <a:ext cx="2057400" cy="475488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0" y="1403604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Northline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74352" y="1353312"/>
            <a:ext cx="1975104" cy="475488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403604"/>
            <a:ext cx="184708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Evidence label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1828800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59" y="1874519"/>
            <a:ext cx="28437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Base rent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2152" y="1828800"/>
            <a:ext cx="2057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1874519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$1,260,000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59552" y="1828800"/>
            <a:ext cx="2057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23560" y="1874519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$1,712,000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16952" y="1828800"/>
            <a:ext cx="2057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1874519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$1,600,000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74352" y="1828800"/>
            <a:ext cx="1975104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1874519"/>
            <a:ext cx="184708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SOURCE FACT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2304288"/>
            <a:ext cx="29718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59" y="2350008"/>
            <a:ext cx="28437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Building preparation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02152" y="2304288"/>
            <a:ext cx="20574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2350008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$145,000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59552" y="2304288"/>
            <a:ext cx="20574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23560" y="2350008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$90,000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16952" y="2304288"/>
            <a:ext cx="20574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2350008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$165,000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74352" y="2304288"/>
            <a:ext cx="1975104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2350008"/>
            <a:ext cx="184708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SOURCE FACT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2779776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59" y="2825496"/>
            <a:ext cx="28437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Laboratory fit-out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02152" y="2779776"/>
            <a:ext cx="2057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2825496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$260,000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59552" y="2779776"/>
            <a:ext cx="2057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23560" y="2825496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$310,000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616952" y="2779776"/>
            <a:ext cx="2057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0" y="2825496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$275,000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74352" y="2779776"/>
            <a:ext cx="1975104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38360" y="2825496"/>
            <a:ext cx="184708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SOURCE FACT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" y="3255264"/>
            <a:ext cx="29718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59" y="3300984"/>
            <a:ext cx="28437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Exhaust retrofit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02152" y="3255264"/>
            <a:ext cx="20574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66160" y="3300984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$285,000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559552" y="3255264"/>
            <a:ext cx="20574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623560" y="3300984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616952" y="3255264"/>
            <a:ext cx="20574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680960" y="3300984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74352" y="3255264"/>
            <a:ext cx="1975104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38360" y="3300984"/>
            <a:ext cx="184708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ESTIMATE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" y="3730752"/>
            <a:ext cx="2971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59" y="3776472"/>
            <a:ext cx="28437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Relocation / commissioning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02152" y="3730752"/>
            <a:ext cx="2057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66160" y="3776472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$75,000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559552" y="3730752"/>
            <a:ext cx="2057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623560" y="3776472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$85,000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616952" y="3730752"/>
            <a:ext cx="20574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680960" y="3776472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$80,000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74352" y="3730752"/>
            <a:ext cx="1975104" cy="475488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38360" y="3776472"/>
            <a:ext cx="184708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ESTIMATE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0352" y="4206240"/>
            <a:ext cx="29718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4359" y="4251959"/>
            <a:ext cx="28437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Projected total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02152" y="4206240"/>
            <a:ext cx="20574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566160" y="4251959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$2,025,000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59552" y="4206240"/>
            <a:ext cx="20574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23560" y="4251959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$2,197,000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16952" y="4206240"/>
            <a:ext cx="2057400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80960" y="4251959"/>
            <a:ext cx="192938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$2,120,000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674352" y="4206240"/>
            <a:ext cx="1975104" cy="475488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738360" y="4251959"/>
            <a:ext cx="184708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1F2933"/>
                </a:solidFill>
                <a:latin typeface="Aptos"/>
              </a:rPr>
              <a:t>CALCULATED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" y="4937760"/>
            <a:ext cx="10972800" cy="841248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4672" y="5148072"/>
            <a:ext cx="1046988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304A"/>
                </a:solidFill>
                <a:latin typeface="Aptos"/>
              </a:rPr>
              <a:t>Cedar Ridge is $172,000 below Harbor Point and $95,000 below Northline on the stated 14-month basis. Its $285,000 exhaust allowance and $75,000 relocation/commissioning allowance are estimates, not fixed facts.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4360" y="5989320"/>
            <a:ext cx="10789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5C6976"/>
                </a:solidFill>
                <a:latin typeface="Aptos"/>
              </a:rPr>
              <a:t>Scope basis: base rent + building preparation + general laboratory fit-out + exhaust retrofit + relocation/commissioning through the 14-month lease horizon. Isotope-suite suitability is not priced or presumed.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2920" y="6601968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Source: candidate_site_evidence.xlsx | labels distinguish source facts, estimates, projections, and confirmations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064240" y="6601968"/>
            <a:ext cx="61264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5C6976"/>
                </a:solidFill>
                <a:latin typeface="Aptos"/>
              </a:rP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0"/>
          </a:solidFill>
          <a:ln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07E80"/>
                </a:solidFill>
                <a:latin typeface="Aptos"/>
              </a:rPr>
              <a:t>14-MONTH LEASE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6304A"/>
                </a:solidFill>
                <a:latin typeface="Aptos"/>
              </a:rPr>
              <a:t>Phased move fits only through parallel work and defined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10896"/>
            <a:ext cx="5943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Aptos"/>
              </a:rPr>
              <a:t>5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30552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30552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70632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70632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0712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0712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1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50791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90872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0952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1031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71031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11112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51192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51192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91271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91271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31352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31352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71432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71432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1511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11511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51592" y="1389888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5C6976"/>
                </a:solidFill>
                <a:latin typeface="Aptos"/>
              </a:rPr>
              <a:t>14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451592" y="1627632"/>
            <a:ext cx="10972" cy="4251960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856231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6304A"/>
                </a:solidFill>
                <a:latin typeface="Aptos"/>
              </a:rPr>
              <a:t>Setup &amp; access plan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130552" y="1828800"/>
            <a:ext cx="1280160" cy="310896"/>
          </a:xfrm>
          <a:prstGeom prst="roundRect">
            <a:avLst>
              <a:gd name="adj" fmla="val 6000"/>
            </a:avLst>
          </a:prstGeom>
          <a:solidFill>
            <a:srgbClr val="2C6BB0"/>
          </a:solidFill>
          <a:ln>
            <a:solidFill>
              <a:srgbClr val="2C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76272" y="1883664"/>
            <a:ext cx="1170432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Months 1-2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2523744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6304A"/>
                </a:solidFill>
                <a:latin typeface="Aptos"/>
              </a:rPr>
              <a:t>Exhaust retrofit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410712" y="2496312"/>
            <a:ext cx="5760720" cy="310896"/>
          </a:xfrm>
          <a:prstGeom prst="roundRect">
            <a:avLst>
              <a:gd name="adj" fmla="val 6000"/>
            </a:avLst>
          </a:prstGeom>
          <a:solidFill>
            <a:srgbClr val="BE7700"/>
          </a:solidFill>
          <a:ln>
            <a:solidFill>
              <a:srgbClr val="BE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56432" y="2551176"/>
            <a:ext cx="553212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Months 3-11 | laboratory occupancy blocked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191256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6304A"/>
                </a:solidFill>
                <a:latin typeface="Aptos"/>
              </a:rPr>
              <a:t>General fit-out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10712" y="3163824"/>
            <a:ext cx="2560320" cy="310896"/>
          </a:xfrm>
          <a:prstGeom prst="roundRect">
            <a:avLst>
              <a:gd name="adj" fmla="val 6000"/>
            </a:avLst>
          </a:prstGeom>
          <a:solidFill>
            <a:srgbClr val="007E80"/>
          </a:solidFill>
          <a:ln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56432" y="3218688"/>
            <a:ext cx="2423160" cy="1371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Months 3-6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858768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6304A"/>
                </a:solidFill>
                <a:latin typeface="Aptos"/>
              </a:rPr>
              <a:t>Occupancy sequence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30952" y="3858768"/>
            <a:ext cx="109728" cy="658368"/>
          </a:xfrm>
          <a:prstGeom prst="roundRect">
            <a:avLst>
              <a:gd name="adj" fmla="val 6000"/>
            </a:avLst>
          </a:prstGeom>
          <a:solidFill>
            <a:srgbClr val="007E80"/>
          </a:solidFill>
          <a:ln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92624" y="4608576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F2933"/>
                </a:solidFill>
                <a:latin typeface="Aptos"/>
              </a:rPr>
              <a:t>General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31352" y="3858768"/>
            <a:ext cx="109728" cy="658368"/>
          </a:xfrm>
          <a:prstGeom prst="roundRect">
            <a:avLst>
              <a:gd name="adj" fmla="val 6000"/>
            </a:avLst>
          </a:prstGeom>
          <a:solidFill>
            <a:srgbClr val="2C6BB0"/>
          </a:solidFill>
          <a:ln>
            <a:solidFill>
              <a:srgbClr val="2C6B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93024" y="4608576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F2933"/>
                </a:solidFill>
                <a:latin typeface="Aptos"/>
              </a:rPr>
              <a:t>Lab gates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71432" y="3858768"/>
            <a:ext cx="109728" cy="658368"/>
          </a:xfrm>
          <a:prstGeom prst="roundRect">
            <a:avLst>
              <a:gd name="adj" fmla="val 6000"/>
            </a:avLst>
          </a:prstGeom>
          <a:solidFill>
            <a:srgbClr val="BE7700"/>
          </a:solidFill>
          <a:ln>
            <a:solidFill>
              <a:srgbClr val="BE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33104" y="4608576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F2933"/>
                </a:solidFill>
                <a:latin typeface="Aptos"/>
              </a:rPr>
              <a:t>Isotope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11511" y="3858768"/>
            <a:ext cx="109728" cy="658368"/>
          </a:xfrm>
          <a:prstGeom prst="roundRect">
            <a:avLst>
              <a:gd name="adj" fmla="val 6000"/>
            </a:avLst>
          </a:prstGeom>
          <a:solidFill>
            <a:srgbClr val="267D5B"/>
          </a:solidFill>
          <a:ln>
            <a:solidFill>
              <a:srgbClr val="26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73184" y="4608576"/>
            <a:ext cx="822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1F2933"/>
                </a:solidFill>
                <a:latin typeface="Aptos"/>
              </a:rPr>
              <a:t>Move complete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451592" y="3858768"/>
            <a:ext cx="530352" cy="658368"/>
          </a:xfrm>
          <a:prstGeom prst="roundRect">
            <a:avLst>
              <a:gd name="adj" fmla="val 6000"/>
            </a:avLst>
          </a:prstGeom>
          <a:solidFill>
            <a:srgbClr val="E1EFE5"/>
          </a:solidFill>
          <a:ln>
            <a:solidFill>
              <a:srgbClr val="26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19588" y="4608576"/>
            <a:ext cx="731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267D5B"/>
                </a:solidFill>
                <a:latin typeface="Aptos"/>
              </a:rPr>
              <a:t>Float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" y="5276088"/>
            <a:ext cx="10972800" cy="630936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431536"/>
            <a:ext cx="10561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6304A"/>
                </a:solidFill>
                <a:latin typeface="Aptos"/>
              </a:rPr>
              <a:t>Source model: sequential plan = 2 months setup + 9 months exhaust + 4 months fit-out + 1 isotope gate = 16 months, exceeding the 14-month lease horizon by 2 months. Parallel fit-out is an explicit assumption contingent on landlord interface release by Month 2.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2920" y="6601968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Source: candidate_site_evidence.xlsx | labels distinguish source facts, estimates, projections, and confirmations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4240" y="6601968"/>
            <a:ext cx="61264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5C6976"/>
                </a:solidFill>
                <a:latin typeface="Aptos"/>
              </a:rP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0"/>
          </a:solidFill>
          <a:ln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07E80"/>
                </a:solidFill>
                <a:latin typeface="Aptos"/>
              </a:rPr>
              <a:t>HARD GATES OUTWEIGH READINESS AND NOMINAL ALTERNATIVES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6304A"/>
                </a:solidFill>
                <a:latin typeface="Aptos"/>
              </a:rPr>
              <a:t>Why the alternatives are set aside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10896"/>
            <a:ext cx="5943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Aptos"/>
              </a:rPr>
              <a:t>6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47472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474720" cy="50292"/>
          </a:xfrm>
          <a:prstGeom prst="roundRect">
            <a:avLst>
              <a:gd name="adj" fmla="val 6000"/>
            </a:avLst>
          </a:prstGeom>
          <a:solidFill>
            <a:srgbClr val="BE7700"/>
          </a:solidFill>
          <a:ln>
            <a:solidFill>
              <a:srgbClr val="BE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1517904"/>
            <a:ext cx="31821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304A"/>
                </a:solidFill>
                <a:latin typeface="Aptos"/>
              </a:rPr>
              <a:t>Cedar Ridge | acceptable only with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1847088"/>
            <a:ext cx="3035808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304A"/>
                </a:solidFill>
                <a:latin typeface="Aptos"/>
              </a:rPr>
              <a:t>Principal downside: the required exhaust retrofit can consume the phased-move window.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587752"/>
            <a:ext cx="2971800" cy="173736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Floor loading is documented: 650 psf against a 500 psf minimum.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Mitigation: parallel general fit-out, Month 2 interface-release commitment, and a bounded holdover contingency.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Vibration and exhaust evidence remain pre-occupancy gates.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371600"/>
            <a:ext cx="347472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1688" y="1371600"/>
            <a:ext cx="3474720" cy="50292"/>
          </a:xfrm>
          <a:prstGeom prst="roundRect">
            <a:avLst>
              <a:gd name="adj" fmla="val 6000"/>
            </a:avLst>
          </a:prstGeom>
          <a:solidFill>
            <a:srgbClr val="B33939"/>
          </a:solidFill>
          <a:ln>
            <a:solidFill>
              <a:srgbClr val="B3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1517904"/>
            <a:ext cx="31821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304A"/>
                </a:solidFill>
                <a:latin typeface="Aptos"/>
              </a:rPr>
              <a:t>Harbor Point | set aside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1847088"/>
            <a:ext cx="3035808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304A"/>
                </a:solidFill>
                <a:latin typeface="Aptos"/>
              </a:rPr>
              <a:t>Turnkey readiness is not evidence of instrument-bay vibration compliance.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587752"/>
            <a:ext cx="2971800" cy="16459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Landlord cannot demonstrate the &lt;=20 micrometers/sec RMS criterion.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550 psf loading does not cure the separate vibration requirement.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Without evidence, laboratory occupancy would lack the required acceptance basis.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371600"/>
            <a:ext cx="347472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174736" y="1371600"/>
            <a:ext cx="3474720" cy="50292"/>
          </a:xfrm>
          <a:prstGeom prst="roundRect">
            <a:avLst>
              <a:gd name="adj" fmla="val 6000"/>
            </a:avLst>
          </a:prstGeom>
          <a:solidFill>
            <a:srgbClr val="B33939"/>
          </a:solidFill>
          <a:ln>
            <a:solidFill>
              <a:srgbClr val="B3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17904"/>
            <a:ext cx="318211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304A"/>
                </a:solidFill>
                <a:latin typeface="Aptos"/>
              </a:rPr>
              <a:t>Northline | set aside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1847088"/>
            <a:ext cx="3035808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304A"/>
                </a:solidFill>
                <a:latin typeface="Aptos"/>
              </a:rPr>
              <a:t>A non-committal landlord position cannot support controlled laboratory occupancy.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587752"/>
            <a:ext cx="2971800" cy="16459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Landlord will not commit in the lease to separated badging.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This leaves general users and controlled laboratory users without a contractually protected separation.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A verbal assurance is not equivalent to a documented lease commitment.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601968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Source: candidate_site_evidence.xlsx | labels distinguish source facts, estimates, projections, and confirmations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601968"/>
            <a:ext cx="61264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5C6976"/>
                </a:solidFill>
                <a:latin typeface="Aptos"/>
              </a:rP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0"/>
          </a:solidFill>
          <a:ln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07E80"/>
                </a:solidFill>
                <a:latin typeface="Aptos"/>
              </a:rPr>
              <a:t>OWNERS, EVIDENCE, TIMING, CONSEQUENCE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6304A"/>
                </a:solidFill>
                <a:latin typeface="Aptos"/>
              </a:rPr>
              <a:t>Conditions before contracting and occupancy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10896"/>
            <a:ext cx="5943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Aptos"/>
              </a:rPr>
              <a:t>7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" y="1335024"/>
            <a:ext cx="3035808" cy="758952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59" y="1385316"/>
            <a:ext cx="2907791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Gate /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335024"/>
            <a:ext cx="1664208" cy="758952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385316"/>
            <a:ext cx="153619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0368" y="1335024"/>
            <a:ext cx="1463040" cy="758952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1385316"/>
            <a:ext cx="1335024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When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93408" y="1335024"/>
            <a:ext cx="2816352" cy="758952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1385316"/>
            <a:ext cx="2688336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Required confirmation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509760" y="1335024"/>
            <a:ext cx="2139696" cy="758952"/>
          </a:xfrm>
          <a:prstGeom prst="rect">
            <a:avLst/>
          </a:prstGeom>
          <a:solidFill>
            <a:srgbClr val="1630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73768" y="1385316"/>
            <a:ext cx="2011679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Consequence if unmet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2093976"/>
            <a:ext cx="3035808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59" y="2139696"/>
            <a:ext cx="2907791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Cedar Ridge lease commitments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093976"/>
            <a:ext cx="1664208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0168" y="2139696"/>
            <a:ext cx="153619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Landlord + legal counsel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0368" y="2093976"/>
            <a:ext cx="1463040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94376" y="2139696"/>
            <a:ext cx="1335024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Before execution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93408" y="2093976"/>
            <a:ext cx="2816352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7416" y="2139696"/>
            <a:ext cx="2688336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Written exhaust scope, 9-month duration, and Month 2 interface release; documented access configuration.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2093976"/>
            <a:ext cx="2139696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73768" y="2139696"/>
            <a:ext cx="2011679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Hold / do not execute Cedar Ridge lease; escalate to committee.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30352" y="2852928"/>
            <a:ext cx="3035808" cy="758952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59" y="2898648"/>
            <a:ext cx="2907791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Instrument bay acceptance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2852928"/>
            <a:ext cx="1664208" cy="758952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30168" y="2898648"/>
            <a:ext cx="153619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Facilities + qualified verifier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0368" y="2852928"/>
            <a:ext cx="1463040" cy="758952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94376" y="2898648"/>
            <a:ext cx="1335024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Before lab occupancy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2852928"/>
            <a:ext cx="2816352" cy="758952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57416" y="2898648"/>
            <a:ext cx="2688336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Confirm 650 psf location basis and measure vibration against &lt;=20 micrometers/sec RMS.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2852928"/>
            <a:ext cx="2139696" cy="758952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73768" y="2898648"/>
            <a:ext cx="2011679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No instrument-bay occupancy or equipment move.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3611879"/>
            <a:ext cx="3035808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59" y="3657599"/>
            <a:ext cx="2907791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Exhaust / laboratory readiness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66160" y="3611879"/>
            <a:ext cx="1664208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30168" y="3657599"/>
            <a:ext cx="153619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Landlord + facilities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30368" y="3611879"/>
            <a:ext cx="1463040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94376" y="3657599"/>
            <a:ext cx="1335024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Before lab occupancy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93408" y="3611879"/>
            <a:ext cx="2816352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57416" y="3657599"/>
            <a:ext cx="2688336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Verify installed exhaust performance and completion of coordinated lab work.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3611879"/>
            <a:ext cx="2139696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73768" y="3657599"/>
            <a:ext cx="2011679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Laboratory move remains blocked; use holdover contingency.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0352" y="4370831"/>
            <a:ext cx="3035808" cy="758952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59" y="4416551"/>
            <a:ext cx="2907791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Isotope-suite control gate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4370831"/>
            <a:ext cx="1664208" cy="758952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30168" y="4416551"/>
            <a:ext cx="153619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Callum Yamamoto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30368" y="4370831"/>
            <a:ext cx="1463040" cy="758952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94376" y="4416551"/>
            <a:ext cx="1335024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Before isotope-suite occupancy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693408" y="4370831"/>
            <a:ext cx="2816352" cy="758952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57416" y="4416551"/>
            <a:ext cx="2688336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Separate controls, occupancy confirmation, and biosafety/isotope-suite technical sign-off.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509760" y="4370831"/>
            <a:ext cx="2139696" cy="758952"/>
          </a:xfrm>
          <a:prstGeom prst="rect">
            <a:avLst/>
          </a:prstGeom>
          <a:solidFill>
            <a:srgbClr val="F5F8FA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73768" y="4416551"/>
            <a:ext cx="2011679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Isotope suite remains unoccupied; general lab fit-out does not substitute.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" y="5129783"/>
            <a:ext cx="3035808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59" y="5175503"/>
            <a:ext cx="2907791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Access commissioning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5129783"/>
            <a:ext cx="1664208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30168" y="5175503"/>
            <a:ext cx="1536192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Facilities + landlord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230368" y="5129783"/>
            <a:ext cx="1463040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294376" y="5175503"/>
            <a:ext cx="1335024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Before each population moves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93408" y="5129783"/>
            <a:ext cx="2816352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57416" y="5175503"/>
            <a:ext cx="2688336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Separate general, laboratory, and isotope-suite permissions commissioned and documented.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09760" y="5129783"/>
            <a:ext cx="2139696" cy="758952"/>
          </a:xfrm>
          <a:prstGeom prst="rect">
            <a:avLst/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573768" y="5175503"/>
            <a:ext cx="2011679" cy="6675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800" b="0">
                <a:solidFill>
                  <a:srgbClr val="1F2933"/>
                </a:solidFill>
                <a:latin typeface="Aptos"/>
              </a:rPr>
              <a:t>Affected population does not move; access model is not assumed.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601968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Source: candidate_site_evidence.xlsx | Owners shown are accountable parties for the confirmation, not delegated technical authorities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64240" y="6601968"/>
            <a:ext cx="61264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5C6976"/>
                </a:solidFill>
                <a:latin typeface="Aptos"/>
              </a:rP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E80"/>
          </a:solidFill>
          <a:ln>
            <a:solidFill>
              <a:srgbClr val="00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1">
                <a:solidFill>
                  <a:srgbClr val="007E80"/>
                </a:solidFill>
                <a:latin typeface="Aptos"/>
              </a:rPr>
              <a:t>VOTE IN NOVEMBER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088136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6304A"/>
                </a:solidFill>
                <a:latin typeface="Aptos"/>
              </a:rPr>
              <a:t>Decision requested from the facilities committee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310896"/>
            <a:ext cx="59436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5C6976"/>
                </a:solidFill>
                <a:latin typeface="Aptos"/>
              </a:rPr>
              <a:t>8 /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24128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444752"/>
            <a:ext cx="10972800" cy="1033271"/>
          </a:xfrm>
          <a:prstGeom prst="roundRect">
            <a:avLst>
              <a:gd name="adj" fmla="val 6000"/>
            </a:avLst>
          </a:prstGeom>
          <a:solidFill>
            <a:srgbClr val="E8F1F8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55064"/>
            <a:ext cx="25603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007E80"/>
                </a:solidFill>
                <a:latin typeface="Aptos"/>
              </a:rPr>
              <a:t>VOTE 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11095"/>
            <a:ext cx="1019556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304A"/>
                </a:solidFill>
                <a:latin typeface="Aptos"/>
              </a:rPr>
              <a:t>Authorize conditional pursuit of Cedar Ridge Industrial Center - Building 4 as the one target site and the phased occupancy configuration.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926080"/>
            <a:ext cx="5230368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2926080"/>
            <a:ext cx="5230368" cy="50292"/>
          </a:xfrm>
          <a:prstGeom prst="roundRect">
            <a:avLst>
              <a:gd name="adj" fmla="val 6000"/>
            </a:avLst>
          </a:prstGeom>
          <a:solidFill>
            <a:srgbClr val="267D5B"/>
          </a:solidFill>
          <a:ln>
            <a:solidFill>
              <a:srgbClr val="267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3072384"/>
            <a:ext cx="493775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304A"/>
                </a:solidFill>
                <a:latin typeface="Aptos"/>
              </a:rPr>
              <a:t>Proceed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419856"/>
            <a:ext cx="4754880" cy="16002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Before lease execution: legal documentation of exhaust scope, 9-month duration, Month 2 interface release, and separated access configuration.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Before laboratory occupancy: exhaust verification plus distinct instrument-bay loading and vibration acceptance.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Before isotope-suite occupancy: separate control confirmation and Callum Yamamoto sign-off.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2926080"/>
            <a:ext cx="5230368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36792" y="2926080"/>
            <a:ext cx="5230368" cy="50292"/>
          </a:xfrm>
          <a:prstGeom prst="roundRect">
            <a:avLst>
              <a:gd name="adj" fmla="val 6000"/>
            </a:avLst>
          </a:prstGeom>
          <a:solidFill>
            <a:srgbClr val="BE7700"/>
          </a:solidFill>
          <a:ln>
            <a:solidFill>
              <a:srgbClr val="BE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3072384"/>
            <a:ext cx="4937759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6304A"/>
                </a:solidFill>
                <a:latin typeface="Aptos"/>
              </a:rPr>
              <a:t>Hold / fallback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3419856"/>
            <a:ext cx="4754880" cy="160020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If the Month 2 interface-release commitment is not documented, do not rely on the 13-month projection; the source sequential plan is 16 months.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Escalate to the committee and pursue a short negotiated holdover as the bounded continuity contingency.</a:t>
            </a:r>
          </a:p>
          <a:p>
            <a:pPr>
              <a:spcAft>
                <a:spcPts val="600"/>
              </a:spcAft>
              <a:defRPr sz="1100">
                <a:solidFill>
                  <a:srgbClr val="1F2933"/>
                </a:solidFill>
                <a:latin typeface="Aptos"/>
              </a:defRPr>
            </a:pPr>
            <a:r>
              <a:t>Do not substitute turnkey readiness, general fit-out, or verbal assurances for the stated gates.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824728"/>
            <a:ext cx="108356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5C6976"/>
                </a:solidFill>
                <a:latin typeface="Aptos"/>
              </a:rPr>
              <a:t>Dagny Dunbar’s recommendation supports the commercial decision only. The committee approves the site direction; Callum Yamamoto retains biosafety and isotope-suite technical authority.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547104"/>
            <a:ext cx="11173968" cy="10972"/>
          </a:xfrm>
          <a:prstGeom prst="rect">
            <a:avLst/>
          </a:prstGeom>
          <a:solidFill>
            <a:srgbClr val="D6DDE4"/>
          </a:solidFill>
          <a:ln>
            <a:solidFill>
              <a:srgbClr val="D6DD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601968"/>
            <a:ext cx="1042416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5C6976"/>
                </a:solidFill>
                <a:latin typeface="Aptos"/>
              </a:rPr>
              <a:t>Source: candidate_site_evidence.xlsx | labels distinguish source facts, estimates, projections, and confirmations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601968"/>
            <a:ext cx="612648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800" b="1">
                <a:solidFill>
                  <a:srgbClr val="5C6976"/>
                </a:solidFill>
                <a:latin typeface="Aptos"/>
              </a:rP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