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9728" cy="4526280"/>
          </a:xfrm>
          <a:prstGeom prst="rect">
            <a:avLst/>
          </a:prstGeom>
          <a:solidFill>
            <a:srgbClr val="EF9743"/>
          </a:solidFill>
          <a:ln>
            <a:solidFill>
              <a:srgbClr val="EF9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C6EBEB"/>
                </a:solidFill>
                <a:latin typeface="Aptos"/>
              </a:rPr>
              <a:t>CAVENDISH LOGISTICS  /  DECISION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4241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Crew scheduling
pilot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907792"/>
            <a:ext cx="98755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C6EBEB"/>
                </a:solidFill>
                <a:latin typeface="Aptos"/>
              </a:rPr>
              <a:t>A controlled, concurrent test for 11 Emberline Clinic field crews in England &amp; Scotland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3977639"/>
            <a:ext cx="2011680" cy="256032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009644"/>
            <a:ext cx="190195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0B192D"/>
                </a:solidFill>
                <a:latin typeface="Aptos"/>
              </a:rPr>
              <a:t>OWNER  Mikkel Fairbairn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977639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E7F2E8"/>
          </a:solidFill>
          <a:ln>
            <a:solidFill>
              <a:srgbClr val="E7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4009644"/>
            <a:ext cx="171907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900" b="1">
                <a:solidFill>
                  <a:srgbClr val="0B192D"/>
                </a:solidFill>
                <a:latin typeface="Aptos"/>
              </a:rPr>
              <a:t>SPONSOR  Eamon Rasmussen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754880"/>
            <a:ext cx="9875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For Eamon • Astrid Yamamoto • Camila Okonkwo • Jasmin Ellingsen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989320"/>
            <a:ext cx="10332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BECDDC"/>
                </a:solidFill>
                <a:latin typeface="Aptos"/>
              </a:rPr>
              <a:t>Decision gate: approve design, funding and contract protections before any pilot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01 / QUESTION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What the pilot is allowed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5440680" cy="2057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Decision question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B192D"/>
                </a:solidFill>
                <a:latin typeface="Aptos"/>
              </a:rPr>
              <a:t>For eligible crews, does access to and use of the scheduling tool reduce overtime per productive workload unit versus concurrent crews without access during the same 12-week season?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F9743"/>
                </a:solidFill>
                <a:latin typeface="Aptos"/>
              </a:rPr>
              <a:t>Vendor’s “20%” is a claim to test—not an expected result or pass 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394960" cy="2057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In scope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8273A"/>
                </a:solidFill>
                <a:latin typeface="Aptos"/>
              </a:rPr>
              <a:t>All 11 Cavendish field crews serving Emberline Clinic work in England and Scotland. Assignment unit = whole crew; workers, dispatch and schedules can spill over.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8273A"/>
                </a:solidFill>
                <a:latin typeface="Aptos"/>
              </a:rPr>
              <a:t>Pilot access to 5–6 crews; retain 5–6 concurrent comparison crews.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B192D"/>
                </a:solidFill>
                <a:latin typeface="Aptos"/>
              </a:rPr>
              <a:t>Design guardrails frozen before outcome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303520" cy="201168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No raw before→after claim as primary evidence; demand and season move together.</a:t>
            </a:r>
          </a:p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Concurrent windows and a crew-and-time model are mandatory.</a:t>
            </a:r>
          </a:p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Volunteer willingness ≠ allocation: opt-in to training/notice, then balanced draw.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5212080" cy="201168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Record region, capacity/headcount, job mix, travel burden, baseline overtime and disruptions.</a:t>
            </a:r>
          </a:p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No post-result exclusions, replacements or subgroup shopping.</a:t>
            </a:r>
          </a:p>
          <a:p>
            <a:pPr>
              <a:spcAft>
                <a:spcPts val="4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Primary population remains crews as assigned (intention-to-treat).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02 / ELIGIBILITY, ALLOCATION &amp;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Freeze the comparison before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C9F96"/>
                </a:solidFill>
                <a:latin typeface="Aptos"/>
              </a:rPr>
              <a:t>Eligibility (assessed at T−6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703320" cy="205740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Active Emberline work; ≥10 of prior 12 weeks with payroll + job records.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Stable crew roster and manager able to attend one 90-min training.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No known shutdown, mobilisation or planned long absence during observation.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Exclude only for pre-specified safety, data or continuity failure—record reason/date.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54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C9F96"/>
                </a:solidFill>
                <a:latin typeface="Aptos"/>
              </a:rPr>
              <a:t>Constrained draw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337560" cy="205740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337560" cy="2057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B192D"/>
                </a:solidFill>
                <a:latin typeface="Aptos"/>
              </a:rPr>
              <a:t>1  Freeze candidate list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8273A"/>
                </a:solidFill>
                <a:latin typeface="Aptos"/>
              </a:rPr>
              <a:t>2  Block by region (E/Scotland), size/capacity and baseline OT quartile; balance job mix/travel where data allow.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8273A"/>
                </a:solidFill>
                <a:latin typeface="Aptos"/>
              </a:rPr>
              <a:t>3  Randomly assign within blocks using seed logged by Mikkel + finance witness.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F9743"/>
                </a:solidFill>
                <a:latin typeface="Aptos"/>
              </a:rPr>
              <a:t>If imbalance &gt;20% on any pre-set factor: re-draw once before access; otherwise pause for sponsor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234440"/>
            <a:ext cx="3291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C9F96"/>
                </a:solidFill>
                <a:latin typeface="Aptos"/>
              </a:rPr>
              <a:t>Measurement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554480"/>
            <a:ext cx="3520440" cy="205740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Baseline: 12 complete weeks immediately before launch (same weekdays).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Observation: 12 complete weeks; synchronized Monday–Sunday windows for all groups.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Activation delayed &gt;7 days: crew remains assigned; exposure window flagged and ITT retained.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Holiday/partial week: keep in panel, mark event; do not silently drop.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>
            <a:solidFill>
              <a:srgbClr val="F2D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EF9743"/>
                </a:solidFill>
                <a:latin typeface="Aptos"/>
              </a:rPr>
              <a:t>VOLUNTARY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2870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0B192D"/>
                </a:solidFill>
                <a:latin typeface="Aptos"/>
              </a:rPr>
              <a:t>Astrid may invite all eligible crews; crews may decline training or access without penalty. Decliners stay in the allocated group for analysis. Allocation is never based on enthusiasm, manager preference or expected savings.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03 / METRIC, DATA &amp;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Measure one primary outcome—and the ways savings can mislead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303520" cy="192024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Primary outcome (weekly, crew level)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B192D"/>
                </a:solidFill>
                <a:latin typeface="Aptos"/>
              </a:rPr>
              <a:t>OT rate = approved overtime hours ÷ productive paid hours × 100; productive hours = paid hours on Emberline jobs, excluding leave/training.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8273A"/>
                </a:solidFill>
                <a:latin typeface="Aptos"/>
              </a:rPr>
              <a:t>Aggregate as crew-weighted 12-week mean; report hours and rate. Same payroll coding rules in England/Scotland.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40680" cy="192024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Balancing / guardrails (secondary)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8273A"/>
                </a:solidFill>
                <a:latin typeface="Aptos"/>
              </a:rPr>
              <a:t>On-time job completion; missed/late jobs; safety incidents; absence; agency hours/cost; travel hours; rework/callbacks; schedule changes &lt;24h; worker pulse (monthly).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C44C4C"/>
                </a:solidFill>
                <a:latin typeface="Aptos"/>
              </a:rPr>
              <a:t>Any material service, safety or cost-shift harm overrides an OT saving.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10972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B192D"/>
                </a:solidFill>
                <a:latin typeface="Aptos"/>
              </a:rPr>
              <a:t>Required capture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9352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0B192D"/>
                </a:solidFill>
                <a:latin typeface="Aptos"/>
              </a:rPr>
              <a:t>Payroll/timekeeping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50208"/>
            <a:ext cx="51206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OT + paid/productive hours; weekly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50208"/>
            <a:ext cx="29260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5B6F81"/>
                </a:solidFill>
                <a:latin typeface="Aptos"/>
              </a:rPr>
              <a:t>Jasmin / payroll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15968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0B192D"/>
                </a:solidFill>
                <a:latin typeface="Aptos"/>
              </a:rPr>
              <a:t>Dispatch/job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379976"/>
            <a:ext cx="51206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job volume, mix, urgent work, completion, 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79976"/>
            <a:ext cx="29260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5B6F81"/>
                </a:solidFill>
                <a:latin typeface="Aptos"/>
              </a:rPr>
              <a:t>Astrid / 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45736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18888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0B192D"/>
                </a:solidFill>
                <a:latin typeface="Aptos"/>
              </a:rPr>
              <a:t>Tool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809744"/>
            <a:ext cx="51206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login, eligible jobs scheduled, overrides, active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9744"/>
            <a:ext cx="29260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5B6F81"/>
                </a:solidFill>
                <a:latin typeface="Aptos"/>
              </a:rPr>
              <a:t>Vendor admin + Mikkel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75504"/>
            <a:ext cx="2057400" cy="347472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48656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0B192D"/>
                </a:solidFill>
                <a:latin typeface="Aptos"/>
              </a:rPr>
              <a:t>People/exception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239512"/>
            <a:ext cx="51206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absence, transfers, cross-crew work, disruptions, 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239512"/>
            <a:ext cx="292608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5B6F81"/>
                </a:solidFill>
                <a:latin typeface="Aptos"/>
              </a:rPr>
              <a:t>Crew managers; Mikkel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EF9743"/>
                </a:solidFill>
                <a:latin typeface="Aptos"/>
              </a:rPr>
              <a:t>Data quality gate: completeness ≥95%, no duplicate crew-week keys, period alignment checked, and OT reconciles to payroll total within 1%. Late/unreliable fields escalate to Mikkel; missingness ≥10% in any group → pause analysis and label inconclusive.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04 / ANALYSIS &amp; DECISION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Pre-declare what “success”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394960" cy="2057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Primary analysis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0B192D"/>
                </a:solidFill>
                <a:latin typeface="Aptos"/>
              </a:rPr>
              <a:t>Intention-to-treat difference-in-differences on weekly crew panel: (post−baseline OT rate) treatment minus comparison, adjusted for region, capacity, job mix, travel and logged disruptions.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8273A"/>
                </a:solidFill>
                <a:latin typeface="Aptos"/>
              </a:rPr>
              <a:t>Estimate = percentage-point and relative change; cluster-robust or randomization-based interval at crew level. With 11 crews, precision is limited; no invented power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34440"/>
            <a:ext cx="5394960" cy="205740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Evidence standard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0B192D"/>
                </a:solidFill>
                <a:latin typeface="Aptos"/>
              </a:rPr>
              <a:t>Baseline data readiness triggers a simple simulation/precision check before launch. Report 95% interval (or exact randomization interval) and all 11 assignments.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8273A"/>
                </a:solidFill>
                <a:latin typeface="Aptos"/>
              </a:rPr>
              <a:t>Regional/crew subgroups are exploratory only; no post-hoc “winner”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972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B192D"/>
                </a:solidFill>
                <a:latin typeface="Aptos"/>
              </a:rPr>
              <a:t>Decision matrix (all conditions must be visible in the signed readout)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3456432" cy="150876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30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308B5C"/>
                </a:solidFill>
                <a:latin typeface="Aptos"/>
              </a:rPr>
              <a:t>FAVORABLE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31546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Aptos"/>
              </a:rPr>
              <a:t>≥10% relative OT-rate reduction AND interval’s upper bound &lt;0% (or exact p&lt;0.10) AND no guardrail breach; supports scoped rollout case, not automatic purchase.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977639"/>
            <a:ext cx="3456432" cy="150876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C4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4160520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C44C4C"/>
                </a:solidFill>
                <a:latin typeface="Aptos"/>
              </a:rPr>
              <a:t>HARMFUL / UNFAVOURABLE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480560"/>
            <a:ext cx="31546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Aptos"/>
              </a:rPr>
              <a:t>OT rate worsens ≥10% OR any material safety/service harm or cost shift; stop/rollback and investigate.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977639"/>
            <a:ext cx="3456432" cy="150876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EF9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4160520"/>
            <a:ext cx="3154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EF9743"/>
                </a:solidFill>
                <a:latin typeface="Aptos"/>
              </a:rPr>
              <a:t>INCONCLUSIVE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4480560"/>
            <a:ext cx="31546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Aptos"/>
              </a:rPr>
              <a:t>Interval spans meaningful benefit and null/harm, fidelity &lt;80% of eligible jobs, or missingness ≥10%; do not claim proof either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607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EF9743"/>
                </a:solidFill>
                <a:latin typeface="Aptos"/>
              </a:rPr>
              <a:t>The vendor’s 20% is a contextual benchmark only. A raw before/after fall—without the concurrent comparison—is prohibited as the primary success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05 / FIDELITY, WITHDRAWAL &amp;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Exceptions are decided before outcomes are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349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C9F96"/>
                </a:solidFill>
                <a:latin typeface="Aptos"/>
              </a:rPr>
              <a:t>Fidelity &amp; contamination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5212080" cy="196596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Pilot package identical: 90-min training, standard configuration, launch week, helpdesk and weekly check-in.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Access is role-based; comparison crews blocked from pilot tenant. Log shared dispatchers, worker transfers, cross-crew jobs and support contacts.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Fidelity flag: &lt;80% eligible jobs scheduled in tool for 2 consecutive weeks → Amber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53492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C9F96"/>
                </a:solidFill>
                <a:latin typeface="Aptos"/>
              </a:rPr>
              <a:t>Prospective exception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72768"/>
            <a:ext cx="5166360" cy="196596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Crew may withdraw/ be diverted only for safety, client emergency, legal/privacy issue or documented continuity risk.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Astrid requests; Mikkel records event, timing, crew, reason, approver and analytical treatment. Camila approves legal/privacy; Eamon approves continuity spend.</a:t>
            </a:r>
          </a:p>
          <a:p>
            <a:pPr>
              <a:spcAft>
                <a:spcPts val="4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t>• After launch, a replacement may cover work operationally but never replaces the original crew in primary ITT. Replacement is tagged exploratory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881360" cy="1572768"/>
          </a:xfrm>
          <a:prstGeom prst="roundRect">
            <a:avLst>
              <a:gd name="adj" fmla="val 8000"/>
            </a:avLst>
          </a:prstGeom>
          <a:solidFill>
            <a:srgbClr val="F9F3F3"/>
          </a:solidFill>
          <a:ln>
            <a:solidFill>
              <a:srgbClr val="E0A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4241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C44C4C"/>
                </a:solidFill>
                <a:latin typeface="Aptos"/>
              </a:rPr>
              <a:t>PAUSE / STOP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10332720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B192D"/>
                </a:solidFill>
                <a:latin typeface="Aptos"/>
              </a:rPr>
              <a:t>Immediate stop: safety incident, privacy/security breach, material service harm, or unauthorized access (Astrid + Camila; Eamon notified). Pause: data completeness &lt;95%, contamination, fidelity &lt;80%, or major co-intervention; Mikkel documents disposition within 2 business days. Resume only with written gate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06 / TIMELINE, OWNERS &amp;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Run the pilot to a dated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44168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W−8 to −6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289304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Design + eligibility 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289304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Mikkel / Astrid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289304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Signed protocol; eligible list; privacy notice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56232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65960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W−6 to −4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911096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Baseline extract + quality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11096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Jasmin + data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11096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12-week panel; reconciliation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478024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587752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W−4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532888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Blocked random draw + balance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532888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Mikkel + finance witness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32888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Seed, block table, imbalance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099816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209544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W−3 to −1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154680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Contract, DPIA/monitoring review, access build,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154680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Camila + vendor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54680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Executed terms; RBAC list; attendance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21608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831336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W0–12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3776472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Synchronized launch, weekly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776472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Astrid + crew managers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76472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Tool logs; exception/co-intervention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43400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4453128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W13–15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4398264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Freeze, clean, model, readout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398264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Mikkel + Jasmin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398264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Locked dataset; analysis memo; interval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965192"/>
            <a:ext cx="1143000" cy="41148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074920"/>
            <a:ext cx="10241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020055"/>
            <a:ext cx="2971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B192D"/>
                </a:solidFill>
                <a:latin typeface="Aptos"/>
              </a:rPr>
              <a:t>Final decision / records archive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5020055"/>
            <a:ext cx="2057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1C9F96"/>
                </a:solidFill>
                <a:latin typeface="Aptos"/>
              </a:rPr>
              <a:t>Eamon (sponsor)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020055"/>
            <a:ext cx="40690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Decision minute; rollout/stop/inconclusive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7790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EF9743"/>
                </a:solidFill>
                <a:latin typeface="Aptos"/>
              </a:rPr>
              <a:t>Record pack: frozen protocol/version, allocation seed and inputs, signed access/notice logs, weekly extracts, exceptions, gate decisions, analysis dataset hash, budget ledger and final decision minute.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07 / ENGLAND–SCOTLAND &amp; CONTRACTING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Common controls; local facts still need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3657600" cy="41605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COMMON UK / GB BASELINE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8273A"/>
                </a:solidFill>
                <a:latin typeface="Aptos"/>
              </a:rPr>
              <a:t>• UK GDPR / Data Protection Act principles: minimisation, purpose, access, retention, breach route.
• Written pilot scope, security, support, export/deletion and non-production status.
• Payroll/timekeeping definitions, H&amp;S escalation, equality and worker transparency checks.
• No individual performance monitoring beyond scheduling purpose without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88720"/>
            <a:ext cx="3429000" cy="416052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>
            <a:solidFill>
              <a:srgbClr val="FFF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429000" cy="41605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EF9743"/>
                </a:solidFill>
                <a:latin typeface="Aptos"/>
              </a:rPr>
              <a:t>CONFIRM SEPARATELY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8273A"/>
                </a:solidFill>
                <a:latin typeface="Aptos"/>
              </a:rPr>
              <a:t>England: local bank-holiday / client-access calendar, workforce consultation route, site rules and records owner.
Scotland: Scottish bank-holiday / travel calendar, local workforce arrangements, site/client rules and records owner.
These are planning checks—not legal conclusions.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88720"/>
            <a:ext cx="3474720" cy="416052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188720"/>
            <a:ext cx="3474720" cy="41605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CAMILA’S PRE-ACCESS CHECKLIST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8273A"/>
                </a:solidFill>
                <a:latin typeface="Aptos"/>
              </a:rPr>
              <a:t>Term + crew scope; price basis; exit/no auto-renewal or rollout; pilot acceptance as non-production; data ownership/processor roles; RBAC; sub-processors; incident SLA; support; export/deletion; IP and confidentiality; worker notice; no commitment created by moving beyond pilot.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687568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EF9743"/>
                </a:solidFill>
                <a:latin typeface="Aptos"/>
              </a:rPr>
              <a:t>Camila confirms unresolved jurisdiction, employment, client-contract and privacy questions in writing before access. Astrid owns local calendar/operations confirmation; Jasmin owns payroll record provenance.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08 / LOW–BASE–HIGH GBP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Planning budget: visible assumptions, not a quote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10972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5B6F81"/>
                </a:solidFill>
                <a:latin typeface="Aptos"/>
              </a:rPr>
              <a:t>Assumption: 11 crews, 12-week observation; vendor pricing unknown, so license is an allowance. Internal rates are loaded planning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6400800" cy="329184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45336"/>
            <a:ext cx="630936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Line item (qty × rate)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1234440" cy="329184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545336"/>
            <a:ext cx="1143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63040"/>
            <a:ext cx="1234440" cy="329184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545336"/>
            <a:ext cx="11430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463040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1545336"/>
            <a:ext cx="13258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901952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993392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Internal PM + finance + ops (160/220/300 h × £55)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93392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£8,800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993392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£12,100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1993392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£16,500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322576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414016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Vendor license allowance (11 crews × £80/£120/£180 × 3 mo)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41401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£2,640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41401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£3,960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41401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£5,940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743200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834640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Implementation / integration (40/70/110 h × £85)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834640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£3,400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834640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£5,950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834640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£9,350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163824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255264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Training + support (11 × £180/£260/£360)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55264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£1,980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255264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£2,860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3255264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£3,960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584448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675887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Data engineering + analysis (60/100/150 h × £75)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675887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£4,500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675887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£7,500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3675887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£11,250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005072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096511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Privacy / contracting review (20/35/55 h × £150)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096511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£3,000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96511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£5,250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4096511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£8,250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425696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517136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Travel / materials allowance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5171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£800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5171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£1,500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45171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£2,500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4846320"/>
            <a:ext cx="6400800" cy="384048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937759"/>
            <a:ext cx="6217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50" b="0">
                <a:solidFill>
                  <a:srgbClr val="18273A"/>
                </a:solidFill>
                <a:latin typeface="Aptos"/>
              </a:rPr>
              <a:t>Contingency (10% of above)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4937759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£2,512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937759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£3,912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4937759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0B192D"/>
                </a:solidFill>
                <a:latin typeface="Aptos"/>
              </a:rPr>
              <a:t>£5,775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321808"/>
            <a:ext cx="1234440" cy="411480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54315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0B192D"/>
                </a:solidFill>
                <a:latin typeface="Aptos"/>
              </a:rPr>
              <a:t>£27,632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32520" y="5321808"/>
            <a:ext cx="1234440" cy="411480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32520" y="54315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0B192D"/>
                </a:solidFill>
                <a:latin typeface="Aptos"/>
              </a:rPr>
              <a:t>£43,032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04120" y="5321808"/>
            <a:ext cx="1234440" cy="411480"/>
          </a:xfrm>
          <a:prstGeom prst="roundRect">
            <a:avLst>
              <a:gd name="adj" fmla="val 8000"/>
            </a:avLst>
          </a:prstGeom>
          <a:solidFill>
            <a:srgbClr val="C6EBEB"/>
          </a:solidFill>
          <a:ln>
            <a:solidFill>
              <a:srgbClr val="C6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5431536"/>
            <a:ext cx="11887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0B192D"/>
                </a:solidFill>
                <a:latin typeface="Aptos"/>
              </a:rPr>
              <a:t>£63,525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431536"/>
            <a:ext cx="63093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0B192D"/>
                </a:solidFill>
                <a:latin typeface="Aptos"/>
              </a:rPr>
              <a:t>TOTAL (sum of visible lines)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5897880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EF9743"/>
                </a:solidFill>
                <a:latin typeface="Aptos"/>
              </a:rPr>
              <a:t>Pause at W4: estimated committed £18k/£27k/£39k (license + setup + review + work done); avoidable remainder requires written stop decision. Excludes VAT, production rollout, payroll policy changes, hardware and client compensation.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F96"/>
          </a:solidFill>
          <a:ln>
            <a:solidFill>
              <a:srgbClr val="1C9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1C9F96"/>
                </a:solidFill>
                <a:latin typeface="Aptos"/>
              </a:rPr>
              <a:t>09 / 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0B192D"/>
                </a:solidFill>
                <a:latin typeface="Aptos"/>
              </a:rPr>
              <a:t>Authorize only when the record is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F81"/>
                </a:solidFill>
                <a:latin typeface="Aptos"/>
              </a:rPr>
              <a:t>Cavendish Logistics • Emberline Clinic • planning assumption set • 20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F9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5349240" cy="36118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Eamon’s approval today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B192D"/>
                </a:solidFill>
                <a:latin typeface="Aptos"/>
              </a:rPr>
              <a:t>☐ Fund scenario: Low £27,632  /  Base £43,032  /  High £63,525
☐ Select 12-week window and confirm 5–6 treatment crews
☐ Name final data owner and finance witness
☐ Require Camila’s written pre-access confirmation
☐ Accept that “inconclusive” is a valid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0F5F8"/>
          </a:solidFill>
          <a:ln>
            <a:solidFill>
              <a:srgbClr val="F0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5349240" cy="36118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9F96"/>
                </a:solidFill>
                <a:latin typeface="Aptos"/>
              </a:rPr>
              <a:t>Before any login is issued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B192D"/>
                </a:solidFill>
                <a:latin typeface="Aptos"/>
              </a:rPr>
              <a:t>1  Eligibility + baseline quality gate passed
2  Allocation seed, block table and balance check archived
3  Contract, privacy/monitoring and local England/Scotland checks signed
4  RBAC, training, notice and support package ready
5  Stop/pause contacts tested; record pack location shared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1663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B192D"/>
          </a:solidFill>
          <a:ln>
            <a:solidFill>
              <a:srgbClr val="0B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decision at W16: FAVORABLE / HARMFUL–UNFAVOURABLE / INCONCLUSIVE → documented rollout, rollback, redesign or no-go. Never substitute an unadjusted before–after fall for the comparative readout.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