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28016" cy="438912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024128"/>
            <a:ext cx="731520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70D6D2"/>
                </a:solidFill>
                <a:latin typeface="Aptos"/>
              </a:defRPr>
            </a:pPr>
            <a:r>
              <a:t>BENEFITS GOVERNANCE • COUNSEL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90472"/>
            <a:ext cx="7680960" cy="132588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Guided Roth conversion</a:t>
            </a:r>
          </a:p>
          <a:p>
            <a:pPr>
              <a:spcAft>
                <a:spcPts val="5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review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72384"/>
            <a:ext cx="6858000" cy="64008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DCE6EE"/>
                </a:solidFill>
                <a:latin typeface="Aptos"/>
              </a:defRPr>
            </a:pPr>
            <a:r>
              <a:t>Causal operating standard for Peatmoor Utilities</a:t>
            </a:r>
          </a:p>
          <a:p>
            <a:pPr>
              <a:spcAft>
                <a:spcPts val="500"/>
              </a:spcAft>
              <a:defRPr sz="1700" b="0">
                <a:solidFill>
                  <a:srgbClr val="DCE6EE"/>
                </a:solidFill>
                <a:latin typeface="Aptos"/>
              </a:defRPr>
            </a:pPr>
            <a:r>
              <a:t>Launch year: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010912"/>
            <a:ext cx="7040880" cy="658368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Decision requested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Approve prospective allocation, measurement lock, and exception controls before offers begin.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051560"/>
            <a:ext cx="2331720" cy="4434840"/>
          </a:xfrm>
          <a:prstGeom prst="round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98280" y="1371600"/>
            <a:ext cx="1874519" cy="384048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CONFIGURED</a:t>
            </a:r>
          </a:p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POPULATION</a:t>
            </a:r>
          </a:p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60 eligible</a:t>
            </a:r>
          </a:p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GUIDED OFFERS</a:t>
            </a:r>
          </a:p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30 capacity-limited</a:t>
            </a:r>
          </a:p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READOUT</a:t>
            </a:r>
          </a:p>
          <a:p>
            <a:pPr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22 Dec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47104"/>
            <a:ext cx="10972800" cy="18288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E6B75"/>
                </a:solidFill>
                <a:latin typeface="Aptos"/>
              </a:defRPr>
            </a:pPr>
            <a:r>
              <a:t>Hollowpine Cooperative  |  Peatmoor Utilities  |  Pilot governance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8136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7C83"/>
                </a:solidFill>
                <a:latin typeface="Aptos"/>
              </a:defRPr>
            </a:pPr>
            <a:r>
              <a:t>DECISION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66928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7324D"/>
                </a:solidFill>
                <a:latin typeface="Aptos"/>
              </a:defRPr>
            </a:pPr>
            <a:r>
              <a:t>What will this pilot learn?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972800" cy="329184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E6B75"/>
                </a:solidFill>
                <a:latin typeface="Aptos"/>
              </a:defRPr>
            </a:pPr>
            <a:r>
              <a:t>A causal question about a proactive offer — not a question about who chooses to attend.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38528"/>
            <a:ext cx="3520440" cy="333756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38528"/>
            <a:ext cx="91440" cy="333756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084832"/>
            <a:ext cx="320040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Population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441448"/>
            <a:ext cx="3200400" cy="274320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60 distinct employees who meet the supplied rule: plan eligible, hourly, and retirement date in 2026. Blank prior interest remains eligible.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38528"/>
            <a:ext cx="3520440" cy="333756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938528"/>
            <a:ext cx="91440" cy="333756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084832"/>
            <a:ext cx="320040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Randomized contrast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41448"/>
            <a:ext cx="3200400" cy="274320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Guided-offer arm: proactive offer to a voluntary review. Comparison: standard Roth conversion educational material, available to everyone.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38528"/>
            <a:ext cx="3520440" cy="333756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938528"/>
            <a:ext cx="91440" cy="333756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2084832"/>
            <a:ext cx="320040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Behavioral endpoint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441448"/>
            <a:ext cx="3200400" cy="274320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One primary outcome: any confirmed Roth conversion by 15 Dec 2026. Estimate = assigned-offer rate − assigned-comparison rate.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07C83"/>
                </a:solidFill>
                <a:latin typeface="Aptos"/>
              </a:defRPr>
            </a:pPr>
            <a:r>
              <a:t>Question: among eligible employees, what is the effect of being offered the guided review on later conversion behavior?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47104"/>
            <a:ext cx="10972800" cy="18288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E6B75"/>
                </a:solidFill>
                <a:latin typeface="Aptos"/>
              </a:defRPr>
            </a:pPr>
            <a:r>
              <a:t>Hollowpine Cooperative  |  Peatmoor Utilities  |  Pilot governance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8136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7C83"/>
                </a:solidFill>
                <a:latin typeface="Aptos"/>
              </a:defRPr>
            </a:pPr>
            <a:r>
              <a:t>OPERATING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66928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7324D"/>
                </a:solidFill>
                <a:latin typeface="Aptos"/>
              </a:defRPr>
            </a:pPr>
            <a:r>
              <a:t>Mandatory protections and preferred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972800" cy="329184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E6B75"/>
                </a:solidFill>
                <a:latin typeface="Aptos"/>
              </a:defRPr>
            </a:pPr>
            <a:r>
              <a:t>The must/should boundary preserves causal validity and voluntary treatment.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5394960" cy="406908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91440" cy="406908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020824"/>
            <a:ext cx="507492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MANDATORY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377439"/>
            <a:ext cx="5074920" cy="34747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• Freeze roster, eligibility, assignment rule, outcome, and interpretation standard before outcomes.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• Randomize the offer; retain original arm for every eligible person.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• Standard education for both arms; meeting decline is allowed.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• Separate assignment, delivery, scheduling, attendance, exposure, and outcome.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• No advisor or participant hand-picking after allocation.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• Use assigned-group ITT as the primary result.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394960" cy="406908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74519"/>
            <a:ext cx="91440" cy="406908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020824"/>
            <a:ext cx="507492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PREFERRED WHEN FEASIBLE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77439"/>
            <a:ext cx="5074920" cy="34747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• Multiple neutral contact attempts to improve delivery/uptake.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• Scheduling choices that fit shift patterns.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• Baseline balance review and complete outcome chase.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• Prespecified exploratory views by Site or prior-interest category.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• Advisor scripts and implementation monitoring that improve consistency.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These practices may improve uptake or precision; they do not replace random assignment or the ITT readout.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47104"/>
            <a:ext cx="10972800" cy="18288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E6B75"/>
                </a:solidFill>
                <a:latin typeface="Aptos"/>
              </a:defRPr>
            </a:pPr>
            <a:r>
              <a:t>Hollowpine Cooperative  |  Peatmoor Utilities  |  Pilot governance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8136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7C83"/>
                </a:solidFill>
                <a:latin typeface="Aptos"/>
              </a:defRPr>
            </a:pPr>
            <a:r>
              <a:t>ALLOCATION &amp;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66928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7324D"/>
                </a:solidFill>
                <a:latin typeface="Aptos"/>
              </a:defRPr>
            </a:pPr>
            <a:r>
              <a:t>Reproducible, capacity-safe offer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972800" cy="329184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E6B75"/>
                </a:solidFill>
                <a:latin typeface="Aptos"/>
              </a:defRPr>
            </a:pPr>
            <a:r>
              <a:t>30 proactive offers across Apr–Sep 2026; comparison employees retain ordinary education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383280" cy="3977639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91440" cy="3977639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75104"/>
            <a:ext cx="306324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1. Freeze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331720"/>
            <a:ext cx="3063240" cy="3383279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20 Mar: Benefits Operations freezes supplied eligibility fields and participant key. Exclude only plan-ineligible, non-hourly, or retirement outside 2026.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28800"/>
            <a:ext cx="3383280" cy="3977639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828800"/>
            <a:ext cx="91440" cy="3977639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975104"/>
            <a:ext cx="306324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2. Allocate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331720"/>
            <a:ext cx="3063240" cy="3383279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24 Mar: Benefits Analytics ranks a SHA-256 audit value using seed HPC-2026-PEATMOOR-041, within baseline Site × prior-interest category (including Unknown). Fixed quotas produce 30 offers / 30 comparison.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0456" y="1828800"/>
            <a:ext cx="3383280" cy="3977639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0456" y="1828800"/>
            <a:ext cx="91440" cy="3977639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21624" y="1975104"/>
            <a:ext cx="306324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3. Deliver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2331720"/>
            <a:ext cx="3063240" cy="3383279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Apr–Sep: Advisor Operations sends only the 30 randomized proactive offers. Capacity cannot be exceeded. No substitutions, advisor overrides, or participant self-selection into offer arm.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10881360" cy="347472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23A48"/>
                </a:solidFill>
                <a:latin typeface="Aptos"/>
              </a:defRPr>
            </a:pPr>
            <a:r>
              <a:t>If capacity is unused: leave slots unused; do not select replacements. If capacity is threatened: pause unsent offers and document; do not re-randomize selectively. Any material exception is a governance review and remains visible in the allocation log.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47104"/>
            <a:ext cx="10972800" cy="18288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E6B75"/>
                </a:solidFill>
                <a:latin typeface="Aptos"/>
              </a:defRPr>
            </a:pPr>
            <a:r>
              <a:t>Hollowpine Cooperative  |  Peatmoor Utilities  |  Pilot governance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8136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7C83"/>
                </a:solidFill>
                <a:latin typeface="Aptos"/>
              </a:defRPr>
            </a:pPr>
            <a:r>
              <a:t>MEASUREMENT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66928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7324D"/>
                </a:solidFill>
                <a:latin typeface="Aptos"/>
              </a:defRPr>
            </a:pPr>
            <a:r>
              <a:t>One primary endpoint; preserve the randomized contrast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972800" cy="329184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E6B75"/>
                </a:solidFill>
                <a:latin typeface="Aptos"/>
              </a:defRPr>
            </a:pPr>
            <a:r>
              <a:t>The participant-level instrument makes implementation states observable without converting them into exclusions.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47088"/>
            <a:ext cx="3474720" cy="356616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47088"/>
            <a:ext cx="91440" cy="356616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93392"/>
            <a:ext cx="3154679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Primary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350008"/>
            <a:ext cx="3154679" cy="297180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Any confirmed Roth conversion by 15 Dec 2026.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Numerator: participant with a confirmed conversion event recorded by deadline.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Denominator: all eligible participants in the original assigned arm.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Outcome date: recorded event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47088"/>
            <a:ext cx="3474720" cy="356616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47088"/>
            <a:ext cx="91440" cy="356616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993392"/>
            <a:ext cx="3154679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Primary effect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50008"/>
            <a:ext cx="3154679" cy="297180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Intention-to-treat: assigned guided-offer conversion rate minus assigned standard-education conversion rate, regardless of meeting attendance, refusal, delivery failure, outside exposure, or crossover.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Unknown outcome status is distinct from non-conversion; primary counts no confirmed conversion and displays sensitivity bounds.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47088"/>
            <a:ext cx="3474720" cy="356616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847088"/>
            <a:ext cx="91440" cy="356616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993392"/>
            <a:ext cx="3154679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Secondary / exploratory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350008"/>
            <a:ext cx="3154679" cy="297180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Offer delivery, scheduling, attendance, outside guided exposure, conversion amount, and satisfaction (if later captured) are secondary or exploratory.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An attendee-versus-non-attendee comparison is selection-biased and cannot establish that the review caused an outcome. Attendance effects are non-randomized and assumption-dependent.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47104"/>
            <a:ext cx="10972800" cy="18288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E6B75"/>
                </a:solidFill>
                <a:latin typeface="Aptos"/>
              </a:defRPr>
            </a:pPr>
            <a:r>
              <a:t>Hollowpine Cooperative  |  Peatmoor Utilities  |  Pilot governance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8136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7C83"/>
                </a:solidFill>
                <a:latin typeface="Aptos"/>
              </a:defRPr>
            </a:pPr>
            <a:r>
              <a:t>WHY CONCURRENT RANDOMIZATION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66928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7324D"/>
                </a:solidFill>
                <a:latin typeface="Aptos"/>
              </a:defRPr>
            </a:pPr>
            <a:r>
              <a:t>Shared 2026 conditions are a reason to compare arms concurrently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972800" cy="329184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E6B75"/>
                </a:solidFill>
                <a:latin typeface="Aptos"/>
              </a:defRPr>
            </a:pPr>
            <a:r>
              <a:t>Historical pre/post rates cannot separate the offer from market or bracket-environment movement.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5212080" cy="356616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91440" cy="356616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112264"/>
            <a:ext cx="489204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Concurrent randomized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468880"/>
            <a:ext cx="4892040" cy="297180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Both assigned groups experience the same 2026 calendar, broad market environment, and communicated bracket environment. Random allocation makes those shared movements less likely to explain an arm difference.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965960"/>
            <a:ext cx="5212080" cy="356616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965960"/>
            <a:ext cx="91440" cy="356616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2112264"/>
            <a:ext cx="489204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Scenario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68880"/>
            <a:ext cx="4892040" cy="297180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Stable, market movement, and bracket-environment shift are supplied planning contexts only. They may contextualize the readout or sensitivity discussion; they never generate participant outcomes, forecast individual tax effects, or substitute for observed conversion status.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97880"/>
            <a:ext cx="10789920" cy="32004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007C83"/>
                </a:solidFill>
                <a:latin typeface="Aptos"/>
              </a:defRPr>
            </a:pPr>
            <a:r>
              <a:t>Interpretation remains the effect of the implemented offer under its conditions — not an individual tax conclusion or a legal determination.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47104"/>
            <a:ext cx="10972800" cy="18288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E6B75"/>
                </a:solidFill>
                <a:latin typeface="Aptos"/>
              </a:defRPr>
            </a:pPr>
            <a:r>
              <a:t>Hollowpine Cooperative  |  Peatmoor Utilities  |  Pilot governance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8136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7C83"/>
                </a:solidFill>
                <a:latin typeface="Aptos"/>
              </a:defRPr>
            </a:pPr>
            <a:r>
              <a:t>DECEMBER INTERPRETATION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66928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7324D"/>
                </a:solidFill>
                <a:latin typeface="Aptos"/>
              </a:defRPr>
            </a:pPr>
            <a:r>
              <a:t>Read the estimated effect with its precision and implementation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972800" cy="329184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E6B75"/>
                </a:solidFill>
                <a:latin typeface="Aptos"/>
              </a:defRPr>
            </a:pPr>
            <a:r>
              <a:t>The 30/30 pilot is sized to learn direction and feasibility; it may be too imprecise for a modest effect.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66160" cy="164592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91440" cy="164592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29384"/>
            <a:ext cx="324612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Meaningfully positive + sufficiently precise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86000"/>
            <a:ext cx="3246120" cy="105156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A positive assigned-group difference whose interval is narrow enough for a governance decision supports evidence that the offer changed behavior under pilot conditions.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783080"/>
            <a:ext cx="3566160" cy="164592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783080"/>
            <a:ext cx="91440" cy="164592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1929384"/>
            <a:ext cx="324612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Positive, highly uncertain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286000"/>
            <a:ext cx="3246120" cy="105156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Treat as a signal for a larger or refined pilot, not proof. Wide interval means the size of benefit remains unresolved.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783080"/>
            <a:ext cx="3566160" cy="164592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783080"/>
            <a:ext cx="91440" cy="164592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929384"/>
            <a:ext cx="324612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Precise near-zero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286000"/>
            <a:ext cx="3246120" cy="105156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Evidence against an offer effect of decision-relevant size under these conditions; not evidence about all future formats.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3566160" cy="164592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91440" cy="164592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849624"/>
            <a:ext cx="324612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Imprecise null / non-significant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206240"/>
            <a:ext cx="3246120" cy="105156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Inconclusive, not evidence of no effect. The interval and MDE—not a non-significant test alone—describe what the modest pilot could detect.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3703320"/>
            <a:ext cx="3566160" cy="164592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5968" y="3703320"/>
            <a:ext cx="91440" cy="164592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136" y="3849624"/>
            <a:ext cx="324612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Weak uptake or high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4206240"/>
            <a:ext cx="3246120" cy="105156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Keep ITT result. It estimates the offer; weak uptake/crossover limits what can be learned about actually receiving a meeting.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3703320"/>
            <a:ext cx="3566160" cy="164592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3296" y="3703320"/>
            <a:ext cx="91440" cy="164592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4464" y="3849624"/>
            <a:ext cx="324612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Integrity or data failure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4206240"/>
            <a:ext cx="3246120" cy="105156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Assignment override, unresolved outcome status, differential ascertainment, or material chronology failure prevents causal conclusion even if headline rates look clean.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47104"/>
            <a:ext cx="10972800" cy="18288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E6B75"/>
                </a:solidFill>
                <a:latin typeface="Aptos"/>
              </a:defRPr>
            </a:pPr>
            <a:r>
              <a:t>Hollowpine Cooperative  |  Peatmoor Utilities  |  Pilot governance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8136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7C83"/>
                </a:solidFill>
                <a:latin typeface="Aptos"/>
              </a:defRPr>
            </a:pPr>
            <a:r>
              <a:t>GOVERNANCE THROUGH READOUT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66928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7324D"/>
                </a:solidFill>
                <a:latin typeface="Aptos"/>
              </a:defRPr>
            </a:pPr>
            <a:r>
              <a:t>Named owners, prospective lock, and clear escalation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972800" cy="329184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E6B75"/>
                </a:solidFill>
                <a:latin typeface="Aptos"/>
              </a:defRPr>
            </a:pPr>
            <a:r>
              <a:t>No outcome-informed changes to population, allocation, primary endpoint, or interpretation standard.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429000" cy="406908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91440" cy="406908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75104"/>
            <a:ext cx="310896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MARCH — PRE-LAUNCH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331720"/>
            <a:ext cx="3108960" cy="34747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20 Mar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Benefits Operations: roster freeze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24 Mar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Clara Almeida + Counsel: approve and lock population, allocation, primary outcome, and interpretation standard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Benefits Analytics: retain seed, strata, quotas, and original assignments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429000" cy="406908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91440" cy="406908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975104"/>
            <a:ext cx="310896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APR–SEP —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31720"/>
            <a:ext cx="3108960" cy="34747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Advisor Operations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Deliver randomized proactive offers within 30-offer capacity; keep standard education available to all.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Benefits Operations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Capture delivery, scheduling, attendance, decline, and outside exposure.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Escalate capacity, chronology, or override issues without selective replacement.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828800"/>
            <a:ext cx="3429000" cy="406908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828800"/>
            <a:ext cx="91440" cy="406908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975104"/>
            <a:ext cx="310896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DECEMBER — READOUT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331720"/>
            <a:ext cx="3108960" cy="34747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15 Dec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Benefits Operations: outcome capture deadline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Benefits Analytics: QC, balance, ITT rates, CI, sensitivity bounds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22 Dec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Mirela Danforth: year-end interpretation for benefits leadership and counsel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47104"/>
            <a:ext cx="10972800" cy="18288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E6B75"/>
                </a:solidFill>
                <a:latin typeface="Aptos"/>
              </a:defRPr>
            </a:pPr>
            <a:r>
              <a:t>Hollowpine Cooperative  |  Peatmoor Utilities  |  Pilot governance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38912"/>
            <a:ext cx="1088136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007C83"/>
                </a:solidFill>
                <a:latin typeface="Aptos"/>
              </a:defRPr>
            </a:pPr>
            <a:r>
              <a:t>APPROVAL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566928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7324D"/>
                </a:solidFill>
                <a:latin typeface="Aptos"/>
              </a:defRPr>
            </a:pPr>
            <a:r>
              <a:t>Authorize a measurement pilot—not individualized advice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53312"/>
            <a:ext cx="10972800" cy="329184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E6B75"/>
                </a:solidFill>
                <a:latin typeface="Aptos"/>
              </a:defRPr>
            </a:pPr>
            <a:r>
              <a:t>Configured in the companion workbook: `pilot_measurement.xlsx`.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47088"/>
            <a:ext cx="5303520" cy="361188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91440" cy="361188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93392"/>
            <a:ext cx="498348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Counsel / benefits 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50008"/>
            <a:ext cx="4983480" cy="30175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□ Approve voluntary, neutral education model and standard access.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□ Approve 60 eligible / 30 offer / 30 comparison configuration.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□ Approve fixed outcome deadline: 15 Dec 2026.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□ Approve primary ITT estimate and missing-status sensitivity.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□ Confirm supplied-policy-only review scope.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47088"/>
            <a:ext cx="5303520" cy="361188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47088"/>
            <a:ext cx="91440" cy="3611880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993392"/>
            <a:ext cx="4983480" cy="2743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Operating handoff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350008"/>
            <a:ext cx="4983480" cy="301752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□ Benefits Operations freezes roster and captures outcomes.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□ Benefits Analytics runs allocation, QC, balance, and readout.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□ Advisor Operations manages capacity and delivery states.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□ Mirela Danforth owns interpretation on 22 Dec.</a:t>
            </a: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100" b="0">
                <a:solidFill>
                  <a:srgbClr val="34495E"/>
                </a:solidFill>
                <a:latin typeface="Aptos"/>
              </a:defRPr>
            </a:pPr>
            <a:r>
              <a:t>Guardrail: no participant is told whether or how much to convert.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47104"/>
            <a:ext cx="10972800" cy="182880"/>
          </a:xfrm>
          <a:prstGeom prst="rect">
            <a:avLst/>
          </a:prstGeom>
          <a:noFill/>
        </p:spPr>
        <p:txBody>
          <a:bodyPr wrap="square" lIns="63500" rIns="63500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E6B75"/>
                </a:solidFill>
                <a:latin typeface="Aptos"/>
              </a:defRPr>
            </a:pPr>
            <a:r>
              <a:t>Hollowpine Cooperative  |  Peatmoor Utilities  |  Pilot governance  |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