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900" b="1">
                <a:solidFill>
                  <a:srgbClr val="008080"/>
                </a:solidFill>
              </a:defRPr>
            </a:pPr>
            <a:r>
              <a:t>SALTMARSH PRESS • 2026 OPERATING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</a:defRPr>
            </a:pPr>
            <a:r>
              <a:t>From valuation anchor to retiree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6583680" cy="10515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</a:defRPr>
            </a:pPr>
            <a:r>
              <a:t>A dated handoff plan for Eamon Rasmussen and the frontline benefits / payroll desk.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788920"/>
            <a:ext cx="6126480" cy="6400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500" b="0">
                <a:solidFill>
                  <a:srgbClr val="2D3741"/>
                </a:solidFill>
              </a:defRPr>
            </a:pPr>
            <a:r>
              <a:t>Use the weekly roadmap, gate logic, and blank capture areas to make the next handoff explicit.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840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0" y="1527048"/>
            <a:ext cx="356616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E8AA3C"/>
                </a:solidFill>
              </a:defRPr>
            </a:pPr>
            <a:r>
              <a:t>CYCLE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828800"/>
            <a:ext cx="3566160" cy="2697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31 December 2025</a:t>
            </a:r>
            <a:br/>
            <a:br/>
            <a:r>
              <a:t>Approval → allocation → letters → 30-day election window → distributions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731520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0">
                <a:solidFill>
                  <a:srgbClr val="008080"/>
                </a:solidFill>
              </a:defRPr>
            </a:pPr>
            <a:r>
              <a:t>Prepared by Javier Rivenburgh • source: saltmarsh_esop_cycle_source.xlsx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0972800" cy="1371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800" b="0">
                <a:solidFill>
                  <a:srgbClr val="64707A"/>
                </a:solidFill>
              </a:defRPr>
            </a:pPr>
            <a:r>
              <a:t>Saltmarsh Press  |  Annual ESOP cycle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900" b="1">
                <a:solidFill>
                  <a:srgbClr val="008080"/>
                </a:solidFill>
              </a:defRPr>
            </a:pPr>
            <a:r>
              <a:t>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</a:defRPr>
            </a:pPr>
            <a:r>
              <a:t>Source assumptions and annual date spine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338328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FIXED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383280" cy="397764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Valuation anchor</a:t>
            </a:r>
            <a:br/>
            <a:r>
              <a:t>31 Dec 2025</a:t>
            </a:r>
            <a:br/>
            <a:br/>
            <a:r>
              <a:t>Trustee availability</a:t>
            </a:r>
            <a:br/>
            <a:r>
              <a:t>Q2 meeting • 14 Apr 2026</a:t>
            </a:r>
            <a:br/>
            <a:br/>
            <a:r>
              <a:t>Election window</a:t>
            </a:r>
            <a:br/>
            <a:r>
              <a:t>30 calendar days from letter release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344168"/>
            <a:ext cx="310896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E8AA3C"/>
                </a:solidFill>
              </a:defRPr>
            </a:pPr>
            <a:r>
              <a:t>CUT-OFFS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3108960" cy="397764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Payroll cutoff</a:t>
            </a:r>
            <a:br/>
            <a:r>
              <a:t>12 Jun 2026</a:t>
            </a:r>
            <a:br/>
            <a:br/>
            <a:r>
              <a:t>Form 5500 extension</a:t>
            </a:r>
            <a:br/>
            <a:r>
              <a:t>30 Jun 2026</a:t>
            </a:r>
            <a:br/>
            <a:br/>
            <a:r>
              <a:t>Plan-audit sample</a:t>
            </a:r>
            <a:br/>
            <a:r>
              <a:t>22–26 Jun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44168"/>
            <a:ext cx="324612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246120" cy="397764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Distribution payroll cutoff</a:t>
            </a:r>
            <a:br/>
            <a:r>
              <a:t>31 Jul 2026</a:t>
            </a:r>
            <a:br/>
            <a:br/>
            <a:r>
              <a:t>Release cutoff</a:t>
            </a:r>
            <a:br/>
            <a:r>
              <a:t>14 Aug 2026</a:t>
            </a:r>
            <a:br/>
            <a:br/>
            <a:r>
              <a:t>Sequence clears June before letters.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972800" cy="1371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800" b="0">
                <a:solidFill>
                  <a:srgbClr val="64707A"/>
                </a:solidFill>
              </a:defRPr>
            </a:pPr>
            <a:r>
              <a:t>Saltmarsh Press  |  Annual ESOP cycle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900" b="1">
                <a:solidFill>
                  <a:srgbClr val="008080"/>
                </a:solidFill>
              </a:defRPr>
            </a:pPr>
            <a:r>
              <a:t>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</a:defRPr>
            </a:pPr>
            <a:r>
              <a:t>Weekly roadmap | make the next handoff visible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35607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05 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755648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Anchor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7128" y="132588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435607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30 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755648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1336" y="132588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435607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06 Apr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8" y="1755648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132588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1435607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E8AA3C"/>
                </a:solidFill>
              </a:defRPr>
            </a:pPr>
            <a:r>
              <a:t>14 Apr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8696" y="1755648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59752" y="132588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1435607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20 Apr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1755648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Allocate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2588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1435607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27 Apr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1755648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Reconcile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88168" y="132588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1435607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04 May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755648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Letters prep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4612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3355848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08 Jun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3675887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Payroll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67128" y="324612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3355848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15 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3675887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5500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31336" y="324612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04488" y="3355848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22 Jun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4488" y="3675887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Audit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95544" y="324612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68696" y="3355848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E8AA3C"/>
                </a:solidFill>
              </a:defRPr>
            </a:pPr>
            <a:r>
              <a:t>29 Jun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8696" y="3675887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Release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59752" y="324612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32904" y="3355848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30 Jun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32904" y="3675887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Window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23960" y="324612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3355848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30 Jul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7112" y="3675887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Dist. prep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88168" y="324612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61320" y="3355848"/>
            <a:ext cx="128016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000" b="1">
                <a:solidFill>
                  <a:srgbClr val="E8AA3C"/>
                </a:solidFill>
              </a:defRPr>
            </a:pPr>
            <a:r>
              <a:t>14 Aug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3675887"/>
            <a:ext cx="128016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Release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92240"/>
            <a:ext cx="10972800" cy="1371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800" b="0">
                <a:solidFill>
                  <a:srgbClr val="64707A"/>
                </a:solidFill>
              </a:defRPr>
            </a:pPr>
            <a:r>
              <a:t>Saltmarsh Press  |  Annual ESOP cycle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900" b="1">
                <a:solidFill>
                  <a:srgbClr val="008080"/>
                </a:solidFill>
              </a:defRPr>
            </a:pPr>
            <a:r>
              <a:t>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</a:defRPr>
            </a:pPr>
            <a:r>
              <a:t>Gate 1 | draft → review → trustee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698480" cy="32004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700" b="1">
                <a:solidFill>
                  <a:srgbClr val="B73E3E"/>
                </a:solidFill>
              </a:defRPr>
            </a:pPr>
            <a:r>
              <a:t>No approval, no allocation preparation.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834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38528"/>
            <a:ext cx="256032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1  APPRAISER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2560320" cy="1691639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30 Mar</a:t>
            </a:r>
            <a:br/>
            <a:r>
              <a:t>Appraiser hands draft to Javier / Eamon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2834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938528"/>
            <a:ext cx="256032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2 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40280"/>
            <a:ext cx="2560320" cy="1691639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06 Apr</a:t>
            </a:r>
            <a:br/>
            <a:r>
              <a:t>Javier checks draft and records open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828800"/>
            <a:ext cx="2834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38528"/>
            <a:ext cx="256032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E8AA3C"/>
                </a:solidFill>
              </a:defRPr>
            </a:pPr>
            <a:r>
              <a:t>3  TRUSTEE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240280"/>
            <a:ext cx="2560320" cy="1691639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14 Apr</a:t>
            </a:r>
            <a:br/>
            <a:r>
              <a:t>Q2 trustee meeting returns approval 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72000"/>
            <a:ext cx="9326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81728"/>
            <a:ext cx="9052559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WAITING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983480"/>
            <a:ext cx="9052559" cy="411479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Status = Waiting when the draft, review response, or approval outcome has not arrived; name the party and missing item in the tracker.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972800" cy="1371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800" b="0">
                <a:solidFill>
                  <a:srgbClr val="64707A"/>
                </a:solidFill>
              </a:defRPr>
            </a:pPr>
            <a:r>
              <a:t>Saltmarsh Press  |  Annual ESOP cycle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900" b="1">
                <a:solidFill>
                  <a:srgbClr val="008080"/>
                </a:solidFill>
              </a:defRPr>
            </a:pPr>
            <a:r>
              <a:t>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</a:defRPr>
            </a:pPr>
            <a:r>
              <a:t>Gate 2 | allocation → reconciliation → letters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2834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09928"/>
            <a:ext cx="256032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ALLOCATE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2560320" cy="16459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20 Apr</a:t>
            </a:r>
            <a:br/>
            <a:r>
              <a:t>Eamon prepares approved allocation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00200"/>
            <a:ext cx="2834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709928"/>
            <a:ext cx="256032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RECONCILE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2560320" cy="16459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27 Apr</a:t>
            </a:r>
            <a:br/>
            <a:r>
              <a:t>Payroll team validates totals and feed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600200"/>
            <a:ext cx="2834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709928"/>
            <a:ext cx="256032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LETTER 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11680"/>
            <a:ext cx="2560320" cy="16459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04 May</a:t>
            </a:r>
            <a:br/>
            <a:r>
              <a:t>Benefits operations prepares diversification and election letters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9875520" cy="5029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600" b="1">
                <a:solidFill>
                  <a:srgbClr val="B73E3E"/>
                </a:solidFill>
              </a:defRPr>
            </a:pPr>
            <a:r>
              <a:t>Release gate: letters cannot go out until trustee approval, allocation preparation, and reconciliation are complete.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92040"/>
            <a:ext cx="9326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01768"/>
            <a:ext cx="9052559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E8AA3C"/>
                </a:solidFill>
              </a:defRPr>
            </a:pPr>
            <a:r>
              <a:t>HANDOFF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303520"/>
            <a:ext cx="9052559" cy="274319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Use Handoff confirmed = Yes only when the named recipient acknowledges the input. Otherwise leave blank and use Waiting.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972800" cy="1371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800" b="0">
                <a:solidFill>
                  <a:srgbClr val="64707A"/>
                </a:solidFill>
              </a:defRPr>
            </a:pPr>
            <a:r>
              <a:t>Saltmarsh Press  |  Annual ESOP cycle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900" b="1">
                <a:solidFill>
                  <a:srgbClr val="008080"/>
                </a:solidFill>
              </a:defRPr>
            </a:pPr>
            <a:r>
              <a:t>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</a:defRPr>
            </a:pPr>
            <a:r>
              <a:t>June collision | choose the order, protect the hard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881360" cy="411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700" b="1">
                <a:solidFill>
                  <a:srgbClr val="17324D"/>
                </a:solidFill>
              </a:defRPr>
            </a:pPr>
            <a:r>
              <a:t>Selected order: ① payroll cutoff work → ② Form 5500 extension work → ③ plan-audit sample work → letters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310896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01  PAYROLL CUTOFF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108960" cy="205740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08–12 Jun</a:t>
            </a:r>
            <a:br/>
            <a:br/>
            <a:r>
              <a:t>Clear the 12 Jun payroll cutoff first; it feeds downstream payroll timing.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29968"/>
            <a:ext cx="310896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02  FORM 5500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31720"/>
            <a:ext cx="3108960" cy="205740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15–19 Jun</a:t>
            </a:r>
            <a:br/>
            <a:br/>
            <a:r>
              <a:t>Use the next week before the 30 Jun deadline.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92024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29968"/>
            <a:ext cx="310896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E8AA3C"/>
                </a:solidFill>
              </a:defRPr>
            </a:pPr>
            <a:r>
              <a:t>03  PLAN-AUDIT 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3108960" cy="205740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22–26 Jun</a:t>
            </a:r>
            <a:br/>
            <a:br/>
            <a:r>
              <a:t>Reserve the audit sample window.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10241280" cy="7315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500" b="0">
                <a:solidFill>
                  <a:srgbClr val="2D3741"/>
                </a:solidFill>
              </a:defRPr>
            </a:pPr>
            <a:r>
              <a:t>Rationale: protect the earliest hard cutoff, retain each activity, and release letters only after the collision and reconciliation clear on 29 Jun.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10972800" cy="1371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800" b="0">
                <a:solidFill>
                  <a:srgbClr val="64707A"/>
                </a:solidFill>
              </a:defRPr>
            </a:pPr>
            <a:r>
              <a:t>Saltmarsh Press  |  Annual ESOP cycle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900" b="1">
                <a:solidFill>
                  <a:srgbClr val="008080"/>
                </a:solidFill>
              </a:defRPr>
            </a:pPr>
            <a:r>
              <a:t>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</a:defRPr>
            </a:pPr>
            <a:r>
              <a:t>Election window → distribution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108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283464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RELEASE LETTERS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834640" cy="1508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29 Jun 2026</a:t>
            </a:r>
            <a:br/>
            <a:r>
              <a:t>Benefits operations releases approved letters after June work clears.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108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35607"/>
            <a:ext cx="283464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E8AA3C"/>
                </a:solidFill>
              </a:defRPr>
            </a:pPr>
            <a:r>
              <a:t>30-DAY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737360"/>
            <a:ext cx="2834640" cy="1508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30 Jun–29 Jul 2026</a:t>
            </a:r>
            <a:br/>
            <a:r>
              <a:t>Source assumption: 30 calendar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25880"/>
            <a:ext cx="3108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35607"/>
            <a:ext cx="2834640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DISTRIBUTE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37360"/>
            <a:ext cx="2834640" cy="1508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30 Jul prep → 14 Aug release</a:t>
            </a:r>
            <a:br/>
            <a:r>
              <a:t>Outcome feeds distribution files; 31 Jul payroll cutoff applies.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149840" cy="6400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700" b="1">
                <a:solidFill>
                  <a:srgbClr val="B73E3E"/>
                </a:solidFill>
              </a:defRPr>
            </a:pPr>
            <a:r>
              <a:t>Gate: do not prepare or release distributions until the election window outcome is known and the applicable cutoff is protected.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10972800" cy="1371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800" b="0">
                <a:solidFill>
                  <a:srgbClr val="64707A"/>
                </a:solidFill>
              </a:defRPr>
            </a:pPr>
            <a:r>
              <a:t>Saltmarsh Press  |  Annual ESOP cycle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900" b="1">
                <a:solidFill>
                  <a:srgbClr val="008080"/>
                </a:solidFill>
              </a:defRPr>
            </a:pPr>
            <a:r>
              <a:t>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</a:defRPr>
            </a:pPr>
            <a:r>
              <a:t>Handoff and escalation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9202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Appraiser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234440"/>
            <a:ext cx="41148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800" b="1">
                <a:solidFill>
                  <a:srgbClr val="E8AA3C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234440"/>
            <a:ext cx="23774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Javier / Eamon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234440"/>
            <a:ext cx="502920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</a:defRPr>
            </a:pPr>
            <a:r>
              <a:t>Valuation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92808"/>
            <a:ext cx="19202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Javier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892808"/>
            <a:ext cx="41148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800" b="1">
                <a:solidFill>
                  <a:srgbClr val="E8AA3C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92808"/>
            <a:ext cx="23774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ESOP trustee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892808"/>
            <a:ext cx="502920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</a:defRPr>
            </a:pPr>
            <a:r>
              <a:t>Reviewed draft / open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51176"/>
            <a:ext cx="19202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ESOP trustee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551176"/>
            <a:ext cx="41148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800" b="1">
                <a:solidFill>
                  <a:srgbClr val="E8AA3C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51176"/>
            <a:ext cx="23774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Eamon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551176"/>
            <a:ext cx="502920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</a:defRPr>
            </a:pPr>
            <a:r>
              <a:t>Approval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09544"/>
            <a:ext cx="19202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Payroll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209544"/>
            <a:ext cx="41148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800" b="1">
                <a:solidFill>
                  <a:srgbClr val="E8AA3C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209544"/>
            <a:ext cx="23774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Eamon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209544"/>
            <a:ext cx="502920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</a:defRPr>
            </a:pPr>
            <a:r>
              <a:t>Reconciled allocation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67912"/>
            <a:ext cx="19202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Benefits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867912"/>
            <a:ext cx="41148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800" b="1">
                <a:solidFill>
                  <a:srgbClr val="E8AA3C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867912"/>
            <a:ext cx="23774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Eamon / participants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867912"/>
            <a:ext cx="502920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</a:defRPr>
            </a:pPr>
            <a:r>
              <a:t>Election letters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26279"/>
            <a:ext cx="19202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17324D"/>
                </a:solidFill>
              </a:defRPr>
            </a:pPr>
            <a:r>
              <a:t>Eamon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526279"/>
            <a:ext cx="41148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800" b="1">
                <a:solidFill>
                  <a:srgbClr val="E8AA3C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526279"/>
            <a:ext cx="237744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</a:defRPr>
            </a:pPr>
            <a:r>
              <a:t>Payroll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526279"/>
            <a:ext cx="502920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0">
                <a:solidFill>
                  <a:srgbClr val="2D3741"/>
                </a:solidFill>
              </a:defRPr>
            </a:pPr>
            <a:r>
              <a:t>Approved distribution 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349240"/>
            <a:ext cx="9784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458968"/>
            <a:ext cx="9509759" cy="210312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200" b="1">
                <a:solidFill>
                  <a:srgbClr val="B73E3E"/>
                </a:solidFill>
              </a:defRPr>
            </a:pPr>
            <a:r>
              <a:t>ESCALATE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760720"/>
            <a:ext cx="9509759" cy="22860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100" b="0">
                <a:solidFill>
                  <a:srgbClr val="2D3741"/>
                </a:solidFill>
              </a:defRPr>
            </a:pPr>
            <a:r>
              <a:t>If a handoff is late or incomplete: set Status = At risk, name the missing item and party, record the cutoff threatened, and notify Eamon / the owner shown.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10972800" cy="1371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800" b="0">
                <a:solidFill>
                  <a:srgbClr val="64707A"/>
                </a:solidFill>
              </a:defRPr>
            </a:pPr>
            <a:r>
              <a:t>Saltmarsh Press  |  Annual ESOP cycle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972800" cy="1828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900" b="1">
                <a:solidFill>
                  <a:srgbClr val="008080"/>
                </a:solidFill>
              </a:defRPr>
            </a:pPr>
            <a:r>
              <a:t>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2500" b="1">
                <a:solidFill>
                  <a:srgbClr val="17324D"/>
                </a:solidFill>
              </a:defRPr>
            </a:pPr>
            <a:r>
              <a:t>Blank action &amp; exception capture | use during the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475488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300" b="1">
                <a:solidFill>
                  <a:srgbClr val="17324D"/>
                </a:solidFill>
              </a:defRPr>
            </a:pPr>
            <a:r>
              <a:t>Next action / owner /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43000"/>
            <a:ext cx="4754880" cy="2743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1300" b="1">
                <a:solidFill>
                  <a:srgbClr val="17324D"/>
                </a:solidFill>
              </a:defRPr>
            </a:pPr>
            <a:r>
              <a:t>Exception / escalation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002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9718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9718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6576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6576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3434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3434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241280" cy="3657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ctr">
              <a:defRPr sz="1300" b="0">
                <a:solidFill>
                  <a:srgbClr val="2D3741"/>
                </a:solidFill>
              </a:defRPr>
            </a:pPr>
            <a:r>
              <a:t>Leave blank until the cycle is live. Pair every exception with a status, waiting party, threatened cutoff, and next follow-up.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972800" cy="1371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 algn="l">
              <a:defRPr sz="800" b="0">
                <a:solidFill>
                  <a:srgbClr val="64707A"/>
                </a:solidFill>
              </a:defRPr>
            </a:pPr>
            <a:r>
              <a:t>Saltmarsh Press  |  Annual ESOP cycle  | 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