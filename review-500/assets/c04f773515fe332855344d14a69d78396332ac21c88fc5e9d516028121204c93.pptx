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164592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1000" b="1">
                <a:solidFill>
                  <a:srgbClr val="1C7C7D"/>
                </a:solidFill>
                <a:latin typeface="Aptos"/>
              </a:defRPr>
            </a:pPr>
            <a:r>
              <a:t>MARCHBANK CONSORTIUM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0607040" cy="11704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3100" b="1">
                <a:solidFill>
                  <a:srgbClr val="17324D"/>
                </a:solidFill>
                <a:latin typeface="Aptos"/>
              </a:defRPr>
            </a:pPr>
            <a:r>
              <a:t>Climate-related disclosure</a:t>
            </a:r>
            <a:br/>
            <a:r>
              <a:t>compliance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2468880"/>
            <a:ext cx="9052560" cy="43891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1400" b="0">
                <a:solidFill>
                  <a:srgbClr val="617282"/>
                </a:solidFill>
                <a:latin typeface="Aptos"/>
              </a:defRPr>
            </a:pPr>
            <a:r>
              <a:t>North America information unit  |  Frozen at 30 June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127248"/>
            <a:ext cx="10698480" cy="777240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700" b="0">
                <a:solidFill>
                  <a:srgbClr val="17212B"/>
                </a:solidFill>
                <a:latin typeface="Aptos"/>
              </a:defRPr>
            </a:pPr>
            <a:r>
              <a:t>Purpose: distinguish what the available evidence establishes from what remains disputed, unresolved or illustrative for a regulator, auditor or compliance reviewer.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4160520"/>
            <a:ext cx="10698480" cy="685800"/>
          </a:xfrm>
          <a:prstGeom prst="rect">
            <a:avLst/>
          </a:prstGeom>
          <a:solidFill>
            <a:srgbClr val="FFF2CC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600" b="0">
                <a:solidFill>
                  <a:srgbClr val="17212B"/>
                </a:solidFill>
                <a:latin typeface="Aptos"/>
              </a:defRPr>
            </a:pPr>
            <a:r>
              <a:t>Bounded publication question: which California and Ontario climate-related disclosure statements can be stated within the frozen evidence boundary—without entity-specific applicability, legal advice or a recommendation?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5989320"/>
            <a:ext cx="7315200" cy="219456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617282"/>
                </a:solidFill>
                <a:latin typeface="Aptos"/>
              </a:defRPr>
            </a:pPr>
            <a:r>
              <a:t>Peer-review revision • information briefing • not legal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C-PUB-01 | Scope and status taxonomy on 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SCOPE • WHAT IS AND IS NOT IN THIS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Evidence boundary and status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35024"/>
            <a:ext cx="5440680" cy="2103120"/>
          </a:xfrm>
          <a:prstGeom prst="roundRect">
            <a:avLst/>
          </a:prstGeom>
          <a:solidFill>
            <a:srgbClr val="F6F8FA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Availability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Frozen date is 30 June 2024; no change after that date is part of this comparison.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The Marchbank draft, mixed-format working files and frozen external snapshot were not supplied.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The normal legal source-validation service is unavailable. Identified statute / guidance sources are a bounded fallback, not completed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335024"/>
            <a:ext cx="5440680" cy="2103120"/>
          </a:xfrm>
          <a:prstGeom prst="roundRect">
            <a:avLst/>
          </a:prstGeom>
          <a:solidFill>
            <a:srgbClr val="EAF1F5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Labels used throughout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Source-supported requirement — identified primary law / official material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Official guidance — nonbinding context, not an obligation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Unresolved / disputed — unavailable or not independently verified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Illustrative projection — author-defined inputs and formulas, not observed results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Professional interpretation — explicit classification, not raw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11137392" cy="685800"/>
          </a:xfrm>
          <a:prstGeom prst="rect">
            <a:avLst/>
          </a:prstGeom>
          <a:solidFill>
            <a:srgbClr val="FFF2CC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Aptos"/>
              </a:defRPr>
            </a:pPr>
            <a:r>
              <a:t>Exclusions: entity revenue, “doing business” facts, reporting-issuer status, filing histories, operating results, implementation rules and any absent source-pack calculation are not established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11137392" cy="612648"/>
          </a:xfrm>
          <a:prstGeom prst="rect">
            <a:avLst/>
          </a:prstGeom>
          <a:solidFill>
            <a:srgbClr val="E2F0D9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Aptos"/>
              </a:defRPr>
            </a:pPr>
            <a:r>
              <a:t>Traceability: every material deck statement carries a claim ID; the Evidence Register records source family, date, locator, availability, raw claim, normalization and deck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C-LIM-01, C-LIM-02 | Evidence Register rows C-LIM-01–02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SOURCE-SUPPORTED STATUTORY POSITION AT 30 JUNE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California: enacted statutes; coverage remains entity-specific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5440680" cy="3566160"/>
          </a:xfrm>
          <a:prstGeom prst="roundRect">
            <a:avLst/>
          </a:prstGeom>
          <a:solidFill>
            <a:srgbClr val="EAF1F5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SB 253 | C-CA-01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SB 253 — enacted 7 Oct 2023. Statutory reporting begins in 2026.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Trigger stated in statute: US business entity doing business in California with total annual revenues over US$1 billion.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Subject: annual Scope 1, 2 and 3 greenhouse-gas emissions disclosure.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Status: binding obligation enacted; future operative reporting. This deck does not decide whether either illustrative entity meets the trigger.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353312"/>
            <a:ext cx="5440680" cy="3566160"/>
          </a:xfrm>
          <a:prstGeom prst="roundRect">
            <a:avLst/>
          </a:prstGeom>
          <a:solidFill>
            <a:srgbClr val="F6F8FA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SB 261 + assurance distinction | C-CA-02, C-CA-03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SB 261 — enacted 7 Oct 2023. First climate-related financial risk reports due on or before 1 Jan 2026.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Trigger stated in statute: qualifying US business entities doing business in California with total annual revenues over US$500 million; entity-specific coverage remains unresolved.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Subject: biennial climate-related financial-risk report using TCFD recommendations or equivalent.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Assurance is a separate SB 253 clause; it is not treated as evidence of disclosure applicability or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230368"/>
            <a:ext cx="11137392" cy="493776"/>
          </a:xfrm>
          <a:prstGeom prst="rect">
            <a:avLst/>
          </a:prstGeom>
          <a:solidFill>
            <a:srgbClr val="FFF2CC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0">
                <a:solidFill>
                  <a:srgbClr val="617282"/>
                </a:solidFill>
                <a:latin typeface="Aptos"/>
              </a:defRPr>
            </a:pPr>
            <a:r>
              <a:t>Limit: no assertion is made about regulations, a claimed rule change, transition mechanics or an entity’s actual reporting obligation beyond the source-supported statutory summary.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C-CA-01, C-CA-02, C-CA-03 | Evidence Register rows C-CA-01–03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SOURCE-SUPPORTED / GUIDANCE POSITION AT 30 JUNE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Ontario: general framework and guidance are not California equivalents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20440" cy="3566160"/>
          </a:xfrm>
          <a:prstGeom prst="roundRect">
            <a:avLst/>
          </a:prstGeom>
          <a:solidFill>
            <a:srgbClr val="F6F8FA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Proposal | C-ON-01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CSA proposed NI 51-107 in October 2021.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At the frozen date, this proposal is not represented as an Ontario-wide climate-specific rule in force.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A proposal is contextual evidence only; it is not a binding disclosure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71600"/>
            <a:ext cx="3520440" cy="3566160"/>
          </a:xfrm>
          <a:prstGeom prst="roundRect">
            <a:avLst/>
          </a:prstGeom>
          <a:solidFill>
            <a:srgbClr val="EAF1F5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Guidance | C-ON-02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OSC Staff Notice 51-358 provides guidance on reporting climate-change-related risks.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Status: official guidance, not a binding climate-specific obligation.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Its relevance depends on reporting-issuer facts and materiality, neither supplied for the illustrative 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9016" y="1371600"/>
            <a:ext cx="3520440" cy="3566160"/>
          </a:xfrm>
          <a:prstGeom prst="roundRect">
            <a:avLst/>
          </a:prstGeom>
          <a:solidFill>
            <a:srgbClr val="F6F8FA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General framework | C-ON-03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Ontario reporting issuers have general continuous-disclosure obligations where applicable.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This is a binding general framework; climate-specific application is unresolved without issuer/materiality facts.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It is not counted as a province-wide California-equivalent regime.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C-ON-01, C-ON-02, C-ON-03 | Evidence Register rows C-ON-01–03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OBLIGATION • TRIGGER • TIMING • EVIDENCE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Comparison: one label cannot serve both jurisdictions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2194560" cy="384048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371600"/>
            <a:ext cx="4251960" cy="384048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California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0608" y="1371600"/>
            <a:ext cx="4480560" cy="384048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Ontario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92224"/>
            <a:ext cx="2194560" cy="65836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Climate-specific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792224"/>
            <a:ext cx="4251960" cy="65836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Enacted SB 253 / SB 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1792224"/>
            <a:ext cx="4480560" cy="65836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Proposed NI 51-107; not in 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2194560" cy="658368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Who /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87168"/>
            <a:ext cx="4251960" cy="658368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Doing business in CA + statutory revenue thresholds; facts unresolved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487168"/>
            <a:ext cx="4480560" cy="658368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Reporting issuer / materiality context; facts unresolved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82111"/>
            <a:ext cx="2194560" cy="65836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82111"/>
            <a:ext cx="4251960" cy="65836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Statutory reporting begins 2026; SB 261 reports by 1 Jan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3182111"/>
            <a:ext cx="4480560" cy="65836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No proposed climate-specific regime treated as operative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77055"/>
            <a:ext cx="2194560" cy="658368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Assurance /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877055"/>
            <a:ext cx="4251960" cy="658368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Separate SB 253 assurance clause; not proof of disclosure applicability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877055"/>
            <a:ext cx="4480560" cy="658368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Guidance/review context is not a climate-specific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1999"/>
            <a:ext cx="2194560" cy="74980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Evidence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571999"/>
            <a:ext cx="4251960" cy="74980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Source-supported statute; implementation and entity facts unresolved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4571999"/>
            <a:ext cx="4480560" cy="749808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100" b="0">
                <a:solidFill>
                  <a:srgbClr val="17212B"/>
                </a:solidFill>
                <a:latin typeface="Aptos"/>
              </a:defRPr>
            </a:pPr>
            <a:r>
              <a:t>Proposal, guidance and general framework deliberately separated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15000"/>
            <a:ext cx="11137392" cy="438912"/>
          </a:xfrm>
          <a:prstGeom prst="rect">
            <a:avLst/>
          </a:prstGeom>
          <a:solidFill>
            <a:srgbClr val="FFF2CC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Aptos"/>
              </a:defRPr>
            </a:pPr>
            <a:r>
              <a:t>Comparative consequence: “climate disclosure” is a subject, not a shared applicability label. Requirement, guidance, proposal, timing and verification status remain distinct.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C-CA-01–03, C-ON-01–03 | Evidence Register rows cited in headers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UNRESOLVED CLAIMS AND NORMALIZATION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Junipergate dispute: preserve the disagreement, not a winner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5349240" cy="2880360"/>
          </a:xfrm>
          <a:prstGeom prst="roundRect">
            <a:avLst/>
          </a:prstGeom>
          <a:solidFill>
            <a:srgbClr val="FDE9E7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Raw positions | C-DIS-01, C-DIS-02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Marchbank projected compliance figure: handoff says it exists; raw number, unit, period and calculation were not supplied.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Junipergate Alliance dispute: handoff says it disputes the projection; competing number and basis were not supplied.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Both positions are therefore individually traceable but unresolved.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53312"/>
            <a:ext cx="5349240" cy="2880360"/>
          </a:xfrm>
          <a:prstGeom prst="roundRect">
            <a:avLst/>
          </a:prstGeom>
          <a:solidFill>
            <a:srgbClr val="FFF2CC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Bounded normalization | C-NORM-01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Normalized interpretation: “unresolved disputed projection.”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Raw labels are retained; no amount is imputed.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Transformation basis: insufficient source materials, not a substantive resolution.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The 6 and 4 figures on later slides are new, labelled illustrative scenario outputs—not attributed to Marchbank or Junipergate.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81728"/>
            <a:ext cx="11091672" cy="621792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400" b="0">
                <a:solidFill>
                  <a:srgbClr val="17212B"/>
                </a:solidFill>
                <a:latin typeface="Aptos"/>
              </a:defRPr>
            </a:pPr>
            <a:r>
              <a:t>What remains unresolved: original figure, competing figure, units, period, denominator, source provenance, calculation and any claimed California change. No result is selected as settled.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C-DIS-01, C-DIS-02, C-NORM-01 | Evidence Register rows C-DIS-01–02, C-NORM-01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SCENARIO INPUTS | ENTITY NAMES ARE ILLUSTRATIVE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Illustrative scenarios: transparent inputs, not observed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37392" cy="438912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0">
                <a:solidFill>
                  <a:srgbClr val="17324D"/>
                </a:solidFill>
                <a:latin typeface="Aptos"/>
              </a:defRPr>
            </a:pPr>
            <a:r>
              <a:t>Unit: illustrative review entries. Counting basis: jurisdictional topic multiplier × included entity–jurisdiction period. No revenue, activity, issuer status, filing history or operational result is assumed.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042415" cy="420624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19"/>
            <a:ext cx="2002536" cy="420624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74519"/>
            <a:ext cx="1435608" cy="420624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Jurisdiction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74519"/>
            <a:ext cx="2258568" cy="420624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Illustrative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874519"/>
            <a:ext cx="2999232" cy="420624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Boundary / treatment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1874519"/>
            <a:ext cx="1069848" cy="420624"/>
          </a:xfrm>
          <a:prstGeom prst="rect">
            <a:avLst/>
          </a:prstGeom>
          <a:solidFill>
            <a:srgbClr val="1F5A85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Topic multiplier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1042415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SLOT-01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13432"/>
            <a:ext cx="2002536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Crownridge 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13432"/>
            <a:ext cx="1435608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California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313432"/>
            <a:ext cx="2258568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1 Jul 2025–30 Jun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313432"/>
            <a:ext cx="2999232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Straddles 2026; A conditional / B withheld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2313432"/>
            <a:ext cx="1069848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79"/>
            <a:ext cx="1042415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SLOT-02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926079"/>
            <a:ext cx="2002536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Crownridge 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26079"/>
            <a:ext cx="1435608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Ontario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926079"/>
            <a:ext cx="2258568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1 Jul 2025–30 Jun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926079"/>
            <a:ext cx="2999232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Contextual only; no climate-specific rule asserted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2926079"/>
            <a:ext cx="1069848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38727"/>
            <a:ext cx="1042415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SLOT-03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538727"/>
            <a:ext cx="2002536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Eldergrove School District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538727"/>
            <a:ext cx="1435608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California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538727"/>
            <a:ext cx="2258568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1 Jan 2026–31 Dec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3538727"/>
            <a:ext cx="2999232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Coverage unresolved; scenario-only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3538727"/>
            <a:ext cx="1069848" cy="585216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51376"/>
            <a:ext cx="1042415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SLOT-04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151376"/>
            <a:ext cx="2002536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Eldergrove School District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151376"/>
            <a:ext cx="1435608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Ontario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4151376"/>
            <a:ext cx="2258568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1 Jan 2026–31 Dec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4151376"/>
            <a:ext cx="2999232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Contextual only; no climate-specific rule asserted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4151376"/>
            <a:ext cx="1069848" cy="585216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0">
                <a:solidFill>
                  <a:srgbClr val="17212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074920"/>
            <a:ext cx="11137392" cy="685800"/>
          </a:xfrm>
          <a:prstGeom prst="rect">
            <a:avLst/>
          </a:prstGeom>
          <a:solidFill>
            <a:srgbClr val="FFF2CC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0">
                <a:solidFill>
                  <a:srgbClr val="17212B"/>
                </a:solidFill>
                <a:latin typeface="Aptos"/>
              </a:defRPr>
            </a:pPr>
            <a:r>
              <a:t>Scenario A — Comparable conditional screen: all 4 slots included for a conditional, comparable display. Scenario B — Effective-date bounded screen: SLOT-01 withheld because the straddling period cannot support an applicability assertion from available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C-ASS-01, C-ASS-02, C-SCN-A, C-SCN-B | Scenario Calc rows 6–9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ILLUSTRATIVE ONLY • FORMULA-VISIBLE IN SCENARIO CALC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Projection outputs and the reporting-period edge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330952" cy="1335024"/>
          </a:xfrm>
          <a:prstGeom prst="rect">
            <a:avLst/>
          </a:prstGeom>
          <a:solidFill>
            <a:srgbClr val="EAF1F5"/>
          </a:solidFill>
        </p:spPr>
        <p:txBody>
          <a:bodyPr wrap="square" lIns="109728" rIns="109728" tIns="71323" bIns="71323">
            <a:spAutoFit/>
          </a:bodyPr>
          <a:lstStyle/>
          <a:p>
            <a:pPr algn="ctr">
              <a:defRPr sz="2900" b="1">
                <a:solidFill>
                  <a:srgbClr val="17324D"/>
                </a:solidFill>
                <a:latin typeface="Aptos"/>
              </a:defRPr>
            </a:pPr>
            <a:r>
              <a:t>6</a:t>
            </a:r>
            <a:br/>
            <a:r>
              <a:t>conditional illustrative review entries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32888"/>
            <a:ext cx="5330952" cy="38404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ctr">
              <a:defRPr sz="1100" b="0">
                <a:solidFill>
                  <a:srgbClr val="617282"/>
                </a:solidFill>
                <a:latin typeface="Aptos"/>
              </a:defRPr>
            </a:pPr>
            <a:r>
              <a:t>Scenario A • 4 slots • 2 CA × 2 + 2 ON ×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98448"/>
            <a:ext cx="5330952" cy="1335024"/>
          </a:xfrm>
          <a:prstGeom prst="rect">
            <a:avLst/>
          </a:prstGeom>
          <a:solidFill>
            <a:srgbClr val="E2F0D9"/>
          </a:solidFill>
        </p:spPr>
        <p:txBody>
          <a:bodyPr wrap="square" lIns="109728" rIns="109728" tIns="71323" bIns="71323">
            <a:spAutoFit/>
          </a:bodyPr>
          <a:lstStyle/>
          <a:p>
            <a:pPr algn="ctr">
              <a:defRPr sz="2900" b="1">
                <a:solidFill>
                  <a:srgbClr val="17324D"/>
                </a:solidFill>
                <a:latin typeface="Aptos"/>
              </a:defRPr>
            </a:pPr>
            <a:r>
              <a:t>4</a:t>
            </a:r>
            <a:br/>
            <a:r>
              <a:t>included illustrative review entries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32888"/>
            <a:ext cx="5330952" cy="38404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ctr">
              <a:defRPr sz="1100" b="0">
                <a:solidFill>
                  <a:srgbClr val="617282"/>
                </a:solidFill>
                <a:latin typeface="Aptos"/>
              </a:defRPr>
            </a:pPr>
            <a:r>
              <a:t>Scenario B • 3 included slots • 1 CA × 2 + 2 ON ×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11137392" cy="411480"/>
          </a:xfrm>
          <a:prstGeom prst="rect">
            <a:avLst/>
          </a:prstGeom>
          <a:solidFill>
            <a:srgbClr val="FFF2CC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Aptos"/>
              </a:defRPr>
            </a:pPr>
            <a:r>
              <a:t>Difference: 2 entries withheld = 1 California straddling slot × 2 statutory disclosure topics. Figures are projections, not observed compliance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41648"/>
            <a:ext cx="11137392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Visible edge-case treatment | C-ASS-02, C-SCN-A, C-SCN-B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Conflict: a comparable cross-jurisdiction figure favors retaining the same four slots, while the 1 Jul 2025–30 Jun 2026 California period straddles the 2026 commencement year and available evidence does not establish applicability.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Selected treatment: Scenario B withholds SLOT-01 from included entries; Scenario A remains conditional illustration only.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Published effect: count changes 6 → 4 and comparable slots 4 → 3; no California applicability label is asserted for SLOT-01.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C-SCN-A = 6, C-SCN-B = 4, C-ASS-02 | Scenario Calc outputs C12:C14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256032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900" b="1">
                <a:solidFill>
                  <a:srgbClr val="1C7C7D"/>
                </a:solidFill>
                <a:latin typeface="Aptos"/>
              </a:defRPr>
            </a:pPr>
            <a:r>
              <a:t>ONE COHERENT BOUNDARY • NO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064240" cy="47548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"/>
              </a:defRPr>
            </a:pPr>
            <a:r>
              <a:t>Bounded publication status: qualified, evidence-led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27432"/>
          </a:xfrm>
          <a:prstGeom prst="rect">
            <a:avLst/>
          </a:prstGeom>
          <a:solidFill>
            <a:srgbClr val="1F5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31536" cy="3474720"/>
          </a:xfrm>
          <a:prstGeom prst="roundRect">
            <a:avLst/>
          </a:prstGeom>
          <a:solidFill>
            <a:srgbClr val="E2F0D9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Bounded and qualified | C-PUB-01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Can be stated within the frozen evidence: California has enacted SB 253 and SB 261 with the high-level statutory triggers, subjects and timings shown; Ontario’s proposal, guidance and general framework have distinct statuses.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Can be shown only as illustration: the two formula-based scenarios, entity–jurisdiction slots and 6 / 4 review-entry counts.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Can be described as unresolved: the Junipergate dispute, missing raw figures, claimed rule change, named-entity facts and source-pack dependent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325880"/>
            <a:ext cx="5431536" cy="3474720"/>
          </a:xfrm>
          <a:prstGeom prst="roundRect">
            <a:avLst/>
          </a:prstGeom>
          <a:solidFill>
            <a:srgbClr val="FFF2CC"/>
          </a:solidFill>
          <a:ln>
            <a:solidFill>
              <a:srgbClr val="D2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Verification stop: consequence, not silence | C-LIM-01, C-LIM-02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Withheld or qualified: entity-specific coverage, reporting-period applicability for SLOT-01, implementation detail, filing histories, observed outcomes and any conclusion requiring unavailable validation.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Fallback record: identified sources can be traced; unavailable source pack/service is visibly labelled; those limits determine what is allowed into the briefing.</a:t>
            </a:r>
          </a:p>
          <a:p>
            <a:pPr>
              <a:spcAft>
                <a:spcPts val="500"/>
              </a:spcAft>
              <a:defRPr sz="1100">
                <a:solidFill>
                  <a:srgbClr val="17212B"/>
                </a:solidFill>
                <a:latin typeface="Aptos"/>
              </a:defRPr>
            </a:pPr>
            <a:r>
              <a:t>Reviewer path: claim IDs link every material statement to the editable evidence register and visible scenario formulas.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239512"/>
            <a:ext cx="11137392" cy="502920"/>
          </a:xfrm>
          <a:prstGeom prst="rect">
            <a:avLst/>
          </a:prstGeom>
          <a:solidFill>
            <a:srgbClr val="F6F8FA"/>
          </a:solidFill>
        </p:spPr>
        <p:txBody>
          <a:bodyPr wrap="square" lIns="109728" rIns="109728" tIns="71323" bIns="71323">
            <a:spAutoFit/>
          </a:bodyPr>
          <a:lstStyle/>
          <a:p>
            <a:pPr algn="l">
              <a:defRPr sz="1200" b="0">
                <a:solidFill>
                  <a:srgbClr val="617282"/>
                </a:solidFill>
                <a:latin typeface="Aptos"/>
              </a:defRPr>
            </a:pPr>
            <a:r>
              <a:t>This briefing communicates evidence status and a publication boundary. It does not advise a filing, compliance, legal or business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966960" cy="201168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l">
              <a:defRPr sz="800" b="0">
                <a:solidFill>
                  <a:srgbClr val="617282"/>
                </a:solidFill>
                <a:latin typeface="Aptos"/>
              </a:defRPr>
            </a:pPr>
            <a:r>
              <a:t>Trace: C-PUB-01 | Evidence Register C-PUB-01; Scenario Calc C-SCN-A / C-SCN-B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94360" cy="228600"/>
          </a:xfrm>
          <a:prstGeom prst="rect">
            <a:avLst/>
          </a:prstGeom>
          <a:noFill/>
        </p:spPr>
        <p:txBody>
          <a:bodyPr wrap="square" lIns="109728" rIns="109728" tIns="71323" bIns="71323">
            <a:spAutoFit/>
          </a:bodyPr>
          <a:lstStyle/>
          <a:p>
            <a:pPr algn="r">
              <a:defRPr sz="900" b="1">
                <a:solidFill>
                  <a:srgbClr val="1C7C7D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