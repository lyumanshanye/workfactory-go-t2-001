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76656"/>
            <a:ext cx="109728" cy="169164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98755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200" b="1">
                <a:solidFill>
                  <a:srgbClr val="82DADB"/>
                </a:solidFill>
                <a:latin typeface="Aptos"/>
              </a:defRPr>
            </a:pPr>
            <a:r>
              <a:t>CORRECTED INTERNAL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188720"/>
            <a:ext cx="1024128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Eastharbour Alliance</a:t>
            </a:r>
            <a:br/>
            <a:r>
              <a:t>access-review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423160"/>
            <a:ext cx="89611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0">
                <a:solidFill>
                  <a:srgbClr val="DCE7EA"/>
                </a:solidFill>
                <a:latin typeface="Aptos"/>
              </a:defRPr>
            </a:pPr>
            <a:r>
              <a:t>Scotland and Northern Ireland • prior and current reporting periods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5193792"/>
            <a:ext cx="45720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DCE7EA"/>
                </a:solidFill>
                <a:latin typeface="Aptos"/>
              </a:defRPr>
            </a:pPr>
            <a:r>
              <a:t>Prepared for operations, security and service-owner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596128"/>
            <a:ext cx="7498079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Evidence base: Cavendish_access_review_source.xlsx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943600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DCE7EA"/>
                </a:solidFill>
                <a:latin typeface="Aptos"/>
              </a:defRPr>
            </a:pPr>
            <a:r>
              <a:t>Calculated against the workbook’s frozen requirements snapshot; no outside policy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HEADLINE | CURRENT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Corrected current compliance: 11 / 14  (78.6%)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Analyst interpretation includes the disputed NI-207 shared emergency account once in Northern Ireland.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93008" cy="150876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15087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3172968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SCOTLAND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9152"/>
            <a:ext cx="3172968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6 / 7  (85.7%)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0360"/>
            <a:ext cx="3172968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31-day frozen maximum 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20240"/>
            <a:ext cx="3493008" cy="150876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920240"/>
            <a:ext cx="73152" cy="1508760"/>
          </a:xfrm>
          <a:prstGeom prst="rect">
            <a:avLst/>
          </a:prstGeom>
          <a:solidFill>
            <a:srgbClr val="DB9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84832"/>
            <a:ext cx="3172968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NORTHERN IRELAND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59152"/>
            <a:ext cx="3172968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5 / 7  (71.4%)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80360"/>
            <a:ext cx="3172968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19-day frozen maximum 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920240"/>
            <a:ext cx="3493008" cy="150876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920240"/>
            <a:ext cx="73152" cy="1508760"/>
          </a:xfrm>
          <a:prstGeom prst="rect">
            <a:avLst/>
          </a:prstGeom>
          <a:solidFill>
            <a:srgbClr val="268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084832"/>
            <a:ext cx="3172968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COMBINED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59152"/>
            <a:ext cx="3172968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11 / 14  (78.6%)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880360"/>
            <a:ext cx="3172968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+20.2 percentage points vs prior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10917936" cy="1527048"/>
          </a:xfrm>
          <a:prstGeom prst="roundRect">
            <a:avLst/>
          </a:prstGeom>
          <a:solidFill>
            <a:srgbClr val="FA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23360"/>
            <a:ext cx="21945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965F15"/>
                </a:solidFill>
                <a:latin typeface="Aptos"/>
              </a:defRPr>
            </a:pPr>
            <a:r>
              <a:t>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43400"/>
            <a:ext cx="99669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600" b="1">
                <a:solidFill>
                  <a:srgbClr val="17324D"/>
                </a:solidFill>
                <a:latin typeface="Aptos"/>
              </a:defRPr>
            </a:pPr>
            <a:r>
              <a:t>The existing draft states 92.9% (13 of 14). Recalculation from review evidence and jurisdiction-specific frozen thresholds gives 78.6% (11 of 14) under the stated inclusion treatment.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074920"/>
            <a:ext cx="98755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576570"/>
                </a:solidFill>
                <a:latin typeface="Aptos"/>
              </a:defRPr>
            </a:pPr>
            <a:r>
              <a:t>Draft values are source evidence; the corrected figures are calculated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PERIOD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Two-period result — counts, rates and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Rate = compliant included records / included active named-account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19202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828800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EVIDENCE BASIS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10927080" cy="84124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19202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600" b="1">
                <a:solidFill>
                  <a:srgbClr val="17324D"/>
                </a:solidFill>
                <a:latin typeface="Aptos"/>
              </a:defRPr>
            </a:pPr>
            <a:r>
              <a:t>Combined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7 / 12  (58.3%)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78024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11 / 14  (78.6%)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478024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68059"/>
                </a:solidFill>
                <a:latin typeface="Aptos"/>
              </a:defRPr>
            </a:pPr>
            <a:r>
              <a:t>+20.2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2414016"/>
            <a:ext cx="960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576570"/>
                </a:solidFill>
                <a:latin typeface="Aptos"/>
              </a:defRPr>
            </a:pPr>
            <a:r>
              <a:t>Scotland + NI totals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64408"/>
            <a:ext cx="10927080" cy="84124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11296"/>
            <a:ext cx="19202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600" b="1">
                <a:solidFill>
                  <a:srgbClr val="17324D"/>
                </a:solidFill>
                <a:latin typeface="Aptos"/>
              </a:defRPr>
            </a:pPr>
            <a:r>
              <a:t>Scotland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02152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4 / 6  (66.7%)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02152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6 / 7  (85.7%)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502152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68059"/>
                </a:solidFill>
                <a:latin typeface="Aptos"/>
              </a:defRPr>
            </a:pPr>
            <a:r>
              <a:t>+19.0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3438144"/>
            <a:ext cx="960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576570"/>
                </a:solidFill>
                <a:latin typeface="Aptos"/>
              </a:defRPr>
            </a:pPr>
            <a:r>
              <a:t>31-day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88536"/>
            <a:ext cx="10927080" cy="84124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35424"/>
            <a:ext cx="19202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600" b="1">
                <a:solidFill>
                  <a:srgbClr val="17324D"/>
                </a:solidFill>
                <a:latin typeface="Aptos"/>
              </a:defRPr>
            </a:pPr>
            <a:r>
              <a:t>Northern Ireland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52628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3 / 6  (50.0%)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2628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32F39"/>
                </a:solidFill>
                <a:latin typeface="Aptos"/>
              </a:defRPr>
            </a:pPr>
            <a:r>
              <a:t>5 / 7  (71.4%)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2628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500" b="1">
                <a:solidFill>
                  <a:srgbClr val="268059"/>
                </a:solidFill>
                <a:latin typeface="Aptos"/>
              </a:defRPr>
            </a:pPr>
            <a:r>
              <a:t>+21.4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4462272"/>
            <a:ext cx="960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576570"/>
                </a:solidFill>
                <a:latin typeface="Aptos"/>
              </a:defRPr>
            </a:pPr>
            <a:r>
              <a:t>19-day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6400"/>
            <a:ext cx="10698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576570"/>
                </a:solidFill>
                <a:latin typeface="Aptos"/>
              </a:defRPr>
            </a:pPr>
            <a:r>
              <a:t>Observed account-level movement: Scotland has SC-102’s evidence within threshold and adds SC-107; SC-104 is now outside. Northern Ireland has NI-204 within threshold; NI-202 and NI-205 remain outside the 19-day 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INTERPRETATION | DISPUTED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NI-207 shared emergency access — included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Decision used for all current-period headline and Northern Ireland figures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56231"/>
            <a:ext cx="5321808" cy="338328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10972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48716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NI-207 is a current-period, active Named account assigned to Northern Ireland.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2724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12724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Its account label and record note identify shared emergency access; review evidence is 2025-07-25 07:30.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76732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The frozen snapshot defines ordinary population but does not address shared emergency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856231"/>
            <a:ext cx="5321808" cy="3383280"/>
          </a:xfrm>
          <a:prstGeom prst="roundRect">
            <a:avLst/>
          </a:prstGeom>
          <a:solidFill>
            <a:srgbClr val="FA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30552"/>
            <a:ext cx="14630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965F1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8716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8716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Included: it remains an active Named account and is assigned to Northern Ireland.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12724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2724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It passes the 19-day Northern Ireland test and contributes exactly once to NI and Combined.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767328"/>
            <a:ext cx="164592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1">
                <a:solidFill>
                  <a:srgbClr val="007C83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67328"/>
            <a:ext cx="4352544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300" b="0">
                <a:solidFill>
                  <a:srgbClr val="232F39"/>
                </a:solidFill>
                <a:latin typeface="Aptos"/>
              </a:defRPr>
            </a:pPr>
            <a:r>
              <a:t>Competing reasonable reading: “ordinary population” could exclude shared emergency access; the snapshot does not settle that 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576570"/>
                </a:solidFill>
                <a:latin typeface="Aptos"/>
              </a:defRPr>
            </a:pPr>
            <a:r>
              <a:t>Counterfactual (not reported): exclusion would produce Northern Ireland 4 / 6 (66.7%) and Combined 10 / 13 (76.9%).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TRACEABILITY | INCLUDED POPULATIONS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Account-level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All IDs below are distinct account-period records; P/F reflects the frozen jurisdiction-specific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240280" cy="3611880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1920240" cy="338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200" b="1">
                <a:solidFill>
                  <a:srgbClr val="17324D"/>
                </a:solidFill>
                <a:latin typeface="Aptos"/>
              </a:defRPr>
            </a:pPr>
            <a:r>
              <a:t>Prior • Scotland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231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400" b="1">
                <a:solidFill>
                  <a:srgbClr val="007C83"/>
                </a:solidFill>
                <a:latin typeface="Aptos"/>
              </a:defRPr>
            </a:pPr>
            <a:r>
              <a:t>4 / 6  (66.7%)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07792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232F39"/>
                </a:solidFill>
                <a:latin typeface="Aptos"/>
              </a:defRPr>
            </a:pPr>
            <a:r>
              <a:t>Pass</a:t>
            </a:r>
            <a:br/>
            <a:r>
              <a:t>SC-101, SC-103, SC-104, SC-105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977639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B44841"/>
                </a:solidFill>
                <a:latin typeface="Aptos"/>
              </a:defRPr>
            </a:pPr>
            <a:r>
              <a:t>Fail</a:t>
            </a:r>
            <a:br/>
            <a:r>
              <a:t>SC-102, SC-106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83480"/>
            <a:ext cx="1874519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6 included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828800"/>
            <a:ext cx="2240280" cy="3611880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011680"/>
            <a:ext cx="1920240" cy="338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200" b="1">
                <a:solidFill>
                  <a:srgbClr val="17324D"/>
                </a:solidFill>
                <a:latin typeface="Aptos"/>
              </a:defRPr>
            </a:pPr>
            <a:r>
              <a:t>Prior • Northern Ireland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4231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400" b="1">
                <a:solidFill>
                  <a:srgbClr val="007C83"/>
                </a:solidFill>
                <a:latin typeface="Aptos"/>
              </a:defRPr>
            </a:pPr>
            <a:r>
              <a:t>3 / 6  (50.0%)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907792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232F39"/>
                </a:solidFill>
                <a:latin typeface="Aptos"/>
              </a:defRPr>
            </a:pPr>
            <a:r>
              <a:t>Pass</a:t>
            </a:r>
            <a:br/>
            <a:r>
              <a:t>NI-201, NI-203, NI-206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977639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B44841"/>
                </a:solidFill>
                <a:latin typeface="Aptos"/>
              </a:defRPr>
            </a:pPr>
            <a:r>
              <a:t>Fail</a:t>
            </a:r>
            <a:br/>
            <a:r>
              <a:t>NI-202, NI-204, NI-205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983480"/>
            <a:ext cx="1874519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6 included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828800"/>
            <a:ext cx="2240280" cy="3611880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1920240" cy="338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200" b="1">
                <a:solidFill>
                  <a:srgbClr val="17324D"/>
                </a:solidFill>
                <a:latin typeface="Aptos"/>
              </a:defRPr>
            </a:pPr>
            <a:r>
              <a:t>Current • Scotland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231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400" b="1">
                <a:solidFill>
                  <a:srgbClr val="007C83"/>
                </a:solidFill>
                <a:latin typeface="Aptos"/>
              </a:defRPr>
            </a:pPr>
            <a:r>
              <a:t>6 / 7  (85.7%)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07792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232F39"/>
                </a:solidFill>
                <a:latin typeface="Aptos"/>
              </a:defRPr>
            </a:pPr>
            <a:r>
              <a:t>Pass</a:t>
            </a:r>
            <a:br/>
            <a:r>
              <a:t>SC-101, SC-102, SC-103, SC-105, SC-106, SC-107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77639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B44841"/>
                </a:solidFill>
                <a:latin typeface="Aptos"/>
              </a:defRPr>
            </a:pPr>
            <a:r>
              <a:t>Fail</a:t>
            </a:r>
            <a:br/>
            <a:r>
              <a:t>SC-104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80"/>
            <a:ext cx="1874519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7 included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828800"/>
            <a:ext cx="2240280" cy="3611880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011680"/>
            <a:ext cx="1920240" cy="3383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200" b="1">
                <a:solidFill>
                  <a:srgbClr val="17324D"/>
                </a:solidFill>
                <a:latin typeface="Aptos"/>
              </a:defRPr>
            </a:pPr>
            <a:r>
              <a:t>Current • Northern Ireland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4231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400" b="1">
                <a:solidFill>
                  <a:srgbClr val="007C83"/>
                </a:solidFill>
                <a:latin typeface="Aptos"/>
              </a:defRPr>
            </a:pPr>
            <a:r>
              <a:t>5 / 7  (71.4%)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907792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232F39"/>
                </a:solidFill>
                <a:latin typeface="Aptos"/>
              </a:defRPr>
            </a:pPr>
            <a:r>
              <a:t>Pass</a:t>
            </a:r>
            <a:br/>
            <a:r>
              <a:t>NI-201, NI-203, NI-204, NI-206, NI-207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977639"/>
            <a:ext cx="1874519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0">
                <a:solidFill>
                  <a:srgbClr val="B44841"/>
                </a:solidFill>
                <a:latin typeface="Aptos"/>
              </a:defRPr>
            </a:pPr>
            <a:r>
              <a:t>Fail</a:t>
            </a:r>
            <a:br/>
            <a:r>
              <a:t>NI-202, NI-205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4983480"/>
            <a:ext cx="1874519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7 included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15000"/>
            <a:ext cx="10652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576570"/>
                </a:solidFill>
                <a:latin typeface="Aptos"/>
              </a:defRPr>
            </a:pPr>
            <a:r>
              <a:t>Excluded from denominators in both periods where present: service/non-human accounts, suspended accounts, and England records. NI-207 is included only in current Northern Ireland.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METHOD | REPRODUCIBLE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How the corrected calculation was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Evidence and calculation conventions — no external policy or current internet information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EVIDENCE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47088"/>
            <a:ext cx="84582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232F39"/>
                </a:solidFill>
                <a:latin typeface="Aptos"/>
              </a:defRPr>
            </a:pPr>
            <a:r>
              <a:t>Operational table on “Council export”; it begins at D14 after the banner and three gutter columns.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24327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96896"/>
            <a:ext cx="84582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232F39"/>
                </a:solidFill>
                <a:latin typeface="Aptos"/>
              </a:defRPr>
            </a:pPr>
            <a:r>
              <a:t>For each period: active Named accounts in Scotland or Northern Ireland. Suspended, Service/non-human, and other jurisdictions excluded.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74135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COMPLIANCE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346703"/>
            <a:ext cx="84582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232F39"/>
                </a:solidFill>
                <a:latin typeface="Aptos"/>
              </a:defRPr>
            </a:pPr>
            <a:r>
              <a:t>Latest review evidence compared with that period’s frozen cutoff: Scotland ≤31 days; Northern Ireland ≤19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23944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096511"/>
            <a:ext cx="84582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232F39"/>
                </a:solidFill>
                <a:latin typeface="Aptos"/>
              </a:defRPr>
            </a:pPr>
            <a:r>
              <a:t>Each distinct account-period contributes once. Combined is Scotland + Northern Ireland, with NI-207 included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873752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007C83"/>
                </a:solidFill>
                <a:latin typeface="Aptos"/>
              </a:defRPr>
            </a:pPr>
            <a:r>
              <a:t>AMBIGUOUS TIMESTAMP CONVENTION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846320"/>
            <a:ext cx="84582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232F39"/>
                </a:solidFill>
                <a:latin typeface="Aptos"/>
              </a:defRPr>
            </a:pPr>
            <a:r>
              <a:t>The literal 03/04/2025 08:45 is locale-ambiguous. If normalized for inspection, it is read DD/MM/YYYY; it is SVC-18 (Service), so excluded and does not alter rates.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QUALITY REVIEW | SOURCE AND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Confidence considerations evidenced in the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These are observations about source and draft quality; no remediation plan is included.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0881360" cy="74980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2834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Stale helper and draft discrepancy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956816"/>
            <a:ext cx="7498079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The retired Legacy 30-day flag is a non-jurisdiction-specific helper. It supports the existing draft’s 92.9% (13/14), not the corrected 78.6% (11/14)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07208"/>
            <a:ext cx="10881360" cy="74980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2834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Mixed date/time representations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16936"/>
            <a:ext cx="7498079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Last Review Evidence contains ISO-like date-times and the ambiguous slash-form 03/04/2025 08:45. That record is the Service account SVC-18, outside scope; it does not change the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67328"/>
            <a:ext cx="10881360" cy="74980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04488"/>
            <a:ext cx="2834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Offset operational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77056"/>
            <a:ext cx="7498079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The actual access-review table starts at D14 below the banner and after gutter columns. The blank upper-left area is not a record population.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27448"/>
            <a:ext cx="10881360" cy="749808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64608"/>
            <a:ext cx="2834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1">
                <a:solidFill>
                  <a:srgbClr val="17324D"/>
                </a:solidFill>
                <a:latin typeface="Aptos"/>
              </a:defRPr>
            </a:pPr>
            <a:r>
              <a:t>Adjacent unrelated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37176"/>
            <a:ext cx="7498079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The table beside the records is an Asset-contact extract, not access-review evidence. Its “Owner</a:t>
            </a:r>
            <a:br/>
            <a:r>
              <a:t>Team” header contains an embedded line break, creating a multiline-header interpretation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1">
                <a:solidFill>
                  <a:srgbClr val="007C83"/>
                </a:solidFill>
                <a:latin typeface="Aptos"/>
              </a:defRPr>
            </a:pPr>
            <a:r>
              <a:t>BRIEFING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700" b="1">
                <a:solidFill>
                  <a:srgbClr val="17324D"/>
                </a:solidFill>
                <a:latin typeface="Aptos"/>
              </a:defRPr>
            </a:pPr>
            <a:r>
              <a:t>Corrected view for circulation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100" b="0">
                <a:solidFill>
                  <a:srgbClr val="576570"/>
                </a:solidFill>
                <a:latin typeface="Aptos"/>
              </a:defRPr>
            </a:pPr>
            <a:r>
              <a:t>Current headline is accessible first; detail, interpretation and source conditions are traceable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46304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46304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017520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CORRECTED 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175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11 / 14  (78.6%)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30175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Current combined • included edge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37560" cy="146304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74519"/>
            <a:ext cx="73152" cy="1463040"/>
          </a:xfrm>
          <a:prstGeom prst="rect">
            <a:avLst/>
          </a:prstGeom>
          <a:solidFill>
            <a:srgbClr val="268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3017520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PERIOD 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13432"/>
            <a:ext cx="30175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+20.2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834639"/>
            <a:ext cx="30175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Prior 7 / 12  (58.3%)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874519"/>
            <a:ext cx="3337560" cy="1463040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9016" y="1874519"/>
            <a:ext cx="73152" cy="1463040"/>
          </a:xfrm>
          <a:prstGeom prst="rect">
            <a:avLst/>
          </a:prstGeom>
          <a:solidFill>
            <a:srgbClr val="DB9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039112"/>
            <a:ext cx="3017520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900" b="1">
                <a:solidFill>
                  <a:srgbClr val="576570"/>
                </a:solidFill>
                <a:latin typeface="Aptos"/>
              </a:defRPr>
            </a:pPr>
            <a:r>
              <a:t>EVIDENCE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313432"/>
            <a:ext cx="301752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2300" b="1">
                <a:solidFill>
                  <a:srgbClr val="17324D"/>
                </a:solidFill>
                <a:latin typeface="Aptos"/>
              </a:defRPr>
            </a:pPr>
            <a:r>
              <a:t>NI-207 included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834639"/>
            <a:ext cx="30175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000" b="0">
                <a:solidFill>
                  <a:srgbClr val="232F39"/>
                </a:solidFill>
                <a:latin typeface="Aptos"/>
              </a:defRPr>
            </a:pPr>
            <a:r>
              <a:t>Shared emergency treatment is not resolved by snapshot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31920"/>
            <a:ext cx="10780776" cy="1243584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87952"/>
            <a:ext cx="9966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Conclusion: the existing draft headline is not supported by the frozen jurisdiction-specific calculation. The reported current combined result is 11 of 14 (78.6%) under the disclosed, defensible treatment of NI-207.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defRPr sz="800" b="0">
                <a:solidFill>
                  <a:srgbClr val="576570"/>
                </a:solidFill>
                <a:latin typeface="Aptos"/>
              </a:defRPr>
            </a:pPr>
            <a:r>
              <a:t>Eastharbour Alliance  •  internal operations briefing  •  source: Cavendish_access_review_source.xlsx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defRPr sz="800" b="0">
                <a:solidFill>
                  <a:srgbClr val="5765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