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43"/>
          </a:solidFill>
          <a:ln>
            <a:solidFill>
              <a:srgbClr val="13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30352"/>
            <a:ext cx="1554480" cy="320040"/>
          </a:xfrm>
          <a:prstGeom prst="roundRect">
            <a:avLst>
              <a:gd name="adj" fmla="val 8000"/>
            </a:avLst>
          </a:prstGeom>
          <a:solidFill>
            <a:srgbClr val="008484"/>
          </a:solidFill>
          <a:ln>
            <a:solidFill>
              <a:srgbClr val="00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1417320" cy="155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FEBRUARY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43000"/>
            <a:ext cx="996696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A decision on easier access
to the right conveyor-line spare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2350008"/>
            <a:ext cx="886968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DEF3EF"/>
                </a:solidFill>
                <a:latin typeface="Aptos"/>
              </a:rPr>
              <a:t>Renewal decision memorandum for Amberfield Freight’s two bottling plants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3163824"/>
            <a:ext cx="5532120" cy="1600200"/>
          </a:xfrm>
          <a:prstGeom prst="roundRect">
            <a:avLst>
              <a:gd name="adj" fmla="val 8000"/>
            </a:avLst>
          </a:prstGeom>
          <a:solidFill>
            <a:srgbClr val="1E3952"/>
          </a:solidFill>
          <a:ln>
            <a:solidFill>
              <a:srgbClr val="1E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3346704"/>
            <a:ext cx="516635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008484"/>
                </a:solidFill>
                <a:latin typeface="Aptos"/>
              </a:rPr>
              <a:t>The operational problem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When a case-packing conveyor needs a part, a planner needs an identified, suitable item and a clear route to obtain it — not a generic promise of ‘better spares’.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3163824"/>
            <a:ext cx="5120640" cy="1600200"/>
          </a:xfrm>
          <a:prstGeom prst="roundRect">
            <a:avLst>
              <a:gd name="adj" fmla="val 8000"/>
            </a:avLst>
          </a:prstGeom>
          <a:solidFill>
            <a:srgbClr val="1E3952"/>
          </a:solidFill>
          <a:ln>
            <a:solidFill>
              <a:srgbClr val="1E39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3346704"/>
            <a:ext cx="4754879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E8A62E"/>
                </a:solidFill>
                <a:latin typeface="Aptos"/>
              </a:rPr>
              <a:t>Decision requested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Approve one controlled catalogue-and-response package for the renewal, subject to the stated confirmations and technical authority.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5879592"/>
            <a:ext cx="107899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50" b="0">
                <a:solidFill>
                  <a:srgbClr val="DEF3EF"/>
                </a:solidFill>
                <a:latin typeface="Aptos"/>
              </a:rPr>
              <a:t>Prepared by Viktor Lindqvist, Senior Buyer  •  Customer-facing working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6217920"/>
            <a:ext cx="107899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50" b="0">
                <a:solidFill>
                  <a:srgbClr val="DEF3EF"/>
                </a:solidFill>
                <a:latin typeface="Aptos"/>
              </a:rPr>
              <a:t>Commercial and regulatory position: England and Wales — to be confirmed as at 31 January 2025.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8484"/>
          </a:solidFill>
          <a:ln>
            <a:solidFill>
              <a:srgbClr val="00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8463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008484"/>
                </a:solidFill>
                <a:latin typeface="Aptos"/>
              </a:rPr>
              <a:t>DECISION 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32B43"/>
                </a:solidFill>
                <a:latin typeface="Aptos"/>
              </a:rPr>
              <a:t>‘Easier access’ has four credible meanings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69848"/>
            <a:ext cx="10972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50" b="0">
                <a:solidFill>
                  <a:srgbClr val="55666F"/>
                </a:solidFill>
                <a:latin typeface="Aptos"/>
              </a:rPr>
              <a:t>Baseline is unverified: the brief gives no evidence of today’s stock, response, catalogue or documentation arrangement.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94944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50" b="1">
                <a:solidFill>
                  <a:srgbClr val="55666F"/>
                </a:solidFill>
                <a:latin typeface="Aptos"/>
              </a:rPr>
              <a:t>PEATMOOR HEALTH NETWORK  /  AMBERFIELD FREIGHT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50" b="0">
                <a:solidFill>
                  <a:srgbClr val="55666F"/>
                </a:solidFill>
                <a:latin typeface="Aptos"/>
              </a:rPr>
              <a:t>2 /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73352"/>
            <a:ext cx="2487168" cy="3218688"/>
          </a:xfrm>
          <a:prstGeom prst="roundRect">
            <a:avLst>
              <a:gd name="adj" fmla="val 8000"/>
            </a:avLst>
          </a:prstGeom>
          <a:solidFill>
            <a:srgbClr val="F5F8F9"/>
          </a:solidFill>
          <a:ln>
            <a:solidFill>
              <a:srgbClr val="D1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73352"/>
            <a:ext cx="2487168" cy="100584"/>
          </a:xfrm>
          <a:prstGeom prst="rect">
            <a:avLst/>
          </a:prstGeom>
          <a:solidFill>
            <a:srgbClr val="008484"/>
          </a:solidFill>
          <a:ln>
            <a:solidFill>
              <a:srgbClr val="00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892807"/>
            <a:ext cx="2157984" cy="5120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132B43"/>
                </a:solidFill>
                <a:latin typeface="Aptos"/>
              </a:rPr>
              <a:t>Plant-held / consigned 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542032"/>
            <a:ext cx="2139696" cy="8046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50" b="0">
                <a:solidFill>
                  <a:srgbClr val="1C2830"/>
                </a:solidFill>
                <a:latin typeface="Aptos"/>
              </a:rPr>
              <a:t>Parts physically at site; consigned means supplier ownership until use.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749039"/>
            <a:ext cx="2139696" cy="8046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55666F"/>
                </a:solidFill>
                <a:latin typeface="Aptos"/>
              </a:rPr>
              <a:t>Fastest physical access • ties up cash / needs counts • can strand or 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1673352"/>
            <a:ext cx="2487168" cy="3218688"/>
          </a:xfrm>
          <a:prstGeom prst="roundRect">
            <a:avLst>
              <a:gd name="adj" fmla="val 8000"/>
            </a:avLst>
          </a:prstGeom>
          <a:solidFill>
            <a:srgbClr val="F5F8F9"/>
          </a:solidFill>
          <a:ln>
            <a:solidFill>
              <a:srgbClr val="D1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673352"/>
            <a:ext cx="2487168" cy="100584"/>
          </a:xfrm>
          <a:prstGeom prst="rect">
            <a:avLst/>
          </a:prstGeom>
          <a:solidFill>
            <a:srgbClr val="008484"/>
          </a:solidFill>
          <a:ln>
            <a:solidFill>
              <a:srgbClr val="00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892807"/>
            <a:ext cx="2157984" cy="5120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132B43"/>
                </a:solidFill>
                <a:latin typeface="Aptos"/>
              </a:rPr>
              <a:t>Dispatch-time promise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542032"/>
            <a:ext cx="2139696" cy="8046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50" b="0">
                <a:solidFill>
                  <a:srgbClr val="1C2830"/>
                </a:solidFill>
                <a:latin typeface="Aptos"/>
              </a:rPr>
              <a:t>Supplier promises an action after a request, not that a part is held locally.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749039"/>
            <a:ext cx="2139696" cy="8046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55666F"/>
                </a:solidFill>
                <a:latin typeface="Aptos"/>
              </a:rPr>
              <a:t>Responsive coordination • low site stock • availability still uncertain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216" y="1673352"/>
            <a:ext cx="2487168" cy="3218688"/>
          </a:xfrm>
          <a:prstGeom prst="roundRect">
            <a:avLst>
              <a:gd name="adj" fmla="val 8000"/>
            </a:avLst>
          </a:prstGeom>
          <a:solidFill>
            <a:srgbClr val="F5F8F9"/>
          </a:solidFill>
          <a:ln>
            <a:solidFill>
              <a:srgbClr val="D1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0216" y="1673352"/>
            <a:ext cx="2487168" cy="100584"/>
          </a:xfrm>
          <a:prstGeom prst="rect">
            <a:avLst/>
          </a:prstGeom>
          <a:solidFill>
            <a:srgbClr val="008484"/>
          </a:solidFill>
          <a:ln>
            <a:solidFill>
              <a:srgbClr val="00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1892807"/>
            <a:ext cx="2157984" cy="5120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132B43"/>
                </a:solidFill>
                <a:latin typeface="Aptos"/>
              </a:rPr>
              <a:t>Critical-spares catalogue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2542032"/>
            <a:ext cx="2139696" cy="8046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50" b="0">
                <a:solidFill>
                  <a:srgbClr val="1C2830"/>
                </a:solidFill>
                <a:latin typeface="Aptos"/>
              </a:rPr>
              <a:t>A defined list of equipment-specific items to request and manage.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3749039"/>
            <a:ext cx="2139696" cy="8046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55666F"/>
                </a:solidFill>
                <a:latin typeface="Aptos"/>
              </a:rPr>
              <a:t>Better control • needs upkeep • avoids buying unsuitable items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98864" y="1673352"/>
            <a:ext cx="2487168" cy="3218688"/>
          </a:xfrm>
          <a:prstGeom prst="roundRect">
            <a:avLst>
              <a:gd name="adj" fmla="val 8000"/>
            </a:avLst>
          </a:prstGeom>
          <a:solidFill>
            <a:srgbClr val="F5F8F9"/>
          </a:solidFill>
          <a:ln>
            <a:solidFill>
              <a:srgbClr val="D1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98864" y="1673352"/>
            <a:ext cx="2487168" cy="100584"/>
          </a:xfrm>
          <a:prstGeom prst="rect">
            <a:avLst/>
          </a:prstGeom>
          <a:solidFill>
            <a:srgbClr val="008484"/>
          </a:solidFill>
          <a:ln>
            <a:solidFill>
              <a:srgbClr val="00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63456" y="1892807"/>
            <a:ext cx="2157984" cy="5120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132B43"/>
                </a:solidFill>
                <a:latin typeface="Aptos"/>
              </a:rPr>
              <a:t>Correct identity records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63456" y="2542032"/>
            <a:ext cx="2139696" cy="8046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50" b="0">
                <a:solidFill>
                  <a:srgbClr val="1C2830"/>
                </a:solidFill>
                <a:latin typeface="Aptos"/>
              </a:rPr>
              <a:t>Resolve part-number, drawing or as-built mismatch before ordering.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3456" y="3749039"/>
            <a:ext cx="2139696" cy="8046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50" b="0">
                <a:solidFill>
                  <a:srgbClr val="55666F"/>
                </a:solidFill>
                <a:latin typeface="Aptos"/>
              </a:rPr>
              <a:t>Prevents wrong item • administrative effort • does not create stock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193792"/>
            <a:ext cx="1920240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008484"/>
                </a:solidFill>
                <a:latin typeface="Aptos"/>
              </a:rPr>
              <a:t>PROPOSED ARRANGEMENT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477256"/>
            <a:ext cx="10881360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132B43"/>
                </a:solidFill>
                <a:latin typeface="Aptos"/>
              </a:rPr>
              <a:t>Select the catalogue + response elements. Do not include plant-held/consigned stock or a dispatch guarantee in this renewal package.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236208"/>
            <a:ext cx="10972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30" b="0">
                <a:solidFill>
                  <a:srgbClr val="55666F"/>
                </a:solidFill>
                <a:latin typeface="Aptos"/>
              </a:rPr>
              <a:t>No consumption, failure, inventory, price, lead-time or performance data has been supplied; nothing above is a statement of current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8484"/>
          </a:solidFill>
          <a:ln>
            <a:solidFill>
              <a:srgbClr val="00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8463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008484"/>
                </a:solidFill>
                <a:latin typeface="Aptos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32B43"/>
                </a:solidFill>
                <a:latin typeface="Aptos"/>
              </a:rPr>
              <a:t>Recommend one bounded support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69848"/>
            <a:ext cx="10972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50" b="0">
                <a:solidFill>
                  <a:srgbClr val="55666F"/>
                </a:solidFill>
                <a:latin typeface="Aptos"/>
              </a:rPr>
              <a:t>A controlled critical-spares catalogue with a defined supplier response — proportionate while evidence is incomplete.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94944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50" b="1">
                <a:solidFill>
                  <a:srgbClr val="55666F"/>
                </a:solidFill>
                <a:latin typeface="Aptos"/>
              </a:rPr>
              <a:t>PEATMOOR HEALTH NETWORK  /  AMBERFIELD FREIGHT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50" b="0">
                <a:solidFill>
                  <a:srgbClr val="55666F"/>
                </a:solidFill>
                <a:latin typeface="Aptos"/>
              </a:rPr>
              <a:t>3 /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91056"/>
            <a:ext cx="3657600" cy="4187952"/>
          </a:xfrm>
          <a:prstGeom prst="roundRect">
            <a:avLst>
              <a:gd name="adj" fmla="val 8000"/>
            </a:avLst>
          </a:prstGeom>
          <a:solidFill>
            <a:srgbClr val="DEF3EF"/>
          </a:solidFill>
          <a:ln>
            <a:solidFill>
              <a:srgbClr val="D1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792224"/>
            <a:ext cx="3255264" cy="3785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008484"/>
                </a:solidFill>
                <a:latin typeface="Aptos"/>
              </a:rPr>
              <a:t>WHY THIS BALANCE</a:t>
            </a:r>
          </a:p>
          <a:p>
            <a:pPr>
              <a:spcAft>
                <a:spcPts val="200"/>
              </a:spcAft>
            </a:pPr>
            <a:r>
              <a:rPr sz="1700" b="1">
                <a:solidFill>
                  <a:srgbClr val="132B43"/>
                </a:solidFill>
                <a:latin typeface="Aptos"/>
              </a:rPr>
              <a:t>Responsiveness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1C2830"/>
                </a:solidFill>
                <a:latin typeface="Aptos"/>
              </a:rPr>
              <a:t>A named route and one-business-day update reduce ambiguity after a valid request.</a:t>
            </a:r>
          </a:p>
          <a:p>
            <a:pPr>
              <a:spcAft>
                <a:spcPts val="200"/>
              </a:spcAft>
            </a:pPr>
            <a:r>
              <a:rPr sz="1700" b="1">
                <a:solidFill>
                  <a:srgbClr val="132B43"/>
                </a:solidFill>
                <a:latin typeface="Aptos"/>
              </a:rPr>
              <a:t>Working capital &amp; stock control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1C2830"/>
                </a:solidFill>
                <a:latin typeface="Aptos"/>
              </a:rPr>
              <a:t>Avoids committing cash or space to unvalidated site stock; catalogue review limits obsolete or unsuitable items.</a:t>
            </a:r>
          </a:p>
          <a:p>
            <a:pPr>
              <a:spcAft>
                <a:spcPts val="200"/>
              </a:spcAft>
            </a:pPr>
            <a:r>
              <a:rPr sz="1700" b="1">
                <a:solidFill>
                  <a:srgbClr val="132B43"/>
                </a:solidFill>
                <a:latin typeface="Aptos"/>
              </a:rPr>
              <a:t>Administration &amp; technical suitability</a:t>
            </a:r>
          </a:p>
          <a:p>
            <a:pPr>
              <a:spcAft>
                <a:spcPts val="0"/>
              </a:spcAft>
            </a:pPr>
            <a:r>
              <a:rPr sz="1150" b="0">
                <a:solidFill>
                  <a:srgbClr val="1C2830"/>
                </a:solidFill>
                <a:latin typeface="Aptos"/>
              </a:rPr>
              <a:t>Requires controlled catalogue upkeep, but makes identification and technical approval visible rather than assumed.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591056"/>
            <a:ext cx="7260336" cy="4187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1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6864" y="1792224"/>
            <a:ext cx="6858000" cy="3785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1">
                <a:solidFill>
                  <a:srgbClr val="008484"/>
                </a:solidFill>
                <a:latin typeface="Aptos"/>
              </a:rPr>
              <a:t>CUSTOMER-FACING COMMITMENT — PROPOSED FOR AGREEMENT</a:t>
            </a:r>
          </a:p>
          <a:p>
            <a:pPr>
              <a:spcAft>
                <a:spcPts val="100"/>
              </a:spcAft>
            </a:pPr>
            <a:r>
              <a:rPr sz="1500" b="1">
                <a:solidFill>
                  <a:srgbClr val="132B43"/>
                </a:solidFill>
                <a:latin typeface="Aptos"/>
              </a:rPr>
              <a:t>Scope</a:t>
            </a:r>
          </a:p>
          <a:p>
            <a:pPr>
              <a:spcAft>
                <a:spcPts val="700"/>
              </a:spcAft>
            </a:pPr>
            <a:r>
              <a:rPr sz="1140" b="0">
                <a:solidFill>
                  <a:srgbClr val="1C2830"/>
                </a:solidFill>
                <a:latin typeface="Aptos"/>
              </a:rPr>
              <a:t>The two Amberfield Freight bottling plants; only catalogue entries jointly confirmed for the named case-packing lines.</a:t>
            </a:r>
          </a:p>
          <a:p>
            <a:pPr>
              <a:spcAft>
                <a:spcPts val="100"/>
              </a:spcAft>
            </a:pPr>
            <a:r>
              <a:rPr sz="1500" b="1">
                <a:solidFill>
                  <a:srgbClr val="132B43"/>
                </a:solidFill>
                <a:latin typeface="Aptos"/>
              </a:rPr>
              <a:t>Trigger &amp; service window</a:t>
            </a:r>
          </a:p>
          <a:p>
            <a:pPr>
              <a:spcAft>
                <a:spcPts val="700"/>
              </a:spcAft>
            </a:pPr>
            <a:r>
              <a:rPr sz="1140" b="0">
                <a:solidFill>
                  <a:srgbClr val="1C2830"/>
                </a:solidFill>
                <a:latin typeface="Aptos"/>
              </a:rPr>
              <a:t>For a complete catalogue request sent to the agreed Peatmoor contact during business hours, Peatmoor confirms receipt and provides availability/status within 1 business day. Requests outside the window start next business day.</a:t>
            </a:r>
          </a:p>
          <a:p>
            <a:pPr>
              <a:spcAft>
                <a:spcPts val="100"/>
              </a:spcAft>
            </a:pPr>
            <a:r>
              <a:rPr sz="1500" b="1">
                <a:solidFill>
                  <a:srgbClr val="132B43"/>
                </a:solidFill>
                <a:latin typeface="Aptos"/>
              </a:rPr>
              <a:t>Ownership &amp; limits</a:t>
            </a:r>
          </a:p>
          <a:p>
            <a:pPr>
              <a:spcAft>
                <a:spcPts val="0"/>
              </a:spcAft>
            </a:pPr>
            <a:r>
              <a:rPr sz="1140" b="0">
                <a:solidFill>
                  <a:srgbClr val="1C2830"/>
                </a:solidFill>
                <a:latin typeface="Aptos"/>
              </a:rPr>
              <a:t>Peatmoor coordinates catalogue, request tracking and status. Amberfield supplies asset/part detail and authorises purchase. This is not plant-held stock, a dispatch promise, guaranteed physical availability, production restoration, technical fit or approval of a substitute.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36208"/>
            <a:ext cx="10972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30" b="0">
                <a:solidFill>
                  <a:srgbClr val="55666F"/>
                </a:solidFill>
                <a:latin typeface="Aptos"/>
              </a:rPr>
              <a:t>If a catalogue item is unavailable, discontinued or technically uncertain, Peatmoor tells the named Amberfield planner in the status update and escalates fit/substitution to Amberfield engineering authority.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8484"/>
          </a:solidFill>
          <a:ln>
            <a:solidFill>
              <a:srgbClr val="00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8463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008484"/>
                </a:solidFill>
                <a:latin typeface="Aptos"/>
              </a:rPr>
              <a:t>CONFIRM BEFORE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32B43"/>
                </a:solidFill>
                <a:latin typeface="Aptos"/>
              </a:rPr>
              <a:t>Two short planner conversations decide the catalogue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69848"/>
            <a:ext cx="10972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50" b="0">
                <a:solidFill>
                  <a:srgbClr val="55666F"/>
                </a:solidFill>
                <a:latin typeface="Aptos"/>
              </a:rPr>
              <a:t>Use the answers to confirm, narrow or defer items — not to turn the package into unbounded stock cover.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94944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50" b="1">
                <a:solidFill>
                  <a:srgbClr val="55666F"/>
                </a:solidFill>
                <a:latin typeface="Aptos"/>
              </a:rPr>
              <a:t>PEATMOOR HEALTH NETWORK  /  AMBERFIELD FREIGHT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50" b="0">
                <a:solidFill>
                  <a:srgbClr val="55666F"/>
                </a:solidFill>
                <a:latin typeface="Aptos"/>
              </a:rPr>
              <a:t>4 /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65379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1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61722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1">
                <a:solidFill>
                  <a:srgbClr val="008484"/>
                </a:solidFill>
                <a:latin typeface="Aptos"/>
              </a:rPr>
              <a:t>ASK BOTH MAINTENANCE PLANNERS</a:t>
            </a:r>
          </a:p>
          <a:p>
            <a:pPr>
              <a:spcAft>
                <a:spcPts val="600"/>
              </a:spcAft>
            </a:pPr>
            <a:r>
              <a:rPr sz="1320" b="1">
                <a:solidFill>
                  <a:srgbClr val="132B43"/>
                </a:solidFill>
                <a:latin typeface="Aptos"/>
              </a:rPr>
              <a:t>1  When a conveyor part is delayed, what stops, how soon, and at which plant?</a:t>
            </a:r>
          </a:p>
          <a:p>
            <a:pPr>
              <a:spcAft>
                <a:spcPts val="600"/>
              </a:spcAft>
            </a:pPr>
            <a:r>
              <a:rPr sz="1320" b="1">
                <a:solidFill>
                  <a:srgbClr val="132B43"/>
                </a:solidFill>
                <a:latin typeface="Aptos"/>
              </a:rPr>
              <a:t>2  Which requests need a quick status update versus a part physically on site?</a:t>
            </a:r>
          </a:p>
          <a:p>
            <a:pPr>
              <a:spcAft>
                <a:spcPts val="600"/>
              </a:spcAft>
            </a:pPr>
            <a:r>
              <a:rPr sz="1320" b="1">
                <a:solidFill>
                  <a:srgbClr val="132B43"/>
                </a:solidFill>
                <a:latin typeface="Aptos"/>
              </a:rPr>
              <a:t>3  Which item, asset or location details are hardest to identify when ordering?</a:t>
            </a:r>
          </a:p>
          <a:p>
            <a:pPr>
              <a:spcAft>
                <a:spcPts val="600"/>
              </a:spcAft>
            </a:pPr>
            <a:r>
              <a:rPr sz="1320" b="1">
                <a:solidFill>
                  <a:srgbClr val="132B43"/>
                </a:solidFill>
                <a:latin typeface="Aptos"/>
              </a:rPr>
              <a:t>4  Do part numbers, drawings or as-built records ever conflict with the installed line?</a:t>
            </a:r>
          </a:p>
          <a:p>
            <a:pPr>
              <a:spcAft>
                <a:spcPts val="600"/>
              </a:spcAft>
            </a:pPr>
            <a:r>
              <a:rPr sz="1320" b="1">
                <a:solidFill>
                  <a:srgbClr val="132B43"/>
                </a:solidFill>
                <a:latin typeface="Aptos"/>
              </a:rPr>
              <a:t>5  Which items require engineering confirmation before any substitute could be considered?</a:t>
            </a:r>
          </a:p>
          <a:p>
            <a:pPr>
              <a:spcAft>
                <a:spcPts val="0"/>
              </a:spcAft>
            </a:pPr>
            <a:r>
              <a:rPr sz="1110" b="0">
                <a:solidFill>
                  <a:srgbClr val="55666F"/>
                </a:solidFill>
                <a:latin typeface="Aptos"/>
              </a:rPr>
              <a:t>Decision rule: high-consequence, repeatable, correctly identified items may enter the proposed catalogue after engineering confirmation; unresolved identity or technical questions stay out and are escalated.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600200"/>
            <a:ext cx="4370832" cy="4297680"/>
          </a:xfrm>
          <a:prstGeom prst="roundRect">
            <a:avLst>
              <a:gd name="adj" fmla="val 8000"/>
            </a:avLst>
          </a:prstGeom>
          <a:solidFill>
            <a:srgbClr val="F5F8F9"/>
          </a:solidFill>
          <a:ln>
            <a:solidFill>
              <a:srgbClr val="D1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783080"/>
            <a:ext cx="4005072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1">
                <a:solidFill>
                  <a:srgbClr val="008484"/>
                </a:solidFill>
                <a:latin typeface="Aptos"/>
              </a:rPr>
              <a:t>CLEAR BOUNDARIES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32B43"/>
                </a:solidFill>
                <a:latin typeface="Aptos"/>
              </a:rPr>
              <a:t>Peatmoor purchasing / supplier management</a:t>
            </a:r>
          </a:p>
          <a:p>
            <a:pPr>
              <a:spcAft>
                <a:spcPts val="1000"/>
              </a:spcAft>
            </a:pPr>
            <a:r>
              <a:rPr sz="1140" b="0">
                <a:solidFill>
                  <a:srgbClr val="1C2830"/>
                </a:solidFill>
                <a:latin typeface="Aptos"/>
              </a:rPr>
              <a:t>Coordinate supplier response, catalogue governance, commercial terms, order tracking and exception communication.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32B43"/>
                </a:solidFill>
                <a:latin typeface="Aptos"/>
              </a:rPr>
              <a:t>Amberfield engineering / maintenance authority</a:t>
            </a:r>
          </a:p>
          <a:p>
            <a:pPr>
              <a:spcAft>
                <a:spcPts val="1000"/>
              </a:spcAft>
            </a:pPr>
            <a:r>
              <a:rPr sz="1140" b="0">
                <a:solidFill>
                  <a:srgbClr val="1C2830"/>
                </a:solidFill>
                <a:latin typeface="Aptos"/>
              </a:rPr>
              <a:t>Decide criticality, fit, approved substitutions, drawings/as-built records, installation and maintenance safety.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32B43"/>
                </a:solidFill>
                <a:latin typeface="Aptos"/>
              </a:rPr>
              <a:t>Amberfield planners</a:t>
            </a:r>
          </a:p>
          <a:p>
            <a:pPr>
              <a:spcAft>
                <a:spcPts val="0"/>
              </a:spcAft>
            </a:pPr>
            <a:r>
              <a:rPr sz="1140" b="0">
                <a:solidFill>
                  <a:srgbClr val="1C2830"/>
                </a:solidFill>
                <a:latin typeface="Aptos"/>
              </a:rPr>
              <a:t>Provide demand context and submit complete requests; do not use a substitute without technical approval.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36208"/>
            <a:ext cx="10972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30" b="0">
                <a:solidFill>
                  <a:srgbClr val="55666F"/>
                </a:solidFill>
                <a:latin typeface="Aptos"/>
              </a:rPr>
              <a:t>Confirmation assumption: both planners are consulted before the February supplier-review; no technical authority is delegated by this memorandum.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08484"/>
          </a:solidFill>
          <a:ln>
            <a:solidFill>
              <a:srgbClr val="00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48463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1">
                <a:solidFill>
                  <a:srgbClr val="008484"/>
                </a:solidFill>
                <a:latin typeface="Aptos"/>
              </a:rPr>
              <a:t>CONTROLS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400" b="1">
                <a:solidFill>
                  <a:srgbClr val="132B43"/>
                </a:solidFill>
                <a:latin typeface="Aptos"/>
              </a:rPr>
              <a:t>Keep the response commitment honest and reviewable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69848"/>
            <a:ext cx="10972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50" b="0">
                <a:solidFill>
                  <a:srgbClr val="55666F"/>
                </a:solidFill>
                <a:latin typeface="Aptos"/>
              </a:rPr>
              <a:t>The controls below apply to the recommended catalogue-and-response package.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94944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50" b="1">
                <a:solidFill>
                  <a:srgbClr val="55666F"/>
                </a:solidFill>
                <a:latin typeface="Aptos"/>
              </a:rPr>
              <a:t>PEATMOOR HEALTH NETWORK  /  AMBERFIELD FREIGHT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750" b="0">
                <a:solidFill>
                  <a:srgbClr val="55666F"/>
                </a:solidFill>
                <a:latin typeface="Aptos"/>
              </a:rPr>
              <a:t>5 /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72768"/>
            <a:ext cx="5321808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1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72768"/>
            <a:ext cx="91440" cy="1298448"/>
          </a:xfrm>
          <a:prstGeom prst="rect">
            <a:avLst/>
          </a:prstGeom>
          <a:solidFill>
            <a:srgbClr val="E8A62E"/>
          </a:solidFill>
          <a:ln>
            <a:solidFill>
              <a:srgbClr val="E8A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728216"/>
            <a:ext cx="4901184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20" b="1">
                <a:solidFill>
                  <a:srgbClr val="132B43"/>
                </a:solidFill>
                <a:latin typeface="Aptos"/>
              </a:rPr>
              <a:t>Stock becomes stranded, obsolete or unsuitable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048256"/>
            <a:ext cx="4882896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40" b="0">
                <a:solidFill>
                  <a:srgbClr val="1C2830"/>
                </a:solidFill>
                <a:latin typeface="Aptos"/>
              </a:rPr>
              <a:t>No site-stock commitment; catalogue owner reviews additions/removals with Amberfield engineering before renewal review.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572768"/>
            <a:ext cx="5321808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1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572768"/>
            <a:ext cx="91440" cy="1298448"/>
          </a:xfrm>
          <a:prstGeom prst="rect">
            <a:avLst/>
          </a:prstGeom>
          <a:solidFill>
            <a:srgbClr val="B74C42"/>
          </a:solidFill>
          <a:ln>
            <a:solidFill>
              <a:srgbClr val="B74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728216"/>
            <a:ext cx="4901184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20" b="1">
                <a:solidFill>
                  <a:srgbClr val="132B43"/>
                </a:solidFill>
                <a:latin typeface="Aptos"/>
              </a:rPr>
              <a:t>Part is misidentified or records mismatch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048256"/>
            <a:ext cx="4882896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40" b="0">
                <a:solidFill>
                  <a:srgbClr val="1C2830"/>
                </a:solidFill>
                <a:latin typeface="Aptos"/>
              </a:rPr>
              <a:t>Hold request for asset/part verification; route drawing/as-built mismatch to engineering authority before order 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54680"/>
            <a:ext cx="5321808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1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154680"/>
            <a:ext cx="91440" cy="1298448"/>
          </a:xfrm>
          <a:prstGeom prst="rect">
            <a:avLst/>
          </a:prstGeom>
          <a:solidFill>
            <a:srgbClr val="E8A62E"/>
          </a:solidFill>
          <a:ln>
            <a:solidFill>
              <a:srgbClr val="E8A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310128"/>
            <a:ext cx="4901184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20" b="1">
                <a:solidFill>
                  <a:srgbClr val="132B43"/>
                </a:solidFill>
                <a:latin typeface="Aptos"/>
              </a:rPr>
              <a:t>Response is mistaken for physical availability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3630168"/>
            <a:ext cx="4882896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40" b="0">
                <a:solidFill>
                  <a:srgbClr val="1C2830"/>
                </a:solidFill>
                <a:latin typeface="Aptos"/>
              </a:rPr>
              <a:t>Status explicitly states available / unavailable / technical query; tell planner within the one-business-day update and agree escalation.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154680"/>
            <a:ext cx="5321808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1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3154680"/>
            <a:ext cx="91440" cy="1298448"/>
          </a:xfrm>
          <a:prstGeom prst="rect">
            <a:avLst/>
          </a:prstGeom>
          <a:solidFill>
            <a:srgbClr val="B74C42"/>
          </a:solidFill>
          <a:ln>
            <a:solidFill>
              <a:srgbClr val="B74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3310128"/>
            <a:ext cx="4901184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20" b="1">
                <a:solidFill>
                  <a:srgbClr val="132B43"/>
                </a:solidFill>
                <a:latin typeface="Aptos"/>
              </a:rPr>
              <a:t>Unapproved substitute is used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630168"/>
            <a:ext cx="4882896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40" b="0">
                <a:solidFill>
                  <a:srgbClr val="1C2830"/>
                </a:solidFill>
                <a:latin typeface="Aptos"/>
              </a:rPr>
              <a:t>No substitution is supplied as approved; hold and seek Amberfield engineering’s written technical decision.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846320"/>
            <a:ext cx="11183112" cy="1024128"/>
          </a:xfrm>
          <a:prstGeom prst="roundRect">
            <a:avLst>
              <a:gd name="adj" fmla="val 8000"/>
            </a:avLst>
          </a:prstGeom>
          <a:solidFill>
            <a:srgbClr val="DEF3EF"/>
          </a:solidFill>
          <a:ln>
            <a:solidFill>
              <a:srgbClr val="D1D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5010912"/>
            <a:ext cx="10853928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050" b="1">
                <a:solidFill>
                  <a:srgbClr val="008484"/>
                </a:solidFill>
                <a:latin typeface="Aptos"/>
              </a:rPr>
              <a:t>REVIEW INDICATORS  •  accountable owner: Peatmoor Supplier Support Lead  •  monthly with Amberfield planners</a:t>
            </a:r>
          </a:p>
          <a:p>
            <a:pPr>
              <a:spcAft>
                <a:spcPts val="0"/>
              </a:spcAft>
            </a:pPr>
            <a:r>
              <a:rPr sz="1170" b="0">
                <a:solidFill>
                  <a:srgbClr val="132B43"/>
                </a:solidFill>
                <a:latin typeface="Aptos"/>
              </a:rPr>
              <a:t>% complete catalogue requests receiving status within the service window  |  % requests needing identity correction  |  catalogue items with unresolved engineering decision  |  open unavailable/discontinued exceptions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236208"/>
            <a:ext cx="109728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730" b="0">
                <a:solidFill>
                  <a:srgbClr val="55666F"/>
                </a:solidFill>
                <a:latin typeface="Aptos"/>
              </a:rPr>
              <a:t>Use the monthly review to retain, amend or remove catalogue entries and to decide whether the support arrangement continues unchanged at the next renewal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43"/>
          </a:solidFill>
          <a:ln>
            <a:solidFill>
              <a:srgbClr val="13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585216"/>
            <a:ext cx="2286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008484"/>
                </a:solidFill>
                <a:latin typeface="Aptos"/>
              </a:rPr>
              <a:t>FEBRUARY SUPPLIER-REVIEW VOTE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4241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Approve the controlled catalogue-and-response package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965960"/>
            <a:ext cx="10936224" cy="2066543"/>
          </a:xfrm>
          <a:prstGeom prst="roundRect">
            <a:avLst>
              <a:gd name="adj" fmla="val 8000"/>
            </a:avLst>
          </a:prstGeom>
          <a:solidFill>
            <a:srgbClr val="1F3A52"/>
          </a:solidFill>
          <a:ln>
            <a:solidFill>
              <a:srgbClr val="1F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221991"/>
            <a:ext cx="10424160" cy="1554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1">
                <a:solidFill>
                  <a:srgbClr val="E8A62E"/>
                </a:solidFill>
                <a:latin typeface="Aptos"/>
              </a:rPr>
              <a:t>THE SINGLE DECISION</a:t>
            </a:r>
          </a:p>
          <a:p>
            <a:pPr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Approve renewal on the proposed terms for Amberfield Freight’s two bottling plants: a jointly confirmed critical-spares catalogue and Peatmoor availability/status update within 1 business day of each complete, in-window request — subject to the stated exclusions, engineering authority and planner confirmation.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4370832"/>
            <a:ext cx="5193792" cy="1051560"/>
          </a:xfrm>
          <a:prstGeom prst="roundRect">
            <a:avLst>
              <a:gd name="adj" fmla="val 8000"/>
            </a:avLst>
          </a:prstGeom>
          <a:solidFill>
            <a:srgbClr val="1F3A52"/>
          </a:solidFill>
          <a:ln>
            <a:solidFill>
              <a:srgbClr val="1F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4535424"/>
            <a:ext cx="4864607" cy="722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00" b="1">
                <a:solidFill>
                  <a:srgbClr val="008484"/>
                </a:solidFill>
                <a:latin typeface="Aptos"/>
              </a:rPr>
              <a:t>ACCOUNTABLE OWNER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Aptos"/>
              </a:rPr>
              <a:t>Peatmoor Supplier Support Lead — coordinate implementation and monthly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370832"/>
            <a:ext cx="5431536" cy="1051560"/>
          </a:xfrm>
          <a:prstGeom prst="roundRect">
            <a:avLst>
              <a:gd name="adj" fmla="val 8000"/>
            </a:avLst>
          </a:prstGeom>
          <a:solidFill>
            <a:srgbClr val="1F3A52"/>
          </a:solidFill>
          <a:ln>
            <a:solidFill>
              <a:srgbClr val="1F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4535424"/>
            <a:ext cx="5102352" cy="722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00" b="1">
                <a:solidFill>
                  <a:srgbClr val="008484"/>
                </a:solidFill>
                <a:latin typeface="Aptos"/>
              </a:rPr>
              <a:t>EFFECTIVE-DATE ASSUMPTION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Aptos"/>
              </a:rPr>
              <a:t>If approved, effective on renewal signature after catalogue, contacts and engineering confirmations are recorded.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16168"/>
            <a:ext cx="10515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40" b="0">
                <a:solidFill>
                  <a:srgbClr val="DEF3EF"/>
                </a:solidFill>
                <a:latin typeface="Aptos"/>
              </a:rPr>
              <a:t>England and Wales commercial and regulatory position to be confirmed as at 31 January 2025; this memorandum does not make a legal or compliance determination.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45352"/>
            <a:ext cx="105156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840" b="1">
                <a:solidFill>
                  <a:srgbClr val="DEF3EF"/>
                </a:solidFill>
                <a:latin typeface="Aptos"/>
              </a:rPr>
              <a:t>Peatmoor Health Network  /  Amberfield Freight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Amberfield Freight | Spares support renewal decision</dc:title>
  <dc:subject>February supplier-review decision memorandum</dc:subject>
  <dc:creator>Viktor Lindqvist, Peatmoor Health Network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