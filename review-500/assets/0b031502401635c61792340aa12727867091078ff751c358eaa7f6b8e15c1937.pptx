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C43"/>
          </a:solidFill>
          <a:ln>
            <a:solidFill>
              <a:srgbClr val="132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09728" cy="1097280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76072"/>
            <a:ext cx="10424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9BDED8"/>
                </a:solidFill>
                <a:latin typeface="Aptos"/>
              </a:rPr>
              <a:t>DECISION FOR NOVEMBER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32688"/>
            <a:ext cx="106984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A controlled local micro-crib
with Cadwell hub replenishment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76272"/>
            <a:ext cx="896112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DCE7ED"/>
                </a:solidFill>
                <a:latin typeface="Aptos"/>
              </a:rPr>
              <a:t>One executable stocking program for hose, fittings, and filtration across Pembroke Consortium’s two Ohio plants.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980944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1B3B53"/>
          </a:solidFill>
          <a:ln>
            <a:solidFill>
              <a:srgbClr val="1B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072384"/>
            <a:ext cx="314553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9BDED8"/>
                </a:solidFill>
                <a:latin typeface="Aptos"/>
              </a:rPr>
              <a:t>RECOMMEND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Customer-owned local stock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DCE7ED"/>
                </a:solidFill>
                <a:latin typeface="Aptos"/>
              </a:rPr>
              <a:t>Critical assemblies + fast movers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980944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1B3B53"/>
          </a:solidFill>
          <a:ln>
            <a:solidFill>
              <a:srgbClr val="1B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3072384"/>
            <a:ext cx="314553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9BDED8"/>
                </a:solidFill>
                <a:latin typeface="Aptos"/>
              </a:rPr>
              <a:t>SERVICE BOUNDARY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4-hour response target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DCE7ED"/>
                </a:solidFill>
                <a:latin typeface="Aptos"/>
              </a:rPr>
              <a:t>For 60 approved critical hose assemblies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980944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1B3B53"/>
          </a:solidFill>
          <a:ln>
            <a:solidFill>
              <a:srgbClr val="1B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3072384"/>
            <a:ext cx="314553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9BDED8"/>
                </a:solidFill>
                <a:latin typeface="Aptos"/>
              </a:rPr>
              <a:t>TRANSITION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Document before 20 November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DCE7ED"/>
                </a:solidFill>
                <a:latin typeface="Aptos"/>
              </a:rPr>
              <a:t>Replace Carsten’s memory with a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010912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Prepared by Eamon Villanueva • Sales Manager, Cadwell Fluid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422392"/>
            <a:ext cx="9875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BECFDB"/>
                </a:solidFill>
                <a:latin typeface="Aptos"/>
              </a:rPr>
              <a:t>For Simone Haldorsen, Plant Manager, and Pembroke / Cadwell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172200"/>
            <a:ext cx="9144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9BB4C4"/>
                </a:solidFill>
                <a:latin typeface="Aptos"/>
              </a:rPr>
              <a:t>Planning proposal • assumptions are labeled; no customer transaction history was supplied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Why this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A bounded design resolves every stated constraint; it is not a full assortment or a promise of uninterrupted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17320"/>
            <a:ext cx="3584448" cy="452628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solidFill>
              <a:srgbClr val="F1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08760"/>
            <a:ext cx="3346704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SPACE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32C43"/>
                </a:solidFill>
                <a:latin typeface="Aptos"/>
              </a:rPr>
              <a:t>400-square-foot crib</a:t>
            </a:r>
          </a:p>
          <a:p>
            <a:pPr algn="l">
              <a:spcAft>
                <a:spcPts val="1500"/>
              </a:spcAft>
            </a:pPr>
            <a:r>
              <a:rPr sz="1300" b="0">
                <a:solidFill>
                  <a:srgbClr val="1D272F"/>
                </a:solidFill>
                <a:latin typeface="Aptos"/>
              </a:rPr>
              <a:t>Reserve local capacity for approved critical assemblies, fast-moving fittings, and common filters—not the long tail.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OWNERSHIP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132C43"/>
                </a:solidFill>
                <a:latin typeface="Aptos"/>
              </a:rPr>
              <a:t>No consignment title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72F"/>
                </a:solidFill>
                <a:latin typeface="Aptos"/>
              </a:rPr>
              <a:t>Pembroke takes title to stocked local material at receipt; Cadwell owns remote hub material.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584448" cy="452628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solidFill>
              <a:srgbClr val="F1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508760"/>
            <a:ext cx="3346704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CONTROL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32C43"/>
                </a:solidFill>
                <a:latin typeface="Aptos"/>
              </a:rPr>
              <a:t>D365 is locked</a:t>
            </a:r>
          </a:p>
          <a:p>
            <a:pPr algn="l">
              <a:spcAft>
                <a:spcPts val="1500"/>
              </a:spcAft>
            </a:pPr>
            <a:r>
              <a:rPr sz="1300" b="0">
                <a:solidFill>
                  <a:srgbClr val="1D272F"/>
                </a:solidFill>
                <a:latin typeface="Aptos"/>
              </a:rPr>
              <a:t>Use a controlled issue/receipt log and a weekly reconciliation—not an unofficial shadow system.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PLANT 2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132C43"/>
                </a:solidFill>
                <a:latin typeface="Aptos"/>
              </a:rPr>
              <a:t>No barcode receiving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72F"/>
                </a:solidFill>
                <a:latin typeface="Aptos"/>
              </a:rPr>
              <a:t>Use signed receiving slips, bin labels, and reconciliation; manual records are not barcode-equivalent without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17320"/>
            <a:ext cx="3584448" cy="452628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solidFill>
              <a:srgbClr val="F1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346704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SUCCESSION + SERVICE</a:t>
            </a:r>
          </a:p>
          <a:p>
            <a:pPr algn="l">
              <a:spcAft>
                <a:spcPts val="500"/>
              </a:spcAft>
            </a:pPr>
            <a:r>
              <a:rPr sz="2000" b="1">
                <a:solidFill>
                  <a:srgbClr val="132C43"/>
                </a:solidFill>
                <a:latin typeface="Aptos"/>
              </a:rPr>
              <a:t>Carsten retires 20 November</a:t>
            </a:r>
          </a:p>
          <a:p>
            <a:pPr algn="l">
              <a:spcAft>
                <a:spcPts val="1500"/>
              </a:spcAft>
            </a:pPr>
            <a:r>
              <a:rPr sz="1300" b="0">
                <a:solidFill>
                  <a:srgbClr val="1D272F"/>
                </a:solidFill>
                <a:latin typeface="Aptos"/>
              </a:rPr>
              <a:t>Capture his knowledge in an approved specification register before his departure.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CRITICAL REQUIREMENT</a:t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132C43"/>
                </a:solidFill>
                <a:latin typeface="Aptos"/>
              </a:rPr>
              <a:t>60 critical hose assemblies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72F"/>
                </a:solidFill>
                <a:latin typeface="Aptos"/>
              </a:rPr>
              <a:t>Cadwell targets a four-hour response after a qualifying call—not a blanket same-day guarantee for all items or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Recommended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One primary configuration: Pembroke-owned local micro-crib + Cadwell-owned remote hub + defined critical-response dispatch.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32004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1  LOCAL MICRO-CRIB • PEMBROKE TITLE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82496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3191256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32C43"/>
                </a:solidFill>
                <a:latin typeface="Aptos"/>
              </a:rPr>
              <a:t>Stock locally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Approved equivalents / complete coverage plan for 60 critical hose assemblies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High-frequency fittings and filtration SKUs selected in walkdown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Labeled bins; min/max cards; controlled issue log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B43B38"/>
                </a:solidFill>
                <a:latin typeface="Aptos"/>
              </a:rPr>
              <a:t>Not locally stocked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Low-use, bespoke and unapproved assemblies—these remain at the hub or are quoted-to-order.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389888"/>
            <a:ext cx="32004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2  CADWELL REMOTE HUB • CADWELL TITLE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682496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solidFill>
              <a:srgbClr val="E8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773936"/>
            <a:ext cx="3191256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32C43"/>
                </a:solidFill>
                <a:latin typeface="Aptos"/>
              </a:rPr>
              <a:t>Replenish / hold elsewhere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Demand-driven replenishment to local min/max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Long-tail fittings, filters and approved hose components held in Cadwell network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Cadwell validates technical fit before sourcing a non-local critical item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B43B38"/>
                </a:solidFill>
                <a:latin typeface="Aptos"/>
              </a:rPr>
              <a:t>Commercial boundary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Remote hub stock stays Cadwell-owned until a Pembroke purchase order and documented receipt.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1389888"/>
            <a:ext cx="32004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3  CRITICAL RESPONSE • QUALIFIED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1682496"/>
            <a:ext cx="3246120" cy="3429000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solidFill>
              <a:srgbClr val="F1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1773936"/>
            <a:ext cx="3008376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32C43"/>
                </a:solidFill>
                <a:latin typeface="Aptos"/>
              </a:rPr>
              <a:t>When a critical hose fails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Pembroke calls Cadwell duty contact with asset / register ID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Cadwell acknowledges and mobilizes within the four-hour target under stated conditions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• Local approved stock is issued only against a log entry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B43B38"/>
                </a:solidFill>
                <a:latin typeface="Aptos"/>
              </a:rPr>
              <a:t>Response is not restoration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D272F"/>
                </a:solidFill>
                <a:latin typeface="Aptos"/>
              </a:rPr>
              <a:t>Availability, technical suitability, installation, system restoration and production restart are distinct outcomes.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13832"/>
            <a:ext cx="10927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1">
                <a:solidFill>
                  <a:srgbClr val="5B6A75"/>
                </a:solidFill>
                <a:latin typeface="Aptos"/>
              </a:rPr>
              <a:t>Design capacity assumption: fit the approved local set within the 400 sq ft crib after a joint layout check; any excess critical coverage is held at Cadwell’s hub, not improvised in aisles.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Scope is governed by criticality—not appearance or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The approved critical-item / specification register becomes the source of truth after Carsten Okonkwo’s departure.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1572768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444752"/>
            <a:ext cx="144475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1389888"/>
            <a:ext cx="283464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5415" y="1444752"/>
            <a:ext cx="270662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Aptos"/>
              </a:rPr>
              <a:t>Decision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1389888"/>
            <a:ext cx="283464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6" y="1444752"/>
            <a:ext cx="270662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1" i="0">
                <a:solidFill>
                  <a:srgbClr val="FFFFFF"/>
                </a:solidFill>
                <a:latin typeface="Aptos"/>
              </a:rPr>
              <a:t>Local treatment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1389888"/>
            <a:ext cx="283464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4696" y="1444752"/>
            <a:ext cx="270662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Identification /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5328" y="1389888"/>
            <a:ext cx="100584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9336" y="1444752"/>
            <a:ext cx="87782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30" b="1" i="0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28800"/>
            <a:ext cx="157276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" y="1883664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21408" y="1828800"/>
            <a:ext cx="28346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5" y="1883664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0" i="0">
                <a:solidFill>
                  <a:srgbClr val="1D272F"/>
                </a:solidFill>
                <a:latin typeface="Aptos"/>
              </a:rPr>
              <a:t>A failure can create defined downtime risk; 60 hose assemblies are in scope after walkdown sign-off.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1828800"/>
            <a:ext cx="28346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0056" y="1883664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0" i="0">
                <a:solidFill>
                  <a:srgbClr val="1D272F"/>
                </a:solidFill>
                <a:latin typeface="Aptos"/>
              </a:rPr>
              <a:t>Local approved assembly or defined hub path; min/max coverage by assembly family.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0688" y="1828800"/>
            <a:ext cx="28346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4696" y="1883664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 i="0">
                <a:solidFill>
                  <a:srgbClr val="1D272F"/>
                </a:solidFill>
                <a:latin typeface="Aptos"/>
              </a:rPr>
              <a:t>Asset / register ID, hose ID, size, pressure rating, media / temperature, end fittings, length, application and approved substitute status.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25328" y="1828800"/>
            <a:ext cx="1005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9336" y="1883664"/>
            <a:ext cx="8778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30" b="0" i="0">
                <a:solidFill>
                  <a:srgbClr val="1D272F"/>
                </a:solidFill>
                <a:latin typeface="Aptos"/>
              </a:rPr>
              <a:t>Pembroke Maintenance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350008"/>
            <a:ext cx="157276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2404872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Routine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2350008"/>
            <a:ext cx="283464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85415" y="2404872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0" i="0">
                <a:solidFill>
                  <a:srgbClr val="1D272F"/>
                </a:solidFill>
                <a:latin typeface="Aptos"/>
              </a:rPr>
              <a:t>Repeat-use fittings / filtration with predictable demand or lead-time exposure.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6048" y="2350008"/>
            <a:ext cx="283464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0056" y="2404872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0" i="0">
                <a:solidFill>
                  <a:srgbClr val="1D272F"/>
                </a:solidFill>
                <a:latin typeface="Aptos"/>
              </a:rPr>
              <a:t>Local bin stock when it fits space and min/max rationale; otherwise hub replenishment.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90688" y="2350008"/>
            <a:ext cx="283464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54696" y="2404872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 i="0">
                <a:solidFill>
                  <a:srgbClr val="1D272F"/>
                </a:solidFill>
                <a:latin typeface="Aptos"/>
              </a:rPr>
              <a:t>Manufacturer part number, bin ID, min/max, issue record and receipt reference.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25328" y="2350008"/>
            <a:ext cx="100584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89336" y="2404872"/>
            <a:ext cx="8778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30" b="0" i="0">
                <a:solidFill>
                  <a:srgbClr val="1D272F"/>
                </a:solidFill>
                <a:latin typeface="Aptos"/>
              </a:rPr>
              <a:t>Pembroke Crib Coordinator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71215"/>
            <a:ext cx="157276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7" y="2926079"/>
            <a:ext cx="144475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Exceptional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2871215"/>
            <a:ext cx="28346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85415" y="2926079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0" i="0">
                <a:solidFill>
                  <a:srgbClr val="1D272F"/>
                </a:solidFill>
                <a:latin typeface="Aptos"/>
              </a:rPr>
              <a:t>Bespoke, low-use, unapproved or technically uncertain item.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2871215"/>
            <a:ext cx="28346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0056" y="2926079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80" b="0" i="0">
                <a:solidFill>
                  <a:srgbClr val="1D272F"/>
                </a:solidFill>
                <a:latin typeface="Aptos"/>
              </a:rPr>
              <a:t>Do not locally stock by default; quote / source through Cadwell hub after review.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90688" y="2871215"/>
            <a:ext cx="28346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2926079"/>
            <a:ext cx="27066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 i="0">
                <a:solidFill>
                  <a:srgbClr val="1D272F"/>
                </a:solidFill>
                <a:latin typeface="Aptos"/>
              </a:rPr>
              <a:t>Technical review ticket and purchase approval; no visual matching.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25328" y="2871215"/>
            <a:ext cx="1005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89336" y="2926079"/>
            <a:ext cx="8778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30" b="0" i="0">
                <a:solidFill>
                  <a:srgbClr val="1D272F"/>
                </a:solidFill>
                <a:latin typeface="Aptos"/>
              </a:rPr>
              <a:t>Cadwell Account / Technical Lead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599432"/>
            <a:ext cx="11018520" cy="1078992"/>
          </a:xfrm>
          <a:prstGeom prst="roundRect">
            <a:avLst>
              <a:gd name="adj" fmla="val 8000"/>
            </a:avLst>
          </a:prstGeom>
          <a:solidFill>
            <a:srgbClr val="FFF5F1"/>
          </a:solidFill>
          <a:ln>
            <a:solidFill>
              <a:srgbClr val="F1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690872"/>
            <a:ext cx="1078077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B43B38"/>
                </a:solidFill>
                <a:latin typeface="Aptos"/>
              </a:rPr>
              <a:t>NON-NEGOTIABLE SAFETY / CONTROL RULE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32C43"/>
                </a:solidFill>
                <a:latin typeface="Aptos"/>
              </a:rPr>
              <a:t>A similar-looking hose must not be substituted without documented technical suitability confirmation. Holding stock does not prove an assembly is fit for its application; do not remove any crib item unrecorded or consume it informally.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Control workflow that works with locked D365 and Plant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The local ledger is a controlled compensating record, reconciled to approved receipts and supplier documents; it does not replace D365 or barcode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5F1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682496"/>
            <a:ext cx="16642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01  RECEIVE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993392"/>
            <a:ext cx="1645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1D272F"/>
                </a:solidFill>
                <a:latin typeface="Aptos"/>
              </a:rPr>
              <a:t>Cadwell packing slip + Pembroke signed receipt
Bin / lot / quantity logged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5740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008F89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50876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1682496"/>
            <a:ext cx="16642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02 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1993392"/>
            <a:ext cx="1645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1D272F"/>
                </a:solidFill>
                <a:latin typeface="Aptos"/>
              </a:rPr>
              <a:t>Technician identifies bin / register ID
Log date, asset, quantity,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5740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008F89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50876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5F1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682496"/>
            <a:ext cx="16642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03 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993392"/>
            <a:ext cx="1645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1D272F"/>
                </a:solidFill>
                <a:latin typeface="Aptos"/>
              </a:rPr>
              <a:t>Quarantine return; condition review
Log disposition before restock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5740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008F89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0876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1682496"/>
            <a:ext cx="16642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04  RECONCILE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1993392"/>
            <a:ext cx="1645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1D272F"/>
                </a:solidFill>
                <a:latin typeface="Aptos"/>
              </a:rPr>
              <a:t>Weekly: Crib Coordinator compares ledger, bins, signed slips and Cadwell invoice / credit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5740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008F89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150876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5F1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37776" y="1682496"/>
            <a:ext cx="16642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08F89"/>
                </a:solidFill>
                <a:latin typeface="Aptos"/>
              </a:rPr>
              <a:t>05  ESCALATE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7776" y="1993392"/>
            <a:ext cx="1645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1D272F"/>
                </a:solidFill>
                <a:latin typeface="Aptos"/>
              </a:rPr>
              <a:t>Discrepancy, unapproved issue or unknown fit
Hold item; Maintenance Engineering decides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01568"/>
            <a:ext cx="5340096" cy="1874519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solidFill>
              <a:srgbClr val="F1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493008"/>
            <a:ext cx="5102352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REPLENISHMENT POLICY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32C43"/>
                </a:solidFill>
                <a:latin typeface="Aptos"/>
              </a:rPr>
              <a:t>Trigger: bin card reaches min / ledger shows below reorder point</a:t>
            </a:r>
          </a:p>
          <a:p>
            <a:pPr algn="l">
              <a:spcAft>
                <a:spcPts val="0"/>
              </a:spcAft>
            </a:pPr>
            <a:r>
              <a:rPr sz="1160" b="0">
                <a:solidFill>
                  <a:srgbClr val="1D272F"/>
                </a:solidFill>
                <a:latin typeface="Aptos"/>
              </a:rPr>
              <a:t>Cadwell replenishes routine stock on the next scheduled route; Cadwell delivery lead owns a weekly exception queue. Pembroke Crib Coordinator reviews all critical min/max levels every Friday.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401568"/>
            <a:ext cx="5440680" cy="1874519"/>
          </a:xfrm>
          <a:prstGeom prst="roundRect">
            <a:avLst>
              <a:gd name="adj" fmla="val 8000"/>
            </a:avLst>
          </a:prstGeom>
          <a:solidFill>
            <a:srgbClr val="F1F5F7"/>
          </a:solidFill>
          <a:ln>
            <a:solidFill>
              <a:srgbClr val="F1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93008"/>
            <a:ext cx="520293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PLANT 2 COMPENSATING CONTROL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32C43"/>
                </a:solidFill>
                <a:latin typeface="Aptos"/>
              </a:rPr>
              <a:t>No barcode receiving: use a numbered paper receiving slip plus shared controlled ledger</a:t>
            </a:r>
          </a:p>
          <a:p>
            <a:pPr algn="l">
              <a:spcAft>
                <a:spcPts val="0"/>
              </a:spcAft>
            </a:pPr>
            <a:r>
              <a:rPr sz="1160" b="0">
                <a:solidFill>
                  <a:srgbClr val="1D272F"/>
                </a:solidFill>
                <a:latin typeface="Aptos"/>
              </a:rPr>
              <a:t>Receiver signs quantity / condition; Crib Coordinator uploads or files slip and reconciles weekly. Manual entry is not equivalent to barcode control without this reconciliation and discrepancy follow-up.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6400"/>
            <a:ext cx="11036808" cy="502920"/>
          </a:xfrm>
          <a:prstGeom prst="roundRect">
            <a:avLst>
              <a:gd name="adj" fmla="val 8000"/>
            </a:avLst>
          </a:prstGeom>
          <a:solidFill>
            <a:srgbClr val="FFF5F1"/>
          </a:solidFill>
          <a:ln>
            <a:solidFill>
              <a:srgbClr val="FF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577840"/>
            <a:ext cx="10799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B43B38"/>
                </a:solidFill>
                <a:latin typeface="Aptos"/>
              </a:rPr>
              <a:t>EMERGENCY RESPONSE ≠ DEMAND REPLENISHMENT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D272F"/>
                </a:solidFill>
                <a:latin typeface="Aptos"/>
              </a:rPr>
              <a:t>Routine replenishment restores planned min/max. An emergency dispatch addresses a qualifying failure and can be constrained by part availability, technical suitability, access and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Illustrative cost &amp; ownership exhibit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Planning estimates only—not supplied Pembroke facts or a quotation. Pricing, SKU count, tax, freight, service coverage and layout must be confirmed before release.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2359152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444752"/>
            <a:ext cx="223113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Cost / exposure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1389888"/>
            <a:ext cx="2907792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444752"/>
            <a:ext cx="277977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1" i="0">
                <a:solidFill>
                  <a:srgbClr val="FFFFFF"/>
                </a:solidFill>
                <a:latin typeface="Aptos"/>
              </a:rPr>
              <a:t>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5584" y="1389888"/>
            <a:ext cx="1225296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1444752"/>
            <a:ext cx="10972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1" i="0">
                <a:solidFill>
                  <a:srgbClr val="FFFFFF"/>
                </a:solidFill>
                <a:latin typeface="Aptos"/>
              </a:rPr>
              <a:t>One-time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389888"/>
            <a:ext cx="141732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1444752"/>
            <a:ext cx="128930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1" i="0">
                <a:solidFill>
                  <a:srgbClr val="FFFFFF"/>
                </a:solidFill>
                <a:latin typeface="Aptos"/>
              </a:rPr>
              <a:t>Annual recurring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389888"/>
            <a:ext cx="3127248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444752"/>
            <a:ext cx="299923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Title / payer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28800"/>
            <a:ext cx="235915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" y="1883664"/>
            <a:ext cx="22311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0" i="0">
                <a:solidFill>
                  <a:srgbClr val="1D272F"/>
                </a:solidFill>
                <a:latin typeface="Aptos"/>
              </a:rPr>
              <a:t>Local critical hose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07792" y="1828800"/>
            <a:ext cx="290779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1883664"/>
            <a:ext cx="27797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Illustrative approved coverage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5584" y="1828800"/>
            <a:ext cx="1225296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9592" y="1883664"/>
            <a:ext cx="1097280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$18,000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1828800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1883664"/>
            <a:ext cx="128930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1828800"/>
            <a:ext cx="312724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1883664"/>
            <a:ext cx="299923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1D272F"/>
                </a:solidFill>
                <a:latin typeface="Aptos"/>
              </a:rPr>
              <a:t>Pembroke title / Pembroke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350008"/>
            <a:ext cx="235915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2404872"/>
            <a:ext cx="22311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0" i="0">
                <a:solidFill>
                  <a:srgbClr val="1D272F"/>
                </a:solidFill>
                <a:latin typeface="Aptos"/>
              </a:rPr>
              <a:t>Local routine fittings + filtration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7792" y="2350008"/>
            <a:ext cx="290779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2404872"/>
            <a:ext cx="27797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Illustrative micro-crib 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4" y="2350008"/>
            <a:ext cx="1225296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9592" y="2404872"/>
            <a:ext cx="1097280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$9,000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2350008"/>
            <a:ext cx="141732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04888" y="2404872"/>
            <a:ext cx="128930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2350008"/>
            <a:ext cx="312724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2404872"/>
            <a:ext cx="299923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1D272F"/>
                </a:solidFill>
                <a:latin typeface="Aptos"/>
              </a:rPr>
              <a:t>Pembroke title / Pembroke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71215"/>
            <a:ext cx="235915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7" y="2926079"/>
            <a:ext cx="22311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0" i="0">
                <a:solidFill>
                  <a:srgbClr val="1D272F"/>
                </a:solidFill>
                <a:latin typeface="Aptos"/>
              </a:rPr>
              <a:t>Bins, labels, walkdown setup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07792" y="2871215"/>
            <a:ext cx="290779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2926079"/>
            <a:ext cx="27797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Layout + register build estimate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15584" y="2871215"/>
            <a:ext cx="1225296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79592" y="2926079"/>
            <a:ext cx="1097280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$4,500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2871215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4888" y="2926079"/>
            <a:ext cx="128930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2871215"/>
            <a:ext cx="312724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8" y="2926079"/>
            <a:ext cx="299923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1D272F"/>
                </a:solidFill>
                <a:latin typeface="Aptos"/>
              </a:rPr>
              <a:t>Pembroke / Pembroke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392423"/>
            <a:ext cx="235915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7" y="3447287"/>
            <a:ext cx="22311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0" i="0">
                <a:solidFill>
                  <a:srgbClr val="1D272F"/>
                </a:solidFill>
                <a:latin typeface="Aptos"/>
              </a:rPr>
              <a:t>Cycle-count &amp; ledger administration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07792" y="3392423"/>
            <a:ext cx="290779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71800" y="3447287"/>
            <a:ext cx="27797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4 hrs/month × $100 planning 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15584" y="3392423"/>
            <a:ext cx="1225296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79592" y="3447287"/>
            <a:ext cx="1097280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0880" y="3392423"/>
            <a:ext cx="141732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04888" y="3447287"/>
            <a:ext cx="128930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$4,800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58200" y="3392423"/>
            <a:ext cx="312724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22208" y="3447287"/>
            <a:ext cx="299923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1D272F"/>
                </a:solidFill>
                <a:latin typeface="Aptos"/>
              </a:rPr>
              <a:t>Pembroke / Pembroke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913631"/>
            <a:ext cx="235915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7" y="3968495"/>
            <a:ext cx="22311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0" i="0">
                <a:solidFill>
                  <a:srgbClr val="1D272F"/>
                </a:solidFill>
                <a:latin typeface="Aptos"/>
              </a:rPr>
              <a:t>Cadwell response readiness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07792" y="3913631"/>
            <a:ext cx="290779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71800" y="3968495"/>
            <a:ext cx="27797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$700/month planning allowance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15584" y="3913631"/>
            <a:ext cx="1225296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79592" y="3968495"/>
            <a:ext cx="1097280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80" y="3913631"/>
            <a:ext cx="1417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04888" y="3968495"/>
            <a:ext cx="128930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$8,400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200" y="3913631"/>
            <a:ext cx="312724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22208" y="3968495"/>
            <a:ext cx="299923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1D272F"/>
                </a:solidFill>
                <a:latin typeface="Aptos"/>
              </a:rPr>
              <a:t>Cadwell resource; billed to Pembroke if approved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434840"/>
            <a:ext cx="235915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7" y="4489703"/>
            <a:ext cx="22311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0" b="0" i="0">
                <a:solidFill>
                  <a:srgbClr val="1D272F"/>
                </a:solidFill>
                <a:latin typeface="Aptos"/>
              </a:rPr>
              <a:t>TOTAL PEMBROKE YEAR 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07792" y="4434840"/>
            <a:ext cx="290779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71800" y="4489703"/>
            <a:ext cx="27797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$31,500 + $13,200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15584" y="4434840"/>
            <a:ext cx="1225296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79592" y="4489703"/>
            <a:ext cx="1097280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$31,500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80" y="4434840"/>
            <a:ext cx="141732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04888" y="4489703"/>
            <a:ext cx="128930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69" b="0" i="0">
                <a:solidFill>
                  <a:srgbClr val="1D272F"/>
                </a:solidFill>
                <a:latin typeface="Aptos"/>
              </a:rPr>
              <a:t>$13,200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58200" y="4434840"/>
            <a:ext cx="312724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22208" y="4489703"/>
            <a:ext cx="299923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1D272F"/>
                </a:solidFill>
                <a:latin typeface="Aptos"/>
              </a:rPr>
              <a:t>$44,700 year 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8640" y="5458968"/>
            <a:ext cx="5358384" cy="521207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solidFill>
              <a:srgbClr val="E8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" y="5550407"/>
            <a:ext cx="5120640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CADWELL REMOTE HUB INVENTORY</a:t>
            </a:r>
          </a:p>
          <a:p>
            <a:pPr algn="l">
              <a:spcAft>
                <a:spcPts val="0"/>
              </a:spcAft>
            </a:pPr>
            <a:r>
              <a:rPr sz="1080" b="0">
                <a:solidFill>
                  <a:srgbClr val="1D272F"/>
                </a:solidFill>
                <a:latin typeface="Aptos"/>
              </a:rPr>
              <a:t>Cadwell retains title and carrying / obsolescence exposure until a documented Pembroke PO and receipt.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81344" y="5458968"/>
            <a:ext cx="5404104" cy="521207"/>
          </a:xfrm>
          <a:prstGeom prst="roundRect">
            <a:avLst>
              <a:gd name="adj" fmla="val 8000"/>
            </a:avLst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0216" y="5550407"/>
            <a:ext cx="5166360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ARITHMETIC CHECK</a:t>
            </a:r>
          </a:p>
          <a:p>
            <a:pPr algn="l">
              <a:spcAft>
                <a:spcPts val="0"/>
              </a:spcAft>
            </a:pPr>
            <a:r>
              <a:rPr sz="1080" b="0">
                <a:solidFill>
                  <a:srgbClr val="1D272F"/>
                </a:solidFill>
                <a:latin typeface="Aptos"/>
              </a:rPr>
              <a:t>$18,000 + $9,000 + $4,500 = $31,500; $4,800 + $8,400 = $13,200; year 1 = $44,700.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Service exhibit: replace the informal promise with a credible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Cadwell has told the plant it will provide same-day replacement whenever a critical hose fails. This proposal narrows that statement to a defined, auditable service target.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205740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444752"/>
            <a:ext cx="192938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89888"/>
            <a:ext cx="8979408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444752"/>
            <a:ext cx="885139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Bounded commitment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20574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1883664"/>
            <a:ext cx="19293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828800"/>
            <a:ext cx="897940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1883664"/>
            <a:ext cx="88513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0" i="0">
                <a:solidFill>
                  <a:srgbClr val="1D272F"/>
                </a:solidFill>
                <a:latin typeface="Aptos"/>
              </a:rPr>
              <a:t>Only the 60 approved downtime-critical hose assemblies in the signed register at Pembroke’s two Ohio plants. Routine and exceptional items follow scheduled replenishment or quoted sourcing.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50008"/>
            <a:ext cx="205740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" y="2404872"/>
            <a:ext cx="19293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Start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350008"/>
            <a:ext cx="897940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2404872"/>
            <a:ext cx="88513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0" i="0">
                <a:solidFill>
                  <a:srgbClr val="1D272F"/>
                </a:solidFill>
                <a:latin typeface="Aptos"/>
              </a:rPr>
              <a:t>A Cadwell duty contact receives a qualifying failure call during the agreed coverage window with plant, asset / register ID, access information and failure description.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71215"/>
            <a:ext cx="20574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7" y="2926079"/>
            <a:ext cx="19293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Four-hour endpoint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871215"/>
            <a:ext cx="897940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2926079"/>
            <a:ext cx="88513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0" i="0">
                <a:solidFill>
                  <a:srgbClr val="1D272F"/>
                </a:solidFill>
                <a:latin typeface="Aptos"/>
              </a:rPr>
              <a:t>Cadwell acknowledges, confirms the specification path, and dispatches or stages an approved local / hub assembly path within four hours of the start event.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92423"/>
            <a:ext cx="205740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" y="3447287"/>
            <a:ext cx="19293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Coverage conditions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3392423"/>
            <a:ext cx="897940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3447287"/>
            <a:ext cx="88513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0" i="0">
                <a:solidFill>
                  <a:srgbClr val="1D272F"/>
                </a:solidFill>
                <a:latin typeface="Aptos"/>
              </a:rPr>
              <a:t>Subject to agreed coverage hours, safe site access, complete identifier, technical validation, transportation conditions and an available approved assembly or components.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13631"/>
            <a:ext cx="20574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3968495"/>
            <a:ext cx="19293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Unavailable / unsuitable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3913631"/>
            <a:ext cx="897940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3968495"/>
            <a:ext cx="88513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0" i="0">
                <a:solidFill>
                  <a:srgbClr val="1D272F"/>
                </a:solidFill>
                <a:latin typeface="Aptos"/>
              </a:rPr>
              <a:t>Cadwell tells Pembroke promptly, escalates technical sourcing and provides an estimated path. It does not authorize a visual substitute or make unavailable stock appear available.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34840"/>
            <a:ext cx="205740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" y="4489703"/>
            <a:ext cx="19293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What is not guaranteed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4434840"/>
            <a:ext cx="897940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0048" y="4489703"/>
            <a:ext cx="885139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19" b="0" i="0">
                <a:solidFill>
                  <a:srgbClr val="1D272F"/>
                </a:solidFill>
                <a:latin typeface="Aptos"/>
              </a:rPr>
              <a:t>Response is not fulfillment, installation, pressure testing, system restoration, zero downtime or production restart. A four-hour response target does not guarantee uninterrupted production.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49824"/>
            <a:ext cx="11045952" cy="502920"/>
          </a:xfrm>
          <a:prstGeom prst="roundRect">
            <a:avLst>
              <a:gd name="adj" fmla="val 8000"/>
            </a:avLst>
          </a:prstGeom>
          <a:solidFill>
            <a:srgbClr val="E5F1F9"/>
          </a:solidFill>
          <a:ln>
            <a:solidFill>
              <a:srgbClr val="E5F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541264"/>
            <a:ext cx="108082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SERVICE EVIDENCE</a:t>
            </a:r>
          </a:p>
          <a:p>
            <a:pPr algn="l">
              <a:spcAft>
                <a:spcPts val="0"/>
              </a:spcAft>
            </a:pPr>
            <a:r>
              <a:rPr sz="1070" b="0">
                <a:solidFill>
                  <a:srgbClr val="1D272F"/>
                </a:solidFill>
                <a:latin typeface="Aptos"/>
              </a:rPr>
              <a:t>Monthly review: qualifying calls, response attainment, unavailable / unsuitable events, fulfillment path, stockouts and corrective actions. Same-day language applies only within this defined scope and conditions—not every item, failure mode or circumstance.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Alternatives considered—and ruled out on the same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The recommended hybrid is selected because it meets the combined space, service, control, ownership and transition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2221992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444752"/>
            <a:ext cx="209397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1" i="0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389888"/>
            <a:ext cx="1627632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444752"/>
            <a:ext cx="149961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ptos"/>
              </a:rPr>
              <a:t>400 sq 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389888"/>
            <a:ext cx="1673352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44752"/>
            <a:ext cx="1545336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4-hour critical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389888"/>
            <a:ext cx="1856231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1444752"/>
            <a:ext cx="1728215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D365 / Plant 2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7848" y="1389888"/>
            <a:ext cx="1792224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1444752"/>
            <a:ext cx="1664207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1" i="0">
                <a:solidFill>
                  <a:srgbClr val="FFFFFF"/>
                </a:solidFill>
                <a:latin typeface="Aptos"/>
              </a:rPr>
              <a:t>Title /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0072" y="1389888"/>
            <a:ext cx="1847088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444752"/>
            <a:ext cx="17190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1" i="0">
                <a:solidFill>
                  <a:srgbClr val="FFFFFF"/>
                </a:solidFill>
                <a:latin typeface="Aptos"/>
              </a:rPr>
              <a:t>Transition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28800"/>
            <a:ext cx="222199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7" y="1883664"/>
            <a:ext cx="20939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RECOMMENDED: Pembroke-owned micro-crib + Cadwell 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0632" y="1828800"/>
            <a:ext cx="162763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1883664"/>
            <a:ext cx="149961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 i="0">
                <a:solidFill>
                  <a:srgbClr val="1D272F"/>
                </a:solidFill>
                <a:latin typeface="Aptos"/>
              </a:rPr>
              <a:t>Focused local set; layout 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1828800"/>
            <a:ext cx="167335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1883664"/>
            <a:ext cx="15453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Defined path for 60 approved assemblies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1828800"/>
            <a:ext cx="1856231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1883664"/>
            <a:ext cx="1728215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Ledger + weekly reconciliation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7848" y="1828800"/>
            <a:ext cx="1792224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1883664"/>
            <a:ext cx="1664207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Explicit: local Pembroke / remote Cadwell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72" y="1828800"/>
            <a:ext cx="184708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883664"/>
            <a:ext cx="171907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Register and named owners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350008"/>
            <a:ext cx="222199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" y="2404872"/>
            <a:ext cx="20939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Consignment crib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70632" y="2350008"/>
            <a:ext cx="162763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404872"/>
            <a:ext cx="149961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 i="0">
                <a:solidFill>
                  <a:srgbClr val="1D272F"/>
                </a:solidFill>
                <a:latin typeface="Aptos"/>
              </a:rPr>
              <a:t>Could fit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8264" y="2350008"/>
            <a:ext cx="167335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2" y="2404872"/>
            <a:ext cx="15453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Potentially fast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1616" y="2350008"/>
            <a:ext cx="1856231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35624" y="2404872"/>
            <a:ext cx="1728215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Still needs controls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7848" y="2350008"/>
            <a:ext cx="1792224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1856" y="2404872"/>
            <a:ext cx="1664207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RULED OUT: controller will not carry consignment title; title cannot be ambiguous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20072" y="2350008"/>
            <a:ext cx="184708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2404872"/>
            <a:ext cx="171907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Does not solve memory alone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871215"/>
            <a:ext cx="222199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7" y="2926079"/>
            <a:ext cx="20939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Full local assortment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70632" y="2871215"/>
            <a:ext cx="162763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0" y="2926079"/>
            <a:ext cx="149961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 i="0">
                <a:solidFill>
                  <a:srgbClr val="1D272F"/>
                </a:solidFill>
                <a:latin typeface="Aptos"/>
              </a:rPr>
              <a:t>RULED OUT: exceeds / crowds 400 sq ft or forces unsafe tradeoffs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98264" y="2871215"/>
            <a:ext cx="1673352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2272" y="2926079"/>
            <a:ext cx="15453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Broad availability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1616" y="2871215"/>
            <a:ext cx="1856231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2926079"/>
            <a:ext cx="1728215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More bins increase manual-control burden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27848" y="2871215"/>
            <a:ext cx="1792224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91856" y="2926079"/>
            <a:ext cx="1664207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Higher Pembroke inventory &amp; obsolescence exposure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20072" y="2871215"/>
            <a:ext cx="1847088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2926079"/>
            <a:ext cx="171907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More undocumented complexity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3392423"/>
            <a:ext cx="222199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" y="3447287"/>
            <a:ext cx="209397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0" b="0" i="0">
                <a:solidFill>
                  <a:srgbClr val="1D272F"/>
                </a:solidFill>
                <a:latin typeface="Aptos"/>
              </a:rPr>
              <a:t>Emergency-only vendor call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70632" y="3392423"/>
            <a:ext cx="162763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4640" y="3447287"/>
            <a:ext cx="149961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80" b="0" i="0">
                <a:solidFill>
                  <a:srgbClr val="1D272F"/>
                </a:solidFill>
                <a:latin typeface="Aptos"/>
              </a:rPr>
              <a:t>No local protection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98264" y="3392423"/>
            <a:ext cx="1673352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62272" y="3447287"/>
            <a:ext cx="1545336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RULED OUT: cannot defensibly support four-hour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1616" y="3392423"/>
            <a:ext cx="1856231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35624" y="3447287"/>
            <a:ext cx="1728215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 i="0">
                <a:solidFill>
                  <a:srgbClr val="1D272F"/>
                </a:solidFill>
                <a:latin typeface="Aptos"/>
              </a:rPr>
              <a:t>Weak issue history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27848" y="3392423"/>
            <a:ext cx="1792224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91856" y="3447287"/>
            <a:ext cx="1664207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Lower stock, volatile emergency cost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20072" y="3392423"/>
            <a:ext cx="1847088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0" y="3447287"/>
            <a:ext cx="1719072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40" b="0" i="0">
                <a:solidFill>
                  <a:srgbClr val="1D272F"/>
                </a:solidFill>
                <a:latin typeface="Aptos"/>
              </a:rPr>
              <a:t>Retains Carsten dependency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4901184"/>
            <a:ext cx="11027664" cy="786384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>
            <a:solidFill>
              <a:srgbClr val="E8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" y="4992624"/>
            <a:ext cx="10789920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8F89"/>
                </a:solidFill>
                <a:latin typeface="Aptos"/>
              </a:rPr>
              <a:t>DECISION LOGIC</a:t>
            </a:r>
          </a:p>
          <a:p>
            <a:pPr algn="l">
              <a:spcAft>
                <a:spcPts val="0"/>
              </a:spcAft>
            </a:pPr>
            <a:r>
              <a:rPr sz="1170" b="1">
                <a:solidFill>
                  <a:srgbClr val="132C43"/>
                </a:solidFill>
                <a:latin typeface="Aptos"/>
              </a:rPr>
              <a:t>The hybrid keeps the scarce crib for controlled, approved risk coverage while title remains clear: Pembroke owns received local inventory; Cadwell owns remote hub material until a documented sale. It is the only option that does not trade away a stated constraint.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F89"/>
          </a:solidFill>
          <a:ln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10881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 i="0">
                <a:solidFill>
                  <a:srgbClr val="008F89"/>
                </a:solidFill>
                <a:latin typeface="Aptos"/>
              </a:rPr>
              <a:t>STOCKING PROGRAM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132C43"/>
                </a:solidFill>
                <a:latin typeface="Aptos"/>
              </a:rPr>
              <a:t>Ownership, handover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27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5B6A75"/>
                </a:solidFill>
                <a:latin typeface="Aptos"/>
              </a:rPr>
              <a:t>Make the program repeatable before 20 November; operational assumptions remain visible and change-controlled after launch.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9D3D8"/>
          </a:solidFill>
          <a:ln>
            <a:solidFill>
              <a:srgbClr val="C9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8580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 i="0">
                <a:solidFill>
                  <a:srgbClr val="5B6A75"/>
                </a:solidFill>
                <a:latin typeface="Aptos"/>
              </a:rPr>
              <a:t>Cadwell Fluid Power  |  Pembroke Consortium • Ohio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65392"/>
            <a:ext cx="914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1" i="0">
                <a:solidFill>
                  <a:srgbClr val="5B6A75"/>
                </a:solidFill>
                <a:latin typeface="Apto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256032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444752"/>
            <a:ext cx="2432303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Work /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89888"/>
            <a:ext cx="338328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444752"/>
            <a:ext cx="325526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Accountable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89888"/>
            <a:ext cx="260604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444752"/>
            <a:ext cx="247802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Cadence /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389888"/>
            <a:ext cx="2468880" cy="438912"/>
          </a:xfrm>
          <a:prstGeom prst="rect">
            <a:avLst/>
          </a:prstGeom>
          <a:solidFill>
            <a:srgbClr val="132C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444752"/>
            <a:ext cx="234086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828800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" y="1883664"/>
            <a:ext cx="24323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Critical walkdown + register sign-off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828800"/>
            <a:ext cx="33832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2968" y="1883664"/>
            <a:ext cx="32552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Pembroke Maintenance Engineering (A); Carsten / Cadwell Technical Lead (R)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828800"/>
            <a:ext cx="26060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883664"/>
            <a:ext cx="24780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Complete before 20 November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828800"/>
            <a:ext cx="24688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1883664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0" i="0">
                <a:solidFill>
                  <a:srgbClr val="1D272F"/>
                </a:solidFill>
                <a:latin typeface="Aptos"/>
              </a:rPr>
              <a:t>Approved register; asset/spec fields; substitutions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350008"/>
            <a:ext cx="256032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" y="2404872"/>
            <a:ext cx="24323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Item master / specification stewardship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2350008"/>
            <a:ext cx="338328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2968" y="2404872"/>
            <a:ext cx="32552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Pembroke Maintenance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350008"/>
            <a:ext cx="260604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2404872"/>
            <a:ext cx="24780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Change review before any item is added / altered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2350008"/>
            <a:ext cx="246888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2288" y="2404872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0" i="0">
                <a:solidFill>
                  <a:srgbClr val="1D272F"/>
                </a:solidFill>
                <a:latin typeface="Aptos"/>
              </a:rPr>
              <a:t>Controlled register revision and technical approval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871215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" y="2926079"/>
            <a:ext cx="24323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Physical crib control + cycle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871215"/>
            <a:ext cx="33832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926079"/>
            <a:ext cx="32552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Pembroke Crib Coordinator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871215"/>
            <a:ext cx="26060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2926079"/>
            <a:ext cx="24780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Weekly reconciliation; monthly cycle 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2871215"/>
            <a:ext cx="24688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2926079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0" i="0">
                <a:solidFill>
                  <a:srgbClr val="1D272F"/>
                </a:solidFill>
                <a:latin typeface="Aptos"/>
              </a:rPr>
              <a:t>Ledger, signed receipts, variance 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392423"/>
            <a:ext cx="256032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7" y="3447287"/>
            <a:ext cx="24323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Min/max and service performance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392423"/>
            <a:ext cx="338328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2968" y="3447287"/>
            <a:ext cx="32552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Cadwell Delivery Lead + Pembroke Maintenance Superintendent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392423"/>
            <a:ext cx="260604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3447287"/>
            <a:ext cx="24780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Monthly operating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392423"/>
            <a:ext cx="2468880" cy="521207"/>
          </a:xfrm>
          <a:prstGeom prst="rect">
            <a:avLst/>
          </a:prstGeom>
          <a:solidFill>
            <a:srgbClr val="F1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3447287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0" i="0">
                <a:solidFill>
                  <a:srgbClr val="1D272F"/>
                </a:solidFill>
                <a:latin typeface="Aptos"/>
              </a:rPr>
              <a:t>Fill rate, stockouts, response attainment, accuracy, aging, emergency events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913631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7" y="3968495"/>
            <a:ext cx="24323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1D272F"/>
                </a:solidFill>
                <a:latin typeface="Aptos"/>
              </a:rPr>
              <a:t>Commercial / scope changes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3913631"/>
            <a:ext cx="33832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968" y="3968495"/>
            <a:ext cx="32552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Simone Haldorsen + Cadwell Account Manager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913631"/>
            <a:ext cx="26060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3968495"/>
            <a:ext cx="247802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40" b="0" i="0">
                <a:solidFill>
                  <a:srgbClr val="1D272F"/>
                </a:solidFill>
                <a:latin typeface="Aptos"/>
              </a:rPr>
              <a:t>Quarterly, or material change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3913631"/>
            <a:ext cx="24688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62288" y="3968495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19" b="0" i="0">
                <a:solidFill>
                  <a:srgbClr val="1D272F"/>
                </a:solidFill>
                <a:latin typeface="Aptos"/>
              </a:rPr>
              <a:t>Approved price / coverage / ownership change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4974336"/>
            <a:ext cx="11027664" cy="758952"/>
          </a:xfrm>
          <a:prstGeom prst="roundRect">
            <a:avLst>
              <a:gd name="adj" fmla="val 8000"/>
            </a:avLst>
          </a:prstGeom>
          <a:solidFill>
            <a:srgbClr val="FFF9EA"/>
          </a:solidFill>
          <a:ln>
            <a:solidFill>
              <a:srgbClr val="FFF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5065776"/>
            <a:ext cx="10789920" cy="57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0782A"/>
                </a:solidFill>
                <a:latin typeface="Aptos"/>
              </a:rPr>
              <a:t>UNRESOLVED ASSUMPTIONS TO CONFIRM UNDER APPROVAL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D272F"/>
                </a:solidFill>
                <a:latin typeface="Aptos"/>
              </a:rPr>
              <a:t>Final SKU/register count, exact crib layout, service coverage window, route timing, pricing and the named receiving / crib roles are planning assumptions—not settled customer facts. These are confirmation gates, not alternate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C43"/>
          </a:solidFill>
          <a:ln>
            <a:solidFill>
              <a:srgbClr val="132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9BDED8"/>
                </a:solidFill>
                <a:latin typeface="Aptos"/>
              </a:rPr>
              <a:t>SINGLE APPROVAL DECISION • NOVEMBER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744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Approve the controlled micro-crib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73936"/>
            <a:ext cx="9966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0" i="0">
                <a:solidFill>
                  <a:srgbClr val="DCE7ED"/>
                </a:solidFill>
                <a:latin typeface="Aptos"/>
              </a:rPr>
              <a:t>Authorize Cadwell and Pembroke Operations to implement one customer-owned local stocking program, paired with a Cadwell-owned remote 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514600"/>
            <a:ext cx="10771632" cy="2103120"/>
          </a:xfrm>
          <a:prstGeom prst="roundRect">
            <a:avLst>
              <a:gd name="adj" fmla="val 8000"/>
            </a:avLst>
          </a:prstGeom>
          <a:solidFill>
            <a:srgbClr val="1B3B53"/>
          </a:solidFill>
          <a:ln>
            <a:solidFill>
              <a:srgbClr val="1B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606040"/>
            <a:ext cx="10533888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9BDED8"/>
                </a:solidFill>
                <a:latin typeface="Aptos"/>
              </a:rPr>
              <a:t>APPROVAL SCOPE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FFFFFF"/>
                </a:solidFill>
                <a:latin typeface="Aptos"/>
              </a:rPr>
              <a:t>1. Pembroke takes title to received local inventory under the illustrative $31,500 setup basis; Cadwell retains remote-hub title until documented sale.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FFFFFF"/>
                </a:solidFill>
                <a:latin typeface="Aptos"/>
              </a:rPr>
              <a:t>2. Cadwell provides the defined four-hour response target for the signed 60-assembly critical register, subject to the stated coverage conditions and exclusions—not a zero-downtime or universal same-day guarantee.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ptos"/>
              </a:rPr>
              <a:t>3. The parties complete the walkdown, controlled register, layout and role assignment before Carsten Okonkwo retires on 20 November; final pricing and coverage details are confirmed within this approved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Approval owner: Simone Haldorsen, Plant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59552"/>
            <a:ext cx="9966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BECFDB"/>
                </a:solidFill>
                <a:latin typeface="Aptos"/>
              </a:rPr>
              <a:t>Result: a documented, auditable operation that does not depend on undocumented crib knowledge.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36208"/>
            <a:ext cx="8595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 i="0">
                <a:solidFill>
                  <a:srgbClr val="9BB4C4"/>
                </a:solidFill>
                <a:latin typeface="Aptos"/>
              </a:rPr>
              <a:t>Cadwell Fluid Power • Pembroke Consortium’s two Ohio plants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