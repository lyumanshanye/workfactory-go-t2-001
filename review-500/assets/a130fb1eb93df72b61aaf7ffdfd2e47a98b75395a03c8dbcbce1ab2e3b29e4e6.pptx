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4754880" cy="30175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93776"/>
            <a:ext cx="4480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Liberation Sans"/>
              </a:rPr>
              <a:t>CORRECTED EXECUTIVE SALES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95944" y="438912"/>
            <a:ext cx="2944368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9096" y="452628"/>
            <a:ext cx="27980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7324D"/>
                </a:solidFill>
                <a:latin typeface="Liberation Sans"/>
              </a:rPr>
              <a:t>REVIEW COPY - NOT FOR CLIENT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53312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Liberation Sans"/>
              </a:rPr>
              <a:t>Heronbank Consortium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148840"/>
            <a:ext cx="9966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B8E5E0"/>
                </a:solidFill>
                <a:latin typeface="Liberation Sans"/>
              </a:rPr>
              <a:t>Commercial position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iberation Sans"/>
              </a:rPr>
              <a:t>Communal access-control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5DFE8"/>
                </a:solidFill>
                <a:latin typeface="Liberation Sans"/>
              </a:rPr>
              <a:t>Executive, legal and contracting review ahead of Joaquin Pichler's Friday, 20 November 2026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828800"/>
            <a:ext cx="2103120" cy="1097280"/>
          </a:xfrm>
          <a:prstGeom prst="roundRect">
            <a:avLst/>
          </a:prstGeom>
          <a:solidFill>
            <a:srgbClr val="24435F"/>
          </a:solidFill>
          <a:ln w="8890">
            <a:solidFill>
              <a:srgbClr val="517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37192" y="2048256"/>
            <a:ext cx="16824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8E5E0"/>
                </a:solidFill>
                <a:latin typeface="Liberation Sans"/>
              </a:rPr>
              <a:t>AS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267712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18 NOVEMBER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5208" y="2578608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8E5E0"/>
                </a:solidFill>
                <a:latin typeface="Liberation Sans"/>
              </a:rPr>
              <a:t>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63456" y="3630168"/>
            <a:ext cx="338328" cy="365760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30384" y="3374136"/>
            <a:ext cx="338328" cy="621792"/>
          </a:xfrm>
          <a:prstGeom prst="rect">
            <a:avLst/>
          </a:prstGeom>
          <a:solidFill>
            <a:srgbClr val="3FA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97312" y="3127248"/>
            <a:ext cx="338328" cy="868680"/>
          </a:xfrm>
          <a:prstGeom prst="rect">
            <a:avLst/>
          </a:prstGeom>
          <a:solidFill>
            <a:srgbClr val="8BD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" y="4782312"/>
            <a:ext cx="10817352" cy="1005840"/>
          </a:xfrm>
          <a:prstGeom prst="roundRect">
            <a:avLst/>
          </a:prstGeom>
          <a:solidFill>
            <a:srgbClr val="24435F"/>
          </a:solidFill>
          <a:ln w="8890">
            <a:solidFill>
              <a:srgbClr val="517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001768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D1CB"/>
                </a:solidFill>
                <a:latin typeface="Liberation Sans"/>
              </a:rPr>
              <a:t>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239512"/>
            <a:ext cx="10040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Liberation Sans"/>
              </a:rPr>
              <a:t>Reconcile the 30 September proposal with the 18 November position, preserve open approvals, and isolate the Dundee exception from ordinary account guidance.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6053328"/>
            <a:ext cx="8138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B8E5E0"/>
                </a:solidFill>
                <a:latin typeface="Liberation Sans"/>
              </a:rPr>
              <a:t>Internal factual review - not a client offer and not a commitment to delivery.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9648" y="6053328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8E5E0"/>
                </a:solidFill>
                <a:latin typeface="Liberation San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56616"/>
            <a:ext cx="91440" cy="548640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A"/>
                </a:solidFill>
                <a:latin typeface="Liberation Sans"/>
              </a:rPr>
              <a:t>1. VALUE PERIMETER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212B"/>
                </a:solidFill>
                <a:latin typeface="Liberation Sans"/>
              </a:rPr>
              <a:t>Name the commercial position before quoting a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69264"/>
            <a:ext cx="10652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16E"/>
                </a:solidFill>
                <a:latin typeface="Liberation Sans"/>
              </a:rPr>
              <a:t>The phrase 'account value' is not used as an unqualified headline in this review copy.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71016"/>
            <a:ext cx="10817352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17904"/>
            <a:ext cx="10817352" cy="713232"/>
          </a:xfrm>
          <a:prstGeom prst="roundRect">
            <a:avLst/>
          </a:prstGeom>
          <a:solidFill>
            <a:srgbClr val="EAF1F8"/>
          </a:solidFill>
          <a:ln w="8890">
            <a:solidFill>
              <a:srgbClr val="B8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737360"/>
            <a:ext cx="1609344" cy="228600"/>
          </a:xfrm>
          <a:prstGeom prst="roundRect">
            <a:avLst/>
          </a:prstGeom>
          <a:solidFill>
            <a:srgbClr val="FFF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51076"/>
            <a:ext cx="14630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A75A00"/>
                </a:solidFill>
                <a:latin typeface="Liberation Sans"/>
              </a:rPr>
              <a:t>DISPUTED 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600200"/>
            <a:ext cx="8549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12B"/>
                </a:solidFill>
                <a:latin typeface="Liberation Sans"/>
              </a:rPr>
              <a:t>Two meanings remain in circulation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1856231"/>
            <a:ext cx="8503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3616E"/>
                </a:solidFill>
                <a:latin typeface="Liberation Sans"/>
              </a:rPr>
              <a:t>Jacinta Fournier: signed commitment.  Tomas Macaulay: entire potential opportunity, including options.  Neither meaning is assumed to be agreed.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87168"/>
            <a:ext cx="3401568" cy="2057400"/>
          </a:xfrm>
          <a:prstGeom prst="roundRect">
            <a:avLst/>
          </a:prstGeom>
          <a:solidFill>
            <a:srgbClr val="EAF6E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487168"/>
            <a:ext cx="3401568" cy="64008"/>
          </a:xfrm>
          <a:prstGeom prst="rect">
            <a:avLst/>
          </a:prstGeom>
          <a:solidFill>
            <a:srgbClr val="16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70048"/>
            <a:ext cx="303580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212B"/>
                </a:solidFill>
                <a:latin typeface="Liberation Sans"/>
              </a:rPr>
              <a:t>Signed commitment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80944"/>
            <a:ext cx="3035808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7C54"/>
                </a:solidFill>
                <a:latin typeface="Liberation Sans"/>
              </a:rPr>
              <a:t>£432,000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93008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616E"/>
                </a:solidFill>
                <a:latin typeface="Liberation Sans"/>
              </a:rPr>
              <a:t>Basis: Phase 1 only - 18 signed units at £24,000 each.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05656"/>
            <a:ext cx="303580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119372"/>
            <a:ext cx="28895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67C54"/>
                </a:solidFill>
                <a:latin typeface="Liberation Sans"/>
              </a:rPr>
              <a:t>STATUS: SIGNED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8264" y="2487168"/>
            <a:ext cx="3401568" cy="2057400"/>
          </a:xfrm>
          <a:prstGeom prst="roundRect">
            <a:avLst/>
          </a:prstGeom>
          <a:solidFill>
            <a:srgbClr val="E5F4F2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98264" y="2487168"/>
            <a:ext cx="3401568" cy="6400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2670048"/>
            <a:ext cx="303580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212B"/>
                </a:solidFill>
                <a:latin typeface="Liberation Sans"/>
              </a:rPr>
              <a:t>Equipment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2980944"/>
            <a:ext cx="3035808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87F7A"/>
                </a:solidFill>
                <a:latin typeface="Liberation Sans"/>
              </a:rPr>
              <a:t>£1,440,000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493008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616E"/>
                </a:solidFill>
                <a:latin typeface="Liberation Sans"/>
              </a:rPr>
              <a:t>Basis: all 60 equipment units; 18 signed and 42 unsigned.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81144" y="4105656"/>
            <a:ext cx="303580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4119372"/>
            <a:ext cx="28895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87F7A"/>
                </a:solidFill>
                <a:latin typeface="Liberation Sans"/>
              </a:rPr>
              <a:t>STATUS: MIXED COMMITMENT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0727" y="2487168"/>
            <a:ext cx="3401568" cy="2057400"/>
          </a:xfrm>
          <a:prstGeom prst="roundRect">
            <a:avLst/>
          </a:prstGeom>
          <a:solidFill>
            <a:srgbClr val="FFF4D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0727" y="2487168"/>
            <a:ext cx="3401568" cy="64008"/>
          </a:xfrm>
          <a:prstGeom prst="rect">
            <a:avLst/>
          </a:prstGeom>
          <a:solidFill>
            <a:srgbClr val="A7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7" y="2670048"/>
            <a:ext cx="303580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212B"/>
                </a:solidFill>
                <a:latin typeface="Liberation Sans"/>
              </a:rPr>
              <a:t>Full potential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7" y="2980944"/>
            <a:ext cx="3035808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A75A00"/>
                </a:solidFill>
                <a:latin typeface="Liberation Sans"/>
              </a:rPr>
              <a:t>£2,400,000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7" y="3493008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616E"/>
                </a:solidFill>
                <a:latin typeface="Liberation Sans"/>
              </a:rPr>
              <a:t>Basis: equipment pipeline £1,440,000 + optional support £960,000.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93607" y="4105656"/>
            <a:ext cx="303580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4119372"/>
            <a:ext cx="28895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A75A00"/>
                </a:solidFill>
                <a:latin typeface="Liberation Sans"/>
              </a:rPr>
              <a:t>STATUS: POTENTIAL, NOT COMMITMENT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837176"/>
            <a:ext cx="10817352" cy="103327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6112" y="5065776"/>
            <a:ext cx="2048256" cy="228600"/>
          </a:xfrm>
          <a:prstGeom prst="roundRect">
            <a:avLst/>
          </a:prstGeom>
          <a:solidFill>
            <a:srgbClr val="E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5079492"/>
            <a:ext cx="190195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67C54"/>
                </a:solidFill>
                <a:latin typeface="Liberation Sans"/>
              </a:rPr>
              <a:t>VERIFIED FACT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82112" y="4992624"/>
            <a:ext cx="722376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12B"/>
                </a:solidFill>
                <a:latin typeface="Liberation Sans"/>
              </a:rPr>
              <a:t>Support allowance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2" y="5257800"/>
            <a:ext cx="7680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3616E"/>
                </a:solidFill>
                <a:latin typeface="Liberation Sans"/>
              </a:rPr>
              <a:t>£960,000 is optional, unaccepted and unallocated to a phase. It is excluded from signed commitment.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559552"/>
            <a:ext cx="9966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A62B35"/>
                </a:solidFill>
                <a:latin typeface="Liberation Sans"/>
              </a:rPr>
              <a:t>Control: use the named perimeter and basis shown above; do not substitute 'account value' without a qualifier.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6455664"/>
            <a:ext cx="11311128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9875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CANDLEWICK PARTNERS  |  HERONBANK CONSORTIUM  |  INTERNAL REVIEW ONLY  |  AS OF 18 NOVEMBER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82528" y="65196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56616"/>
            <a:ext cx="91440" cy="548640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A"/>
                </a:solidFill>
                <a:latin typeface="Liberation Sans"/>
              </a:rPr>
              <a:t>2. CORRECTION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212B"/>
                </a:solidFill>
                <a:latin typeface="Liberation Sans"/>
              </a:rPr>
              <a:t>30 September baseline vs 18 November review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69264"/>
            <a:ext cx="10652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16E"/>
                </a:solidFill>
                <a:latin typeface="Liberation Sans"/>
              </a:rPr>
              <a:t>The prior proposal is retained as a historical baseline; it was not signed business at that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71016"/>
            <a:ext cx="10817352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81912"/>
            <a:ext cx="5148072" cy="22311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81912"/>
            <a:ext cx="5148072" cy="40233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82496"/>
            <a:ext cx="4526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24D"/>
                </a:solidFill>
                <a:latin typeface="Liberation Sans"/>
              </a:rPr>
              <a:t>30 SEPTEMBER 2026 - PRIOR PROPOSAL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64208"/>
            <a:ext cx="1280160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77924"/>
            <a:ext cx="1133856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7324D"/>
                </a:solidFill>
                <a:latin typeface="Liberation Sans"/>
              </a:rPr>
              <a:t>HISTORICAL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194560"/>
            <a:ext cx="82296" cy="822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130552"/>
            <a:ext cx="442569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12B"/>
                </a:solidFill>
                <a:latin typeface="Liberation Sans"/>
              </a:rPr>
              <a:t>60 units at £24,000 each; equipment potential £1,440,000.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551176"/>
            <a:ext cx="82296" cy="822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487168"/>
            <a:ext cx="442569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12B"/>
                </a:solidFill>
                <a:latin typeface="Liberation Sans"/>
              </a:rPr>
              <a:t>All deployment shown in April-December 2027.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907792"/>
            <a:ext cx="82296" cy="822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2843784"/>
            <a:ext cx="442569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12B"/>
                </a:solidFill>
                <a:latin typeface="Liberation Sans"/>
              </a:rPr>
              <a:t>No signed call-off at that date.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64408"/>
            <a:ext cx="82296" cy="822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200400"/>
            <a:ext cx="442569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12B"/>
                </a:solidFill>
                <a:latin typeface="Liberation Sans"/>
              </a:rPr>
              <a:t>£960,000 optional support allowance; £2,400,000 was called 'account value'.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581912"/>
            <a:ext cx="5148072" cy="22311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581912"/>
            <a:ext cx="5148072" cy="402336"/>
          </a:xfrm>
          <a:prstGeom prst="rect">
            <a:avLst/>
          </a:prstGeom>
          <a:solidFill>
            <a:srgbClr val="E5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682496"/>
            <a:ext cx="4526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A"/>
                </a:solidFill>
                <a:latin typeface="Liberation Sans"/>
              </a:rPr>
              <a:t>18 NOVEMBER 2026 - CORRECTED REVIEW COPY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664208"/>
            <a:ext cx="1152144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31552" y="1677924"/>
            <a:ext cx="1005840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87F7A"/>
                </a:solidFill>
                <a:latin typeface="Liberation Sans"/>
              </a:rPr>
              <a:t>CURRENT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194560"/>
            <a:ext cx="82296" cy="8229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2130552"/>
            <a:ext cx="446227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17212B"/>
                </a:solidFill>
                <a:latin typeface="Liberation Sans"/>
              </a:rPr>
              <a:t>Phase 1: 18 units, Jan-Mar 2027, signed; £432,000 commitment.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551176"/>
            <a:ext cx="82296" cy="8229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2487168"/>
            <a:ext cx="446227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17212B"/>
                </a:solidFill>
                <a:latin typeface="Liberation Sans"/>
              </a:rPr>
              <a:t>Phase 2: 22 units, Apr-Sep 2027, subject to funding; £528,000 pipeline.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907792"/>
            <a:ext cx="82296" cy="8229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9984" y="2843784"/>
            <a:ext cx="446227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17212B"/>
                </a:solidFill>
                <a:latin typeface="Liberation Sans"/>
              </a:rPr>
              <a:t>Phase 3: 20 units, Oct 2027-Mar 2028, indicative; £480,000 pipeline.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264408"/>
            <a:ext cx="82296" cy="8229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4" y="3200400"/>
            <a:ext cx="446227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17212B"/>
                </a:solidFill>
                <a:latin typeface="Liberation Sans"/>
              </a:rPr>
              <a:t>Support remains optional, unaccepted and unallocated; no new client offer is issued.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1148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A"/>
                </a:solidFill>
                <a:latin typeface="Liberation Sans"/>
              </a:rPr>
              <a:t>MATERIAL CHANGES EXPLAINED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85800" y="4389120"/>
          <a:ext cx="10817352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3913632"/>
                <a:gridCol w="5056632"/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Statement changed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Corrected treatment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Why it changed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Commitment status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Phase 1 alone is signed; £432,000 is the commitment boundary.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Phase 1 was executed after 30 September.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Deployment timing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Three phases run Jan 2027 through Mar 2028.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The account was rephased; the earlier April-Dec 2027 window is superseded.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Dundee unit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One of the 18 Phase 1 units is requested for 18 Dec 2026 handover.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Pull-forward only; neither total quantity nor unit price changes.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Value terminology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Use signed commitment, equipment pipeline, or full potential.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17212B"/>
                          </a:solidFill>
                          <a:latin typeface="Liberation Sans"/>
                        </a:rPr>
                        <a:t>The prior £2.40m label blended equipment potential and an unaccepted option.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438912" y="6455664"/>
            <a:ext cx="11311128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9875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CANDLEWICK PARTNERS  |  HERONBANK CONSORTIUM  |  INTERNAL REVIEW ONLY  |  AS OF 18 NOVEMBER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82528" y="65196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56616"/>
            <a:ext cx="91440" cy="548640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A"/>
                </a:solidFill>
                <a:latin typeface="Liberation Sans"/>
              </a:rPr>
              <a:t>3. CURRENT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212B"/>
                </a:solidFill>
                <a:latin typeface="Liberation Sans"/>
              </a:rPr>
              <a:t>Phased equipment position and commitment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69264"/>
            <a:ext cx="10652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16E"/>
                </a:solidFill>
                <a:latin typeface="Liberation Sans"/>
              </a:rPr>
              <a:t>All values are calculated at £24,000 per unit. Status labels describe the commercial position, not a delivery authorization.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71016"/>
            <a:ext cx="10817352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36776"/>
          <a:ext cx="10817352" cy="18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847088"/>
                <a:gridCol w="1783080"/>
                <a:gridCol w="731520"/>
                <a:gridCol w="1389888"/>
                <a:gridCol w="3557016"/>
              </a:tblGrid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Phase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Deployment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Units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Value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Scope note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7212B"/>
                          </a:solidFill>
                          <a:latin typeface="Liberation Sans"/>
                        </a:rPr>
                        <a:t>Phase 1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167C54"/>
                          </a:solidFill>
                          <a:latin typeface="Liberation Sans"/>
                        </a:rPr>
                        <a:t>SIGNED</a:t>
                      </a:r>
                    </a:p>
                  </a:txBody>
                  <a:tcPr marL="73152" marR="54864" marT="45720" marB="36576" anchor="ctr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12B"/>
                          </a:solidFill>
                          <a:latin typeface="Liberation Sans"/>
                        </a:rPr>
                        <a:t>Jan-Mar 2027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7212B"/>
                          </a:solidFill>
                          <a:latin typeface="Liberation Sans"/>
                        </a:rPr>
                        <a:t>18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7212B"/>
                          </a:solidFill>
                          <a:latin typeface="Liberation Sans"/>
                        </a:rPr>
                        <a:t>£432,000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12B"/>
                          </a:solidFill>
                          <a:latin typeface="Liberation Sans"/>
                        </a:rPr>
                        <a:t>Includes 1 Dundee pull-forward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7212B"/>
                          </a:solidFill>
                          <a:latin typeface="Liberation Sans"/>
                        </a:rPr>
                        <a:t>Phase 2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A75A00"/>
                          </a:solidFill>
                          <a:latin typeface="Liberation Sans"/>
                        </a:rPr>
                        <a:t>SUBJECT TO FUNDING</a:t>
                      </a:r>
                    </a:p>
                  </a:txBody>
                  <a:tcPr marL="73152" marR="54864" marT="45720" marB="36576" anchor="ctr">
                    <a:solidFill>
                      <a:srgbClr val="FFF4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12B"/>
                          </a:solidFill>
                          <a:latin typeface="Liberation Sans"/>
                        </a:rPr>
                        <a:t>Apr-Sep 2027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7212B"/>
                          </a:solidFill>
                          <a:latin typeface="Liberation Sans"/>
                        </a:rPr>
                        <a:t>22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7212B"/>
                          </a:solidFill>
                          <a:latin typeface="Liberation Sans"/>
                        </a:rPr>
                        <a:t>£528,000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12B"/>
                          </a:solidFill>
                          <a:latin typeface="Liberation Sans"/>
                        </a:rPr>
                        <a:t>Not signed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7212B"/>
                          </a:solidFill>
                          <a:latin typeface="Liberation Sans"/>
                        </a:rPr>
                        <a:t>Phase 3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A75A00"/>
                          </a:solidFill>
                          <a:latin typeface="Liberation Sans"/>
                        </a:rPr>
                        <a:t>INDICATIVE</a:t>
                      </a:r>
                    </a:p>
                  </a:txBody>
                  <a:tcPr marL="73152" marR="54864" marT="45720" marB="36576" anchor="ctr">
                    <a:solidFill>
                      <a:srgbClr val="FFF4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12B"/>
                          </a:solidFill>
                          <a:latin typeface="Liberation Sans"/>
                        </a:rPr>
                        <a:t>Oct 2027-Mar 2028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7212B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7212B"/>
                          </a:solidFill>
                          <a:latin typeface="Liberation Sans"/>
                        </a:rPr>
                        <a:t>£480,000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12B"/>
                          </a:solidFill>
                          <a:latin typeface="Liberation Sans"/>
                        </a:rPr>
                        <a:t>Not signed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Equipment pipeline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Liberation Sans"/>
                        </a:rPr>
                        <a:t>MIXED STATUS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Jan 2027-Mar 2028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60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£1,440,000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All equipment; not all signed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251960"/>
            <a:ext cx="5148072" cy="1335024"/>
          </a:xfrm>
          <a:prstGeom prst="roundRect">
            <a:avLst/>
          </a:prstGeom>
          <a:solidFill>
            <a:srgbClr val="EAF6EF"/>
          </a:solidFill>
          <a:ln w="8890">
            <a:solidFill>
              <a:srgbClr val="B7D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4471416"/>
            <a:ext cx="157276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4485132"/>
            <a:ext cx="142646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167C54"/>
                </a:solidFill>
                <a:latin typeface="Liberation Sans"/>
              </a:rPr>
              <a:t>VERIFIED 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800600"/>
            <a:ext cx="4526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7C54"/>
                </a:solidFill>
                <a:latin typeface="Liberation Sans"/>
              </a:rPr>
              <a:t>Commitment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111496"/>
            <a:ext cx="46177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12B"/>
                </a:solidFill>
                <a:latin typeface="Liberation Sans"/>
              </a:rPr>
              <a:t>Only Phase 1 is signed: 18 units x £24,000 = £432,000. Later phases are excluded from signed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251960"/>
            <a:ext cx="5148072" cy="1335024"/>
          </a:xfrm>
          <a:prstGeom prst="roundRect">
            <a:avLst/>
          </a:prstGeom>
          <a:solidFill>
            <a:srgbClr val="FFF4DF"/>
          </a:solidFill>
          <a:ln w="8890">
            <a:solidFill>
              <a:srgbClr val="F0D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65392" y="4471416"/>
            <a:ext cx="160934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4485132"/>
            <a:ext cx="14630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A75A00"/>
                </a:solidFill>
                <a:latin typeface="Liberation Sans"/>
              </a:rPr>
              <a:t>EXCEPTION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800600"/>
            <a:ext cx="4498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5A00"/>
                </a:solidFill>
                <a:latin typeface="Liberation Sans"/>
              </a:rPr>
              <a:t>Dundee remains within 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111496"/>
            <a:ext cx="46177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212B"/>
                </a:solidFill>
                <a:latin typeface="Liberation Sans"/>
              </a:rPr>
              <a:t>1 Dundee pull-forward + 17 other Phase 1 units = 18 Phase 1 units. No 19th unit and no 61st unit are created.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815584"/>
            <a:ext cx="10652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1">
                <a:solidFill>
                  <a:srgbClr val="53616E"/>
                </a:solidFill>
                <a:latin typeface="Liberation Sans"/>
              </a:rPr>
              <a:t>Optional support allowance: £960,000 - optional, unaccepted and unallocated to a phase; excluded from the equipment pipeline and signed commitment.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455664"/>
            <a:ext cx="11311128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9875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CANDLEWICK PARTNERS  |  HERONBANK CONSORTIUM  |  INTERNAL REVIEW ONLY  |  AS OF 18 NOVEMBER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5196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56616"/>
            <a:ext cx="91440" cy="548640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A"/>
                </a:solidFill>
                <a:latin typeface="Liberation Sans"/>
              </a:rPr>
              <a:t>4. EVIDENCE AND OWNERS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212B"/>
                </a:solidFill>
                <a:latin typeface="Liberation Sans"/>
              </a:rPr>
              <a:t>Facts, disputed assumptions and unresolved confirmations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69264"/>
            <a:ext cx="10652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16E"/>
                </a:solidFill>
                <a:latin typeface="Liberation Sans"/>
              </a:rPr>
              <a:t>Labels are textual as well as color-coded so the evidence state remains visible in print and accessible review copies.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71016"/>
            <a:ext cx="10817352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9344"/>
            <a:ext cx="3429000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9344"/>
            <a:ext cx="64008" cy="1399032"/>
          </a:xfrm>
          <a:prstGeom prst="rect">
            <a:avLst/>
          </a:prstGeom>
          <a:solidFill>
            <a:srgbClr val="16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1755648"/>
            <a:ext cx="1298448" cy="228600"/>
          </a:xfrm>
          <a:prstGeom prst="roundRect">
            <a:avLst/>
          </a:prstGeom>
          <a:solidFill>
            <a:srgbClr val="E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769364"/>
            <a:ext cx="115214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67C54"/>
                </a:solidFill>
                <a:latin typeface="Liberation Sans"/>
              </a:rPr>
              <a:t>VERIFIED 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939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212B"/>
                </a:solidFill>
                <a:latin typeface="Liberation Sans"/>
              </a:rPr>
              <a:t>Commercial and schedule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432304"/>
            <a:ext cx="3099816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616E"/>
                </a:solidFill>
                <a:latin typeface="Liberation Sans"/>
              </a:rPr>
              <a:t>Phase 1 signed; quantities 18 / 22 / 20; £24,000 unit price; stated periods; Dundee and requested 18 Dec 2026 handover; England &amp; Wales wording exists; Scotland addendum is unsigned; no written instruction or amended PO received.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609344"/>
            <a:ext cx="3429000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1609344"/>
            <a:ext cx="64008" cy="1399032"/>
          </a:xfrm>
          <a:prstGeom prst="rect">
            <a:avLst/>
          </a:prstGeom>
          <a:solidFill>
            <a:srgbClr val="A7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44568" y="1755648"/>
            <a:ext cx="1298448" cy="228600"/>
          </a:xfrm>
          <a:prstGeom prst="roundRect">
            <a:avLst/>
          </a:prstGeom>
          <a:solidFill>
            <a:srgbClr val="FFF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69364"/>
            <a:ext cx="115214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A75A00"/>
                </a:solidFill>
                <a:latin typeface="Liberation Sans"/>
              </a:rPr>
              <a:t>DISPUTED ASSUMPTION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0939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212B"/>
                </a:solidFill>
                <a:latin typeface="Liberation Sans"/>
              </a:rPr>
              <a:t>Meaning of 'account value'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432304"/>
            <a:ext cx="3099816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616E"/>
                </a:solidFill>
                <a:latin typeface="Liberation Sans"/>
              </a:rPr>
              <a:t>Jacinta Fournier uses it for signed commitment; Tomas Macaulay uses it for the entire potential opportunity including options. The optional support allowance is unaccepted and its inclusion in a headline opportunity value is not agreed.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1609344"/>
            <a:ext cx="3429000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4152" y="1609344"/>
            <a:ext cx="64008" cy="1399032"/>
          </a:xfrm>
          <a:prstGeom prst="rect">
            <a:avLst/>
          </a:prstGeom>
          <a:solidFill>
            <a:srgbClr val="A6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38744" y="1755648"/>
            <a:ext cx="1298448" cy="228600"/>
          </a:xfrm>
          <a:prstGeom prst="roundRect">
            <a:avLst/>
          </a:prstGeom>
          <a:solidFill>
            <a:srgbClr val="F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769364"/>
            <a:ext cx="115214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A62B35"/>
                </a:solidFill>
                <a:latin typeface="Liberation Sans"/>
              </a:rPr>
              <a:t>UNRESOLVED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20939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212B"/>
                </a:solidFill>
                <a:latin typeface="Liberation Sans"/>
              </a:rPr>
              <a:t>Matters not yet evidenced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2432304"/>
            <a:ext cx="3099816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616E"/>
                </a:solidFill>
                <a:latin typeface="Liberation Sans"/>
              </a:rPr>
              <a:t>Scottish applicability, authorized written instruction, amended purchase order, delivery feasibility, finance reconciliation, and any evidence that a downstream charge could pass to Candlewick remain open.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46704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A"/>
                </a:solidFill>
                <a:latin typeface="Liberation Sans"/>
              </a:rPr>
              <a:t>OPEN CONFIRMATIONS AND CLOSURE EVIDENCE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85800" y="3611880"/>
          <a:ext cx="10817352" cy="2311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168"/>
                <a:gridCol w="2788920"/>
                <a:gridCol w="5541264"/>
              </a:tblGrid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Unresolved matter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Decision owner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Evidence or confirmation needed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Authorized written instruction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Contracting authority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Authorized written instruction received from Heronbank.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Scottish applicability to Dundee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Legal counsel - Naledi Jankowski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Confirmation whether the England &amp; Wales provision applies to the Scottish site.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Amended purchase order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Contracting authority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Amended purchase order received.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Finance reconciliation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Finance - Tomas Macaulay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Completed value reconciliation; normal completion cannot occur until Monday.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Delivery feasibility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Delivery leadership - Ludmila Wickramasinghe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Delivery validation; only 90 minutes are available tomorrow.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Potential £250,000 charge pass-through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Legal / contracting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17212B"/>
                          </a:solidFill>
                          <a:latin typeface="Liberation Sans"/>
                        </a:rPr>
                        <a:t>Contractual evidence establishing whether any charge could pass to Candlewick.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438912" y="6455664"/>
            <a:ext cx="11311128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9875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CANDLEWICK PARTNERS  |  HERONBANK CONSORTIUM  |  INTERNAL REVIEW ONLY  |  AS OF 18 NOVEMBER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5196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56616"/>
            <a:ext cx="91440" cy="548640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A"/>
                </a:solidFill>
                <a:latin typeface="Liberation Sans"/>
              </a:rPr>
              <a:t>5. DUNDEE EXCEPTION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212B"/>
                </a:solidFill>
                <a:latin typeface="Liberation Sans"/>
              </a:rPr>
              <a:t>Dundee exception isolated from ordinary account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69264"/>
            <a:ext cx="10652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16E"/>
                </a:solidFill>
                <a:latin typeface="Liberation Sans"/>
              </a:rPr>
              <a:t>This page describes a bounded factual exception. It is not a general ordering route or a delivery direction.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71016"/>
            <a:ext cx="10817352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45336"/>
            <a:ext cx="10817352" cy="457200"/>
          </a:xfrm>
          <a:prstGeom prst="roundRect">
            <a:avLst/>
          </a:prstGeom>
          <a:solidFill>
            <a:srgbClr val="A6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31546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DUNDEE EXCEPTION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73352"/>
            <a:ext cx="70866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Liberation Sans"/>
              </a:rPr>
              <a:t>Does not change quantity or price; does not replace normal approval for any phase; does not create a standing precedent.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58568"/>
            <a:ext cx="3255264" cy="3337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468880"/>
            <a:ext cx="1581912" cy="228600"/>
          </a:xfrm>
          <a:prstGeom prst="roundRect">
            <a:avLst/>
          </a:prstGeom>
          <a:solidFill>
            <a:srgbClr val="E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482596"/>
            <a:ext cx="143560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167C54"/>
                </a:solidFill>
                <a:latin typeface="Liberation Sans"/>
              </a:rPr>
              <a:t>VERIFIED 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816352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12B"/>
                </a:solidFill>
                <a:latin typeface="Liberation Sans"/>
              </a:rPr>
              <a:t>What changed at Dundee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273552"/>
            <a:ext cx="82296" cy="82296"/>
          </a:xfrm>
          <a:prstGeom prst="rect">
            <a:avLst/>
          </a:prstGeom>
          <a:solidFill>
            <a:srgbClr val="16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209544"/>
            <a:ext cx="2688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7212B"/>
                </a:solidFill>
                <a:latin typeface="Liberation Sans"/>
              </a:rPr>
              <a:t>One existing Phase 1 unit is wanted at the Dundee site for 18 Dec 2026 handover.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03904"/>
            <a:ext cx="82296" cy="82296"/>
          </a:xfrm>
          <a:prstGeom prst="rect">
            <a:avLst/>
          </a:prstGeom>
          <a:solidFill>
            <a:srgbClr val="16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739896"/>
            <a:ext cx="2688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7212B"/>
                </a:solidFill>
                <a:latin typeface="Liberation Sans"/>
              </a:rPr>
              <a:t>It is a pull-forward from the 18-unit Phase 1 quantity, not an additional unit.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4334256"/>
            <a:ext cx="82296" cy="82296"/>
          </a:xfrm>
          <a:prstGeom prst="rect">
            <a:avLst/>
          </a:prstGeom>
          <a:solidFill>
            <a:srgbClr val="16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4270248"/>
            <a:ext cx="268833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7212B"/>
                </a:solidFill>
                <a:latin typeface="Liberation Sans"/>
              </a:rPr>
              <a:t>The other 17 Phase 1 units remain within the Jan-Mar 2027 phase schedule.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2258568"/>
            <a:ext cx="3255264" cy="3337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35424" y="2468880"/>
            <a:ext cx="1481328" cy="228600"/>
          </a:xfrm>
          <a:prstGeom prst="roundRect">
            <a:avLst/>
          </a:prstGeom>
          <a:solidFill>
            <a:srgbClr val="F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2482596"/>
            <a:ext cx="133502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A62B35"/>
                </a:solidFill>
                <a:latin typeface="Liberation Sans"/>
              </a:rPr>
              <a:t>UNRESOLVED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2816352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12B"/>
                </a:solidFill>
                <a:latin typeface="Liberation Sans"/>
              </a:rPr>
              <a:t>Contract position - not a legal conclusion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3273552"/>
            <a:ext cx="82296" cy="82296"/>
          </a:xfrm>
          <a:prstGeom prst="rect">
            <a:avLst/>
          </a:prstGeom>
          <a:solidFill>
            <a:srgbClr val="A6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209544"/>
            <a:ext cx="268833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 i="0">
                <a:solidFill>
                  <a:srgbClr val="17212B"/>
                </a:solidFill>
                <a:latin typeface="Liberation Sans"/>
              </a:rPr>
              <a:t>England &amp; Wales master schedule: wording permits accelerated shipment on authorized written instruction while an amended PO is pending.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3712464"/>
            <a:ext cx="82296" cy="82296"/>
          </a:xfrm>
          <a:prstGeom prst="rect">
            <a:avLst/>
          </a:prstGeom>
          <a:solidFill>
            <a:srgbClr val="A6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3648456"/>
            <a:ext cx="268833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 i="0">
                <a:solidFill>
                  <a:srgbClr val="17212B"/>
                </a:solidFill>
                <a:latin typeface="Liberation Sans"/>
              </a:rPr>
              <a:t>The provision does not change quantity or price.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5424" y="4151376"/>
            <a:ext cx="82296" cy="82296"/>
          </a:xfrm>
          <a:prstGeom prst="rect">
            <a:avLst/>
          </a:prstGeom>
          <a:solidFill>
            <a:srgbClr val="A6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087368"/>
            <a:ext cx="268833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 i="0">
                <a:solidFill>
                  <a:srgbClr val="17212B"/>
                </a:solidFill>
                <a:latin typeface="Liberation Sans"/>
              </a:rPr>
              <a:t>Dundee is in Scotland; the Scotland addendum is unsigned and Naledi Jankowski has not confirmed applicability there.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5424" y="4590288"/>
            <a:ext cx="82296" cy="82296"/>
          </a:xfrm>
          <a:prstGeom prst="rect">
            <a:avLst/>
          </a:prstGeom>
          <a:solidFill>
            <a:srgbClr val="A6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4526280"/>
            <a:ext cx="268833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 i="0">
                <a:solidFill>
                  <a:srgbClr val="17212B"/>
                </a:solidFill>
                <a:latin typeface="Liberation Sans"/>
              </a:rPr>
              <a:t>Contracting or legal confirmation is needed before the provision is relied upon.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2258568"/>
            <a:ext cx="3529584" cy="3337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83879" y="2468880"/>
            <a:ext cx="1481328" cy="228600"/>
          </a:xfrm>
          <a:prstGeom prst="roundRect">
            <a:avLst/>
          </a:prstGeom>
          <a:solidFill>
            <a:srgbClr val="F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482596"/>
            <a:ext cx="1335024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A62B35"/>
                </a:solidFill>
                <a:latin typeface="Liberation Sans"/>
              </a:rPr>
              <a:t>UNRESOLVED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2816352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12B"/>
                </a:solidFill>
                <a:latin typeface="Liberation Sans"/>
              </a:rPr>
              <a:t>Evidence gap and release controls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3172968"/>
            <a:ext cx="3090672" cy="621792"/>
          </a:xfrm>
          <a:prstGeom prst="roundRect">
            <a:avLst/>
          </a:prstGeom>
          <a:solidFill>
            <a:srgbClr val="FCECEE"/>
          </a:solidFill>
          <a:ln w="8890">
            <a:solidFill>
              <a:srgbClr val="E9B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3337560"/>
            <a:ext cx="276148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2B35"/>
                </a:solidFill>
                <a:latin typeface="Liberation Sans"/>
              </a:rPr>
              <a:t>Neither authorized written instruction nor amended purchase order has been received.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4005072"/>
            <a:ext cx="301752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75A00"/>
                </a:solidFill>
                <a:latin typeface="Liberation Sans"/>
              </a:rPr>
              <a:t>Customer-reported downstream exposure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4279392"/>
            <a:ext cx="3063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3616E"/>
                </a:solidFill>
                <a:latin typeface="Liberation Sans"/>
              </a:rPr>
              <a:t>Heronbank flagged a possible £250,000 site-delay charge if the handover is missed. No evidence establishes pass-through to Candlewick.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486460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87F7A"/>
                </a:solidFill>
                <a:latin typeface="Liberation Sans"/>
              </a:rPr>
              <a:t>Before acceleration is executable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512064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1" i="0">
                <a:solidFill>
                  <a:srgbClr val="17212B"/>
                </a:solidFill>
                <a:latin typeface="Liberation Sans"/>
              </a:rPr>
              <a:t>Candlewick requires: authorized written instruction + contractual applicability confirmation + delivery feasibility.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5806440"/>
            <a:ext cx="101498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324D"/>
                </a:solidFill>
                <a:latin typeface="Liberation Sans"/>
              </a:rPr>
              <a:t>Boundary: urgency alone is not authorization. The Dundee exception leaves ordinary phase governance and cross-functional approval unchanged.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" y="6455664"/>
            <a:ext cx="11311128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9875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CANDLEWICK PARTNERS  |  HERONBANK CONSORTIUM  |  INTERNAL REVIEW ONLY  |  AS OF 18 NOVEMBER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82528" y="65196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56616"/>
            <a:ext cx="91440" cy="548640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87F7A"/>
                </a:solidFill>
                <a:latin typeface="Liberation Sans"/>
              </a:rPr>
              <a:t>6. REVIEW-ONLY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212B"/>
                </a:solidFill>
                <a:latin typeface="Liberation Sans"/>
              </a:rPr>
              <a:t>Correction record, incomplete approvals and review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69264"/>
            <a:ext cx="10652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16E"/>
                </a:solidFill>
                <a:latin typeface="Liberation Sans"/>
              </a:rPr>
              <a:t>This provisional copy enables review of the corrected facts without implying approval by silence, elapsed time or meeting attendance.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71016"/>
            <a:ext cx="10817352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63624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7F7A"/>
                </a:solidFill>
                <a:latin typeface="Liberation Sans"/>
              </a:rPr>
              <a:t>CORRECTION RECORD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819656"/>
          <a:ext cx="6739128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2926080"/>
                <a:gridCol w="2112264"/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Prior statement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Corrected treatment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Liberation Sans"/>
                        </a:rPr>
                        <a:t>Reason</a:t>
                      </a:r>
                    </a:p>
                  </a:txBody>
                  <a:tcPr marL="73152" marR="54864" marT="45720" marB="36576" anchor="ctr">
                    <a:solidFill>
                      <a:srgbClr val="1732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£2.40m called 'account value'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Use named perimeters: £432k signed commitment; £1.44m equipment pipeline; £2.40m full potential.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Prior label combined equipment potential with optional support.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60 units Apr-Dec 2027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18 signed Jan-Mar 2027; 22 subject to funding Apr-Sep 2027; 20 indicative Oct 2027-Mar 2028.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Phase 1 was signed and deployment was rephased.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No signed call-off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Phase 1 only is signed: 18 units and £432,000.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Commitment status changed after 30 September.</a:t>
                      </a:r>
                    </a:p>
                  </a:txBody>
                  <a:tcPr marL="73152" marR="54864" marT="45720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No exception treatment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Dundee is isolated as one Phase 1 pull-forward with evidence gates.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5" b="0">
                          <a:solidFill>
                            <a:srgbClr val="17212B"/>
                          </a:solidFill>
                          <a:latin typeface="Liberation Sans"/>
                        </a:rPr>
                        <a:t>Urgent request, missing documents, and unconfirmed Scottish applicability.</a:t>
                      </a:r>
                    </a:p>
                  </a:txBody>
                  <a:tcPr marL="73152" marR="54864" marT="45720" marB="36576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1563624"/>
            <a:ext cx="3730752" cy="3566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0144" y="1792224"/>
            <a:ext cx="1810512" cy="22860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1805940"/>
            <a:ext cx="166420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7324D"/>
                </a:solidFill>
                <a:latin typeface="Liberation Sans"/>
              </a:rPr>
              <a:t>REVIEW-ONLY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0144" y="2139696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12B"/>
                </a:solidFill>
                <a:latin typeface="Liberation Sans"/>
              </a:rPr>
              <a:t>Approval handling remains explicit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0144" y="2606040"/>
            <a:ext cx="82296" cy="822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2542032"/>
            <a:ext cx="3008376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7212B"/>
                </a:solidFill>
                <a:latin typeface="Liberation Sans"/>
              </a:rPr>
              <a:t>Prepared for executive, legal and contracting review before Joaquin Pichler's Friday, 20 Nov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3054096"/>
            <a:ext cx="82296" cy="822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990088"/>
            <a:ext cx="3008376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7212B"/>
                </a:solidFill>
                <a:latin typeface="Liberation Sans"/>
              </a:rPr>
              <a:t>Finance reconciliation: Tomas Macaulay cannot complete the normal reconciliation until Monday.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3502152"/>
            <a:ext cx="82296" cy="822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3438144"/>
            <a:ext cx="3008376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7212B"/>
                </a:solidFill>
                <a:latin typeface="Liberation Sans"/>
              </a:rPr>
              <a:t>Delivery validation: Ludmila Wickramasinghe has a 90-minute window tomorrow.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3950208"/>
            <a:ext cx="82296" cy="822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3886200"/>
            <a:ext cx="3008376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7212B"/>
                </a:solidFill>
                <a:latin typeface="Liberation Sans"/>
              </a:rPr>
              <a:t>Legal / contracting: Scottish applicability and missing instruction / amended PO remain open.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4398264"/>
            <a:ext cx="82296" cy="822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4334256"/>
            <a:ext cx="3008376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7212B"/>
                </a:solidFill>
                <a:latin typeface="Liberation Sans"/>
              </a:rPr>
              <a:t>No client-issued offer, approval, or commitment to delivery is created by this review copy.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40680"/>
            <a:ext cx="10817352" cy="621792"/>
          </a:xfrm>
          <a:prstGeom prst="roundRect">
            <a:avLst/>
          </a:prstGeom>
          <a:solidFill>
            <a:srgbClr val="2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41848"/>
            <a:ext cx="10287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Liberation Sans"/>
              </a:rPr>
              <a:t>Review scope: reconcile commercial perimeters, record the Dundee evidence gaps, and preserve pending finance, legal and delivery confirmation. No go/no-go recommendation is made in this document.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6455664"/>
            <a:ext cx="11311128" cy="7315"/>
          </a:xfrm>
          <a:prstGeom prst="rect">
            <a:avLst/>
          </a:prstGeom>
          <a:solidFill>
            <a:srgbClr val="CB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9875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CANDLEWICK PARTNERS  |  HERONBANK CONSORTIUM  |  INTERNAL REVIEW ONLY  |  AS OF 18 NOVEMBER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5196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3616E"/>
                </a:solidFill>
                <a:latin typeface="Liberation San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Heronbank corrected executive sales proposal</dc:title>
  <dc:subject>Internal executive, legal and contracting review copy</dc:subject>
  <dc:creator>Candlewick Partners</dc:creator>
  <cp:keywords>Heronbank, internal review, corrected proposal, legal, contracting</cp:keywords>
  <dc:description>Editable internal review presentation.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