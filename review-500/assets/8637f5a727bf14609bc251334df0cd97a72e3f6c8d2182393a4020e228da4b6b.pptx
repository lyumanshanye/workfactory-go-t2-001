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76D70"/>
                </a:solidFill>
                <a:latin typeface="Aptos"/>
              </a:rPr>
              <a:t>DECISION MEMORANDUM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32B3A"/>
                </a:solidFill>
                <a:latin typeface="Aptos Display"/>
              </a:rPr>
              <a:t>Yewbank financing decision memorandum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996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86975"/>
                </a:solidFill>
                <a:latin typeface="Aptos"/>
              </a:rPr>
              <a:t>For Yewbank School District's senior decision maker | Friday approval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993392"/>
            <a:ext cx="11018520" cy="7589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61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1B2A34"/>
                </a:solidFill>
                <a:latin typeface="Aptos"/>
              </a:rPr>
              <a:t>Decision: accept Duncastle Holdings' proposed financing arrangement or retain the Current Provider.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08152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B2A34"/>
                </a:solidFill>
                <a:latin typeface="Aptos"/>
              </a:rPr>
              <a:t>The record creates a real trade-off: lower five-year financing cost versus equivalent termination protection, with Scotland still unresolved.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675887"/>
            <a:ext cx="3127248" cy="1170432"/>
          </a:xfrm>
          <a:prstGeom prst="rect">
            <a:avLst/>
          </a:prstGeom>
          <a:solidFill>
            <a:srgbClr val="E7F4F2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86791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176D70"/>
                </a:solidFill>
                <a:latin typeface="Aptos Display"/>
              </a:rPr>
              <a:t>£120,000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B2A34"/>
                </a:solidFill>
                <a:latin typeface="Aptos"/>
              </a:rPr>
              <a:t>lower five-year baseline cash cost under Duncastle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3675887"/>
            <a:ext cx="3127248" cy="1170432"/>
          </a:xfrm>
          <a:prstGeom prst="rect">
            <a:avLst/>
          </a:prstGeom>
          <a:solidFill>
            <a:srgbClr val="FBE9E8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386791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B44945"/>
                </a:solidFill>
                <a:latin typeface="Aptos Display"/>
              </a:rPr>
              <a:t>£192,000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B2A34"/>
                </a:solidFill>
                <a:latin typeface="Aptos"/>
              </a:rPr>
              <a:t>higher Duncastle cash cost in the documented year-three early-exit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3675887"/>
            <a:ext cx="3127248" cy="1170432"/>
          </a:xfrm>
          <a:prstGeom prst="rect">
            <a:avLst/>
          </a:prstGeom>
          <a:solidFill>
            <a:srgbClr val="FFF4D8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386791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D99A27"/>
                </a:solidFill>
                <a:latin typeface="Aptos Display"/>
              </a:rPr>
              <a:t>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B2A34"/>
                </a:solidFill>
                <a:latin typeface="Aptos"/>
              </a:rPr>
              <a:t>Scotland review and jurisdictional mapping remain incomplete by Friday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5230368"/>
            <a:ext cx="11018520" cy="612648"/>
          </a:xfrm>
          <a:prstGeom prst="rect">
            <a:avLst/>
          </a:prstGeom>
          <a:solidFill>
            <a:srgbClr val="132B3A"/>
          </a:solidFill>
          <a:ln>
            <a:solidFill>
              <a:srgbClr val="13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Aptos"/>
              </a:rPr>
              <a:t>Decision boundary: written terms, informal stakeholder views, and unresolved review findings are not interchangeable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00760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1">
                <a:solidFill>
                  <a:srgbClr val="586975"/>
                </a:solidFill>
                <a:latin typeface="Aptos"/>
              </a:rPr>
              <a:t>This memorandum presents facts and implications; decision authority remains with Yewbank.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6473952"/>
            <a:ext cx="11109960" cy="13716"/>
          </a:xfrm>
          <a:prstGeom prst="rect">
            <a:avLst/>
          </a:prstGeom>
          <a:solidFill>
            <a:srgbClr val="CBD7DE"/>
          </a:solidFill>
          <a:ln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28816"/>
            <a:ext cx="10287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Sources: Evidence pack A-F | Written terms, stakeholder communications, review notes and operational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0312"/>
            <a:ext cx="11064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76D70"/>
                </a:solidFill>
                <a:latin typeface="Aptos"/>
              </a:rPr>
              <a:t>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11480"/>
            <a:ext cx="11109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132B3A"/>
                </a:solidFill>
                <a:latin typeface="Aptos Display"/>
              </a:rPr>
              <a:t>Commercial terms and evidence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86975"/>
                </a:solidFill>
                <a:latin typeface="Aptos"/>
              </a:rPr>
              <a:t>The written alternatives are distinct; the possible waiver remains an informal, unconfirmed 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5440680" cy="4553712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499616"/>
            <a:ext cx="1993392" cy="228600"/>
          </a:xfrm>
          <a:prstGeom prst="rect">
            <a:avLst/>
          </a:prstGeom>
          <a:solidFill>
            <a:srgbClr val="D99A27"/>
          </a:solidFill>
          <a:ln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31619"/>
            <a:ext cx="18470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32B3A"/>
                </a:solidFill>
                <a:latin typeface="Aptos"/>
              </a:rPr>
              <a:t>DOCUMENTED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65376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B3A"/>
                </a:solidFill>
                <a:latin typeface="Aptos Display"/>
              </a:rPr>
              <a:t>Duncastle Holdings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85416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586975"/>
                </a:solidFill>
                <a:latin typeface="Aptos"/>
              </a:rPr>
              <a:t>Indicative Financing Term Sheet v1.3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B4F52"/>
                </a:solidFill>
                <a:latin typeface="Aptos"/>
              </a:rPr>
              <a:t>£8,000,000 | 5 years | interest-only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4800600" cy="1591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Fixed annual rate: 4.80%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Upfront arrangement fee: 0.75% (£60,000)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Year-three exit: 3.00% of outstanding principal (£240,000)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No signed provider-failure exception in written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956048"/>
            <a:ext cx="5074920" cy="649224"/>
          </a:xfrm>
          <a:prstGeom prst="rect">
            <a:avLst/>
          </a:prstGeom>
          <a:solidFill>
            <a:srgbClr val="FFF4D8"/>
          </a:solidFill>
          <a:ln w="5080">
            <a:solidFill>
              <a:srgbClr val="E4C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5102352"/>
            <a:ext cx="4727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6D4A00"/>
                </a:solidFill>
                <a:latin typeface="Aptos"/>
              </a:rPr>
              <a:t>Status: proposed terms only; subject to final documentation, approvals and execution. Not an unconditional commitment.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07592"/>
            <a:ext cx="5440680" cy="4553712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99616"/>
            <a:ext cx="2542032" cy="22860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31619"/>
            <a:ext cx="239572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DOCUMENTED EXISTING ARRANGEMENT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65376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B3A"/>
                </a:solidFill>
                <a:latin typeface="Aptos Display"/>
              </a:rPr>
              <a:t>Current 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85416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586975"/>
                </a:solidFill>
                <a:latin typeface="Aptos"/>
              </a:rPr>
              <a:t>Existing Arrangement 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B4F52"/>
                </a:solidFill>
                <a:latin typeface="Aptos"/>
              </a:rPr>
              <a:t>£8,000,000 | same 5-year interest-only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17520"/>
            <a:ext cx="4800600" cy="1591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Fixed annual rate: 5.25%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Upfront arrangement fee: none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Termination: 90 days' written notice; no early-termination charge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30">
                <a:solidFill>
                  <a:srgbClr val="1B2A34"/>
                </a:solidFill>
                <a:latin typeface="Aptos"/>
              </a:rPr>
              <a:t>- Existing arrangement can remain in place through Friday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956048"/>
            <a:ext cx="5074920" cy="649224"/>
          </a:xfrm>
          <a:prstGeom prst="rect">
            <a:avLst/>
          </a:prstGeom>
          <a:solidFill>
            <a:srgbClr val="E7F4F2"/>
          </a:solidFill>
          <a:ln w="5080">
            <a:solidFill>
              <a:srgbClr val="9B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5102352"/>
            <a:ext cx="4727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4F52"/>
                </a:solidFill>
                <a:latin typeface="Aptos"/>
              </a:rPr>
              <a:t>Status: written existing arrangement. These are the available incumbent terms, not an informal preference.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870448"/>
            <a:ext cx="11128248" cy="493776"/>
          </a:xfrm>
          <a:prstGeom prst="rect">
            <a:avLst/>
          </a:prstGeom>
          <a:solidFill>
            <a:srgbClr val="FFF8E5"/>
          </a:solidFill>
          <a:ln w="5080">
            <a:solidFill>
              <a:srgbClr val="E4C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96188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6D4A00"/>
                </a:solidFill>
                <a:latin typeface="Aptos"/>
              </a:rPr>
              <a:t>INFORMAL / UNCONFIRMED | Milena: Duncastle may waive the fee after internal approval.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6D4A00"/>
                </a:solidFill>
                <a:latin typeface="Aptos"/>
              </a:rPr>
              <a:t>No written amendment or approved exception; excluded from the quantified base case.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473952"/>
            <a:ext cx="11109960" cy="13716"/>
          </a:xfrm>
          <a:prstGeom prst="rect">
            <a:avLst/>
          </a:prstGeom>
          <a:solidFill>
            <a:srgbClr val="CBD7DE"/>
          </a:solidFill>
          <a:ln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28816"/>
            <a:ext cx="10287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Sources: A Duncastle Holdings, Indicative Financing Term Sheet v1.3 | B Current Provider, Existing Arrangement Extract | C Milena Fournier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0312"/>
            <a:ext cx="11064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76D70"/>
                </a:solidFill>
                <a:latin typeface="Aptos"/>
              </a:rPr>
              <a:t>FINANCIAL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11480"/>
            <a:ext cx="11109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132B3A"/>
                </a:solidFill>
                <a:latin typeface="Aptos Display"/>
              </a:rPr>
              <a:t>Five-year baseline cash cost: Duncastle is lower by £120,000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86975"/>
                </a:solidFill>
                <a:latin typeface="Aptos"/>
              </a:rPr>
              <a:t>A transparent interest-only comparison on the same unchanged principal; this is not an assumed waiver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5340096" cy="35112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1536192" cy="228600"/>
          </a:xfrm>
          <a:prstGeom prst="rect">
            <a:avLst/>
          </a:prstGeom>
          <a:solidFill>
            <a:srgbClr val="D99A27"/>
          </a:solidFill>
          <a:ln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32204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32B3A"/>
                </a:solidFill>
                <a:latin typeface="Aptos"/>
              </a:rPr>
              <a:t>DUNCASTLE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20824"/>
            <a:ext cx="464515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50" b="1" i="0">
                <a:solidFill>
                  <a:srgbClr val="132B3A"/>
                </a:solidFill>
                <a:latin typeface="Aptos Display"/>
              </a:rPr>
              <a:t>£1.980m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59689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586975"/>
                </a:solidFill>
                <a:latin typeface="Aptos"/>
              </a:rPr>
              <a:t>Five-year baseline financing cash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17520"/>
            <a:ext cx="4754880" cy="841248"/>
          </a:xfrm>
          <a:prstGeom prst="rect">
            <a:avLst/>
          </a:prstGeom>
          <a:solidFill>
            <a:srgbClr val="EAF3F6"/>
          </a:solidFill>
          <a:ln w="5080">
            <a:solidFill>
              <a:srgbClr val="B7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18688"/>
            <a:ext cx="4407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B2A34"/>
                </a:solidFill>
                <a:latin typeface="Aptos"/>
              </a:rPr>
              <a:t>£1,920,000 interest (£8,000,000 x 4.80% x 5)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B2A34"/>
                </a:solidFill>
                <a:latin typeface="Aptos"/>
              </a:rPr>
              <a:t>+£60,000 upfront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142232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975"/>
                </a:solidFill>
                <a:latin typeface="Aptos"/>
              </a:rPr>
              <a:t>Includes the written one-time arrangement fee. Principal repayment is not included because the same principal remains outstanding for both alternatives.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340096" cy="35112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600200"/>
            <a:ext cx="1920240" cy="22860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632204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CURRENT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20824"/>
            <a:ext cx="464515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50" b="1" i="0">
                <a:solidFill>
                  <a:srgbClr val="132B3A"/>
                </a:solidFill>
                <a:latin typeface="Aptos Display"/>
              </a:rPr>
              <a:t>£2.100m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59689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586975"/>
                </a:solidFill>
                <a:latin typeface="Aptos"/>
              </a:rPr>
              <a:t>Five-year baseline financing cash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17520"/>
            <a:ext cx="4754880" cy="841248"/>
          </a:xfrm>
          <a:prstGeom prst="rect">
            <a:avLst/>
          </a:prstGeom>
          <a:solidFill>
            <a:srgbClr val="E7F4F2"/>
          </a:solidFill>
          <a:ln w="5080">
            <a:solidFill>
              <a:srgbClr val="9B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18688"/>
            <a:ext cx="4407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B2A34"/>
                </a:solidFill>
                <a:latin typeface="Aptos"/>
              </a:rPr>
              <a:t>£2,100,000 interest (£8,000,000 x 5.25% x 5)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B2A34"/>
                </a:solidFill>
                <a:latin typeface="Aptos"/>
              </a:rPr>
              <a:t>£0 upfront 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42232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975"/>
                </a:solidFill>
                <a:latin typeface="Aptos"/>
              </a:rPr>
              <a:t>No upfront arrangement fee is added. The comparison uses the same interest-only and unchanged-principal treatment as Duncastle.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230368"/>
            <a:ext cx="11128248" cy="859536"/>
          </a:xfrm>
          <a:prstGeom prst="rect">
            <a:avLst/>
          </a:prstGeom>
          <a:solidFill>
            <a:srgbClr val="132B3A"/>
          </a:solidFill>
          <a:ln>
            <a:solidFill>
              <a:srgbClr val="13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413248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7D5D7"/>
                </a:solidFill>
                <a:latin typeface="Aptos"/>
              </a:rPr>
              <a:t>MODEL ASSUMPTIONS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641848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FFFFFF"/>
                </a:solidFill>
                <a:latin typeface="Aptos"/>
              </a:rPr>
              <a:t>5-year horizon | interest-only | £8,000,000 principal unchanged and outstanding | principal repayment excluded as common | Duncastle £60,000 fee included once | Current Provider fee £0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6473952"/>
            <a:ext cx="11109960" cy="13716"/>
          </a:xfrm>
          <a:prstGeom prst="rect">
            <a:avLst/>
          </a:prstGeom>
          <a:solidFill>
            <a:srgbClr val="CBD7DE"/>
          </a:solidFill>
          <a:ln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28816"/>
            <a:ext cx="10287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Sources: A Duncastle Holdings, Indicative Financing Term Sheet v1.3 | B Current Provider, Existing Arrangement Extract | calculations shown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2881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0312"/>
            <a:ext cx="11064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76D70"/>
                </a:solidFill>
                <a:latin typeface="Aptos"/>
              </a:rPr>
              <a:t>EDGE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11480"/>
            <a:ext cx="11109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132B3A"/>
                </a:solidFill>
                <a:latin typeface="Aptos Display"/>
              </a:rPr>
              <a:t>Year-three early-exit case: the cost ranking reverses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86975"/>
                </a:solidFill>
                <a:latin typeface="Aptos"/>
              </a:rPr>
              <a:t>Exit after 3 years of interest-only payments; £8,000,000 principal is still outstanding.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26464"/>
            <a:ext cx="5340096" cy="32461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18488"/>
            <a:ext cx="1536192" cy="228600"/>
          </a:xfrm>
          <a:prstGeom prst="rect">
            <a:avLst/>
          </a:prstGeom>
          <a:solidFill>
            <a:srgbClr val="D99A27"/>
          </a:solidFill>
          <a:ln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50492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32B3A"/>
                </a:solidFill>
                <a:latin typeface="Aptos"/>
              </a:rPr>
              <a:t>DUNCASTLE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50" b="1" i="0">
                <a:solidFill>
                  <a:srgbClr val="B44945"/>
                </a:solidFill>
                <a:latin typeface="Aptos Display"/>
              </a:rPr>
              <a:t>£1.452m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56946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86975"/>
                </a:solidFill>
                <a:latin typeface="Aptos"/>
              </a:rPr>
              <a:t>Year-three early-exit cash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944368"/>
            <a:ext cx="4773168" cy="1042415"/>
          </a:xfrm>
          <a:prstGeom prst="rect">
            <a:avLst/>
          </a:prstGeom>
          <a:solidFill>
            <a:srgbClr val="FBE9E8"/>
          </a:solidFill>
          <a:ln w="5080">
            <a:solidFill>
              <a:srgbClr val="E5B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145536"/>
            <a:ext cx="4407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B2A34"/>
                </a:solidFill>
                <a:latin typeface="Aptos"/>
              </a:rPr>
              <a:t>£1,152,000 interest + £60,000 upfront fee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B2A34"/>
                </a:solidFill>
                <a:latin typeface="Aptos"/>
              </a:rPr>
              <a:t>+£240,000 early-termination charge (3.00% of £8,000,000)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178808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1">
                <a:solidFill>
                  <a:srgbClr val="586975"/>
                </a:solidFill>
                <a:latin typeface="Aptos"/>
              </a:rPr>
              <a:t>The documented fee is used; no waiver is assumed.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26464"/>
            <a:ext cx="5340096" cy="32461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618488"/>
            <a:ext cx="1920240" cy="22860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650492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CURRENT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93392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50" b="1" i="0">
                <a:solidFill>
                  <a:srgbClr val="0B4F52"/>
                </a:solidFill>
                <a:latin typeface="Aptos Display"/>
              </a:rPr>
              <a:t>£1.260m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56946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86975"/>
                </a:solidFill>
                <a:latin typeface="Aptos"/>
              </a:rPr>
              <a:t>Year-three early-exit cash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944368"/>
            <a:ext cx="4773168" cy="1042415"/>
          </a:xfrm>
          <a:prstGeom prst="rect">
            <a:avLst/>
          </a:prstGeom>
          <a:solidFill>
            <a:srgbClr val="E7F4F2"/>
          </a:solidFill>
          <a:ln w="5080">
            <a:solidFill>
              <a:srgbClr val="9B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3145536"/>
            <a:ext cx="4407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B2A34"/>
                </a:solidFill>
                <a:latin typeface="Aptos"/>
              </a:rPr>
              <a:t>£1,260,000 interest + £0 upfront fee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B2A34"/>
                </a:solidFill>
                <a:latin typeface="Aptos"/>
              </a:rPr>
              <a:t>£0 early-termination charge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78808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1">
                <a:solidFill>
                  <a:srgbClr val="586975"/>
                </a:solidFill>
                <a:latin typeface="Aptos"/>
              </a:rPr>
              <a:t>Written termination right: 90 days' notice without a charge.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029200"/>
            <a:ext cx="11128248" cy="566928"/>
          </a:xfrm>
          <a:prstGeom prst="rect">
            <a:avLst/>
          </a:prstGeom>
          <a:solidFill>
            <a:srgbClr val="B44945"/>
          </a:solidFill>
          <a:ln>
            <a:solidFill>
              <a:srgbClr val="B4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193792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Duncastle is £192,000 more expensive than the Current Provider in this year-three edge case.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788152"/>
            <a:ext cx="11045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B2A34"/>
                </a:solidFill>
                <a:latin typeface="Aptos"/>
              </a:rPr>
              <a:t>The cheapest five-year baseline option is not unconditionally superior: its documented termination fee reverses the result in the edge case.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126480"/>
            <a:ext cx="110459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6D4A00"/>
                </a:solidFill>
                <a:latin typeface="Aptos"/>
              </a:rPr>
              <a:t>Milena's possible waiver is informal, subject to internal approval and not documented; it is not included in either quantified case.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473952"/>
            <a:ext cx="11109960" cy="13716"/>
          </a:xfrm>
          <a:prstGeom prst="rect">
            <a:avLst/>
          </a:prstGeom>
          <a:solidFill>
            <a:srgbClr val="CBD7DE"/>
          </a:solidFill>
          <a:ln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28816"/>
            <a:ext cx="10287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Sources: A Duncastle Holdings, Indicative Financing Term Sheet v1.3 | B Current Provider, Existing Arrangement Extract | C Milena Fournier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0312"/>
            <a:ext cx="11064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76D70"/>
                </a:solidFill>
                <a:latin typeface="Aptos"/>
              </a:rPr>
              <a:t>PROTECTION AND REVIEW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11480"/>
            <a:ext cx="11109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132B3A"/>
                </a:solidFill>
                <a:latin typeface="Aptos Display"/>
              </a:rPr>
              <a:t>Termination protection and jurisdiction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86975"/>
                </a:solidFill>
                <a:latin typeface="Aptos"/>
              </a:rPr>
              <a:t>England is a completed internal comparison; Scotland remains an explicit evidence boundary at the approval meeting.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128248" cy="493776"/>
          </a:xfrm>
          <a:prstGeom prst="rect">
            <a:avLst/>
          </a:prstGeom>
          <a:solidFill>
            <a:srgbClr val="FFF4D8"/>
          </a:solidFill>
          <a:ln w="5080">
            <a:solidFill>
              <a:srgbClr val="E4C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53896"/>
            <a:ext cx="10716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6D4A00"/>
                </a:solidFill>
                <a:latin typeface="Aptos"/>
              </a:rPr>
              <a:t>YEWBANK REQUIREMENT | Equivalent termination protection must be preserved in the provider-failure / early-exit edge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029968"/>
            <a:ext cx="5340096" cy="3986784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221992"/>
            <a:ext cx="1591056" cy="22860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253996"/>
            <a:ext cx="14447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ENGLAND |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15184"/>
            <a:ext cx="47914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B3A"/>
                </a:solidFill>
                <a:latin typeface="Aptos Display"/>
              </a:rPr>
              <a:t>Completed internal equivalence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026664"/>
            <a:ext cx="46360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2A34"/>
                </a:solidFill>
                <a:latin typeface="Aptos"/>
              </a:rPr>
              <a:t>Criterion: no-fee termination on material provider failure with stated notice protection.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666744"/>
            <a:ext cx="4791456" cy="877824"/>
          </a:xfrm>
          <a:prstGeom prst="rect">
            <a:avLst/>
          </a:prstGeom>
          <a:solidFill>
            <a:srgbClr val="E7F4F2"/>
          </a:solidFill>
          <a:ln w="5080">
            <a:solidFill>
              <a:srgbClr val="9BC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58768"/>
            <a:ext cx="4407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B4F52"/>
                </a:solidFill>
                <a:latin typeface="Aptos"/>
              </a:rPr>
              <a:t>Current Provider: documented no-fee termination on 90 days' notice maps to the completed England criterion.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809744"/>
            <a:ext cx="46817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B2A34"/>
                </a:solidFill>
                <a:latin typeface="Aptos"/>
              </a:rPr>
              <a:t>Duncastle: written term sheet carries a 3.00% early-termination fee; no signed provider-failure exception is documented.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5532120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86975"/>
                </a:solidFill>
                <a:latin typeface="Aptos"/>
              </a:rPr>
              <a:t>England status is limited to this completed internal comparison.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29968"/>
            <a:ext cx="5340096" cy="3986784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221992"/>
            <a:ext cx="1965960" cy="228600"/>
          </a:xfrm>
          <a:prstGeom prst="rect">
            <a:avLst/>
          </a:prstGeom>
          <a:solidFill>
            <a:srgbClr val="D99A27"/>
          </a:solidFill>
          <a:ln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253996"/>
            <a:ext cx="181965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32B3A"/>
                </a:solidFill>
                <a:latin typeface="Aptos"/>
              </a:rPr>
              <a:t>SCOTLAND | INCOMPLETE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479145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B3A"/>
                </a:solidFill>
                <a:latin typeface="Aptos Display"/>
              </a:rPr>
              <a:t>Review and jurisdictional mapping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B3A"/>
                </a:solidFill>
                <a:latin typeface="Aptos Display"/>
              </a:rPr>
              <a:t>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300984"/>
            <a:ext cx="46177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B2A34"/>
                </a:solidFill>
                <a:latin typeface="Aptos"/>
              </a:rPr>
              <a:t>The Scotland review is incomplete as of the Friday approval meeting.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666744"/>
            <a:ext cx="4791456" cy="960120"/>
          </a:xfrm>
          <a:prstGeom prst="rect">
            <a:avLst/>
          </a:prstGeom>
          <a:solidFill>
            <a:srgbClr val="FFF4D8"/>
          </a:solidFill>
          <a:ln w="5080">
            <a:solidFill>
              <a:srgbClr val="E4C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867912"/>
            <a:ext cx="440740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6D4A00"/>
                </a:solidFill>
                <a:latin typeface="Aptos"/>
              </a:rPr>
              <a:t>No definitive compliance or equivalence conclusion for either alternative. England's completed result does not close the Scotland question.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873752"/>
            <a:ext cx="463600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B2A34"/>
                </a:solidFill>
                <a:latin typeface="Aptos"/>
              </a:rPr>
              <a:t>This is an unresolved review item, not proof that either alternative complies with or satisfies a Scotland requirement.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5532120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86975"/>
                </a:solidFill>
                <a:latin typeface="Aptos"/>
              </a:rPr>
              <a:t>Status reflects review progress, not a legal signoff.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473952"/>
            <a:ext cx="11109960" cy="13716"/>
          </a:xfrm>
          <a:prstGeom prst="rect">
            <a:avLst/>
          </a:prstGeom>
          <a:solidFill>
            <a:srgbClr val="CBD7DE"/>
          </a:solidFill>
          <a:ln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28816"/>
            <a:ext cx="10287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Sources: D Ragnhild Novotny interview notes | E Jacinta Zieliński feedback | A/B written financing 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0312"/>
            <a:ext cx="11064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76D70"/>
                </a:solidFill>
                <a:latin typeface="Aptos"/>
              </a:rPr>
              <a:t>DECISION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11480"/>
            <a:ext cx="11109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132B3A"/>
                </a:solidFill>
                <a:latin typeface="Aptos Display"/>
              </a:rPr>
              <a:t>Implications of each choice at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86975"/>
                </a:solidFill>
                <a:latin typeface="Aptos"/>
              </a:rPr>
              <a:t>Both choices retain the unresolved Scotland limitation; neither is presented as risk-free or cost-free.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5340096" cy="45262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9344"/>
            <a:ext cx="2194560" cy="228600"/>
          </a:xfrm>
          <a:prstGeom prst="rect">
            <a:avLst/>
          </a:prstGeom>
          <a:solidFill>
            <a:srgbClr val="D99A27"/>
          </a:solidFill>
          <a:ln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41348"/>
            <a:ext cx="204825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32B3A"/>
                </a:solidFill>
                <a:latin typeface="Aptos"/>
              </a:rPr>
              <a:t>DUNCASTLE PROPOSED FINANCING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46451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2B3A"/>
                </a:solidFill>
                <a:latin typeface="Aptos Display"/>
              </a:rPr>
              <a:t>Commercial implication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4745736" cy="3127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£120,000 lower five-year baseline financing cost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Written 3.00% fee makes the year-three edge case £192,000 higher than the Current Provider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No documented provider-failure protection amendment; possible waiver remains informal and unconfirmed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Scotland mapping is incomplete; no equivalence or compliance conclusion is drawn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40096" cy="45262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09344"/>
            <a:ext cx="1892807" cy="22860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41348"/>
            <a:ext cx="17465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RETAIN CURRENT 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93392"/>
            <a:ext cx="46451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2B3A"/>
                </a:solidFill>
                <a:latin typeface="Aptos Display"/>
              </a:rPr>
              <a:t>Commercial and continuity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487168"/>
            <a:ext cx="4745736" cy="3127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£120,000 higher five-year baseline financing cost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Documented 90-day notice and no-fee termination; maps to completed England criterion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Available through Friday, providing continuity and temporary fallback value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70">
                <a:solidFill>
                  <a:srgbClr val="1B2A34"/>
                </a:solidFill>
                <a:latin typeface="Aptos"/>
              </a:rPr>
              <a:t>- Scotland mapping remains incomplete; this is not a settled Scotland 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6108192"/>
            <a:ext cx="11128248" cy="210312"/>
          </a:xfrm>
          <a:prstGeom prst="rect">
            <a:avLst/>
          </a:prstGeom>
          <a:solidFill>
            <a:srgbClr val="132B3A"/>
          </a:solidFill>
          <a:ln>
            <a:solidFill>
              <a:srgbClr val="13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144768"/>
            <a:ext cx="10652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FFFFFF"/>
                </a:solidFill>
                <a:latin typeface="Aptos"/>
              </a:rPr>
              <a:t>The lower baseline cost and equivalent termination protection collide in the documented early-exit case.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6473952"/>
            <a:ext cx="11109960" cy="13716"/>
          </a:xfrm>
          <a:prstGeom prst="rect">
            <a:avLst/>
          </a:prstGeom>
          <a:solidFill>
            <a:srgbClr val="CBD7DE"/>
          </a:solidFill>
          <a:ln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28816"/>
            <a:ext cx="10287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Sources: A/B written terms | C Milena Fournier email | D Ragnhild Novotny interview notes | E Jacinta Zieliński feedback | F Lars Underwood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0312"/>
            <a:ext cx="11064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76D70"/>
                </a:solidFill>
                <a:latin typeface="Aptos"/>
              </a:rPr>
              <a:t>CLOSING DECISION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11480"/>
            <a:ext cx="11109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132B3A"/>
                </a:solidFill>
                <a:latin typeface="Aptos Display"/>
              </a:rPr>
              <a:t>Decision implications and time-bounded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86975"/>
                </a:solidFill>
                <a:latin typeface="Aptos"/>
              </a:rPr>
              <a:t>Decision owner: Yewbank School District's senior decision maker.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5340096" cy="2093976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9344"/>
            <a:ext cx="1536192" cy="228600"/>
          </a:xfrm>
          <a:prstGeom prst="rect">
            <a:avLst/>
          </a:prstGeom>
          <a:solidFill>
            <a:srgbClr val="D99A27"/>
          </a:solidFill>
          <a:ln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41348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32B3A"/>
                </a:solidFill>
                <a:latin typeface="Aptos"/>
              </a:rPr>
              <a:t>DUNCASTLE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8424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1" i="0">
                <a:solidFill>
                  <a:srgbClr val="132B3A"/>
                </a:solidFill>
                <a:latin typeface="Aptos Display"/>
              </a:rPr>
              <a:t>Lower baseline, open protection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87168"/>
            <a:ext cx="460857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B2A34"/>
                </a:solidFill>
                <a:latin typeface="Aptos"/>
              </a:rPr>
              <a:t>£120,000 lower over five years, but the written provider-failure / early-exit protection change is not documented and Scotland remains open.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40096" cy="2093976"/>
          </a:xfrm>
          <a:prstGeom prst="rect">
            <a:avLst/>
          </a:prstGeom>
          <a:solidFill>
            <a:srgbClr val="FFFFFF"/>
          </a:solidFill>
          <a:ln w="5080"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09344"/>
            <a:ext cx="1920240" cy="228600"/>
          </a:xfrm>
          <a:prstGeom prst="rect">
            <a:avLst/>
          </a:prstGeom>
          <a:solidFill>
            <a:srgbClr val="176D70"/>
          </a:solidFill>
          <a:ln>
            <a:solidFill>
              <a:srgbClr val="176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41348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Aptos"/>
              </a:rPr>
              <a:t>CURRENT 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8424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1" i="0">
                <a:solidFill>
                  <a:srgbClr val="132B3A"/>
                </a:solidFill>
                <a:latin typeface="Aptos Display"/>
              </a:rPr>
              <a:t>Higher baseline, documented 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487168"/>
            <a:ext cx="460857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B2A34"/>
                </a:solidFill>
                <a:latin typeface="Aptos"/>
              </a:rPr>
              <a:t>£120,000 higher over five years, with written 90-day no-fee termination / England mapping and continuity through Friday; Scotland remains open.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931920"/>
            <a:ext cx="11128248" cy="1261872"/>
          </a:xfrm>
          <a:prstGeom prst="rect">
            <a:avLst/>
          </a:prstGeom>
          <a:solidFill>
            <a:srgbClr val="FFF4D8"/>
          </a:solidFill>
          <a:ln w="5080">
            <a:solidFill>
              <a:srgbClr val="E4C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4169663"/>
            <a:ext cx="2130552" cy="228600"/>
          </a:xfrm>
          <a:prstGeom prst="rect">
            <a:avLst/>
          </a:prstGeom>
          <a:solidFill>
            <a:srgbClr val="D99A27"/>
          </a:solidFill>
          <a:ln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01668"/>
            <a:ext cx="1984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32B3A"/>
                </a:solidFill>
                <a:latin typeface="Aptos"/>
              </a:rPr>
              <a:t>TEMPORARY FALLBACK / 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62856"/>
            <a:ext cx="1040587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24300"/>
                </a:solidFill>
                <a:latin typeface="Aptos"/>
              </a:rPr>
              <a:t>If a documented Duncastle protection amendment and a completed Scotland review are not available by Friday, retention of the Current Provider is the time-bounded fallback through the approval meeting.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522976"/>
            <a:ext cx="11128248" cy="539496"/>
          </a:xfrm>
          <a:prstGeom prst="rect">
            <a:avLst/>
          </a:prstGeom>
          <a:solidFill>
            <a:srgbClr val="132B3A"/>
          </a:solidFill>
          <a:ln>
            <a:solidFill>
              <a:srgbClr val="13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696712"/>
            <a:ext cx="105704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This memorandum informs the decision; it does not assign or take the decision for Yewbank.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6473952"/>
            <a:ext cx="11109960" cy="13716"/>
          </a:xfrm>
          <a:prstGeom prst="rect">
            <a:avLst/>
          </a:prstGeom>
          <a:solidFill>
            <a:srgbClr val="CBD7DE"/>
          </a:solidFill>
          <a:ln>
            <a:solidFill>
              <a:srgbClr val="CB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28816"/>
            <a:ext cx="10287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Sources: A/B written terms | D Ragnhild Novotny interview notes | F Lars Underwood feedback | calculations shown on Slides 3-4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2881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86975"/>
                </a:solidFill>
                <a:latin typeface="Apto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Yewbank Financing Decision Memorandum - Gold Reference</dc:title>
  <dc:subject>Decision support: Duncastle proposal versus Current Provider</dc:subject>
  <dc:creator>Duncastle Holdings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