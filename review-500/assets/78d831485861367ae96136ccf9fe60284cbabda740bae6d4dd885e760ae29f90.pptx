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7D80"/>
                </a:solidFill>
                <a:latin typeface="Liberation Sans Narrow"/>
              </a:rPr>
              <a:t>CANDLEWICK MANUFACTURING | APPROVAL-READY TRAINING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04672"/>
            <a:ext cx="7543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A30"/>
                </a:solidFill>
                <a:latin typeface="Liberation Sans"/>
              </a:rPr>
              <a:t>Temporary coating-cell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172A30"/>
                </a:solidFill>
                <a:latin typeface="Liberation Sans"/>
              </a:rPr>
              <a:t>operating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746504"/>
            <a:ext cx="7223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0B565A"/>
                </a:solidFill>
                <a:latin typeface="Liberation Sans"/>
              </a:rPr>
              <a:t>Temporary night run | 8 July 2025 | 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207568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53676D"/>
                </a:solidFill>
                <a:latin typeface="Liberation Sans"/>
              </a:rPr>
              <a:t>For operators, supervisors and non-specialist customer stakeholders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688336"/>
            <a:ext cx="6903720" cy="1965960"/>
          </a:xfrm>
          <a:prstGeom prst="rect">
            <a:avLst/>
          </a:prstGeom>
          <a:solidFill>
            <a:srgbClr val="29434A"/>
          </a:solidFill>
          <a:ln w="10160">
            <a:solidFill>
              <a:srgbClr val="294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BD2CF"/>
                </a:solidFill>
                <a:latin typeface="Liberation Sans Narrow"/>
              </a:rPr>
              <a:t>RUN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73552"/>
            <a:ext cx="14173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Liberation Sans"/>
              </a:rPr>
              <a:t>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8568" y="3346704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Liberation Sans"/>
              </a:rPr>
              <a:t>coated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3712463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4E5E5"/>
                </a:solidFill>
                <a:latin typeface="Liberation Sans"/>
              </a:rPr>
              <a:t>22:00 to 06:00 | one temporary night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" y="4169663"/>
            <a:ext cx="6336792" cy="0"/>
          </a:xfrm>
          <a:prstGeom prst="line">
            <a:avLst/>
          </a:prstGeom>
          <a:ln w="10160">
            <a:solidFill>
              <a:srgbClr val="4D6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2688" y="4315968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E5E5"/>
                </a:solidFill>
                <a:latin typeface="Liberation Sans"/>
              </a:rPr>
              <a:t>Customer expectation: Eastharbour Mutual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0416" y="804672"/>
            <a:ext cx="3639312" cy="3849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106984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THE OPERATING BOUNDARY</a:t>
            </a:r>
          </a:p>
        </p:txBody>
      </p:sp>
      <p:sp>
        <p:nvSpPr>
          <p:cNvPr id="16" name="Oval 15"/>
          <p:cNvSpPr/>
          <p:nvPr/>
        </p:nvSpPr>
        <p:spPr>
          <a:xfrm>
            <a:off x="8193024" y="1527048"/>
            <a:ext cx="438912" cy="438912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536192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Liberation San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1508760"/>
            <a:ext cx="2331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operator resets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while authority is unresolved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93024" y="2157984"/>
            <a:ext cx="2999232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193024" y="2404872"/>
            <a:ext cx="438912" cy="438912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414015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404872"/>
            <a:ext cx="233172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any trip or unsafe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condition: safe stop + escalate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93024" y="3054096"/>
            <a:ext cx="2999232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93024" y="3300984"/>
            <a:ext cx="438912" cy="438912"/>
          </a:xfrm>
          <a:prstGeom prst="ellipse">
            <a:avLst/>
          </a:prstGeom>
          <a:solidFill>
            <a:srgbClr val="1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3310127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Liberation Sans"/>
              </a:rPr>
              <a:t>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3300984"/>
            <a:ext cx="2331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restart only after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72A30"/>
                </a:solidFill>
                <a:latin typeface="Liberation Sans"/>
              </a:rPr>
              <a:t>competent authorized release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0416" y="4882896"/>
            <a:ext cx="3639312" cy="640080"/>
          </a:xfrm>
          <a:prstGeom prst="rect">
            <a:avLst/>
          </a:prstGeom>
          <a:solidFill>
            <a:srgbClr val="FFF2DD"/>
          </a:solidFill>
          <a:ln w="1016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4937759"/>
            <a:ext cx="3346704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7F2422"/>
                </a:solidFill>
                <a:latin typeface="Liberation Sans"/>
              </a:rPr>
              <a:t>Continuity promises do not override safeguarding, isolation, exposure control or stop-work duties.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010912"/>
            <a:ext cx="6903720" cy="9692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1937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17D80"/>
                </a:solidFill>
                <a:latin typeface="Liberation Sans Narrow"/>
              </a:rPr>
              <a:t>DOCUMENT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4982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A30"/>
                </a:solidFill>
                <a:latin typeface="Liberation Sans"/>
              </a:rPr>
              <a:t>Owner: Alia Penrose, first-line supervisor  |  Status: approval required before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87568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3676D"/>
                </a:solidFill>
                <a:latin typeface="Liberation Sans"/>
              </a:rPr>
              <a:t>Proposed effective date: 8 July 2025  |  Rev 0.1  |  Approver: production manager + competent maintenance and quality roles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0416" y="5650992"/>
            <a:ext cx="3639312" cy="329184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5696712"/>
            <a:ext cx="334670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Liberation Sans"/>
              </a:rPr>
              <a:t>Review / expiry: before the next shift, or after any trip, change, incident or maintenance confirmation.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7D80"/>
                </a:solidFill>
                <a:latin typeface="Liberation Sans Narrow"/>
              </a:rPr>
              <a:t>01 / BEFORE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Brief the shift. Verify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The temporary boundary must be understood before anyone starts the coating process.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773936"/>
            <a:ext cx="5413248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3504" y="1773936"/>
            <a:ext cx="73152" cy="3246120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93852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7D80"/>
                </a:solidFill>
                <a:latin typeface="Liberation Sans Narrow"/>
              </a:rPr>
              <a:t>SHIFT BRIEF / HANDOVER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276856"/>
            <a:ext cx="4974336" cy="26243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State the temporary status, the 480-component scope and the 22:00 to 06:00 window.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Share the three recurring temperature trips in the last two shifts; treat any further trip as an escalation event.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Name the operator, supervisor, maintenance, quality and emergency or incident-reporting roles.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Rehearse the expectation: stop, protect people, hold affected work and escalate when a step cannot be completed.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Only competent, trained and currently authorized personnel may operate; the supervisor verifies training or sign-off.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773936"/>
            <a:ext cx="5413248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81344" y="1773936"/>
            <a:ext cx="73152" cy="3246120"/>
          </a:xfrm>
          <a:prstGeom prst="rect">
            <a:avLst/>
          </a:prstGeom>
          <a:solidFill>
            <a:srgbClr val="C57B1A"/>
          </a:solidFill>
          <a:ln w="10160">
            <a:solidFill>
              <a:srgbClr val="C5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93852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57B1A"/>
                </a:solidFill>
                <a:latin typeface="Liberation Sans Narrow"/>
              </a:rPr>
              <a:t>PRE-START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76856"/>
            <a:ext cx="4974336" cy="262432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Work area is clear; access and egress are safe.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Equipment condition is acceptable; no visible damage, leak or uncontrolled residue.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Guards and interlocks are present and effective; do not start with a failed safeguard.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Controls and emergency-stop arrangements are available and checked as the site procedure permits.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Required utilities or services, ventilation and other exposure controls are available.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15" b="0">
                <a:solidFill>
                  <a:srgbClr val="172A30"/>
                </a:solidFill>
                <a:latin typeface="Liberation Sans"/>
              </a:rPr>
              <a:t>- Current risk assessment, approved recipe, equipment instructions, COSHH assessment, SDS and emergency arrangements are available.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5230368"/>
            <a:ext cx="10991088" cy="603504"/>
          </a:xfrm>
          <a:prstGeom prst="rect">
            <a:avLst/>
          </a:prstGeom>
          <a:solidFill>
            <a:srgbClr val="E6F2F1"/>
          </a:solidFill>
          <a:ln w="10160">
            <a:solidFill>
              <a:srgbClr val="E6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285231"/>
            <a:ext cx="106984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0B565A"/>
                </a:solidFill>
                <a:latin typeface="Liberation Sans"/>
              </a:rPr>
              <a:t>PPE follows the site's COSHH assessment and current safety data. PPE complements engineering controls; it never replaces guarding or ventilation.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" y="5925312"/>
            <a:ext cx="10991088" cy="411480"/>
          </a:xfrm>
          <a:prstGeom prst="rect">
            <a:avLst/>
          </a:prstGeom>
          <a:solidFill>
            <a:srgbClr val="FBE9E7"/>
          </a:solidFill>
          <a:ln w="1016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980176"/>
            <a:ext cx="10698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7F2422"/>
                </a:solidFill>
                <a:latin typeface="Liberation Sans"/>
              </a:rPr>
              <a:t>If a check is missing, unclear or cannot be completed: do not start. Make safe, prevent use, record the gap and escalate.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7D80"/>
                </a:solidFill>
                <a:latin typeface="Liberation Sans Narrow"/>
              </a:rPr>
              <a:t>02 / START +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Stay inside the approved operating envelope.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Use the controlled recipe and equipment information available to the competent team.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94944" y="1874519"/>
            <a:ext cx="438912" cy="438912"/>
          </a:xfrm>
          <a:prstGeom prst="ellipse">
            <a:avLst/>
          </a:prstGeom>
          <a:solidFill>
            <a:srgbClr val="1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883663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1773936"/>
            <a:ext cx="6419088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36192" y="1883664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17D80"/>
                </a:solidFill>
                <a:latin typeface="Liberation Sans Narrow"/>
              </a:rPr>
              <a:t>LOAD THE APPROVED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103120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172A30"/>
                </a:solidFill>
                <a:latin typeface="Liberation Sans"/>
              </a:rPr>
              <a:t>Use the approved recipe, setpoints, material, equipment configuration and operating instructions. Do not improvise a parameter or workaround.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" y="2715768"/>
            <a:ext cx="438912" cy="438912"/>
          </a:xfrm>
          <a:prstGeom prst="ellipse">
            <a:avLst/>
          </a:prstGeom>
          <a:solidFill>
            <a:srgbClr val="1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724911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" y="2615184"/>
            <a:ext cx="6419088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2724912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17D80"/>
                </a:solidFill>
                <a:latin typeface="Liberation Sans Narrow"/>
              </a:rPr>
              <a:t>CHECK CONTROLS ARE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2944368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172A30"/>
                </a:solidFill>
                <a:latin typeface="Liberation Sans"/>
              </a:rPr>
              <a:t>Start only with guards and interlocks in place and effective, ventilation or other exposure controls available, and PPE selected from the COSHH assessment and SDS.</a:t>
            </a:r>
          </a:p>
        </p:txBody>
      </p:sp>
      <p:sp>
        <p:nvSpPr>
          <p:cNvPr id="17" name="Oval 16"/>
          <p:cNvSpPr/>
          <p:nvPr/>
        </p:nvSpPr>
        <p:spPr>
          <a:xfrm>
            <a:off x="694944" y="3557015"/>
            <a:ext cx="438912" cy="438912"/>
          </a:xfrm>
          <a:prstGeom prst="ellipse">
            <a:avLst/>
          </a:prstGeom>
          <a:solidFill>
            <a:srgbClr val="1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" y="3566159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98448" y="3456432"/>
            <a:ext cx="6419088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36192" y="3566160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17D80"/>
                </a:solidFill>
                <a:latin typeface="Liberation Sans Narrow"/>
              </a:rPr>
              <a:t>RUN AND WATCH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785615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172A30"/>
                </a:solidFill>
                <a:latin typeface="Liberation Sans"/>
              </a:rPr>
              <a:t>Monitor the relevant temperature and process indicators throughout the run. Record abnormal readings, alarms, stops and actions as they occur.</a:t>
            </a:r>
          </a:p>
        </p:txBody>
      </p:sp>
      <p:sp>
        <p:nvSpPr>
          <p:cNvPr id="22" name="Oval 21"/>
          <p:cNvSpPr/>
          <p:nvPr/>
        </p:nvSpPr>
        <p:spPr>
          <a:xfrm>
            <a:off x="694944" y="4398264"/>
            <a:ext cx="438912" cy="438912"/>
          </a:xfrm>
          <a:prstGeom prst="ellipse">
            <a:avLst/>
          </a:prstGeom>
          <a:solidFill>
            <a:srgbClr val="117D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407408"/>
            <a:ext cx="43891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98448" y="4297680"/>
            <a:ext cx="6419088" cy="75895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6192" y="4407408"/>
            <a:ext cx="5897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17D80"/>
                </a:solidFill>
                <a:latin typeface="Liberation Sans Narrow"/>
              </a:rPr>
              <a:t>PAUSE WHEN UNCLEAR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626864"/>
            <a:ext cx="58978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172A30"/>
                </a:solidFill>
                <a:latin typeface="Liberation Sans"/>
              </a:rPr>
              <a:t>If a reading, alarm or process condition cannot be established against approved information, stop safely and call the supervisor. Do not experiment.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28431" y="1773936"/>
            <a:ext cx="3566160" cy="3282696"/>
          </a:xfrm>
          <a:prstGeom prst="rect">
            <a:avLst/>
          </a:prstGeom>
          <a:solidFill>
            <a:srgbClr val="FBE9E7"/>
          </a:solidFill>
          <a:ln w="1016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02996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OPERATORS DO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395728"/>
            <a:ext cx="2907792" cy="1673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7F2422"/>
                </a:solidFill>
                <a:latin typeface="Liberation Sans"/>
              </a:rPr>
              <a:t>- bypass, defeat or bridge a guard or interlock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7F2422"/>
                </a:solidFill>
                <a:latin typeface="Liberation Sans"/>
              </a:rPr>
              <a:t>- operate with a failed safeguard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7F2422"/>
                </a:solidFill>
                <a:latin typeface="Liberation Sans"/>
              </a:rPr>
              <a:t>- repair, adjust or change a protective or control system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7F2422"/>
                </a:solidFill>
                <a:latin typeface="Liberation Sans"/>
              </a:rPr>
              <a:t>- clear a dangerous obstruction without authorized isolation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150" b="0">
                <a:solidFill>
                  <a:srgbClr val="7F2422"/>
                </a:solidFill>
                <a:latin typeface="Liberation Sans"/>
              </a:rPr>
              <a:t>- release product or invent a setpoint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2752" y="4261104"/>
            <a:ext cx="2980944" cy="0"/>
          </a:xfrm>
          <a:prstGeom prst="line">
            <a:avLst/>
          </a:prstGeom>
          <a:ln w="10160">
            <a:solidFill>
              <a:srgbClr val="E8C2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02752" y="439826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7F2422"/>
                </a:solidFill>
                <a:latin typeface="Liberation Sans"/>
              </a:rPr>
              <a:t>STOPPING IS NOT ISOLATION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752" y="4663440"/>
            <a:ext cx="29077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F2422"/>
                </a:solidFill>
                <a:latin typeface="Liberation Sans"/>
              </a:rPr>
              <a:t>Maintenance intervention requires competent authorized isolation / lockout or tagout.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" y="5468112"/>
            <a:ext cx="10991088" cy="658368"/>
          </a:xfrm>
          <a:prstGeom prst="rect">
            <a:avLst/>
          </a:prstGeom>
          <a:solidFill>
            <a:srgbClr val="FFF2DD"/>
          </a:solidFill>
          <a:ln w="1016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522976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7F2422"/>
                </a:solidFill>
                <a:latin typeface="Liberation Sans"/>
              </a:rPr>
              <a:t>Normal operation is allowed only with the approved configuration and current controlled information. A customer deadline does not authorize a change to that envelope.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3B36"/>
          </a:solidFill>
          <a:ln w="10160">
            <a:solidFill>
              <a:srgbClr val="B4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03 / TEMPERATURE TRIP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One trip is a stop-and-escalate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The recurring pattern is unresolved. Do not turn an alarm into permission to carry 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746504"/>
            <a:ext cx="10991088" cy="749808"/>
          </a:xfrm>
          <a:prstGeom prst="rect">
            <a:avLst/>
          </a:prstGeom>
          <a:solidFill>
            <a:srgbClr val="B43B36"/>
          </a:solidFill>
          <a:ln w="10160">
            <a:solidFill>
              <a:srgbClr val="B4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914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Liberation Sans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865376"/>
            <a:ext cx="8001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FFFFFF"/>
                </a:solidFill>
                <a:latin typeface="Liberation Sans"/>
              </a:rPr>
              <a:t>OPERATOR RESETS WHILE MAINTENANCE AUTHORITY IS UNRESOLVED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88366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E6E2"/>
                </a:solidFill>
                <a:latin typeface="Liberation Sans"/>
              </a:rPr>
              <a:t>No repeat attempts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FFE6E2"/>
                </a:solidFill>
                <a:latin typeface="Liberation Sans"/>
              </a:rPr>
              <a:t>to keep production moving.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2761488"/>
            <a:ext cx="33832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017520"/>
            <a:ext cx="384048" cy="384048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026663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02666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B43B36"/>
                </a:solidFill>
                <a:latin typeface="Liberation Sans Narrow"/>
              </a:rPr>
              <a:t>SAFE 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47872"/>
            <a:ext cx="28529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>
                <a:solidFill>
                  <a:srgbClr val="172A30"/>
                </a:solidFill>
                <a:latin typeface="Liberation Sans"/>
              </a:rPr>
              <a:t>Use the normal stop or emergency stop as appropriate. Keep people clear. Do not reach in, defeat a safeguard or restart.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511296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43B36"/>
                </a:solidFill>
                <a:latin typeface="Liberation Sans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6" y="2761488"/>
            <a:ext cx="33832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3017520"/>
            <a:ext cx="384048" cy="384048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026663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02666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B43B36"/>
                </a:solidFill>
                <a:latin typeface="Liberation Sans Narrow"/>
              </a:rPr>
              <a:t>PRESERVE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547872"/>
            <a:ext cx="28529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>
                <a:solidFill>
                  <a:srgbClr val="172A30"/>
                </a:solidFill>
                <a:latin typeface="Liberation Sans"/>
              </a:rPr>
              <a:t>Notify the supervisor. Record time, material or batch ID, quantity in process, temperature or alarm indication, preceding conditions and actions taken.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3511296"/>
            <a:ext cx="201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B43B36"/>
                </a:solidFill>
                <a:latin typeface="Liberation Sans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82127" y="2761488"/>
            <a:ext cx="3383280" cy="19933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19871" y="3017520"/>
            <a:ext cx="384048" cy="384048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3026663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026664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B43B36"/>
                </a:solidFill>
                <a:latin typeface="Liberation Sans Narrow"/>
              </a:rPr>
              <a:t>AUTHORIZED RETURN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871" y="3547872"/>
            <a:ext cx="28529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5" b="0" i="0">
                <a:solidFill>
                  <a:srgbClr val="172A30"/>
                </a:solidFill>
                <a:latin typeface="Liberation Sans"/>
              </a:rPr>
              <a:t>Maintenance controls investigation, repair, fault reset and protective/control changes under applicable isolation and authorization. Restart needs an identified cause or safe disposition, required checks and competent authorized release.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5065776"/>
            <a:ext cx="10991088" cy="649224"/>
          </a:xfrm>
          <a:prstGeom prst="rect">
            <a:avLst/>
          </a:prstGeom>
          <a:solidFill>
            <a:srgbClr val="FFF2DD"/>
          </a:solidFill>
          <a:ln w="1016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120640"/>
            <a:ext cx="10698480" cy="5394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5" b="1" i="0">
                <a:solidFill>
                  <a:srgbClr val="7F2422"/>
                </a:solidFill>
                <a:latin typeface="Liberation Sans"/>
              </a:rPr>
              <a:t>Three trips in the last two shifts make recurrence an escalation event. Emeka Lombardi's continuity promise to Eastharbour Mutual does not grant reset authority or waive a safe stop.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5815584"/>
            <a:ext cx="10991088" cy="411480"/>
          </a:xfrm>
          <a:prstGeom prst="rect">
            <a:avLst/>
          </a:prstGeom>
          <a:solidFill>
            <a:srgbClr val="FBE9E7"/>
          </a:solidFill>
          <a:ln w="1016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870448"/>
            <a:ext cx="106984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7F2422"/>
                </a:solidFill>
                <a:latin typeface="Liberation Sans"/>
              </a:rPr>
              <a:t>If maintenance has not confirmed operator authority, the boundary remains 0 operator resets.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B43B36"/>
                </a:solidFill>
                <a:latin typeface="Liberation Sans Narrow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43B36"/>
          </a:solidFill>
          <a:ln w="10160">
            <a:solidFill>
              <a:srgbClr val="B4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04 / STOP WORK + EMERGENCY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When in doubt, make the cell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Stop first. Protect people. Prevent an unauthorized restart. Escalate through site arrangements.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737360"/>
            <a:ext cx="10991088" cy="438912"/>
          </a:xfrm>
          <a:prstGeom prst="rect">
            <a:avLst/>
          </a:prstGeom>
          <a:solidFill>
            <a:srgbClr val="7F2422"/>
          </a:solidFill>
          <a:ln w="10160">
            <a:solidFill>
              <a:srgbClr val="7F24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19656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FFFFF"/>
                </a:solidFill>
                <a:latin typeface="Liberation Sans"/>
              </a:rPr>
              <a:t>STOP  |  PROTECT PEOPLE  |  PREVENT RESTART  |  ESCALATE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423160"/>
            <a:ext cx="5504688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423160"/>
            <a:ext cx="73152" cy="2880360"/>
          </a:xfrm>
          <a:prstGeom prst="rect">
            <a:avLst/>
          </a:prstGeom>
          <a:solidFill>
            <a:srgbClr val="B43B36"/>
          </a:solidFill>
          <a:ln w="10160">
            <a:solidFill>
              <a:srgbClr val="B4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587752"/>
            <a:ext cx="50474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STOP WORK IF...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926080"/>
            <a:ext cx="5065775" cy="22585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a guard or interlock is missing, failed or ineffective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temperature is uncontrolled or unexplained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ventilation or another required exposure control is unavailable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there is a leak, spill or uncontrolled coating residue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access or egress is unsafe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an alarm's meaning cannot be established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60" b="0">
                <a:solidFill>
                  <a:srgbClr val="172A30"/>
                </a:solidFill>
                <a:latin typeface="Liberation Sans"/>
              </a:rPr>
              <a:t>- an injury, near miss or other event makes continued operation unsafe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5936" y="2423160"/>
            <a:ext cx="5248656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267919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3B36"/>
                </a:solidFill>
                <a:latin typeface="Liberation Sans Narrow"/>
              </a:rPr>
              <a:t>EMERGENCY RESPONSE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3063240"/>
            <a:ext cx="365760" cy="365760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72384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3063240"/>
            <a:ext cx="40233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A30"/>
                </a:solidFill>
                <a:latin typeface="Liberation Sans"/>
              </a:rPr>
              <a:t>Use the site's emergency arrangements; raise the alarm or summon emergency help as appropriate.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3675887"/>
            <a:ext cx="365760" cy="365760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685031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675887"/>
            <a:ext cx="40233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A30"/>
                </a:solidFill>
                <a:latin typeface="Liberation Sans"/>
              </a:rPr>
              <a:t>Move to safety, evacuate or give first aid only within training and site arrangements.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4288536"/>
            <a:ext cx="365760" cy="365760"/>
          </a:xfrm>
          <a:prstGeom prst="ellipse">
            <a:avLst/>
          </a:prstGeom>
          <a:solidFill>
            <a:srgbClr val="B43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297680"/>
            <a:ext cx="3657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288536"/>
            <a:ext cx="402336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A30"/>
                </a:solidFill>
                <a:latin typeface="Liberation Sans"/>
              </a:rPr>
              <a:t>Do not troubleshoot a life-safety event. Do not re-enter or restart until authorized.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20256" y="4892040"/>
            <a:ext cx="4626864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20256" y="5010912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7F2422"/>
                </a:solidFill>
                <a:latin typeface="Liberation Sans"/>
              </a:rPr>
              <a:t>After any incident: notify, preserve facts where safe, and hold affected 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" y="5504688"/>
            <a:ext cx="10991088" cy="640080"/>
          </a:xfrm>
          <a:prstGeom prst="rect">
            <a:avLst/>
          </a:prstGeom>
          <a:solidFill>
            <a:srgbClr val="FFF2DD"/>
          </a:solidFill>
          <a:ln w="1016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632704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57B1A"/>
                </a:solidFill>
                <a:latin typeface="Liberation Sans Narrow"/>
              </a:rPr>
              <a:t>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5605272"/>
            <a:ext cx="9098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172A30"/>
                </a:solidFill>
                <a:latin typeface="Liberation Sans"/>
              </a:rPr>
              <a:t>Internal recording and escalation are required. The responsible competent function checks whether RIDDOR 2013 reporting applies; not every trip is automatically RIDDOR-reportable.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B43B36"/>
                </a:solidFill>
                <a:latin typeface="Liberation Sans Narrow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57B1A"/>
          </a:solidFill>
          <a:ln w="10160">
            <a:solidFill>
              <a:srgbClr val="C57B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57B1A"/>
                </a:solidFill>
                <a:latin typeface="Liberation Sans Narrow"/>
              </a:rPr>
              <a:t>05 / INCOMPLETE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No workaround. Use the safe-hold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A missing check, unclear alarm or unavailable control is a decision point, not an invitation to improvise.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874519"/>
            <a:ext cx="1938528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084831"/>
            <a:ext cx="384048" cy="384048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93975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33472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7B1A"/>
                </a:solidFill>
                <a:latin typeface="Liberation Sans Narrow"/>
              </a:rPr>
              <a:t>SAFE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999232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72A30"/>
                </a:solidFill>
                <a:latin typeface="Liberation Sans"/>
              </a:rPr>
              <a:t>Stop and leave the cell safe. Isolate hazardous energy when the task requires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880360"/>
            <a:ext cx="155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57B1A"/>
                </a:solidFill>
                <a:latin typeface="Liberation Sans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1874519"/>
            <a:ext cx="1938528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53512" y="2084831"/>
            <a:ext cx="384048" cy="384048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093975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633472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7B1A"/>
                </a:solidFill>
                <a:latin typeface="Liberation Sans Narrow"/>
              </a:rPr>
              <a:t>CONTROL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2999232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72A30"/>
                </a:solidFill>
                <a:latin typeface="Liberation Sans"/>
              </a:rPr>
              <a:t>Prevent unauthorized use. Apply status, lock or tag arrangements only as authorized by the site.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880360"/>
            <a:ext cx="155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57B1A"/>
                </a:solidFill>
                <a:latin typeface="Liberation Sans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74336" y="1874519"/>
            <a:ext cx="1938528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38928" y="2084831"/>
            <a:ext cx="384048" cy="384048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2093975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2633472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7B1A"/>
                </a:solidFill>
                <a:latin typeface="Liberation Sans Narrow"/>
              </a:rPr>
              <a:t>HOLD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999232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72A30"/>
                </a:solidFill>
                <a:latin typeface="Liberation Sans"/>
              </a:rPr>
              <a:t>Identify and hold or quarantine affected components from the abnormal or incomplete run.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2880360"/>
            <a:ext cx="155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57B1A"/>
                </a:solidFill>
                <a:latin typeface="Liberation Sans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59752" y="1874519"/>
            <a:ext cx="1938528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24344" y="2084831"/>
            <a:ext cx="384048" cy="384048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2093975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2633472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7B1A"/>
                </a:solidFill>
                <a:latin typeface="Liberation Sans Narrow"/>
              </a:rPr>
              <a:t>RECORD THE 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24344" y="2999232"/>
            <a:ext cx="160934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72A30"/>
                </a:solidFill>
                <a:latin typeface="Liberation Sans"/>
              </a:rPr>
              <a:t>Record the missing step, time, condition, trip or alarm, material and quantity, plus isolation status.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880360"/>
            <a:ext cx="1554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57B1A"/>
                </a:solidFill>
                <a:latin typeface="Liberation Sans"/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45168" y="1874519"/>
            <a:ext cx="2249424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9760" y="2084831"/>
            <a:ext cx="384048" cy="384048"/>
          </a:xfrm>
          <a:prstGeom prst="ellipse">
            <a:avLst/>
          </a:prstGeom>
          <a:solidFill>
            <a:srgbClr val="C57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0" y="2093975"/>
            <a:ext cx="384048" cy="3657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633472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7B1A"/>
                </a:solidFill>
                <a:latin typeface="Liberation Sans Narrow"/>
              </a:rPr>
              <a:t>ESCALATE FOR A DECISION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2999232"/>
            <a:ext cx="1920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72A30"/>
                </a:solidFill>
                <a:latin typeface="Liberation Sans"/>
              </a:rPr>
              <a:t>Supervisor receives the report; maintenance controls equipment intervention; quality controls product disposition; the production or customer lead receives factual impact.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" y="4800600"/>
            <a:ext cx="6748272" cy="1097280"/>
          </a:xfrm>
          <a:prstGeom prst="rect">
            <a:avLst/>
          </a:prstGeom>
          <a:solidFill>
            <a:srgbClr val="FBE9E7"/>
          </a:solidFill>
          <a:ln w="10160">
            <a:solidFill>
              <a:srgbClr val="FBE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010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B43B36"/>
                </a:solidFill>
                <a:latin typeface="Liberation Sans Narrow"/>
              </a:rPr>
              <a:t>NO UNAUTHORIZED CONTINUATION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5321808"/>
            <a:ext cx="61447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7F2422"/>
                </a:solidFill>
                <a:latin typeface="Liberation Sans"/>
              </a:rPr>
              <a:t>If a required step cannot be completed, the cell remains safely stopped until an authorized decision and release exist.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6096" y="4800600"/>
            <a:ext cx="3968496" cy="1097280"/>
          </a:xfrm>
          <a:prstGeom prst="rect">
            <a:avLst/>
          </a:prstGeom>
          <a:solidFill>
            <a:srgbClr val="E6F2F1"/>
          </a:solidFill>
          <a:ln w="10160">
            <a:solidFill>
              <a:srgbClr val="E6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5010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17D80"/>
                </a:solidFill>
                <a:latin typeface="Liberation Sans Narrow"/>
              </a:rPr>
              <a:t>CUSTOMER UPDATE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5321808"/>
            <a:ext cx="345643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0B565A"/>
                </a:solidFill>
                <a:latin typeface="Liberation Sans"/>
              </a:rPr>
              <a:t>Report status, safety-related stoppage, affected work and uncertainty factually. Do not promise continued operation.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" y="6062472"/>
            <a:ext cx="10991088" cy="320040"/>
          </a:xfrm>
          <a:prstGeom prst="rect">
            <a:avLst/>
          </a:prstGeom>
          <a:solidFill>
            <a:srgbClr val="FFF2DD"/>
          </a:solidFill>
          <a:ln w="10160">
            <a:solidFill>
              <a:srgbClr val="FFF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6117336"/>
            <a:ext cx="10698480" cy="2103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1" i="0">
                <a:solidFill>
                  <a:srgbClr val="7F2422"/>
                </a:solidFill>
                <a:latin typeface="Liberation Sans"/>
              </a:rPr>
              <a:t>Stopping a machine is not isolation; maintenance or entry into a hazardous area requires competent authorized isolation / lockout or tagout.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7D80"/>
                </a:solidFill>
                <a:latin typeface="Liberation Sans Narrow"/>
              </a:rPr>
              <a:t>06 / RECORD +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Make the run reconstructable.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Record what was planned, what happened and what remains under control at the handover.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737360"/>
            <a:ext cx="6693408" cy="432511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17D80"/>
                </a:solidFill>
                <a:latin typeface="Liberation Sans Narrow"/>
              </a:rPr>
              <a:t>RUN RECORD | COMPLETE AS YOU GO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9536" y="2743200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9536" y="235000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340864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Date and shift; operator or responsible team; product and material 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9536" y="3300984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9536" y="290779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2898648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Approved recipe, setpoints and equipment configuration actually used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" y="3858768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9536" y="3465575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456432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Planned 480; actual good; held or quarantined; rejected; not produced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" y="4416551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9536" y="402335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014215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Temperature and relevant indicators; abnormal readings and alarms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9536" y="4974336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58114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EVENTS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4572000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Trip or alarm time; stop time; actions; incident or near-miss details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9536" y="5532120"/>
            <a:ext cx="6126480" cy="0"/>
          </a:xfrm>
          <a:prstGeom prst="line">
            <a:avLst/>
          </a:prstGeom>
          <a:ln w="6985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9536" y="513892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565A"/>
                </a:solidFill>
                <a:latin typeface="Liberation Sans Narrow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5129784"/>
            <a:ext cx="501091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5" b="0" i="0">
                <a:solidFill>
                  <a:srgbClr val="172A30"/>
                </a:solidFill>
                <a:latin typeface="Liberation Sans"/>
              </a:rPr>
              <a:t>Isolation status; maintenance intervention; quality approval or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742432"/>
            <a:ext cx="6080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1">
                <a:solidFill>
                  <a:srgbClr val="53676D"/>
                </a:solidFill>
                <a:latin typeface="Liberation Sans"/>
              </a:rPr>
              <a:t>Keep entries factual; do not overwrite an alarm or stop history.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62088" y="1737360"/>
            <a:ext cx="4032504" cy="2029968"/>
          </a:xfrm>
          <a:prstGeom prst="rect">
            <a:avLst/>
          </a:prstGeom>
          <a:solidFill>
            <a:srgbClr val="E6F2F1"/>
          </a:solidFill>
          <a:ln w="10160">
            <a:solidFill>
              <a:srgbClr val="E6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9842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117D80"/>
                </a:solidFill>
                <a:latin typeface="Liberation Sans Narrow"/>
              </a:rPr>
              <a:t>RECONCILE 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2359152"/>
            <a:ext cx="3429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565A"/>
                </a:solidFill>
                <a:latin typeface="Liberation Sans"/>
              </a:rPr>
              <a:t>PLANNED: 480 COMPONENTS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761488"/>
            <a:ext cx="3456432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2A30"/>
                </a:solidFill>
                <a:latin typeface="Liberation Sans"/>
              </a:rPr>
              <a:t>Report separately: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72A30"/>
                </a:solidFill>
                <a:latin typeface="Liberation Sans"/>
              </a:rPr>
              <a:t>GOOD | HELD / QUARANTINED | REJECTED | NOT PRODUCED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38328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0B565A"/>
                </a:solidFill>
                <a:latin typeface="Liberation Sans"/>
              </a:rPr>
              <a:t>Explain every variance with downtime, trip, quality hold or another factual reason.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62088" y="3995928"/>
            <a:ext cx="4032504" cy="2221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42519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C57B1A"/>
                </a:solidFill>
                <a:latin typeface="Liberation Sans Narrow"/>
              </a:rPr>
              <a:t>HANDOVER + CLOSEOUT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590288"/>
            <a:ext cx="3429000" cy="1353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1000"/>
              </a:lnSpc>
              <a:spcAft>
                <a:spcPts val="200"/>
              </a:spcAft>
            </a:pPr>
            <a:r>
              <a:rPr sz="915" b="0">
                <a:solidFill>
                  <a:srgbClr val="172A30"/>
                </a:solidFill>
                <a:latin typeface="Liberation Sans"/>
              </a:rPr>
              <a:t>- cell status: running, stopped, isolated or awaiting release</a:t>
            </a:r>
          </a:p>
          <a:p>
            <a:pPr>
              <a:lnSpc>
                <a:spcPct val="101000"/>
              </a:lnSpc>
              <a:spcAft>
                <a:spcPts val="200"/>
              </a:spcAft>
            </a:pPr>
            <a:r>
              <a:rPr sz="915" b="0">
                <a:solidFill>
                  <a:srgbClr val="172A30"/>
                </a:solidFill>
                <a:latin typeface="Liberation Sans"/>
              </a:rPr>
              <a:t>- unresolved trips or alarms; isolation status; held work and labels</a:t>
            </a:r>
          </a:p>
          <a:p>
            <a:pPr>
              <a:lnSpc>
                <a:spcPct val="101000"/>
              </a:lnSpc>
              <a:spcAft>
                <a:spcPts val="200"/>
              </a:spcAft>
            </a:pPr>
            <a:r>
              <a:rPr sz="915" b="0">
                <a:solidFill>
                  <a:srgbClr val="172A30"/>
                </a:solidFill>
                <a:latin typeface="Liberation Sans"/>
              </a:rPr>
              <a:t>- records complete and location; next authorized decision point</a:t>
            </a:r>
          </a:p>
          <a:p>
            <a:pPr>
              <a:lnSpc>
                <a:spcPct val="101000"/>
              </a:lnSpc>
              <a:spcAft>
                <a:spcPts val="200"/>
              </a:spcAft>
            </a:pPr>
            <a:r>
              <a:rPr sz="915" b="0">
                <a:solidFill>
                  <a:srgbClr val="172A30"/>
                </a:solidFill>
                <a:latin typeface="Liberation Sans"/>
              </a:rPr>
              <a:t>- make the cell safe; safeguards and isolation status clear</a:t>
            </a:r>
          </a:p>
          <a:p>
            <a:pPr>
              <a:lnSpc>
                <a:spcPct val="101000"/>
              </a:lnSpc>
              <a:spcAft>
                <a:spcPts val="200"/>
              </a:spcAft>
            </a:pPr>
            <a:r>
              <a:rPr sz="915" b="0">
                <a:solidFill>
                  <a:srgbClr val="172A30"/>
                </a:solidFill>
                <a:latin typeface="Liberation Sans"/>
              </a:rPr>
              <a:t>- residues or waste under site controls; record final condition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17D80"/>
          </a:solidFill>
          <a:ln w="10160">
            <a:solidFill>
              <a:srgbClr val="11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47472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7D80"/>
                </a:solidFill>
                <a:latin typeface="Liberation Sans Narrow"/>
              </a:rPr>
              <a:t>07 / AUTHORITY +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21792"/>
            <a:ext cx="107442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A30"/>
                </a:solidFill>
                <a:latin typeface="Liberation Sans"/>
              </a:rPr>
              <a:t>One boundary for this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115568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53676D"/>
                </a:solidFill>
                <a:latin typeface="Liberation Sans"/>
              </a:rPr>
              <a:t>Three trips in two shifts + unresolved reset authority + 480 components from 22:00 to 06:00 set this boundary.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3504" y="1508760"/>
            <a:ext cx="10991088" cy="0"/>
          </a:xfrm>
          <a:prstGeom prst="line">
            <a:avLst/>
          </a:prstGeom>
          <a:ln w="1016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603504" y="1737360"/>
            <a:ext cx="6601968" cy="3364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5D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842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117D80"/>
                </a:solidFill>
                <a:latin typeface="Liberation Sans Narrow"/>
              </a:rPr>
              <a:t>WHO DECIDES 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34086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 Narrow"/>
              </a:rPr>
              <a:t>OPERATOR | MATEO / BEKELE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331720"/>
            <a:ext cx="3913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A30"/>
                </a:solidFill>
                <a:latin typeface="Liberation Sans"/>
              </a:rPr>
              <a:t>Operate if trained and authorized; monitor, stop, protect, record and report. No reset, repair, bypass or product release.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9536" y="2770632"/>
            <a:ext cx="6053328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9536" y="2880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 Narrow"/>
              </a:rPr>
              <a:t>SUPERVISOR | ALIA PENROSE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871216"/>
            <a:ext cx="3913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A30"/>
                </a:solidFill>
                <a:latin typeface="Liberation Sans"/>
              </a:rPr>
              <a:t>Brief and verify pre-start; receive reports; coordinate stop, hold, escalation and handover. Does not invent maintenance authority.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9536" y="3310128"/>
            <a:ext cx="6053328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9536" y="34198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 Narrow"/>
              </a:rPr>
              <a:t>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3410712"/>
            <a:ext cx="3913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A30"/>
                </a:solidFill>
                <a:latin typeface="Liberation Sans"/>
              </a:rPr>
              <a:t>Controls investigation, repair, fault reset and protective/control changes under competent authorization and isolation.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" y="3849624"/>
            <a:ext cx="6053328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59536" y="3959352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 Narrow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950208"/>
            <a:ext cx="3913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A30"/>
                </a:solidFill>
                <a:latin typeface="Liberation Sans"/>
              </a:rPr>
              <a:t>Controls hold, disposition and release of affected components. Operators and customer pressure do not release product.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" y="4389120"/>
            <a:ext cx="6053328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59536" y="449884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 Narrow"/>
              </a:rPr>
              <a:t>CUSTOMER IMPACT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4368" y="4489704"/>
            <a:ext cx="39136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2A30"/>
                </a:solidFill>
                <a:latin typeface="Liberation Sans"/>
              </a:rPr>
              <a:t>Emeka Lombardi receives factual status and informs Eastharbour Mutual; a continuity promise cannot authorize unsafe continuation.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9536" y="4928616"/>
            <a:ext cx="6053328" cy="0"/>
          </a:xfrm>
          <a:prstGeom prst="line">
            <a:avLst/>
          </a:prstGeom>
          <a:ln w="635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479792" y="1737360"/>
            <a:ext cx="4114800" cy="3364992"/>
          </a:xfrm>
          <a:prstGeom prst="rect">
            <a:avLst/>
          </a:prstGeom>
          <a:solidFill>
            <a:srgbClr val="E6F2F1"/>
          </a:solidFill>
          <a:ln w="10160">
            <a:solidFill>
              <a:srgbClr val="E6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35824" y="19842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565A"/>
                </a:solidFill>
                <a:latin typeface="Liberation Sans Narrow"/>
              </a:rPr>
              <a:t>UK CONTROL FRAME | AS AT 8 JULY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359152"/>
            <a:ext cx="3566160" cy="2194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0">
                <a:solidFill>
                  <a:srgbClr val="172A30"/>
                </a:solidFill>
                <a:latin typeface="Liberation Sans"/>
              </a:rPr>
              <a:t>HSWA 1974: safe systems, information, training and supervision.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000" b="0">
                <a:solidFill>
                  <a:srgbClr val="172A30"/>
                </a:solidFill>
                <a:latin typeface="Liberation Sans"/>
              </a:rPr>
              <a:t>Management Regulations 1999: risk assessment and planned arrangements.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969" b="0">
                <a:solidFill>
                  <a:srgbClr val="172A30"/>
                </a:solidFill>
                <a:latin typeface="Liberation Sans"/>
              </a:rPr>
              <a:t>PUWER 1998: suitable equipment, guarding, safe controls, maintenance and inspection or examination where applicable. It does not grant an operator reset or repair authority.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969" b="0">
                <a:solidFill>
                  <a:srgbClr val="172A30"/>
                </a:solidFill>
                <a:latin typeface="Liberation Sans"/>
              </a:rPr>
              <a:t>COSHH 2002: assess and control coating exposure using current safety information and the hierarchy of controls; PPE is not the sole control.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5824" y="4553712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"/>
              </a:rPr>
              <a:t>Site emergency arrangements control emergency response. The responsible competent function decides RIDDOR applicability.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5" b="1" i="0">
                <a:solidFill>
                  <a:srgbClr val="0B565A"/>
                </a:solidFill>
                <a:latin typeface="Liberation Sans"/>
              </a:rPr>
              <a:t>This is an operational aid, not legal advice or a substitute for controlled site documents.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" y="5340096"/>
            <a:ext cx="10991088" cy="896112"/>
          </a:xfrm>
          <a:prstGeom prst="rect">
            <a:avLst/>
          </a:prstGeom>
          <a:solidFill>
            <a:srgbClr val="29434A"/>
          </a:solidFill>
          <a:ln w="10160">
            <a:solidFill>
              <a:srgbClr val="294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504688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8BD2CF"/>
                </a:solidFill>
                <a:latin typeface="Liberation Sans Narrow"/>
              </a:rPr>
              <a:t>DECISION FOR 8 JULY 2025 NIGHT 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751576"/>
            <a:ext cx="10424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FFFFFF"/>
                </a:solidFill>
                <a:latin typeface="Liberation Sans"/>
              </a:rPr>
              <a:t>Proceed with the 480-component run from 22:00 to 06:00 only inside the verified safe operating envelope and with competent approvals in place. While maintenance authority is unresolved: 0 operator resets. Any trip or unsafe condition means safe stop, hold affected work and escalate; customer continuity cannot override this boundary.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" y="6556248"/>
            <a:ext cx="10991088" cy="0"/>
          </a:xfrm>
          <a:prstGeom prst="line">
            <a:avLst/>
          </a:prstGeom>
          <a:ln w="8890">
            <a:solidFill>
              <a:srgbClr val="D5D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3504" y="6592824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53676D"/>
                </a:solidFill>
                <a:latin typeface="Liberation Sans Narrow"/>
              </a:rPr>
              <a:t>CANDLEWICK MANUFACTURING | COMPONENT-COATING CELL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59282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53676D"/>
                </a:solidFill>
                <a:latin typeface="Liberation Sans Narrow"/>
              </a:rPr>
              <a:t>Temporary arrangement | UK | 8 July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574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7D80"/>
                </a:solidFill>
                <a:latin typeface="Liberation Sans Narrow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Temporary coating-cell operating procedure</dc:title>
  <dc:subject>Temporary night-run operating boundary and training aid</dc:subject>
  <dc:creator>Candlewick Manufacturing</dc:creator>
  <cp:keywords>coating cell, temporary procedure, safety, UK, 8 July 2025</cp:keywords>
  <dc:description>Approval-ready draft; use with current controlled site documents.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