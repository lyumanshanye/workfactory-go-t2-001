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65D"/>
                </a:solidFill>
              </a:defRPr>
            </a:pPr>
            <a:r>
              <a:t>Cross-border location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45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OVERSIGHT CASE BRIEF • 18 OCTOBER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6675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7365D"/>
                </a:solidFill>
              </a:defRPr>
            </a:pPr>
            <a:r>
              <a:t>Dagny Merriweather (61)</a:t>
            </a:r>
            <a:br/>
            <a:r>
              <a:t>Emeka Navarro • retires 31 Mar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971800"/>
            <a:ext cx="7040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00828C"/>
                </a:solidFill>
              </a:defRPr>
            </a:pPr>
            <a:r>
              <a:t>Review question: what must be known before an October location conclusion is defensible?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4B555F"/>
                </a:solidFill>
              </a:defRPr>
            </a:pPr>
            <a:r>
              <a:t>Snapshot effective 30 Sep 2025 • source-disciplined • no recommendation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65D"/>
                </a:solidFill>
              </a:defRPr>
            </a:pPr>
            <a:r>
              <a:t>Case frame: two horizons, one deadline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45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01 • FACT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00828C"/>
                </a:solidFill>
              </a:defRPr>
            </a:pPr>
            <a:r>
              <a:t>SALE-YEAR RESIDENCE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4B555F"/>
                </a:solidFill>
              </a:defRPr>
            </a:pPr>
            <a:r>
              <a:t>Alderwick share sale expected “in the spring” after the October decision.</a:t>
            </a:r>
          </a:p>
          <a:p>
            <a:pPr>
              <a:spcAft>
                <a:spcPts val="900"/>
              </a:spcAft>
              <a:defRPr sz="1600">
                <a:solidFill>
                  <a:srgbClr val="4B555F"/>
                </a:solidFill>
              </a:defRPr>
            </a:pPr>
            <a:r>
              <a:t>Residence during the disposition year can change taxing authority, departure-tax sequencing and credit use.</a:t>
            </a:r>
          </a:p>
          <a:p>
            <a:pPr>
              <a:spcAft>
                <a:spcPts val="900"/>
              </a:spcAft>
              <a:defRPr sz="1600">
                <a:solidFill>
                  <a:srgbClr val="4B555F"/>
                </a:solidFill>
              </a:defRPr>
            </a:pPr>
            <a:r>
              <a:t>Exact closing date, terms, basis and seller status remain unresolved.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344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00828C"/>
                </a:solidFill>
              </a:defRPr>
            </a:pPr>
            <a:r>
              <a:t>POST-SALE SETTLEMENT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64592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4B555F"/>
                </a:solidFill>
              </a:defRPr>
            </a:pPr>
            <a:r>
              <a:t>Nova Scotia and Maine remain meaningful long-term choices even before sale-year residence is fixed.</a:t>
            </a:r>
          </a:p>
          <a:p>
            <a:pPr>
              <a:spcAft>
                <a:spcPts val="900"/>
              </a:spcAft>
              <a:defRPr sz="1600">
                <a:solidFill>
                  <a:srgbClr val="4B555F"/>
                </a:solidFill>
              </a:defRPr>
            </a:pPr>
            <a:r>
              <a:t>Accounts, provider access and health coverage shape practical settlement.</a:t>
            </a:r>
          </a:p>
          <a:p>
            <a:pPr>
              <a:spcAft>
                <a:spcPts val="900"/>
              </a:spcAft>
              <a:defRPr sz="1600">
                <a:solidFill>
                  <a:srgbClr val="4B555F"/>
                </a:solidFill>
              </a:defRPr>
            </a:pPr>
            <a:r>
              <a:t>Decision horizon: usable client answer by 31 Oct 2025; internal review 18 Oct, 4:00 p.m. Atlantic.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80644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7365D"/>
                </a:solidFill>
              </a:defRPr>
            </a:pPr>
            <a:r>
              <a:t>Do not collapse the long-term home into an assumed sale-year tax residence.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65D"/>
                </a:solidFill>
              </a:defRPr>
            </a:pPr>
            <a:r>
              <a:t>Evidence retained and normalized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45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02 • SOURCE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154680" cy="4480560"/>
          </a:xfrm>
          <a:prstGeom prst="roundRect">
            <a:avLst/>
          </a:prstGeom>
          <a:solidFill>
            <a:srgbClr val="F1F6F9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44475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0828C"/>
                </a:solidFill>
              </a:defRPr>
            </a:pPr>
            <a:r>
              <a:t>CONFIRMED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234440"/>
            <a:ext cx="3154680" cy="4480560"/>
          </a:xfrm>
          <a:prstGeom prst="roundRect">
            <a:avLst/>
          </a:prstGeom>
          <a:solidFill>
            <a:srgbClr val="F1F6F9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5112" y="144475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0828C"/>
                </a:solidFill>
              </a:defRPr>
            </a:pPr>
            <a:r>
              <a:t>UNRESOLVED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234440"/>
            <a:ext cx="3154680" cy="4480560"/>
          </a:xfrm>
          <a:prstGeom prst="roundRect">
            <a:avLst/>
          </a:prstGeom>
          <a:solidFill>
            <a:srgbClr val="F1F6F9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45552" y="144475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0828C"/>
                </a:solidFill>
              </a:defRPr>
            </a:pPr>
            <a:r>
              <a:t>EXCLUDED / QUALIFIED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874519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4B555F"/>
                </a:solidFill>
              </a:defRPr>
            </a:pPr>
            <a:r>
              <a:t>Dagny 61; sale expected spring.</a:t>
            </a:r>
          </a:p>
          <a:p>
            <a:pPr>
              <a:spcAft>
                <a:spcPts val="900"/>
              </a:spcAft>
              <a:defRPr sz="1300">
                <a:solidFill>
                  <a:srgbClr val="4B555F"/>
                </a:solidFill>
              </a:defRPr>
            </a:pPr>
            <a:r>
              <a:t>Emeka retires 31 Mar 2026; born 30 Nov 1961.</a:t>
            </a:r>
          </a:p>
          <a:p>
            <a:pPr>
              <a:spcAft>
                <a:spcPts val="900"/>
              </a:spcAft>
              <a:defRPr sz="1300">
                <a:solidFill>
                  <a:srgbClr val="4B555F"/>
                </a:solidFill>
              </a:defRPr>
            </a:pPr>
            <a:r>
              <a:t>Alderwick proceeds CAD 1,250,000; provisional basis CAD 350,000.</a:t>
            </a:r>
          </a:p>
          <a:p>
            <a:pPr>
              <a:spcAft>
                <a:spcPts val="900"/>
              </a:spcAft>
              <a:defRPr sz="1300">
                <a:solidFill>
                  <a:srgbClr val="4B555F"/>
                </a:solidFill>
              </a:defRPr>
            </a:pPr>
            <a:r>
              <a:t>RRSP CAD 420,000; TFSA CAD 88,000.</a:t>
            </a:r>
          </a:p>
          <a:p>
            <a:pPr>
              <a:spcAft>
                <a:spcPts val="900"/>
              </a:spcAft>
              <a:defRPr sz="1300">
                <a:solidFill>
                  <a:srgbClr val="4B555F"/>
                </a:solidFill>
              </a:defRPr>
            </a:pPr>
            <a:r>
              <a:t>Inglewood balance USD 310,000.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874519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4B555F"/>
                </a:solidFill>
              </a:defRPr>
            </a:pPr>
            <a:r>
              <a:t>Citizenship/immigration, green-card history and day counts.</a:t>
            </a:r>
          </a:p>
          <a:p>
            <a:pPr>
              <a:spcAft>
                <a:spcPts val="900"/>
              </a:spcAft>
              <a:defRPr sz="1300">
                <a:solidFill>
                  <a:srgbClr val="4B555F"/>
                </a:solidFill>
              </a:defRPr>
            </a:pPr>
            <a:r>
              <a:t>Home availability and move/sale/payment sequence.</a:t>
            </a:r>
          </a:p>
          <a:p>
            <a:pPr>
              <a:spcAft>
                <a:spcPts val="900"/>
              </a:spcAft>
              <a:defRPr sz="1300">
                <a:solidFill>
                  <a:srgbClr val="4B555F"/>
                </a:solidFill>
              </a:defRPr>
            </a:pPr>
            <a:r>
              <a:t>Share/entity characterization and exemption eligibility.</a:t>
            </a:r>
          </a:p>
          <a:p>
            <a:pPr>
              <a:spcAft>
                <a:spcPts val="900"/>
              </a:spcAft>
              <a:defRPr sz="1300">
                <a:solidFill>
                  <a:srgbClr val="4B555F"/>
                </a:solidFill>
              </a:defRPr>
            </a:pPr>
            <a:r>
              <a:t>Inglewood plan legal type and distribution form.</a:t>
            </a:r>
          </a:p>
          <a:p>
            <a:pPr>
              <a:spcAft>
                <a:spcPts val="900"/>
              </a:spcAft>
              <a:defRPr sz="1300">
                <a:solidFill>
                  <a:srgbClr val="4B555F"/>
                </a:solidFill>
              </a:defRPr>
            </a:pPr>
            <a:r>
              <a:t>Continuation election/network usefulness.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1874519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4B555F"/>
                </a:solidFill>
              </a:defRPr>
            </a:pPr>
            <a:r>
              <a:t>Forwarded four-line email counted once.</a:t>
            </a:r>
          </a:p>
          <a:p>
            <a:pPr>
              <a:spcAft>
                <a:spcPts val="900"/>
              </a:spcAft>
              <a:defRPr sz="1300">
                <a:solidFill>
                  <a:srgbClr val="4B555F"/>
                </a:solidFill>
              </a:defRPr>
            </a:pPr>
            <a:r>
              <a:t>NS/Nova Scotia and ME/Maine labels normalized.</a:t>
            </a:r>
          </a:p>
          <a:p>
            <a:pPr>
              <a:spcAft>
                <a:spcPts val="900"/>
              </a:spcAft>
              <a:defRPr sz="1300">
                <a:solidFill>
                  <a:srgbClr val="4B555F"/>
                </a:solidFill>
              </a:defRPr>
            </a:pPr>
            <a:r>
              <a:t>Malformed “CAD 350,00O” and “401(k?)” not repaired.</a:t>
            </a:r>
          </a:p>
          <a:p>
            <a:pPr>
              <a:spcAft>
                <a:spcPts val="900"/>
              </a:spcAft>
              <a:defRPr sz="1300">
                <a:solidFill>
                  <a:srgbClr val="4B555F"/>
                </a:solidFill>
              </a:defRPr>
            </a:pPr>
            <a:r>
              <a:t>Northstar Gold USD 315/month sample excluded.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98932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7365D"/>
                </a:solidFill>
              </a:defRPr>
            </a:pPr>
            <a:r>
              <a:t>Sole source: approved jurisdictional snapshot effective 30 September 2025; not live or subsequently updated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65D"/>
                </a:solidFill>
              </a:defRPr>
            </a:pPr>
            <a:r>
              <a:t>Parallel jurisdiction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45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03 • DOCTRINAL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00828C"/>
                </a:solidFill>
              </a:defRPr>
            </a:pPr>
            <a:r>
              <a:t>NOVA SCOTIA / CANADA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143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00828C"/>
                </a:solidFill>
              </a:defRPr>
            </a:pPr>
            <a:r>
              <a:t>MAINE / UNITED STATES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4B555F"/>
                </a:solidFill>
              </a:defRPr>
            </a:pPr>
            <a:r>
              <a:t>Residence is fact-dependent on residential ties and circumstances; provincial tax follows applicable residence/allocation rules.</a:t>
            </a:r>
          </a:p>
          <a:p>
            <a:pPr>
              <a:spcAft>
                <a:spcPts val="900"/>
              </a:spcAft>
              <a:defRPr sz="1400">
                <a:solidFill>
                  <a:srgbClr val="4B555F"/>
                </a:solidFill>
              </a:defRPr>
            </a:pPr>
            <a:r>
              <a:t>Departure-tax deemed disposition may apply to applicable property; actual sale and deemed disposition require sequencing and basis coordination.</a:t>
            </a:r>
          </a:p>
          <a:p>
            <a:pPr>
              <a:spcAft>
                <a:spcPts val="900"/>
              </a:spcAft>
              <a:defRPr sz="1400">
                <a:solidFill>
                  <a:srgbClr val="4B555F"/>
                </a:solidFill>
              </a:defRPr>
            </a:pPr>
            <a:r>
              <a:t>Registered-account continuation, withdrawal tax, withholding and provider access are separate.</a:t>
            </a:r>
          </a:p>
          <a:p>
            <a:pPr>
              <a:spcAft>
                <a:spcPts val="900"/>
              </a:spcAft>
              <a:defRPr sz="1400">
                <a:solidFill>
                  <a:srgbClr val="4B555F"/>
                </a:solidFill>
              </a:defRPr>
            </a:pPr>
            <a:r>
              <a:t>Public coverage: residence + physical presence; snapshot effective first day of third month after establishing residence, subject to enrollment.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4B555F"/>
                </a:solidFill>
              </a:defRPr>
            </a:pPr>
            <a:r>
              <a:t>Federal residence may depend on citizenship/immigration and physical-presence tests; a Maine home alone is not conclusive.</a:t>
            </a:r>
          </a:p>
          <a:p>
            <a:pPr>
              <a:spcAft>
                <a:spcPts val="900"/>
              </a:spcAft>
              <a:defRPr sz="1400">
                <a:solidFill>
                  <a:srgbClr val="4B555F"/>
                </a:solidFill>
              </a:defRPr>
            </a:pPr>
            <a:r>
              <a:t>Maine resident and Maine-source taxation are distinct; nonresidence does not erase all exposure.</a:t>
            </a:r>
          </a:p>
          <a:p>
            <a:pPr>
              <a:spcAft>
                <a:spcPts val="900"/>
              </a:spcAft>
              <a:defRPr sz="1400">
                <a:solidFill>
                  <a:srgbClr val="4B555F"/>
                </a:solidFill>
              </a:defRPr>
            </a:pPr>
            <a:r>
              <a:t>US federal treaty treatment for Canadian accounts is limited; Maine analysis is separate.</a:t>
            </a:r>
          </a:p>
          <a:p>
            <a:pPr>
              <a:spcAft>
                <a:spcPts val="900"/>
              </a:spcAft>
              <a:defRPr sz="1400">
                <a:solidFill>
                  <a:srgbClr val="4B555F"/>
                </a:solidFill>
              </a:defRPr>
            </a:pPr>
            <a:r>
              <a:t>Ordinary Medicare is not created merely by retirement/move before 65; individual-market eligibility and timing remain conditional.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807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17365D"/>
                </a:solidFill>
              </a:defRPr>
            </a:pPr>
            <a:r>
              <a:t>Immigration permission ≠ tax residence ≠ health eligibility. Treaty tie-breaker only after dual domestic residence; not a free election.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65D"/>
                </a:solidFill>
              </a:defRPr>
            </a:pPr>
            <a:r>
              <a:t>Decision-critical dependencies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45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04 • WHAT BLOCKS A SAFE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00828C"/>
                </a:solidFill>
              </a:defRPr>
            </a:pPr>
            <a:r>
              <a:t>MUST SETTLE BEFORE OCTOBER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4B555F"/>
                </a:solidFill>
              </a:defRPr>
            </a:pPr>
            <a:r>
              <a:t>Status + presence pattern and available homes → can change Canadian/US residence and treaty analysis.</a:t>
            </a:r>
          </a:p>
          <a:p>
            <a:pPr>
              <a:spcAft>
                <a:spcPts val="900"/>
              </a:spcAft>
              <a:defRPr sz="1500">
                <a:solidFill>
                  <a:srgbClr val="4B555F"/>
                </a:solidFill>
              </a:defRPr>
            </a:pPr>
            <a:r>
              <a:t>Sale–move–payment sequence and share facts → can change taxing jurisdiction, departure-tax sequencing and conditional share relief.</a:t>
            </a:r>
          </a:p>
          <a:p>
            <a:pPr>
              <a:spcAft>
                <a:spcPts val="900"/>
              </a:spcAft>
              <a:defRPr sz="1500">
                <a:solidFill>
                  <a:srgbClr val="4B555F"/>
                </a:solidFill>
              </a:defRPr>
            </a:pPr>
            <a:r>
              <a:t>Emeka plan classification / distribution form → can change withholding, treaty characterization and Canadian inclusion.</a:t>
            </a:r>
          </a:p>
          <a:p>
            <a:pPr>
              <a:spcAft>
                <a:spcPts val="900"/>
              </a:spcAft>
              <a:defRPr sz="1500">
                <a:solidFill>
                  <a:srgbClr val="4B555F"/>
                </a:solidFill>
              </a:defRPr>
            </a:pPr>
            <a:r>
              <a:t>Coverage availability during 31 Mar–30 Nov 2026 → can create an under-65 gap; neither location automatically closes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43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00828C"/>
                </a:solidFill>
              </a:defRPr>
            </a:pPr>
            <a:r>
              <a:t>LATER REFINEMENTS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4B555F"/>
                </a:solidFill>
              </a:defRPr>
            </a:pPr>
            <a:r>
              <a:t>Beneficiary updates and exact withdrawal scheduling after classification.</a:t>
            </a:r>
          </a:p>
          <a:p>
            <a:pPr>
              <a:spcAft>
                <a:spcPts val="900"/>
              </a:spcAft>
              <a:defRPr sz="1500">
                <a:solidFill>
                  <a:srgbClr val="4B555F"/>
                </a:solidFill>
              </a:defRPr>
            </a:pPr>
            <a:r>
              <a:t>Provider paperwork and operational access confirmations.</a:t>
            </a:r>
          </a:p>
          <a:p>
            <a:pPr>
              <a:spcAft>
                <a:spcPts val="900"/>
              </a:spcAft>
              <a:defRPr sz="1500">
                <a:solidFill>
                  <a:srgbClr val="4B555F"/>
                </a:solidFill>
              </a:defRPr>
            </a:pPr>
            <a:r>
              <a:t>Cash-flow optimization and detailed credit computations.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98932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7365D"/>
                </a:solidFill>
              </a:defRPr>
            </a:pPr>
            <a:r>
              <a:t>Boundary is impact-based: blockers can change residence, coverage availability or credit usability.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365D"/>
                </a:solidFill>
              </a:defRPr>
            </a:pPr>
            <a:r>
              <a:t>Two high-yield questions and review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459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05 • NEXT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0828C"/>
                </a:solidFill>
              </a:defRPr>
            </a:pPr>
            <a:r>
              <a:t>1  RESIDENCE +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4B555F"/>
                </a:solidFill>
              </a:defRPr>
            </a:pPr>
            <a:r>
              <a:t>What citizenship/immigration status (including US green-card history), available homes, and intended move–Alderwick closing–proceeds sequence apply in 2025–2026? → Changes sale-year residence, possible dual-residence treaty analysis, and the horizon being compared.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80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0828C"/>
                </a:solidFill>
              </a:defRPr>
            </a:pPr>
            <a:r>
              <a:t>2  PLAN +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10515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4B555F"/>
                </a:solidFill>
              </a:defRPr>
            </a:pPr>
            <a:r>
              <a:t>Can the Inglewood administrator confirm legal plan type, periodic vs lump-sum form, and whether employee+spouse continuation can be elected after 31 March 2026 at USD 1,480/month with usable Maine access? → Changes plan tax/withholding, Canadian treatment, and whether an under-65 coverage gap is plausible.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120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7365D"/>
                </a:solidFill>
              </a:defRPr>
            </a:pPr>
            <a:r>
              <a:t>Oversight conclusion: the files support a neutral comparison and focused information request—not a preferred jurisdiction or transaction.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