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DECISION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Inspection capability roadmap | Lanternwood renewal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Submission due 31 March 2026 • Horizon: Year 1 (2026)–Year 3 (2028)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52E3E"/>
                </a:solidFill>
                <a:latin typeface="Aptos"/>
              </a:defRPr>
            </a:pPr>
            <a:r>
              <a:t>Stage the laser-tracker capability now; retain the approved independent signer through the qualification 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600200"/>
            <a:ext cx="3931920" cy="118872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35824" y="17099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Demand step-up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35824" y="2011680"/>
            <a:ext cx="3657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24,000 → 66,000 bearings</a:t>
            </a:r>
            <a:br/>
            <a:r>
              <a:t>+175.0% in Year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971800"/>
            <a:ext cx="3931920" cy="11430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30815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Policy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33832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≥20% reserve (≤80% utilization) and customer-accepted certificates.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343400"/>
            <a:ext cx="3931920" cy="11430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35824" y="44531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Accepted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5824" y="4754880"/>
            <a:ext cx="365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External cost and supplier dependence now, in return for acceptance and reversibility.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Inputs—Planning brief; Demand Forecast; Issued Decision Policy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01 |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Demand outlook is the forcing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Latest approved record retained per printed business key; Notes reviewed.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4173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Year 1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7830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12,000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40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8,000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697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2461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Total 24,000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4173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Year 2 (2027)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830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28,000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40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26,000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697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12,000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461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Total 66,000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Year 3 (2028)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34,000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40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30,000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52E3E"/>
                </a:solidFill>
                <a:latin typeface="Aptos"/>
              </a:defRPr>
            </a:pPr>
            <a:r>
              <a:t>16,000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Total 80,000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Angular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Cylindrical 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Thrust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Method disclosure: the most recent Approved revision is retained for repeated Year + family + route keys. The Year 2 Angular route note permits a 10% laser transfer after validation; it does not alter family demand.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33832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001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303520"/>
            <a:ext cx="3108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24,000 bearings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892040"/>
            <a:ext cx="33832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5001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5303520"/>
            <a:ext cx="3108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66,000 bearings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892040"/>
            <a:ext cx="33832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500176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5303520"/>
            <a:ext cx="31089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80,000 bearings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Source: Renewal Inputs—Demand 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02 |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Workload grows before the technical route can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Hours = retained family demand × cycle time ÷ 60.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Dimensional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Surface /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17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Certification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Year 1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1,200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593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320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Year 2 (2027)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3,283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1,620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517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877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3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74650"/>
                </a:solidFill>
                <a:latin typeface="Aptos"/>
              </a:defRPr>
            </a:pPr>
            <a:r>
              <a:t>Year 3 (2028)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4,017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1,983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747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52E3E"/>
                </a:solidFill>
                <a:latin typeface="Aptos"/>
              </a:defRPr>
            </a:pPr>
            <a:r>
              <a:t>1,070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Year 2 dimensional workload is 3,383 h. Laser capability is not productive until 01 January 2027; the legacy CMM cannot be a planned post-support solution.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Inputs—Demand Forecast; Inspection Workload &amp; Resource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03 | POLICY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Effective capacity, not nameplate hours, determines adequacy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Policy limit: utilization ≤80% (maintain 20% reserve).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173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4173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41732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Utilization / headroom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1 | CMM dimensional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1,200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7830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1,800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783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67% | +600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1 | agency other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41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913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4414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1,200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4144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76% | +287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99815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2 | laser dimensional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99815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3,283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099815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4,500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099815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73% | +1,217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58184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2 | agency surface/cert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75818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2,497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5818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3,200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75818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78% | +703 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1655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3 | laser dimensional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4165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4,017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4165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5,500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1655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73% | +1,483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749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3741"/>
                </a:solidFill>
                <a:latin typeface="Aptos"/>
              </a:defRPr>
            </a:pPr>
            <a:r>
              <a:t>Year 3 | agency surface/cert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0749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3,053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0749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F3241"/>
                </a:solidFill>
                <a:latin typeface="Aptos"/>
              </a:defRPr>
            </a:pPr>
            <a:r>
              <a:t>4,000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074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6E55"/>
                </a:solidFill>
                <a:latin typeface="Aptos"/>
              </a:defRPr>
            </a:pPr>
            <a:r>
              <a:t>76% | +947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436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F3241"/>
                </a:solidFill>
                <a:latin typeface="Aptos"/>
              </a:defRPr>
            </a:pPr>
            <a:r>
              <a:t>Bottleneck to manage: Year 1 agency coverage is highest at 76% utilization; the transition must protect its reservation and the laser start-up sequence.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Inputs—Inspection Workload &amp; Resource Capacity; Issued Decision Policy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04 |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Three delivery models compared on the same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Capital plus annual fixed and workload-linked costs across the stated horizon.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Capex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4256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2784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371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3-year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Retain independent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$289,633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$601,300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$710,950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$1,601,883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In-house laser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606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$540,000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606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$334,033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2606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$684,667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606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$807,850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606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$2,366,550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8328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Staged hybrid (recommended)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3383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$540,000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383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$417,033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383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$512,667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383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52E3E"/>
                </a:solidFill>
                <a:latin typeface="Aptos"/>
              </a:defRPr>
            </a:pPr>
            <a:r>
              <a:t>$635,850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3383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E3E"/>
                </a:solidFill>
                <a:latin typeface="Aptos"/>
              </a:defRPr>
            </a:pPr>
            <a:r>
              <a:t>$2,105,550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17720"/>
            <a:ext cx="3474720" cy="11430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7274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Retain independent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0292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Immediate capacity + accepted certificates; recurring cost and supplier exposure.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617720"/>
            <a:ext cx="3474720" cy="11430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47274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In-house laser tracker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50292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Technical capacity after validation; no automatic accepted signing authority.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617720"/>
            <a:ext cx="3474720" cy="11430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4727448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Staged hybrid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4464" y="50292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Bounded capital, agency signing retained, internal lead-time benefit after ramp.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Source: Renewal Inputs—Commercial Delivery Options; calculated workload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05 | RECOMMENDED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A staged hybrid preserves accepted certificates in every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Technical measurement and authority to issue Lanternwood-accepted certificates are kept distinct.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429768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5727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1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74520"/>
            <a:ext cx="32461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Reserve 1,200 h agency; issue staged laser PO; final CMM calibration by 31 Dec; use CMM for dimensional, agency for other stages and certificates.</a:t>
            </a:r>
            <a:br/>
            <a:br/>
            <a:r>
              <a:t>Owner(s): Amara / Ingrid / Emeka / Olamide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463040"/>
            <a:ext cx="3520440" cy="429768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5727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2 (2027)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874520"/>
            <a:ext cx="32461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Laser productive 01 Jan after install, training and validation; agency signs certificates and covers other stages within the 3,200 h cap. No CMM after 30 Jun support end.</a:t>
            </a:r>
            <a:br/>
            <a:br/>
            <a:r>
              <a:t>Owner(s): Emeka / Olamide / Zara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4464" y="1463040"/>
            <a:ext cx="3520440" cy="429768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572768"/>
            <a:ext cx="3246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Year 3 (2028)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1874520"/>
            <a:ext cx="3246120" cy="3794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Expand only if recognized signing authority is evidenced; otherwise keep agency certificate route within 4,000 h and do not rely on the unsupported CMM.</a:t>
            </a:r>
            <a:br/>
            <a:br/>
            <a:r>
              <a:t>Owner(s): Zara / Ingrid / Amara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Inputs—Planning brief; Resource Capacity; Qualification &amp; Supplier Evidence; Commercial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06 | GATES &amp; CONTINGENCY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Commit now only where the fallback is executable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Gates use supported calendar triggers and named future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G1 | 31 Mar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417320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F3241"/>
                </a:solidFill>
                <a:latin typeface="Aptos"/>
              </a:defRPr>
            </a:pPr>
            <a:r>
              <a:t>Submission deadline + reserve/certificate route evidenced.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1732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Approve staged PO and agency reservation. Owner: Amara / Zara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G2 | 01 Jan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532888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F3241"/>
                </a:solidFill>
                <a:latin typeface="Aptos"/>
              </a:defRPr>
            </a:pPr>
            <a:r>
              <a:t>Installation, training and validation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53288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Release laser productive hours; retain agency signer. Owner: Emeka / Olamide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G3 | 30 Sep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648456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F3241"/>
                </a:solidFill>
                <a:latin typeface="Aptos"/>
              </a:defRPr>
            </a:pPr>
            <a:r>
              <a:t>Lanternwood feedback, 18 months from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48456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Transfer only with recognized authority; otherwise retain agency. Owner: Zara / Olamide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640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Late or adverse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764024"/>
            <a:ext cx="4069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1F3241"/>
                </a:solidFill>
                <a:latin typeface="Aptos"/>
              </a:defRPr>
            </a:pPr>
            <a:r>
              <a:t>Feedback absent/adverse at G3.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64024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Extend agency within capacity, defer expansion; no unsupported CMM. Owner: Ingrid / Amara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Inputs—Planning brief; Issued Decision Policy; Qualification &amp; Supplier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07 | CERTIFICATE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The certificate chain remains supported through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Independent approval is customer-recognized; it is not transferred by buying the laser tracker.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78A0"/>
                </a:solidFill>
                <a:latin typeface="Aptos"/>
              </a:defRPr>
            </a:pPr>
            <a:r>
              <a:t>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0876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3241"/>
                </a:solidFill>
                <a:latin typeface="Aptos"/>
              </a:defRPr>
            </a:pPr>
            <a:r>
              <a:t>CMM / agency measurement as allocated → independent agency signs accepted certificate.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78A0"/>
                </a:solidFill>
                <a:latin typeface="Aptos"/>
              </a:defRPr>
            </a:pPr>
            <a:r>
              <a:t>Year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6888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3241"/>
                </a:solidFill>
                <a:latin typeface="Aptos"/>
              </a:defRPr>
            </a:pPr>
            <a:r>
              <a:t>Laser measures after 01 Jan → independent agency remains accepted signer pending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978A0"/>
                </a:solidFill>
                <a:latin typeface="Aptos"/>
              </a:defRPr>
            </a:pPr>
            <a:r>
              <a:t>Year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29000"/>
            <a:ext cx="8686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1F3241"/>
                </a:solidFill>
                <a:latin typeface="Aptos"/>
              </a:defRPr>
            </a:pPr>
            <a:r>
              <a:t>Only transfer signing with documented recognized authority; otherwise agency signs.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00600"/>
            <a:ext cx="47548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4910328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5212080"/>
            <a:ext cx="44805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Final CMM calibration by 31 Dec 2026; no planned CMM use after support 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800600"/>
            <a:ext cx="4754880" cy="914400"/>
          </a:xfrm>
          <a:prstGeom prst="roundRect">
            <a:avLst/>
          </a:prstGeom>
          <a:solidFill>
            <a:srgbClr val="F7FAFC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4910328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78A0"/>
                </a:solidFill>
                <a:latin typeface="Aptos"/>
              </a:defRPr>
            </a:pPr>
            <a:r>
              <a:t>Accepted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5212080"/>
            <a:ext cx="44805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Carry external cost and supplier dependence now to protect acceptance and reversibility.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Source: Renewal Inputs—Qualification &amp; Supplier Evidence; Resource Capacity; Issued Decision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978A0"/>
                </a:solidFill>
                <a:latin typeface="Aptos"/>
              </a:defRPr>
            </a:pPr>
            <a:r>
              <a:t>08 | RISKS &amp;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52E3E"/>
                </a:solidFill>
                <a:latin typeface="Aptos"/>
              </a:defRPr>
            </a:pPr>
            <a:r>
              <a:t>The exposed items have executable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5646E"/>
                </a:solidFill>
                <a:latin typeface="Aptos"/>
              </a:defRPr>
            </a:pPr>
            <a:r>
              <a:t>Risk ownership follows the planning brief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Capacity / reserve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Reserve agency capacity; monitor loads against 80%.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417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Emeka / Ingrid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Support /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4028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Final calibration by 31 Dec; retire CMM after Year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240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Emeka / Olamide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Qualification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6324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Keep signer; defer expansion if adverse or 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0632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Zara / Olamide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Staffing /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88620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Complete training and validation before productive 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862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Emeka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9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978A0"/>
                </a:solidFill>
                <a:latin typeface="Aptos"/>
              </a:defRPr>
            </a:pPr>
            <a:r>
              <a:t>Capital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0916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F3241"/>
                </a:solidFill>
                <a:latin typeface="Aptos"/>
              </a:defRPr>
            </a:pPr>
            <a:r>
              <a:t>Stage investment and retain policy-compliant fallback.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7091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52E3E"/>
                </a:solidFill>
                <a:latin typeface="Aptos"/>
              </a:defRPr>
            </a:pPr>
            <a:r>
              <a:t>Amara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E73"/>
                </a:solidFill>
                <a:latin typeface="Aptos"/>
              </a:defRPr>
            </a:pPr>
            <a:r>
              <a:t>Sources: Renewal Inputs—Resource Capacity; Commercial Options; Qualification &amp; Supplier Evidence; Issued Decision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