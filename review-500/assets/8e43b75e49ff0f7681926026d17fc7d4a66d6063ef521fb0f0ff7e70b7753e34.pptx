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MEDIA DISPOSAL | COUNTER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2560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100" b="0">
                <a:solidFill>
                  <a:srgbClr val="5A6973"/>
                </a:solidFill>
              </a:defRPr>
            </a:pPr>
            <a:r>
              <a:t>Greyhaven contract control • Effective 1 June • England &amp; Wales basis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530352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2500" b="1">
                <a:solidFill>
                  <a:srgbClr val="B12B2B"/>
                </a:solidFill>
              </a:defRPr>
            </a:pPr>
            <a:r>
              <a:t>IF MEDIA HELD CLIENT DATA, IT IS IN SCOPE.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468880"/>
            <a:ext cx="5212080" cy="1463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800" b="0">
                <a:solidFill>
                  <a:srgbClr val="232D37"/>
                </a:solidFill>
              </a:defRPr>
            </a:pPr>
            <a:r>
              <a:t>Fixed/internal • removable • embedded • whole device</a:t>
            </a:r>
            <a:br/>
            <a:br/>
            <a:r>
              <a:t>Equipment retirement or resale is not the same as media disposal.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17320"/>
            <a:ext cx="4937760" cy="4297680"/>
          </a:xfrm>
          <a:prstGeom prst="roundRect">
            <a:avLst/>
          </a:prstGeom>
          <a:solidFill>
            <a:srgbClr val="EAF2F8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737360"/>
            <a:ext cx="429768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2400" b="1">
                <a:solidFill>
                  <a:srgbClr val="B12B2B"/>
                </a:solidFill>
              </a:defRPr>
            </a:pPr>
            <a:r>
              <a:t>STOP / HOLD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331720"/>
            <a:ext cx="4251960" cy="2560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800" b="0">
                <a:solidFill>
                  <a:srgbClr val="232D37"/>
                </a:solidFill>
              </a:defRPr>
            </a:pPr>
            <a:r>
              <a:t>Uncertain owner or case</a:t>
            </a:r>
            <a:br/>
            <a:r>
              <a:t>Missing approval or hold result</a:t>
            </a:r>
            <a:br/>
            <a:r>
              <a:t>Broken custody / missing certificate</a:t>
            </a:r>
            <a:br/>
            <a:r>
              <a:t>Lost, damaged or inaccessible item</a:t>
            </a:r>
            <a:br/>
            <a:br/>
            <a:r>
              <a:t>Quarantine. Escalate to Anders Marchetti.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THE 7-STEP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2560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100" b="0">
                <a:solidFill>
                  <a:srgbClr val="5A6973"/>
                </a:solidFill>
              </a:defRPr>
            </a:pPr>
            <a:r>
              <a:t>Normal path • Callum Boateng and Ravi Pemberton operate; Linnea Ingram approves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325880"/>
            <a:ext cx="384048" cy="384048"/>
          </a:xfrm>
          <a:prstGeom prst="ellipse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67028"/>
            <a:ext cx="384048" cy="1828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316736"/>
            <a:ext cx="1005840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800" b="0">
                <a:solidFill>
                  <a:srgbClr val="232D37"/>
                </a:solidFill>
              </a:defRPr>
            </a:pPr>
            <a:r>
              <a:t>1  Create unique case + link asset/media ID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1965960"/>
            <a:ext cx="384048" cy="384048"/>
          </a:xfrm>
          <a:prstGeom prst="ellipse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07107"/>
            <a:ext cx="384048" cy="1828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956816"/>
            <a:ext cx="1005840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800" b="0">
                <a:solidFill>
                  <a:srgbClr val="232D37"/>
                </a:solidFill>
              </a:defRPr>
            </a:pPr>
            <a:r>
              <a:t>2  Confirm owner/client + legal/contract/incident hold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606039"/>
            <a:ext cx="384048" cy="384048"/>
          </a:xfrm>
          <a:prstGeom prst="ellipse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47187"/>
            <a:ext cx="384048" cy="1828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596896"/>
            <a:ext cx="1005840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800" b="0">
                <a:solidFill>
                  <a:srgbClr val="232D37"/>
                </a:solidFill>
              </a:defRPr>
            </a:pPr>
            <a:r>
              <a:t>3  Inventory all storage; label and quarantine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246120"/>
            <a:ext cx="384048" cy="384048"/>
          </a:xfrm>
          <a:prstGeom prst="ellipse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87268"/>
            <a:ext cx="384048" cy="1828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236976"/>
            <a:ext cx="1005840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800" b="0">
                <a:solidFill>
                  <a:srgbClr val="232D37"/>
                </a:solidFill>
              </a:defRPr>
            </a:pPr>
            <a:r>
              <a:t>4  Approve return, destruction, or documented sanitisation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3886200"/>
            <a:ext cx="384048" cy="384048"/>
          </a:xfrm>
          <a:prstGeom prst="ellipse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927348"/>
            <a:ext cx="384048" cy="1828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877056"/>
            <a:ext cx="1005840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800" b="0">
                <a:solidFill>
                  <a:srgbClr val="232D37"/>
                </a:solidFill>
              </a:defRPr>
            </a:pPr>
            <a:r>
              <a:t>5  Secure package → authorised handoff → receipt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4526280"/>
            <a:ext cx="384048" cy="384048"/>
          </a:xfrm>
          <a:prstGeom prst="ellipse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567428"/>
            <a:ext cx="384048" cy="1828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517136"/>
            <a:ext cx="1005840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800" b="0">
                <a:solidFill>
                  <a:srgbClr val="232D37"/>
                </a:solidFill>
              </a:defRPr>
            </a:pPr>
            <a:r>
              <a:t>6  Match signed evidence to case and counts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5166359"/>
            <a:ext cx="384048" cy="384048"/>
          </a:xfrm>
          <a:prstGeom prst="ellipse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207507"/>
            <a:ext cx="384048" cy="1828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157216"/>
            <a:ext cx="1005840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800" b="0">
                <a:solidFill>
                  <a:srgbClr val="232D37"/>
                </a:solidFill>
              </a:defRPr>
            </a:pPr>
            <a:r>
              <a:t>7  Close only when register, custody and evidence reconcile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897880"/>
            <a:ext cx="10698480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500" b="1">
                <a:solidFill>
                  <a:srgbClr val="B12B2B"/>
                </a:solidFill>
              </a:defRPr>
            </a:pPr>
            <a:r>
              <a:t>At every stop: HOLD • quarantine • record owner, status and escalation. No release, resale, donation or redeployment before closure.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THE REIMAGE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2560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100" b="0">
                <a:solidFill>
                  <a:srgbClr val="5A6973"/>
                </a:solidFill>
              </a:defRPr>
            </a:pPr>
            <a:r>
              <a:t>A reset changes software state; it does not earn a Greyhaven destruction certificate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4846320" cy="10972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2400" b="1">
                <a:solidFill>
                  <a:srgbClr val="B12B2B"/>
                </a:solidFill>
              </a:defRPr>
            </a:pPr>
            <a:r>
              <a:t>NOT CERTIFIED DISPOSAL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06040"/>
            <a:ext cx="4754880" cy="18288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2200" b="0">
                <a:solidFill>
                  <a:srgbClr val="232D37"/>
                </a:solidFill>
              </a:defRPr>
            </a:pPr>
            <a:r>
              <a:t>Reimage</a:t>
            </a:r>
            <a:br/>
            <a:r>
              <a:t>Factory reset</a:t>
            </a:r>
            <a:br/>
            <a:r>
              <a:t>Format</a:t>
            </a:r>
            <a:br/>
            <a:r>
              <a:t>Delete files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577840" y="1920240"/>
            <a:ext cx="1097280" cy="731520"/>
          </a:xfrm>
          <a:prstGeom prst="rightArrow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1417320"/>
            <a:ext cx="4389120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2400" b="1">
                <a:solidFill>
                  <a:srgbClr val="008591"/>
                </a:solidFill>
              </a:defRPr>
            </a:pPr>
            <a:r>
              <a:t>APPROVED ROUTE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240280"/>
            <a:ext cx="4297680" cy="22860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800" b="0">
                <a:solidFill>
                  <a:srgbClr val="232D37"/>
                </a:solidFill>
              </a:defRPr>
            </a:pPr>
            <a:r>
              <a:t>Certified destruction is the steady-state route.</a:t>
            </a:r>
            <a:br/>
            <a:br/>
            <a:r>
              <a:t>Sanitisation can substitute only with accountable approval, documented method + verification, and signed evidence identifying case/media and disposition date.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THREE AWKWARD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2560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100" b="0">
                <a:solidFill>
                  <a:srgbClr val="5A6973"/>
                </a:solidFill>
              </a:defRPr>
            </a:pPr>
            <a:r>
              <a:t>Use the branch; do not improvise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29000" cy="4251960"/>
          </a:xfrm>
          <a:prstGeom prst="roundRect">
            <a:avLst/>
          </a:prstGeom>
          <a:solidFill>
            <a:srgbClr val="F8FAFC"/>
          </a:solidFill>
          <a:ln>
            <a:solidFill>
              <a:srgbClr val="B1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971800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800" b="1">
                <a:solidFill>
                  <a:srgbClr val="B12B2B"/>
                </a:solidFill>
              </a:defRPr>
            </a:pPr>
            <a:r>
              <a:t>REISSUED LAPTOP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2926080" cy="2651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600" b="0">
                <a:solidFill>
                  <a:srgbClr val="232D37"/>
                </a:solidFill>
              </a:defRPr>
            </a:pPr>
            <a:r>
              <a:t>Retrospective evidence review. No backdating. Escalate residual risk; controlled remediation or recorded risk decision.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417320"/>
            <a:ext cx="3429000" cy="4251960"/>
          </a:xfrm>
          <a:prstGeom prst="roundRect">
            <a:avLst/>
          </a:prstGeom>
          <a:solidFill>
            <a:srgbClr val="F8FAFC"/>
          </a:solidFill>
          <a:ln>
            <a:solidFill>
              <a:srgbClr val="008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737360"/>
            <a:ext cx="2971800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800" b="1">
                <a:solidFill>
                  <a:srgbClr val="008591"/>
                </a:solidFill>
              </a:defRPr>
            </a:pPr>
            <a:r>
              <a:t>LOANED TEST RIG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514600"/>
            <a:ext cx="2926080" cy="2651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600" b="0">
                <a:solidFill>
                  <a:srgbClr val="232D37"/>
                </a:solidFill>
              </a:defRPr>
            </a:pPr>
            <a:r>
              <a:t>Confirm client ownership and return/destruction authority. Embedded drive + rig stay controlled; retain receipt or signed destruction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417320"/>
            <a:ext cx="3429000" cy="4251960"/>
          </a:xfrm>
          <a:prstGeom prst="roundRect">
            <a:avLst/>
          </a:prstGeom>
          <a:solidFill>
            <a:srgbClr val="F8FAFC"/>
          </a:solidFill>
          <a:ln>
            <a:solidFill>
              <a:srgbClr val="B1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1737360"/>
            <a:ext cx="2971800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800" b="1">
                <a:solidFill>
                  <a:srgbClr val="B12B2B"/>
                </a:solidFill>
              </a:defRPr>
            </a:pPr>
            <a:r>
              <a:t>LOST DEVICE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514600"/>
            <a:ext cx="2926080" cy="2651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600" b="0">
                <a:solidFill>
                  <a:srgbClr val="232D37"/>
                </a:solidFill>
              </a:defRPr>
            </a:pPr>
            <a:r>
              <a:t>Incident/exception now. Escalate to Anders and security/management. Never “disposed” and never certificate-eligible.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TRANSITION → STEADY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2560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100" b="0">
                <a:solidFill>
                  <a:srgbClr val="5A6973"/>
                </a:solidFill>
              </a:defRPr>
            </a:pPr>
            <a:r>
              <a:t>The first 30 days are controlled discovery, not a certification shortcut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114800"/>
          </a:xfrm>
          <a:prstGeom prst="roundRect">
            <a:avLst/>
          </a:prstGeom>
          <a:solidFill>
            <a:srgbClr val="EAF2F8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438912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2000" b="1">
                <a:solidFill>
                  <a:srgbClr val="1F4E79"/>
                </a:solidFill>
              </a:defRPr>
            </a:pPr>
            <a:r>
              <a:t>DAYS 1–30 | TRANSITION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4297680" cy="22860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800" b="0">
                <a:solidFill>
                  <a:srgbClr val="232D37"/>
                </a:solidFill>
              </a:defRPr>
            </a:pPr>
            <a:r>
              <a:t>Locate legacy / already-held stock</a:t>
            </a:r>
            <a:br/>
            <a:r>
              <a:t>Create one case per item</a:t>
            </a:r>
            <a:br/>
            <a:r>
              <a:t>Label + quarantine</a:t>
            </a:r>
            <a:br/>
            <a:r>
              <a:t>Assign owner and evidence gap</a:t>
            </a:r>
            <a:br/>
            <a:r>
              <a:t>No shortcut around approval or custody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5029200" cy="4114800"/>
          </a:xfrm>
          <a:prstGeom prst="roundRect">
            <a:avLst/>
          </a:prstGeom>
          <a:solidFill>
            <a:srgbClr val="EAF7F3"/>
          </a:solidFill>
          <a:ln>
            <a:solidFill>
              <a:srgbClr val="008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783080"/>
            <a:ext cx="438912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2000" b="1">
                <a:solidFill>
                  <a:srgbClr val="008591"/>
                </a:solidFill>
              </a:defRPr>
            </a:pPr>
            <a:r>
              <a:t>AFTER DAY 30 | STEADY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514600"/>
            <a:ext cx="4297680" cy="22860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800" b="0">
                <a:solidFill>
                  <a:srgbClr val="232D37"/>
                </a:solidFill>
              </a:defRPr>
            </a:pPr>
            <a:r>
              <a:t>Every new item follows 7 steps</a:t>
            </a:r>
            <a:br/>
            <a:r>
              <a:t>Open transition cases carry owner + status</a:t>
            </a:r>
            <a:br/>
            <a:r>
              <a:t>External certified service route</a:t>
            </a:r>
            <a:br/>
            <a:r>
              <a:t>Close only on matched evidence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CLOSE THE CASE — OR HOLD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2560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100" b="0">
                <a:solidFill>
                  <a:srgbClr val="5A6973"/>
                </a:solidFill>
              </a:defRPr>
            </a:pPr>
            <a:r>
              <a:t>Counter test: if one answer is “no”, stop and escalate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400800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Can I show…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9144000" cy="32918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900" b="0">
                <a:solidFill>
                  <a:srgbClr val="232D37"/>
                </a:solidFill>
              </a:defRPr>
            </a:pPr>
            <a:r>
              <a:t>☐  who owned it / which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24912"/>
            <a:ext cx="9144000" cy="32918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900" b="0">
                <a:solidFill>
                  <a:srgbClr val="232D37"/>
                </a:solidFill>
              </a:defRPr>
            </a:pPr>
            <a:r>
              <a:t>☐  what storage components were present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00984"/>
            <a:ext cx="9144000" cy="32918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900" b="0">
                <a:solidFill>
                  <a:srgbClr val="232D37"/>
                </a:solidFill>
              </a:defRPr>
            </a:pPr>
            <a:r>
              <a:t>☐  who approved the route before release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77056"/>
            <a:ext cx="9144000" cy="32918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900" b="0">
                <a:solidFill>
                  <a:srgbClr val="232D37"/>
                </a:solidFill>
              </a:defRPr>
            </a:pPr>
            <a:r>
              <a:t>☐  every handoff + receipt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53128"/>
            <a:ext cx="9144000" cy="32918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900" b="0">
                <a:solidFill>
                  <a:srgbClr val="232D37"/>
                </a:solidFill>
              </a:defRPr>
            </a:pPr>
            <a:r>
              <a:t>☐  signed evidence for exact quantity and identifiers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463040"/>
            <a:ext cx="3017520" cy="3383280"/>
          </a:xfrm>
          <a:prstGeom prst="roundRect">
            <a:avLst/>
          </a:prstGeom>
          <a:solidFill>
            <a:srgbClr val="FFF1F1"/>
          </a:solidFill>
          <a:ln>
            <a:solidFill>
              <a:srgbClr val="B1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783080"/>
            <a:ext cx="2468880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2800" b="1">
                <a:solidFill>
                  <a:srgbClr val="B12B2B"/>
                </a:solidFill>
              </a:defRPr>
            </a:pPr>
            <a:r>
              <a:t>HOLD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606040"/>
            <a:ext cx="2468880" cy="1645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800" b="0">
                <a:solidFill>
                  <a:srgbClr val="232D37"/>
                </a:solidFill>
              </a:defRPr>
            </a:pPr>
            <a:r>
              <a:t>Quarantine</a:t>
            </a:r>
            <a:br/>
            <a:r>
              <a:t>Notify Anders</a:t>
            </a:r>
            <a:br/>
            <a:r>
              <a:t>Correct or re-collect evidence</a:t>
            </a:r>
            <a:br/>
            <a:r>
              <a:t>Never close as disposed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078992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300" b="0">
                <a:solidFill>
                  <a:srgbClr val="5A6973"/>
                </a:solidFill>
              </a:defRPr>
            </a:pPr>
            <a:r>
              <a:t>Service desk: Callum Boateng • Ravi Pemberton   |   Accountable approval: Linnea Ingram / recorded Cecilia Magnusson delegate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