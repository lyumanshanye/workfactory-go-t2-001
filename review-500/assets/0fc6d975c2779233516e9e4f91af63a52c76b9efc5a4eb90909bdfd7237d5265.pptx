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780"/>
          </a:solidFill>
          <a:ln w="8890">
            <a:solidFill>
              <a:srgbClr val="0F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4754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E4F1F0"/>
                </a:solidFill>
                <a:latin typeface="Aptos"/>
              </a:rPr>
              <a:t>ANVILCROSS REGIONAL 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6035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18A18"/>
                </a:solidFill>
                <a:latin typeface="Aptos"/>
              </a:rPr>
              <a:t>1 | DECISION TO APPROVE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65379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ptos"/>
              </a:rPr>
              <a:t>Wednesday medical transfer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20240"/>
            <a:ext cx="60807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2F4"/>
                </a:solidFill>
                <a:latin typeface="Aptos"/>
              </a:rPr>
              <a:t>A decision memorandum for one violent detainee, one required diagnostic visit, and one public-facing clinic without dedicated secure holding.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788920"/>
            <a:ext cx="612648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EF2F4"/>
                </a:solidFill>
                <a:latin typeface="Aptos"/>
              </a:rPr>
              <a:t>Nadia Lindqvist must approve police support by 10:00 Wednesday for Harrowgate Services' 14:00 Wednesday transfer. The memo is ready by 15:00 Tuesday. Farida Gasparyan is the operational briefing audience and will brief the transport team.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52360" y="640080"/>
            <a:ext cx="4114800" cy="352044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950976"/>
            <a:ext cx="34747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F7780"/>
                </a:solidFill>
                <a:latin typeface="Aptos"/>
              </a:rPr>
              <a:t>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335024"/>
            <a:ext cx="3474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52536"/>
                </a:solidFill>
                <a:latin typeface="Aptos"/>
              </a:rPr>
              <a:t>Configuration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783080"/>
            <a:ext cx="3474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B2936"/>
                </a:solidFill>
                <a:latin typeface="Aptos"/>
              </a:rPr>
              <a:t>Coordinated enhanced arrangement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0" y="2331720"/>
            <a:ext cx="3429000" cy="0"/>
          </a:xfrm>
          <a:prstGeom prst="line">
            <a:avLst/>
          </a:prstGeom>
          <a:ln w="10160">
            <a:solidFill>
              <a:srgbClr val="D4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772400" y="2610612"/>
            <a:ext cx="73152" cy="73152"/>
          </a:xfrm>
          <a:prstGeom prst="rect">
            <a:avLst/>
          </a:prstGeom>
          <a:solidFill>
            <a:srgbClr val="0F7780"/>
          </a:solidFill>
          <a:ln w="8890">
            <a:solidFill>
              <a:srgbClr val="0F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2514600"/>
            <a:ext cx="32186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1B2936"/>
                </a:solidFill>
                <a:latin typeface="Aptos"/>
              </a:rPr>
              <a:t>Enhanced mobile escort: driver + custody escort + additional custody escort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994660"/>
            <a:ext cx="73152" cy="73152"/>
          </a:xfrm>
          <a:prstGeom prst="rect">
            <a:avLst/>
          </a:prstGeom>
          <a:solidFill>
            <a:srgbClr val="0F7780"/>
          </a:solidFill>
          <a:ln w="8890">
            <a:solidFill>
              <a:srgbClr val="0F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2898648"/>
            <a:ext cx="32186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1B2936"/>
                </a:solidFill>
                <a:latin typeface="Aptos"/>
              </a:rPr>
              <a:t>Dedicated clinic-security post or equivalent controlled-access measure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3378708"/>
            <a:ext cx="73152" cy="73152"/>
          </a:xfrm>
          <a:prstGeom prst="rect">
            <a:avLst/>
          </a:prstGeom>
          <a:solidFill>
            <a:srgbClr val="0F7780"/>
          </a:solidFill>
          <a:ln w="8890">
            <a:solidFill>
              <a:srgbClr val="0F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3282696"/>
            <a:ext cx="32186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1B2936"/>
                </a:solidFill>
                <a:latin typeface="Aptos"/>
              </a:rPr>
              <a:t>Custody escort retains direct custody through controlled handoff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3703320"/>
            <a:ext cx="3383280" cy="237744"/>
          </a:xfrm>
          <a:prstGeom prst="rect">
            <a:avLst/>
          </a:prstGeom>
          <a:solidFill>
            <a:srgbClr val="FFF3D9"/>
          </a:solidFill>
          <a:ln w="8890">
            <a:solidFill>
              <a:srgbClr val="FFF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27264" y="3717035"/>
            <a:ext cx="32735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10" b="1" i="0">
                <a:solidFill>
                  <a:srgbClr val="D18A18"/>
                </a:solidFill>
                <a:latin typeface="Aptos"/>
              </a:rPr>
              <a:t>RECOMMENDED - NOT A BINDING HIGH-RISK MANDATE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00600"/>
            <a:ext cx="10927080" cy="1143000"/>
          </a:xfrm>
          <a:prstGeom prst="rect">
            <a:avLst/>
          </a:prstGeom>
          <a:solidFill>
            <a:srgbClr val="324654"/>
          </a:solidFill>
          <a:ln w="8890">
            <a:solidFill>
              <a:srgbClr val="32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010912"/>
            <a:ext cx="1188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E4F1F0"/>
                </a:solidFill>
                <a:latin typeface="Aptos"/>
              </a:rPr>
              <a:t>CASE SIGNALS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5285232"/>
            <a:ext cx="29260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Violent offense + two documented assaults while detained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5285232"/>
            <a:ext cx="3429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 i="0">
                <a:solidFill>
                  <a:srgbClr val="EEF2F4"/>
                </a:solidFill>
                <a:latin typeface="Aptos"/>
              </a:rPr>
              <a:t>No current credible escape plan | no weapon access | medically stable at departure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5285232"/>
            <a:ext cx="374903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 i="0">
                <a:solidFill>
                  <a:srgbClr val="EEF2F4"/>
                </a:solidFill>
                <a:latin typeface="Aptos"/>
              </a:rPr>
              <a:t>Public-facing outpatient clinic | no dedicated secure holding room | normal operating hours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6928" y="6400800"/>
            <a:ext cx="11057839" cy="0"/>
          </a:xfrm>
          <a:prstGeom prst="line">
            <a:avLst/>
          </a:prstGeom>
          <a:ln w="8255">
            <a:solidFill>
              <a:srgbClr val="3246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6928" y="6473952"/>
            <a:ext cx="52120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EEF2F4"/>
                </a:solidFill>
                <a:latin typeface="Aptos"/>
              </a:rPr>
              <a:t>ANVILCROSS REGIONAL OFFICE  |  DECISION MEMORANDUM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6473952"/>
            <a:ext cx="59893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EEF2F4"/>
                </a:solidFill>
                <a:latin typeface="Aptos"/>
              </a:rPr>
              <a:t>Source: CRO-CMT-01 | Effective/as-of 1 February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02568" y="6473952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EEF2F4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 i="0">
                <a:solidFill>
                  <a:srgbClr val="0F7780"/>
                </a:solidFill>
                <a:latin typeface="Aptos"/>
              </a:rPr>
              <a:t>ANVILCROSS REGIONAL OFFICE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3776"/>
            <a:ext cx="10698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52536"/>
                </a:solidFill>
                <a:latin typeface="Aptos"/>
              </a:rPr>
              <a:t>2 | Policy position: the boundary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0698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86875"/>
                </a:solidFill>
                <a:latin typeface="Aptos"/>
              </a:rPr>
              <a:t>The policy establishes a binding floor, then leaves enhanced coverage to trigger-based rules and supervisory judgment.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61872"/>
            <a:ext cx="11057839" cy="0"/>
          </a:xfrm>
          <a:prstGeom prst="line">
            <a:avLst/>
          </a:prstGeom>
          <a:ln w="10160">
            <a:solidFill>
              <a:srgbClr val="D4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94360" y="1481328"/>
            <a:ext cx="10972800" cy="576072"/>
          </a:xfrm>
          <a:prstGeom prst="rect">
            <a:avLst/>
          </a:prstGeom>
          <a:solidFill>
            <a:srgbClr val="E4F1F0"/>
          </a:solidFill>
          <a:ln w="8890">
            <a:solidFill>
              <a:srgbClr val="E4F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68580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7545B"/>
                </a:solidFill>
                <a:latin typeface="Aptos"/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4208" y="1618488"/>
            <a:ext cx="347472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52536"/>
                </a:solidFill>
                <a:latin typeface="Aptos"/>
              </a:rPr>
              <a:t>CRO-CMT-01  |  Effective/as-of 1 February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664208"/>
            <a:ext cx="37033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07545B"/>
                </a:solidFill>
                <a:latin typeface="Aptos"/>
              </a:rPr>
              <a:t>Sole supplied policy authority for this 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304288"/>
            <a:ext cx="3246120" cy="3611880"/>
          </a:xfrm>
          <a:prstGeom prst="rect">
            <a:avLst/>
          </a:prstGeom>
          <a:solidFill>
            <a:srgbClr val="152536"/>
          </a:solidFill>
          <a:ln w="8890">
            <a:solidFill>
              <a:srgbClr val="152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87752"/>
            <a:ext cx="2560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E4F1F0"/>
                </a:solidFill>
                <a:latin typeface="Aptos"/>
              </a:rPr>
              <a:t>MODAL 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53512"/>
            <a:ext cx="25603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ptos"/>
              </a:rPr>
              <a:t>shall / must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55848"/>
            <a:ext cx="24688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EF2F4"/>
                </a:solidFill>
                <a:latin typeface="Aptos"/>
              </a:rPr>
              <a:t>Binding requirements within the policy.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" y="3959352"/>
            <a:ext cx="2633472" cy="0"/>
          </a:xfrm>
          <a:prstGeom prst="line">
            <a:avLst/>
          </a:prstGeom>
          <a:ln w="10160">
            <a:solidFill>
              <a:srgbClr val="3246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680" y="4187952"/>
            <a:ext cx="26974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D18A18"/>
                </a:solidFill>
                <a:latin typeface="Aptos"/>
              </a:rPr>
              <a:t>should / may consider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73168"/>
            <a:ext cx="25603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 i="0">
                <a:solidFill>
                  <a:srgbClr val="EEF2F4"/>
                </a:solidFill>
                <a:latin typeface="Aptos"/>
              </a:rPr>
              <a:t>Recommendations requiring responsible-supervisor judgment; they do not, by themselves, create a high-risk mandate.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41848"/>
            <a:ext cx="25603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 i="1">
                <a:solidFill>
                  <a:srgbClr val="E4F1F0"/>
                </a:solidFill>
                <a:latin typeface="Aptos"/>
              </a:rPr>
              <a:t>Source: Sec. 2, P2.1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69080" y="2304288"/>
            <a:ext cx="7498079" cy="3611880"/>
          </a:xfrm>
          <a:prstGeom prst="rect">
            <a:avLst/>
          </a:prstGeom>
          <a:solidFill>
            <a:srgbClr val="FFFFFF"/>
          </a:solidFill>
          <a:ln w="8890">
            <a:solidFill>
              <a:srgbClr val="D4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2587752"/>
            <a:ext cx="4663440" cy="228600"/>
          </a:xfrm>
          <a:prstGeom prst="rect">
            <a:avLst/>
          </a:prstGeom>
          <a:solidFill>
            <a:srgbClr val="E4F1F0"/>
          </a:solidFill>
          <a:ln w="8890">
            <a:solidFill>
              <a:srgbClr val="E4F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6552" y="2601468"/>
            <a:ext cx="451713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07545B"/>
                </a:solidFill>
                <a:latin typeface="Aptos"/>
              </a:rPr>
              <a:t>MANDATORY BASELINE | ORDINARY OFF-SITE TRANSFER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944368"/>
            <a:ext cx="6217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52536"/>
                </a:solidFill>
                <a:latin typeface="Aptos"/>
              </a:rPr>
              <a:t>The minimum that must be in place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70832" y="3419856"/>
            <a:ext cx="329184" cy="265176"/>
          </a:xfrm>
          <a:prstGeom prst="rect">
            <a:avLst/>
          </a:prstGeom>
          <a:solidFill>
            <a:srgbClr val="0F7780"/>
          </a:solidFill>
          <a:ln w="8890">
            <a:solidFill>
              <a:srgbClr val="0F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0832" y="3461004"/>
            <a:ext cx="329184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3401568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 i="0">
                <a:solidFill>
                  <a:srgbClr val="07545B"/>
                </a:solidFill>
                <a:latin typeface="Aptos"/>
              </a:rPr>
              <a:t>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15584" y="3401568"/>
            <a:ext cx="5303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1B2936"/>
                </a:solidFill>
                <a:latin typeface="Aptos"/>
              </a:rPr>
              <a:t>Responsible supervisor shall approve the movement and identify the transport team before departure.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0832" y="4005072"/>
            <a:ext cx="329184" cy="265176"/>
          </a:xfrm>
          <a:prstGeom prst="rect">
            <a:avLst/>
          </a:prstGeom>
          <a:solidFill>
            <a:srgbClr val="0F7780"/>
          </a:solidFill>
          <a:ln w="8890">
            <a:solidFill>
              <a:srgbClr val="0F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70832" y="4046220"/>
            <a:ext cx="329184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64608" y="3986784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 i="0">
                <a:solidFill>
                  <a:srgbClr val="07545B"/>
                </a:solidFill>
                <a:latin typeface="Aptos"/>
              </a:rPr>
              <a:t>TEAM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15584" y="3986784"/>
            <a:ext cx="5303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1B2936"/>
                </a:solidFill>
                <a:latin typeface="Aptos"/>
              </a:rPr>
              <a:t>Transport driver + custody escort. Driver operates the vehicle and maintains communications; custody escort maintains direct custody control.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70832" y="4590288"/>
            <a:ext cx="329184" cy="265176"/>
          </a:xfrm>
          <a:prstGeom prst="rect">
            <a:avLst/>
          </a:prstGeom>
          <a:solidFill>
            <a:srgbClr val="0F7780"/>
          </a:solidFill>
          <a:ln w="8890">
            <a:solidFill>
              <a:srgbClr val="0F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70832" y="4631436"/>
            <a:ext cx="329184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64608" y="4572000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 i="0">
                <a:solidFill>
                  <a:srgbClr val="07545B"/>
                </a:solidFill>
                <a:latin typeface="Aptos"/>
              </a:rPr>
              <a:t>CHECKS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15584" y="4572000"/>
            <a:ext cx="5303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1B2936"/>
                </a:solidFill>
                <a:latin typeface="Aptos"/>
              </a:rPr>
              <a:t>Before departure, driver and custody escort must complete and communicate identity, restraint, route, and communications checks.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70832" y="5175503"/>
            <a:ext cx="329184" cy="265176"/>
          </a:xfrm>
          <a:prstGeom prst="rect">
            <a:avLst/>
          </a:prstGeom>
          <a:solidFill>
            <a:srgbClr val="0F7780"/>
          </a:solidFill>
          <a:ln w="8890">
            <a:solidFill>
              <a:srgbClr val="0F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0832" y="5216652"/>
            <a:ext cx="329184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4608" y="5157216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 i="0">
                <a:solidFill>
                  <a:srgbClr val="07545B"/>
                </a:solidFill>
                <a:latin typeface="Aptos"/>
              </a:rPr>
              <a:t>HANDOFF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15584" y="5157216"/>
            <a:ext cx="5303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1B2936"/>
                </a:solidFill>
                <a:latin typeface="Aptos"/>
              </a:rPr>
              <a:t>Custody escort retains control until a controlled handoff with the receiving-site contact at a designated point or equivalent controlled-access measure.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0832" y="5541264"/>
            <a:ext cx="6812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 i="1">
                <a:solidFill>
                  <a:srgbClr val="586875"/>
                </a:solidFill>
                <a:latin typeface="Aptos"/>
              </a:rPr>
              <a:t>The policy also states that the detainee shall not be left unattended in an uncontrolled public area; the receiving clinic controls clinical care. Source: Sec. 3, P3.1-P3.5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66928" y="6400800"/>
            <a:ext cx="11057839" cy="0"/>
          </a:xfrm>
          <a:prstGeom prst="line">
            <a:avLst/>
          </a:prstGeom>
          <a:ln w="8255">
            <a:solidFill>
              <a:srgbClr val="D4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66928" y="6473952"/>
            <a:ext cx="52120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586875"/>
                </a:solidFill>
                <a:latin typeface="Aptos"/>
              </a:rPr>
              <a:t>ANVILCROSS REGIONAL OFFICE  |  DECISION MEMORANDUM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6473952"/>
            <a:ext cx="59893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86875"/>
                </a:solidFill>
                <a:latin typeface="Aptos"/>
              </a:rPr>
              <a:t>Source: CRO-CMT-01 | Effective/as-of 1 February 2025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02568" y="6473952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586875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 i="0">
                <a:solidFill>
                  <a:srgbClr val="0F7780"/>
                </a:solidFill>
                <a:latin typeface="Aptos"/>
              </a:rPr>
              <a:t>ANVILCROSS REGIONAL OFFICE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3776"/>
            <a:ext cx="10698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52536"/>
                </a:solidFill>
                <a:latin typeface="Aptos"/>
              </a:rPr>
              <a:t>3 | Three available configurations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0698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86875"/>
                </a:solidFill>
                <a:latin typeface="Aptos"/>
              </a:rPr>
              <a:t>Every option begins with the same custody baseline. The difference is where additional resilience is placed.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61872"/>
            <a:ext cx="11057839" cy="0"/>
          </a:xfrm>
          <a:prstGeom prst="line">
            <a:avLst/>
          </a:prstGeom>
          <a:ln w="10160">
            <a:solidFill>
              <a:srgbClr val="D4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94360" y="1527048"/>
            <a:ext cx="10972800" cy="475488"/>
          </a:xfrm>
          <a:prstGeom prst="rect">
            <a:avLst/>
          </a:prstGeom>
          <a:solidFill>
            <a:srgbClr val="152536"/>
          </a:solidFill>
          <a:ln w="8890">
            <a:solidFill>
              <a:srgbClr val="152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82496"/>
            <a:ext cx="171907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Aptos"/>
              </a:rPr>
              <a:t>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87752" y="1682496"/>
            <a:ext cx="2048255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Aptos"/>
              </a:rPr>
              <a:t>STAFFING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18888" y="1682496"/>
            <a:ext cx="298094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Aptos"/>
              </a:rPr>
              <a:t>CUSTODY CONTROL + CLINIC EXPOSURE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2711" y="1682496"/>
            <a:ext cx="3493007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Aptos"/>
              </a:rPr>
              <a:t>OPERATIONAL BURDEN / POLICY 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002536"/>
            <a:ext cx="1901952" cy="1207008"/>
          </a:xfrm>
          <a:prstGeom prst="rect">
            <a:avLst/>
          </a:prstGeom>
          <a:solidFill>
            <a:srgbClr val="FFFFFF"/>
          </a:solidFill>
          <a:ln w="8890">
            <a:solidFill>
              <a:srgbClr val="D4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96312" y="2002536"/>
            <a:ext cx="2231136" cy="1207008"/>
          </a:xfrm>
          <a:prstGeom prst="rect">
            <a:avLst/>
          </a:prstGeom>
          <a:solidFill>
            <a:srgbClr val="FFFFFF"/>
          </a:solidFill>
          <a:ln w="8890">
            <a:solidFill>
              <a:srgbClr val="D4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27448" y="2002536"/>
            <a:ext cx="3163824" cy="1207008"/>
          </a:xfrm>
          <a:prstGeom prst="rect">
            <a:avLst/>
          </a:prstGeom>
          <a:solidFill>
            <a:srgbClr val="FFFFFF"/>
          </a:solidFill>
          <a:ln w="8890">
            <a:solidFill>
              <a:srgbClr val="D4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91271" y="2002536"/>
            <a:ext cx="3675887" cy="1207008"/>
          </a:xfrm>
          <a:prstGeom prst="rect">
            <a:avLst/>
          </a:prstGeom>
          <a:solidFill>
            <a:srgbClr val="FFFFFF"/>
          </a:solidFill>
          <a:ln w="8890">
            <a:solidFill>
              <a:srgbClr val="D4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139696"/>
            <a:ext cx="168249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40" b="1" i="0">
                <a:solidFill>
                  <a:srgbClr val="152536"/>
                </a:solidFill>
                <a:latin typeface="Aptos"/>
              </a:rPr>
              <a:t>A | MINIMUM ESCORT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" y="2505456"/>
            <a:ext cx="1682496" cy="237744"/>
          </a:xfrm>
          <a:prstGeom prst="rect">
            <a:avLst/>
          </a:prstGeom>
          <a:solidFill>
            <a:srgbClr val="E4F1F0"/>
          </a:solidFill>
          <a:ln w="8890">
            <a:solidFill>
              <a:srgbClr val="E4F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2519172"/>
            <a:ext cx="15727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90" b="1" i="0">
                <a:solidFill>
                  <a:srgbClr val="07545B"/>
                </a:solidFill>
                <a:latin typeface="Aptos"/>
              </a:rPr>
              <a:t>MANDATORY MINIMUM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2139696"/>
            <a:ext cx="201168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5" b="1" i="0">
                <a:solidFill>
                  <a:srgbClr val="1B2936"/>
                </a:solidFill>
                <a:latin typeface="Aptos"/>
              </a:rPr>
              <a:t>1 transport driver + 1 custody escort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7176" y="2112264"/>
            <a:ext cx="294436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0" b="0" i="0">
                <a:solidFill>
                  <a:srgbClr val="1B2936"/>
                </a:solidFill>
                <a:latin typeface="Aptos"/>
              </a:rPr>
              <a:t>Direct custody by the custody escort; identity/restraint/communications checks; controlled clinic handoff.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7176" y="2633472"/>
            <a:ext cx="2944368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90" b="0" i="0">
                <a:solidFill>
                  <a:srgbClr val="586875"/>
                </a:solidFill>
                <a:latin typeface="Aptos"/>
              </a:rPr>
              <a:t>No dedicated police clinic post. Public-clinic access relies on the receiving-site arrangement and the controlled handoff.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999" y="2139696"/>
            <a:ext cx="3456431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5" b="0" i="0">
                <a:solidFill>
                  <a:srgbClr val="1B2936"/>
                </a:solidFill>
                <a:latin typeface="Aptos"/>
              </a:rPr>
              <a:t>Lowest burden. Binding floor for an ordinary transfer. Source: Sec. 3, P3.1-P3.4; Sec. 5, P5.1.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209544"/>
            <a:ext cx="1901952" cy="1207008"/>
          </a:xfrm>
          <a:prstGeom prst="rect">
            <a:avLst/>
          </a:prstGeom>
          <a:solidFill>
            <a:srgbClr val="EEF2F4"/>
          </a:solidFill>
          <a:ln w="8890">
            <a:solidFill>
              <a:srgbClr val="D4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96312" y="3209544"/>
            <a:ext cx="2231136" cy="1207008"/>
          </a:xfrm>
          <a:prstGeom prst="rect">
            <a:avLst/>
          </a:prstGeom>
          <a:solidFill>
            <a:srgbClr val="EEF2F4"/>
          </a:solidFill>
          <a:ln w="8890">
            <a:solidFill>
              <a:srgbClr val="D4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27448" y="3209544"/>
            <a:ext cx="3163824" cy="1207008"/>
          </a:xfrm>
          <a:prstGeom prst="rect">
            <a:avLst/>
          </a:prstGeom>
          <a:solidFill>
            <a:srgbClr val="EEF2F4"/>
          </a:solidFill>
          <a:ln w="8890">
            <a:solidFill>
              <a:srgbClr val="D4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91271" y="3209544"/>
            <a:ext cx="3675887" cy="1207008"/>
          </a:xfrm>
          <a:prstGeom prst="rect">
            <a:avLst/>
          </a:prstGeom>
          <a:solidFill>
            <a:srgbClr val="EEF2F4"/>
          </a:solidFill>
          <a:ln w="8890">
            <a:solidFill>
              <a:srgbClr val="D4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3346703"/>
            <a:ext cx="168249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40" b="1" i="0">
                <a:solidFill>
                  <a:srgbClr val="152536"/>
                </a:solidFill>
                <a:latin typeface="Aptos"/>
              </a:rPr>
              <a:t>B | ENHANCED MOBILE ESCORT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" y="3712463"/>
            <a:ext cx="1682496" cy="237744"/>
          </a:xfrm>
          <a:prstGeom prst="rect">
            <a:avLst/>
          </a:prstGeom>
          <a:solidFill>
            <a:srgbClr val="FFF3D9"/>
          </a:solidFill>
          <a:ln w="8890">
            <a:solidFill>
              <a:srgbClr val="FFF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3726179"/>
            <a:ext cx="15727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90" b="1" i="0">
                <a:solidFill>
                  <a:srgbClr val="D18A18"/>
                </a:solidFill>
                <a:latin typeface="Aptos"/>
              </a:rPr>
              <a:t>RECOMMENDED ENHANCEMENT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3346703"/>
            <a:ext cx="201168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5" b="1" i="0">
                <a:solidFill>
                  <a:srgbClr val="1B2936"/>
                </a:solidFill>
                <a:latin typeface="Aptos"/>
              </a:rPr>
              <a:t>Configuration A + 1 additional custody escort traveling with the 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37176" y="3319272"/>
            <a:ext cx="294436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0" b="0" i="0">
                <a:solidFill>
                  <a:srgbClr val="1B2936"/>
                </a:solidFill>
                <a:latin typeface="Aptos"/>
              </a:rPr>
              <a:t>Adds mobile observation and response coverage; the primary custody escort remains the direct controller.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37176" y="3840479"/>
            <a:ext cx="2944368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90" b="0" i="0">
                <a:solidFill>
                  <a:srgbClr val="586875"/>
                </a:solidFill>
                <a:latin typeface="Aptos"/>
              </a:rPr>
              <a:t>The additional escort is mobile, not a clinic-security post. Public-facing clinic exposure remains unless the receiving site controls access.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0999" y="3346703"/>
            <a:ext cx="3456431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5" b="0" i="0">
                <a:solidFill>
                  <a:srgbClr val="1B2936"/>
                </a:solidFill>
                <a:latin typeface="Aptos"/>
              </a:rPr>
              <a:t>Added personnel and coordination. Mandatory when a current high-risk trigger is present; otherwise recommended. Source: Sec. 4, P4.3/P4.5; Sec. 5, P5.2.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416552"/>
            <a:ext cx="1901952" cy="1207008"/>
          </a:xfrm>
          <a:prstGeom prst="rect">
            <a:avLst/>
          </a:prstGeom>
          <a:solidFill>
            <a:srgbClr val="E4F1F0"/>
          </a:solidFill>
          <a:ln w="8890">
            <a:solidFill>
              <a:srgbClr val="D4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496312" y="4416552"/>
            <a:ext cx="2231136" cy="1207008"/>
          </a:xfrm>
          <a:prstGeom prst="rect">
            <a:avLst/>
          </a:prstGeom>
          <a:solidFill>
            <a:srgbClr val="E4F1F0"/>
          </a:solidFill>
          <a:ln w="8890">
            <a:solidFill>
              <a:srgbClr val="D4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27448" y="4416552"/>
            <a:ext cx="3163824" cy="1207008"/>
          </a:xfrm>
          <a:prstGeom prst="rect">
            <a:avLst/>
          </a:prstGeom>
          <a:solidFill>
            <a:srgbClr val="E4F1F0"/>
          </a:solidFill>
          <a:ln w="8890">
            <a:solidFill>
              <a:srgbClr val="D4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91271" y="4416552"/>
            <a:ext cx="3675887" cy="1207008"/>
          </a:xfrm>
          <a:prstGeom prst="rect">
            <a:avLst/>
          </a:prstGeom>
          <a:solidFill>
            <a:srgbClr val="E4F1F0"/>
          </a:solidFill>
          <a:ln w="8890">
            <a:solidFill>
              <a:srgbClr val="D4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4553712"/>
            <a:ext cx="168249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40" b="1" i="0">
                <a:solidFill>
                  <a:srgbClr val="152536"/>
                </a:solidFill>
                <a:latin typeface="Aptos"/>
              </a:rPr>
              <a:t>C | COORDINATED ENHANCED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" y="4919472"/>
            <a:ext cx="1682496" cy="237744"/>
          </a:xfrm>
          <a:prstGeom prst="rect">
            <a:avLst/>
          </a:prstGeom>
          <a:solidFill>
            <a:srgbClr val="0F7780"/>
          </a:solidFill>
          <a:ln w="8890">
            <a:solidFill>
              <a:srgbClr val="0F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" y="4933188"/>
            <a:ext cx="15727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90" b="1" i="0">
                <a:solidFill>
                  <a:srgbClr val="FFFFFF"/>
                </a:solidFill>
                <a:latin typeface="Aptos"/>
              </a:rPr>
              <a:t>RECOMMENDED HERE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4553712"/>
            <a:ext cx="201168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5" b="1" i="0">
                <a:solidFill>
                  <a:srgbClr val="1B2936"/>
                </a:solidFill>
                <a:latin typeface="Aptos"/>
              </a:rPr>
              <a:t>Configuration B + dedicated clinic-security officer/post or equivalent controlled-access measure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37176" y="4526280"/>
            <a:ext cx="294436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0" b="0" i="0">
                <a:solidFill>
                  <a:srgbClr val="1B2936"/>
                </a:solidFill>
                <a:latin typeface="Aptos"/>
              </a:rPr>
              <a:t>Combines mobile resilience with access-control and clinic-interface coverage; custody escort retains direct control.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37176" y="5047488"/>
            <a:ext cx="2944368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90" b="0" i="0">
                <a:solidFill>
                  <a:srgbClr val="586875"/>
                </a:solidFill>
                <a:latin typeface="Aptos"/>
              </a:rPr>
              <a:t>Addresses public access and no dedicated secure holding room at the clinic; clinic-security role does not provide clinical care.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0999" y="4553712"/>
            <a:ext cx="3456431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5" b="0" i="0">
                <a:solidFill>
                  <a:srgbClr val="1B2936"/>
                </a:solidFill>
                <a:latin typeface="Aptos"/>
              </a:rPr>
              <a:t>Highest burden: adds a fixed clinic function and coordination. Required only for a current trigger + clinic unable to ensure controlled access; recommended otherwise. Source: Sec. 4, P4.4/P4.5; Sec. 5, P5.3-P5.4.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5687568"/>
            <a:ext cx="10972800" cy="475488"/>
          </a:xfrm>
          <a:prstGeom prst="rect">
            <a:avLst/>
          </a:prstGeom>
          <a:solidFill>
            <a:srgbClr val="152536"/>
          </a:solidFill>
          <a:ln w="8890">
            <a:solidFill>
              <a:srgbClr val="152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5843016"/>
            <a:ext cx="77724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D18A18"/>
                </a:solidFill>
                <a:latin typeface="Aptos"/>
              </a:rPr>
              <a:t>TRADEOFF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37360" y="5797296"/>
            <a:ext cx="94640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1" i="0">
                <a:solidFill>
                  <a:srgbClr val="FFFFFF"/>
                </a:solidFill>
                <a:latin typeface="Aptos"/>
              </a:rPr>
              <a:t>A minimizes burden but leaves clinic exposure least buffered; B adds mobile resilience but does not solve the clinic interface; C addresses both case-specific concerns at the highest operational burden.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66928" y="6400800"/>
            <a:ext cx="11057839" cy="0"/>
          </a:xfrm>
          <a:prstGeom prst="line">
            <a:avLst/>
          </a:prstGeom>
          <a:ln w="8255">
            <a:solidFill>
              <a:srgbClr val="D4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66928" y="6473952"/>
            <a:ext cx="52120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586875"/>
                </a:solidFill>
                <a:latin typeface="Aptos"/>
              </a:rPr>
              <a:t>ANVILCROSS REGIONAL OFFICE  |  DECISION MEMORANDUM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49240" y="6473952"/>
            <a:ext cx="59893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86875"/>
                </a:solidFill>
                <a:latin typeface="Aptos"/>
              </a:rPr>
              <a:t>Source: CRO-CMT-01 | Effective/as-of 1 February 2025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02568" y="6473952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586875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 i="0">
                <a:solidFill>
                  <a:srgbClr val="0F7780"/>
                </a:solidFill>
                <a:latin typeface="Aptos"/>
              </a:rPr>
              <a:t>ANVILCROSS REGIONAL OFFICE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3776"/>
            <a:ext cx="10698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52536"/>
                </a:solidFill>
                <a:latin typeface="Aptos"/>
              </a:rPr>
              <a:t>4 | Apply the trigger test to this detainee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0698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86875"/>
                </a:solidFill>
                <a:latin typeface="Aptos"/>
              </a:rPr>
              <a:t>The word 'violent' is a significant factor, but it is not a complete current classification under the policy.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61872"/>
            <a:ext cx="11057839" cy="0"/>
          </a:xfrm>
          <a:prstGeom prst="line">
            <a:avLst/>
          </a:prstGeom>
          <a:ln w="10160">
            <a:solidFill>
              <a:srgbClr val="D4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94360" y="1536192"/>
            <a:ext cx="3246120" cy="1828800"/>
          </a:xfrm>
          <a:prstGeom prst="rect">
            <a:avLst/>
          </a:prstGeom>
          <a:solidFill>
            <a:srgbClr val="FFFFFF"/>
          </a:solidFill>
          <a:ln w="8890">
            <a:solidFill>
              <a:srgbClr val="D4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36192"/>
            <a:ext cx="73152" cy="1828800"/>
          </a:xfrm>
          <a:prstGeom prst="rect">
            <a:avLst/>
          </a:prstGeom>
          <a:solidFill>
            <a:srgbClr val="29745B"/>
          </a:solidFill>
          <a:ln w="8890">
            <a:solidFill>
              <a:srgbClr val="297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2788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586875"/>
                </a:solidFill>
                <a:latin typeface="Aptos"/>
              </a:rPr>
              <a:t>CURRENT CREDIBLE ESCAPE PLAN / ATTEMPT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331720"/>
            <a:ext cx="2057400" cy="237744"/>
          </a:xfrm>
          <a:prstGeom prst="rect">
            <a:avLst/>
          </a:prstGeom>
          <a:solidFill>
            <a:srgbClr val="E8F3EE"/>
          </a:solidFill>
          <a:ln w="8890">
            <a:solidFill>
              <a:srgbClr val="E8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345436"/>
            <a:ext cx="194767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10" b="1" i="0">
                <a:solidFill>
                  <a:srgbClr val="29745B"/>
                </a:solidFill>
                <a:latin typeface="Aptos"/>
              </a:rPr>
              <a:t>ABSENT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2724912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 i="0">
                <a:solidFill>
                  <a:srgbClr val="1B2936"/>
                </a:solidFill>
                <a:latin typeface="Aptos"/>
              </a:rPr>
              <a:t>No current credible escape plan is in the case packet.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9663" y="1536192"/>
            <a:ext cx="3246120" cy="1828800"/>
          </a:xfrm>
          <a:prstGeom prst="rect">
            <a:avLst/>
          </a:prstGeom>
          <a:solidFill>
            <a:srgbClr val="FFFFFF"/>
          </a:solidFill>
          <a:ln w="8890">
            <a:solidFill>
              <a:srgbClr val="D4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9663" y="1536192"/>
            <a:ext cx="73152" cy="1828800"/>
          </a:xfrm>
          <a:prstGeom prst="rect">
            <a:avLst/>
          </a:prstGeom>
          <a:solidFill>
            <a:srgbClr val="29745B"/>
          </a:solidFill>
          <a:ln w="8890">
            <a:solidFill>
              <a:srgbClr val="297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8264" y="1783080"/>
            <a:ext cx="2788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586875"/>
                </a:solidFill>
                <a:latin typeface="Aptos"/>
              </a:rPr>
              <a:t>WEAPON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2331720"/>
            <a:ext cx="2057400" cy="237744"/>
          </a:xfrm>
          <a:prstGeom prst="rect">
            <a:avLst/>
          </a:prstGeom>
          <a:solidFill>
            <a:srgbClr val="E8F3EE"/>
          </a:solidFill>
          <a:ln w="8890">
            <a:solidFill>
              <a:srgbClr val="E8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7" y="2345436"/>
            <a:ext cx="194767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10" b="1" i="0">
                <a:solidFill>
                  <a:srgbClr val="29745B"/>
                </a:solidFill>
                <a:latin typeface="Aptos"/>
              </a:rPr>
              <a:t>ABSENT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8264" y="2743200"/>
            <a:ext cx="2724912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 i="0">
                <a:solidFill>
                  <a:srgbClr val="1B2936"/>
                </a:solidFill>
                <a:latin typeface="Aptos"/>
              </a:rPr>
              <a:t>The case packet records no weapon access.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44968" y="1536192"/>
            <a:ext cx="3246120" cy="1828800"/>
          </a:xfrm>
          <a:prstGeom prst="rect">
            <a:avLst/>
          </a:prstGeom>
          <a:solidFill>
            <a:srgbClr val="FFFFFF"/>
          </a:solidFill>
          <a:ln w="8890">
            <a:solidFill>
              <a:srgbClr val="D4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44968" y="1536192"/>
            <a:ext cx="73152" cy="1828800"/>
          </a:xfrm>
          <a:prstGeom prst="rect">
            <a:avLst/>
          </a:prstGeom>
          <a:solidFill>
            <a:srgbClr val="29745B"/>
          </a:solidFill>
          <a:ln w="8890">
            <a:solidFill>
              <a:srgbClr val="297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73568" y="1783080"/>
            <a:ext cx="2788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586875"/>
                </a:solidFill>
                <a:latin typeface="Aptos"/>
              </a:rPr>
              <a:t>ACTIVE MEDICAL INSTABILITY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73568" y="2331720"/>
            <a:ext cx="2057400" cy="237744"/>
          </a:xfrm>
          <a:prstGeom prst="rect">
            <a:avLst/>
          </a:prstGeom>
          <a:solidFill>
            <a:srgbClr val="E8F3EE"/>
          </a:solidFill>
          <a:ln w="8890">
            <a:solidFill>
              <a:srgbClr val="E8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28432" y="2345436"/>
            <a:ext cx="194767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10" b="1" i="0">
                <a:solidFill>
                  <a:srgbClr val="29745B"/>
                </a:solidFill>
                <a:latin typeface="Aptos"/>
              </a:rPr>
              <a:t>ABSENT AT DEPARTURE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2743200"/>
            <a:ext cx="2724912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 i="0">
                <a:solidFill>
                  <a:srgbClr val="1B2936"/>
                </a:solidFill>
                <a:latin typeface="Aptos"/>
              </a:rPr>
              <a:t>The detainee is medically stable at departure; the required visit is diagnostic.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3547872"/>
            <a:ext cx="548640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586875"/>
                </a:solidFill>
                <a:latin typeface="Aptos"/>
              </a:rPr>
              <a:t>Policy test: no current trigger in P4.1 is established by the supplied facts.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886200"/>
            <a:ext cx="5303520" cy="1993392"/>
          </a:xfrm>
          <a:prstGeom prst="rect">
            <a:avLst/>
          </a:prstGeom>
          <a:solidFill>
            <a:srgbClr val="152536"/>
          </a:solidFill>
          <a:ln w="8890">
            <a:solidFill>
              <a:srgbClr val="152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160520"/>
            <a:ext cx="45262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18A18"/>
                </a:solidFill>
                <a:latin typeface="Aptos"/>
              </a:rPr>
              <a:t>HISTORY IS MATERIAL - NOT AUTOMATIC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489704"/>
            <a:ext cx="45720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Violent offense + two documented assaults while detained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010912"/>
            <a:ext cx="457200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EEF2F4"/>
                </a:solidFill>
                <a:latin typeface="Aptos"/>
              </a:rPr>
              <a:t>This is a significant factor supporting enhanced consideration under P4.2. It does not convert recommended coverage into mandatory high-risk staffing when the P4.1 triggers are absent.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632704"/>
            <a:ext cx="3017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 i="1">
                <a:solidFill>
                  <a:srgbClr val="E4F1F0"/>
                </a:solidFill>
                <a:latin typeface="Aptos"/>
              </a:rPr>
              <a:t>Source: Sec. 4, P4.1-P4.2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44768" y="3886200"/>
            <a:ext cx="5422392" cy="1993392"/>
          </a:xfrm>
          <a:prstGeom prst="rect">
            <a:avLst/>
          </a:prstGeom>
          <a:solidFill>
            <a:srgbClr val="FFFFFF"/>
          </a:solidFill>
          <a:ln w="8890">
            <a:solidFill>
              <a:srgbClr val="D4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19088" y="4160520"/>
            <a:ext cx="2148840" cy="228600"/>
          </a:xfrm>
          <a:prstGeom prst="rect">
            <a:avLst/>
          </a:prstGeom>
          <a:solidFill>
            <a:srgbClr val="E4F1F0"/>
          </a:solidFill>
          <a:ln w="8890">
            <a:solidFill>
              <a:srgbClr val="E4F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174235"/>
            <a:ext cx="200253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07545B"/>
                </a:solidFill>
                <a:latin typeface="Aptos"/>
              </a:rPr>
              <a:t>SUPERVISORY APPLICATION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4507992"/>
            <a:ext cx="4526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536"/>
                </a:solidFill>
                <a:latin typeface="Aptos"/>
              </a:rPr>
              <a:t>Why Configuration C is proportionate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37376" y="5015484"/>
            <a:ext cx="73152" cy="73152"/>
          </a:xfrm>
          <a:prstGeom prst="rect">
            <a:avLst/>
          </a:prstGeom>
          <a:solidFill>
            <a:srgbClr val="0F7780"/>
          </a:solidFill>
          <a:ln w="8890">
            <a:solidFill>
              <a:srgbClr val="0F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0256" y="4919472"/>
            <a:ext cx="448055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1B2936"/>
                </a:solidFill>
                <a:latin typeface="Aptos"/>
              </a:rPr>
              <a:t>Public-facing outpatient clinic and no dedicated secure holding room increase clinic exposure.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37376" y="5326380"/>
            <a:ext cx="73152" cy="73152"/>
          </a:xfrm>
          <a:prstGeom prst="rect">
            <a:avLst/>
          </a:prstGeom>
          <a:solidFill>
            <a:srgbClr val="0F7780"/>
          </a:solidFill>
          <a:ln w="8890">
            <a:solidFill>
              <a:srgbClr val="0F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0256" y="5230368"/>
            <a:ext cx="448055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1B2936"/>
                </a:solidFill>
                <a:latin typeface="Aptos"/>
              </a:rPr>
              <a:t>Normal operating hours are a case fact, not a policy high-risk trigger.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37376" y="5637276"/>
            <a:ext cx="73152" cy="73152"/>
          </a:xfrm>
          <a:prstGeom prst="rect">
            <a:avLst/>
          </a:prstGeom>
          <a:solidFill>
            <a:srgbClr val="0F7780"/>
          </a:solidFill>
          <a:ln w="8890">
            <a:solidFill>
              <a:srgbClr val="0F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0256" y="5541264"/>
            <a:ext cx="448055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1B2936"/>
                </a:solidFill>
                <a:latin typeface="Aptos"/>
              </a:rPr>
              <a:t>Configuration C is recommended judgment under P4.5; the baseline remains the binding floor.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66928" y="6400800"/>
            <a:ext cx="11057839" cy="0"/>
          </a:xfrm>
          <a:prstGeom prst="line">
            <a:avLst/>
          </a:prstGeom>
          <a:ln w="8255">
            <a:solidFill>
              <a:srgbClr val="D4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66928" y="6473952"/>
            <a:ext cx="52120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586875"/>
                </a:solidFill>
                <a:latin typeface="Aptos"/>
              </a:rPr>
              <a:t>ANVILCROSS REGIONAL OFFICE  |  DECISION MEMORANDUM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9240" y="6473952"/>
            <a:ext cx="59893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86875"/>
                </a:solidFill>
                <a:latin typeface="Aptos"/>
              </a:rPr>
              <a:t>Source: CRO-CMT-01 | Effective/as-of 1 February 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02568" y="6473952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586875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 i="0">
                <a:solidFill>
                  <a:srgbClr val="0F7780"/>
                </a:solidFill>
                <a:latin typeface="Aptos"/>
              </a:rPr>
              <a:t>ANVILCROSS REGIONAL OFFICE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3776"/>
            <a:ext cx="10698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52536"/>
                </a:solidFill>
                <a:latin typeface="Aptos"/>
              </a:rPr>
              <a:t>5 | Wednesday operating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0698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86875"/>
                </a:solidFill>
                <a:latin typeface="Aptos"/>
              </a:rPr>
              <a:t>One arrangement, named roles, a controlled handoff, and a clear dependency for Farida's briefing.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61872"/>
            <a:ext cx="11057839" cy="0"/>
          </a:xfrm>
          <a:prstGeom prst="line">
            <a:avLst/>
          </a:prstGeom>
          <a:ln w="10160">
            <a:solidFill>
              <a:srgbClr val="D4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94360" y="1481328"/>
            <a:ext cx="10972800" cy="585216"/>
          </a:xfrm>
          <a:prstGeom prst="rect">
            <a:avLst/>
          </a:prstGeom>
          <a:solidFill>
            <a:srgbClr val="0F7780"/>
          </a:solidFill>
          <a:ln w="8890">
            <a:solidFill>
              <a:srgbClr val="0F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673352"/>
            <a:ext cx="13258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ptos"/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627632"/>
            <a:ext cx="8823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FFFFF"/>
                </a:solidFill>
                <a:latin typeface="Aptos"/>
              </a:rPr>
              <a:t>Configuration C - enhanced mobile escort + dedicated clinic-security post or equivalent controlled-access measure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04288"/>
            <a:ext cx="5577840" cy="3584448"/>
          </a:xfrm>
          <a:prstGeom prst="rect">
            <a:avLst/>
          </a:prstGeom>
          <a:solidFill>
            <a:srgbClr val="FFFFFF"/>
          </a:solidFill>
          <a:ln w="8890">
            <a:solidFill>
              <a:srgbClr val="D4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551176"/>
            <a:ext cx="2240280" cy="228600"/>
          </a:xfrm>
          <a:prstGeom prst="rect">
            <a:avLst/>
          </a:prstGeom>
          <a:solidFill>
            <a:srgbClr val="E4F1F0"/>
          </a:solidFill>
          <a:ln w="8890">
            <a:solidFill>
              <a:srgbClr val="E4F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564892"/>
            <a:ext cx="20939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07545B"/>
                </a:solidFill>
                <a:latin typeface="Aptos"/>
              </a:rPr>
              <a:t>ROLE CARD | USE THESE TERMS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2"/>
            <a:ext cx="4754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536"/>
                </a:solidFill>
                <a:latin typeface="Aptos"/>
              </a:rPr>
              <a:t>Accountability and custody 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55264"/>
            <a:ext cx="14447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 i="0">
                <a:solidFill>
                  <a:srgbClr val="07545B"/>
                </a:solidFill>
                <a:latin typeface="Aptos"/>
              </a:rPr>
              <a:t>NADIA LINDQVIST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3255264"/>
            <a:ext cx="349300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5" b="0" i="0">
                <a:solidFill>
                  <a:srgbClr val="1B2936"/>
                </a:solidFill>
                <a:latin typeface="Aptos"/>
              </a:rPr>
              <a:t>Approving supervisor; approve police support by 10:00 Wednesday.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3566160"/>
            <a:ext cx="5001768" cy="0"/>
          </a:xfrm>
          <a:prstGeom prst="line">
            <a:avLst/>
          </a:prstGeom>
          <a:ln w="5715">
            <a:solidFill>
              <a:srgbClr val="D4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3639312"/>
            <a:ext cx="14447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 i="0">
                <a:solidFill>
                  <a:srgbClr val="07545B"/>
                </a:solidFill>
                <a:latin typeface="Aptos"/>
              </a:rPr>
              <a:t>FARIDA GASPARYAN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639312"/>
            <a:ext cx="349300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5" b="0" i="0">
                <a:solidFill>
                  <a:srgbClr val="1B2936"/>
                </a:solidFill>
                <a:latin typeface="Aptos"/>
              </a:rPr>
              <a:t>Brief the transport team; confirm assigned roles, checks, and controlled handoff.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8680" y="3950208"/>
            <a:ext cx="5001768" cy="0"/>
          </a:xfrm>
          <a:prstGeom prst="line">
            <a:avLst/>
          </a:prstGeom>
          <a:ln w="5715">
            <a:solidFill>
              <a:srgbClr val="D4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8680" y="4023360"/>
            <a:ext cx="14447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 i="0">
                <a:solidFill>
                  <a:srgbClr val="07545B"/>
                </a:solidFill>
                <a:latin typeface="Aptos"/>
              </a:rPr>
              <a:t>TRANSPORT DRIVER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5728" y="4023360"/>
            <a:ext cx="349300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5" b="0" i="0">
                <a:solidFill>
                  <a:srgbClr val="1B2936"/>
                </a:solidFill>
                <a:latin typeface="Aptos"/>
              </a:rPr>
              <a:t>Operates vehicle, maintains team communications, and completes readiness checks.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8680" y="4334256"/>
            <a:ext cx="5001768" cy="0"/>
          </a:xfrm>
          <a:prstGeom prst="line">
            <a:avLst/>
          </a:prstGeom>
          <a:ln w="5715">
            <a:solidFill>
              <a:srgbClr val="D4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4407408"/>
            <a:ext cx="14447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 i="0">
                <a:solidFill>
                  <a:srgbClr val="07545B"/>
                </a:solidFill>
                <a:latin typeface="Aptos"/>
              </a:rPr>
              <a:t>CUSTODY ESCORT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4407408"/>
            <a:ext cx="349300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5" b="0" i="0">
                <a:solidFill>
                  <a:srgbClr val="1B2936"/>
                </a:solidFill>
                <a:latin typeface="Aptos"/>
              </a:rPr>
              <a:t>Direct custody controller; identity/restraint check; controlled movement and handoff.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8680" y="4718304"/>
            <a:ext cx="5001768" cy="0"/>
          </a:xfrm>
          <a:prstGeom prst="line">
            <a:avLst/>
          </a:prstGeom>
          <a:ln w="5715">
            <a:solidFill>
              <a:srgbClr val="D4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68680" y="4791456"/>
            <a:ext cx="14447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 i="0">
                <a:solidFill>
                  <a:srgbClr val="07545B"/>
                </a:solidFill>
                <a:latin typeface="Aptos"/>
              </a:rPr>
              <a:t>ADDITIONAL CUSTODY ESCORT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95728" y="4791456"/>
            <a:ext cx="349300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5" b="0" i="0">
                <a:solidFill>
                  <a:srgbClr val="1B2936"/>
                </a:solidFill>
                <a:latin typeface="Aptos"/>
              </a:rPr>
              <a:t>Mobile observation/response; travels with team; not the clinic-security post.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8680" y="5102352"/>
            <a:ext cx="5001768" cy="0"/>
          </a:xfrm>
          <a:prstGeom prst="line">
            <a:avLst/>
          </a:prstGeom>
          <a:ln w="5715">
            <a:solidFill>
              <a:srgbClr val="D4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68680" y="5175504"/>
            <a:ext cx="14447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 i="0">
                <a:solidFill>
                  <a:srgbClr val="07545B"/>
                </a:solidFill>
                <a:latin typeface="Aptos"/>
              </a:rPr>
              <a:t>CLINIC-SECURITY 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95728" y="5175504"/>
            <a:ext cx="349300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5" b="0" i="0">
                <a:solidFill>
                  <a:srgbClr val="1B2936"/>
                </a:solidFill>
                <a:latin typeface="Aptos"/>
              </a:rPr>
              <a:t>Controls access / clinic interface at Harrowgate or equivalent; no clinical care.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632704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586875"/>
                </a:solidFill>
                <a:latin typeface="Aptos"/>
              </a:rPr>
              <a:t>Source: Sec. 3, P3.1-P3.4; Sec. 5, P5.2-P5.4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82512" y="2304288"/>
            <a:ext cx="5184648" cy="2331720"/>
          </a:xfrm>
          <a:prstGeom prst="rect">
            <a:avLst/>
          </a:prstGeom>
          <a:solidFill>
            <a:srgbClr val="152536"/>
          </a:solidFill>
          <a:ln w="8890">
            <a:solidFill>
              <a:srgbClr val="152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56832" y="2578608"/>
            <a:ext cx="658368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 i="0">
                <a:solidFill>
                  <a:srgbClr val="D18A18"/>
                </a:solidFill>
                <a:latin typeface="Aptos"/>
              </a:rPr>
              <a:t>CLOCK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6832" y="288036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Wednesday control points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56832" y="3319272"/>
            <a:ext cx="1051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 i="0">
                <a:solidFill>
                  <a:srgbClr val="E4F1F0"/>
                </a:solidFill>
                <a:latin typeface="Aptos"/>
              </a:rPr>
              <a:t>BY 10:00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3310128"/>
            <a:ext cx="32461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0" b="0" i="0">
                <a:solidFill>
                  <a:srgbClr val="EEF2F4"/>
                </a:solidFill>
                <a:latin typeface="Aptos"/>
              </a:rPr>
              <a:t>Nadia approval; assign Configuration C roles.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56832" y="3749039"/>
            <a:ext cx="1051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 i="0">
                <a:solidFill>
                  <a:srgbClr val="E4F1F0"/>
                </a:solidFill>
                <a:latin typeface="Aptos"/>
              </a:rPr>
              <a:t>BEFORE 14:00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3739896"/>
            <a:ext cx="32461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0" b="0" i="0">
                <a:solidFill>
                  <a:srgbClr val="EEF2F4"/>
                </a:solidFill>
                <a:latin typeface="Aptos"/>
              </a:rPr>
              <a:t>Farida briefing; readiness checks; confirm Harrowgate contact, handoff point, and clinic-security/equivalent measure.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6832" y="4178807"/>
            <a:ext cx="1051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 i="0">
                <a:solidFill>
                  <a:srgbClr val="E4F1F0"/>
                </a:solidFill>
                <a:latin typeface="Aptos"/>
              </a:rPr>
              <a:t>14:00 TRANSFER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4169663"/>
            <a:ext cx="32461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0" b="0" i="0">
                <a:solidFill>
                  <a:srgbClr val="EEF2F4"/>
                </a:solidFill>
                <a:latin typeface="Aptos"/>
              </a:rPr>
              <a:t>Maintain custody through the designated controlled handoff; clinic-security function controls access at the public-facing site.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82512" y="4892040"/>
            <a:ext cx="5184648" cy="996696"/>
          </a:xfrm>
          <a:prstGeom prst="rect">
            <a:avLst/>
          </a:prstGeom>
          <a:solidFill>
            <a:srgbClr val="FFF3D9"/>
          </a:solidFill>
          <a:ln w="8890">
            <a:solidFill>
              <a:srgbClr val="D18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56832" y="5138928"/>
            <a:ext cx="192024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18A18"/>
                </a:solidFill>
                <a:latin typeface="Aptos"/>
              </a:rPr>
              <a:t>UNRESOLVED DEPENDENCY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56832" y="5413248"/>
            <a:ext cx="455371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1B2936"/>
                </a:solidFill>
                <a:latin typeface="Aptos"/>
              </a:rPr>
              <a:t>Availability/location of the clinic-security post or equivalent controlled-access measure, plus the designated receiving contact and handoff point. Farida surfaces any failure to confirm to Nadia before movement; the policy supplies no substitute layout, cost, or staffing fact.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66928" y="6400800"/>
            <a:ext cx="11057839" cy="0"/>
          </a:xfrm>
          <a:prstGeom prst="line">
            <a:avLst/>
          </a:prstGeom>
          <a:ln w="8255">
            <a:solidFill>
              <a:srgbClr val="D4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66928" y="6473952"/>
            <a:ext cx="52120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586875"/>
                </a:solidFill>
                <a:latin typeface="Aptos"/>
              </a:rPr>
              <a:t>ANVILCROSS REGIONAL OFFICE  |  DECISION MEMORANDUM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49240" y="6473952"/>
            <a:ext cx="59893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86875"/>
                </a:solidFill>
                <a:latin typeface="Aptos"/>
              </a:rPr>
              <a:t>Source: CRO-CMT-01 | Effective/as-of 1 February 2025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02568" y="6473952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586875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23A48"/>
          </a:solidFill>
          <a:ln w="8890">
            <a:solidFill>
              <a:srgbClr val="B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 i="0">
                <a:solidFill>
                  <a:srgbClr val="FBE8EA"/>
                </a:solidFill>
                <a:latin typeface="Aptos"/>
              </a:rPr>
              <a:t>ANVILCROSS REGIONAL 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93776"/>
            <a:ext cx="457200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D18A18"/>
                </a:solidFill>
                <a:latin typeface="Aptos"/>
              </a:rPr>
              <a:t>6 | SEPARATE EXCEPTION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13816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ptos"/>
              </a:rPr>
              <a:t>Medical collapse during an armed escape attempt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EF2F4"/>
                </a:solidFill>
                <a:latin typeface="Aptos"/>
              </a:rPr>
              <a:t>This is a potentially fatal emergency, not the ordinary Wednesday transfer classification.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755648"/>
            <a:ext cx="2743200" cy="3410712"/>
          </a:xfrm>
          <a:prstGeom prst="rect">
            <a:avLst/>
          </a:prstGeom>
          <a:solidFill>
            <a:srgbClr val="B23A48"/>
          </a:solidFill>
          <a:ln w="8890">
            <a:solidFill>
              <a:srgbClr val="B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097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1" i="0">
                <a:solidFill>
                  <a:srgbClr val="FBE8EA"/>
                </a:solidFill>
                <a:latin typeface="Aptos"/>
              </a:rP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Both conditions must be present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8680" y="3090672"/>
            <a:ext cx="2130552" cy="0"/>
          </a:xfrm>
          <a:prstGeom prst="line">
            <a:avLst/>
          </a:prstGeom>
          <a:ln w="10160">
            <a:solidFill>
              <a:srgbClr val="FBE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680" y="3401568"/>
            <a:ext cx="320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19856"/>
            <a:ext cx="16459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Medical collapse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895344"/>
            <a:ext cx="228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18A18"/>
                </a:solidFill>
                <a:latin typeface="Aptos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51960"/>
            <a:ext cx="320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270248"/>
            <a:ext cx="16459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Armed escape attempt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28032"/>
            <a:ext cx="2011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 i="1">
                <a:solidFill>
                  <a:srgbClr val="FBE8EA"/>
                </a:solidFill>
                <a:latin typeface="Aptos"/>
              </a:rPr>
              <a:t>Source: Sec. 7, P7.1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1755648"/>
            <a:ext cx="7955279" cy="341071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04487" y="2048256"/>
            <a:ext cx="2743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B23A48"/>
                </a:solidFill>
                <a:latin typeface="Aptos"/>
              </a:rPr>
              <a:t>IMMEDIATE POLICY SEQUENCE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13632" y="2459736"/>
            <a:ext cx="347472" cy="265176"/>
          </a:xfrm>
          <a:prstGeom prst="rect">
            <a:avLst/>
          </a:prstGeom>
          <a:solidFill>
            <a:srgbClr val="B23A48"/>
          </a:solidFill>
          <a:ln w="8890">
            <a:solidFill>
              <a:srgbClr val="B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13632" y="2500884"/>
            <a:ext cx="347472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2450592"/>
            <a:ext cx="12527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1" i="0">
                <a:solidFill>
                  <a:srgbClr val="B23A48"/>
                </a:solidFill>
                <a:latin typeface="Aptos"/>
              </a:rPr>
              <a:t>Interrupt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33288" y="2450592"/>
            <a:ext cx="5257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1B2936"/>
                </a:solidFill>
                <a:latin typeface="Aptos"/>
              </a:rPr>
              <a:t>Stop routine transfer activity immediately.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13632" y="2926080"/>
            <a:ext cx="347472" cy="265176"/>
          </a:xfrm>
          <a:prstGeom prst="rect">
            <a:avLst/>
          </a:prstGeom>
          <a:solidFill>
            <a:srgbClr val="B23A48"/>
          </a:solidFill>
          <a:ln w="8890">
            <a:solidFill>
              <a:srgbClr val="B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13632" y="2967228"/>
            <a:ext cx="347472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2916936"/>
            <a:ext cx="12527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1" i="0">
                <a:solidFill>
                  <a:srgbClr val="B23A48"/>
                </a:solidFill>
                <a:latin typeface="Aptos"/>
              </a:rPr>
              <a:t>Communicate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33288" y="2916936"/>
            <a:ext cx="5257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1B2936"/>
                </a:solidFill>
                <a:latin typeface="Aptos"/>
              </a:rPr>
              <a:t>State both threats clearly: the medical emergency and the armed escape.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13632" y="3392424"/>
            <a:ext cx="347472" cy="265176"/>
          </a:xfrm>
          <a:prstGeom prst="rect">
            <a:avLst/>
          </a:prstGeom>
          <a:solidFill>
            <a:srgbClr val="B23A48"/>
          </a:solidFill>
          <a:ln w="8890">
            <a:solidFill>
              <a:srgbClr val="B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13632" y="3433572"/>
            <a:ext cx="347472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3383280"/>
            <a:ext cx="12527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1" i="0">
                <a:solidFill>
                  <a:srgbClr val="B23A48"/>
                </a:solidFill>
                <a:latin typeface="Aptos"/>
              </a:rPr>
              <a:t>Respond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33288" y="3383280"/>
            <a:ext cx="5257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1B2936"/>
                </a:solidFill>
                <a:latin typeface="Aptos"/>
              </a:rPr>
              <a:t>Seek emergency medical response; take life-safety action consistent with law and training.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13632" y="3858768"/>
            <a:ext cx="347472" cy="265176"/>
          </a:xfrm>
          <a:prstGeom prst="rect">
            <a:avLst/>
          </a:prstGeom>
          <a:solidFill>
            <a:srgbClr val="B23A48"/>
          </a:solidFill>
          <a:ln w="8890">
            <a:solidFill>
              <a:srgbClr val="B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13632" y="3899915"/>
            <a:ext cx="347472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2272" y="3849624"/>
            <a:ext cx="12527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1" i="0">
                <a:solidFill>
                  <a:srgbClr val="B23A48"/>
                </a:solidFill>
                <a:latin typeface="Aptos"/>
              </a:rPr>
              <a:t>Contain + notify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33288" y="3849624"/>
            <a:ext cx="5257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1B2936"/>
                </a:solidFill>
                <a:latin typeface="Aptos"/>
              </a:rPr>
              <a:t>Contain the scene and notify the responsible supervisor or command channel.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13632" y="4325112"/>
            <a:ext cx="347472" cy="265176"/>
          </a:xfrm>
          <a:prstGeom prst="rect">
            <a:avLst/>
          </a:prstGeom>
          <a:solidFill>
            <a:srgbClr val="B23A48"/>
          </a:solidFill>
          <a:ln w="8890">
            <a:solidFill>
              <a:srgbClr val="B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13632" y="4366259"/>
            <a:ext cx="347472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62272" y="4315968"/>
            <a:ext cx="12527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1" i="0">
                <a:solidFill>
                  <a:srgbClr val="B23A48"/>
                </a:solidFill>
                <a:latin typeface="Aptos"/>
              </a:rPr>
              <a:t>Clear before resuming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33288" y="4315968"/>
            <a:ext cx="5257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1B2936"/>
                </a:solidFill>
                <a:latin typeface="Aptos"/>
              </a:rPr>
              <a:t>Ordinary custody movement resumes only after policy-required supervisory/command clearance.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5394960"/>
            <a:ext cx="10972800" cy="713232"/>
          </a:xfrm>
          <a:prstGeom prst="rect">
            <a:avLst/>
          </a:prstGeom>
          <a:solidFill>
            <a:srgbClr val="152536"/>
          </a:solidFill>
          <a:ln w="8890">
            <a:solidFill>
              <a:srgbClr val="152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605272"/>
            <a:ext cx="1234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90" b="1" i="0">
                <a:solidFill>
                  <a:srgbClr val="D18A18"/>
                </a:solidFill>
                <a:latin typeface="Aptos"/>
              </a:rPr>
              <a:t>BOUNDARY / LIMIT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04288" y="5541264"/>
            <a:ext cx="886968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ptos"/>
              </a:rPr>
              <a:t>An ordinary medical collapse, violent history, or routine transfer alone does not trigger this exception. It is not normal staffing. The policy does not itself authorize a search, use of force, diagnosis, or other legal power.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66928" y="6400800"/>
            <a:ext cx="11057839" cy="0"/>
          </a:xfrm>
          <a:prstGeom prst="line">
            <a:avLst/>
          </a:prstGeom>
          <a:ln w="8255">
            <a:solidFill>
              <a:srgbClr val="3246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66928" y="6473952"/>
            <a:ext cx="52120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EEF2F4"/>
                </a:solidFill>
                <a:latin typeface="Aptos"/>
              </a:rPr>
              <a:t>ANVILCROSS REGIONAL OFFICE  |  DECISION MEMORANDUM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49240" y="6473952"/>
            <a:ext cx="59893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EEF2F4"/>
                </a:solidFill>
                <a:latin typeface="Aptos"/>
              </a:rPr>
              <a:t>Source: Sec. 7, P7.1-P7.5; Sec. 1, P1.2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02568" y="6473952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EEF2F4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780"/>
          </a:solidFill>
          <a:ln w="8890">
            <a:solidFill>
              <a:srgbClr val="0F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 i="0">
                <a:solidFill>
                  <a:srgbClr val="E4F1F0"/>
                </a:solidFill>
                <a:latin typeface="Aptos"/>
              </a:rPr>
              <a:t>ANVILCROSS REGIONAL 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D18A18"/>
                </a:solidFill>
                <a:latin typeface="Aptos"/>
              </a:rPr>
              <a:t>7 |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6400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ptos"/>
              </a:rPr>
              <a:t>Approve Configuration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7315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E4F1F0"/>
                </a:solidFill>
                <a:latin typeface="Aptos"/>
              </a:rPr>
              <a:t>for Wednesday's 14:00 Harrowgate Services transfer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302752" y="749808"/>
            <a:ext cx="3246120" cy="1417320"/>
          </a:xfrm>
          <a:prstGeom prst="rect">
            <a:avLst/>
          </a:prstGeom>
          <a:solidFill>
            <a:srgbClr val="0F7780"/>
          </a:solidFill>
          <a:ln w="8890">
            <a:solidFill>
              <a:srgbClr val="0F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7072" y="987552"/>
            <a:ext cx="2377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E4F1F0"/>
                </a:solidFill>
                <a:latin typeface="Aptos"/>
              </a:rPr>
              <a:t>DECISION 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7072" y="1298448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Nadia Lindqvist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7072" y="1700784"/>
            <a:ext cx="2468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FFFFFF"/>
                </a:solidFill>
                <a:latin typeface="Aptos"/>
              </a:rPr>
              <a:t>Approve by 10:00 Wednesday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" y="2240280"/>
            <a:ext cx="11057839" cy="0"/>
          </a:xfrm>
          <a:prstGeom prst="line">
            <a:avLst/>
          </a:prstGeom>
          <a:ln w="10160">
            <a:solidFill>
              <a:srgbClr val="3246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2542032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D18A18"/>
                </a:solidFill>
                <a:latin typeface="Aptos"/>
              </a:rPr>
              <a:t>WHAT THE DECISION MEANS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2976372"/>
            <a:ext cx="73152" cy="73152"/>
          </a:xfrm>
          <a:prstGeom prst="rect">
            <a:avLst/>
          </a:prstGeom>
          <a:solidFill>
            <a:srgbClr val="0F7780"/>
          </a:solidFill>
          <a:ln w="8890">
            <a:solidFill>
              <a:srgbClr val="0F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53035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EF2F4"/>
                </a:solidFill>
                <a:latin typeface="Aptos"/>
              </a:rPr>
              <a:t>Use the mandatory Configuration A baseline plus the additional mobile custody escort and the dedicated clinic-security post or equivalent controlled-access measure.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" y="3506724"/>
            <a:ext cx="73152" cy="73152"/>
          </a:xfrm>
          <a:prstGeom prst="rect">
            <a:avLst/>
          </a:prstGeom>
          <a:solidFill>
            <a:srgbClr val="0F7780"/>
          </a:solidFill>
          <a:ln w="8890">
            <a:solidFill>
              <a:srgbClr val="0F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410712"/>
            <a:ext cx="53035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EF2F4"/>
                </a:solidFill>
                <a:latin typeface="Aptos"/>
              </a:rPr>
              <a:t>Keep the custody escort as the direct custody controller through the controlled handoff; keep the clinic-security function separate from the mobile escort.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4037076"/>
            <a:ext cx="73152" cy="73152"/>
          </a:xfrm>
          <a:prstGeom prst="rect">
            <a:avLst/>
          </a:prstGeom>
          <a:solidFill>
            <a:srgbClr val="0F7780"/>
          </a:solidFill>
          <a:ln w="8890">
            <a:solidFill>
              <a:srgbClr val="0F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941063"/>
            <a:ext cx="53035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EF2F4"/>
                </a:solidFill>
                <a:latin typeface="Aptos"/>
              </a:rPr>
              <a:t>Treat the enhancement as a proportionate supervisory recommendation under Sec. 4, P4.5 - not as a binding high-risk classification.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0" y="2542032"/>
            <a:ext cx="4937760" cy="2121408"/>
          </a:xfrm>
          <a:prstGeom prst="rect">
            <a:avLst/>
          </a:prstGeom>
          <a:solidFill>
            <a:srgbClr val="324654"/>
          </a:solidFill>
          <a:ln w="8890">
            <a:solidFill>
              <a:srgbClr val="32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2816352"/>
            <a:ext cx="1920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1" i="0">
                <a:solidFill>
                  <a:srgbClr val="E4F1F0"/>
                </a:solidFill>
                <a:latin typeface="Aptos"/>
              </a:rPr>
              <a:t>DECISION RECORD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182112"/>
            <a:ext cx="12344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E4F1F0"/>
                </a:solidFill>
                <a:latin typeface="Aptos"/>
              </a:rPr>
              <a:t>Policy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3182112"/>
            <a:ext cx="299923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0" b="0" i="0">
                <a:solidFill>
                  <a:srgbClr val="FFFFFF"/>
                </a:solidFill>
                <a:latin typeface="Aptos"/>
              </a:rPr>
              <a:t>Baseline binding; Configuration C recommended here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538728"/>
            <a:ext cx="12344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E4F1F0"/>
                </a:solidFill>
                <a:latin typeface="Aptos"/>
              </a:rPr>
              <a:t>Briefing owner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3538728"/>
            <a:ext cx="299923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0" b="0" i="0">
                <a:solidFill>
                  <a:srgbClr val="FFFFFF"/>
                </a:solidFill>
                <a:latin typeface="Aptos"/>
              </a:rPr>
              <a:t>Farida Gasparyan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895344"/>
            <a:ext cx="12344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E4F1F0"/>
                </a:solidFill>
                <a:latin typeface="Aptos"/>
              </a:rPr>
              <a:t>Timing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3895344"/>
            <a:ext cx="299923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0" b="0" i="0">
                <a:solidFill>
                  <a:srgbClr val="FFFFFF"/>
                </a:solidFill>
                <a:latin typeface="Aptos"/>
              </a:rPr>
              <a:t>Approval by 10:00 Wed; transfer at 14:00 Wed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251959"/>
            <a:ext cx="12344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E4F1F0"/>
                </a:solidFill>
                <a:latin typeface="Aptos"/>
              </a:rPr>
              <a:t>Dependency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4251959"/>
            <a:ext cx="299923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0" b="0" i="0">
                <a:solidFill>
                  <a:srgbClr val="FFFFFF"/>
                </a:solidFill>
                <a:latin typeface="Aptos"/>
              </a:rPr>
              <a:t>Clinic-security/equivalent access and handoff contact confirmed before movement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892040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0" b="0" i="1">
                <a:solidFill>
                  <a:srgbClr val="E4F1F0"/>
                </a:solidFill>
                <a:latin typeface="Aptos"/>
              </a:rPr>
              <a:t>Source: Sec. 4, P4.2/P4.5; Sec. 5, P5.2-P5.3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394960"/>
            <a:ext cx="10927080" cy="621792"/>
          </a:xfrm>
          <a:prstGeom prst="rect">
            <a:avLst/>
          </a:prstGeom>
          <a:solidFill>
            <a:srgbClr val="0F7780"/>
          </a:solidFill>
          <a:ln w="8890">
            <a:solidFill>
              <a:srgbClr val="0F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577840"/>
            <a:ext cx="1046988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20" b="1" i="0">
                <a:solidFill>
                  <a:srgbClr val="FFFFFF"/>
                </a:solidFill>
                <a:latin typeface="Aptos"/>
              </a:rPr>
              <a:t>NADIA LINDQVIST: APPROVE POLICE SUPPORT ON THIS BASIS.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6928" y="6400800"/>
            <a:ext cx="11057839" cy="0"/>
          </a:xfrm>
          <a:prstGeom prst="line">
            <a:avLst/>
          </a:prstGeom>
          <a:ln w="8255">
            <a:solidFill>
              <a:srgbClr val="3246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6928" y="6473952"/>
            <a:ext cx="52120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EEF2F4"/>
                </a:solidFill>
                <a:latin typeface="Aptos"/>
              </a:rPr>
              <a:t>ANVILCROSS REGIONAL OFFICE  |  DECISION MEMORANDUM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6473952"/>
            <a:ext cx="59893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EEF2F4"/>
                </a:solidFill>
                <a:latin typeface="Aptos"/>
              </a:rPr>
              <a:t>Source: CRO-CMT-01 | Effective/as-of 1 February 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02568" y="6473952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EEF2F4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Anvilcross Medical Transfer Decision Memorandum</dc:title>
  <dc:subject>Wednesday police-support decision for Harrowgate Services transfer</dc:subject>
  <dc:creator>Anvilcross Regional Office - First-line Supervisor</dc:creator>
  <cp:keywords>custody, medical transfer, clinic security, decision memorandum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