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2025假期受理新人短课讲义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95959"/>
                </a:solidFill>
              </a:defRPr>
            </a:pPr>
            <a:r>
              <a:t>SSC-HA假期与考勤受理组 · 新规变化与易错案例培训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适用期间：2025年度 ｜ 依据：国务院第795号令 + 国办发明电〔2024〕12号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课程大纲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一、新规速览：第795号令核心变化</a:t>
            </a:r>
          </a:p>
          <a:p>
            <a:pPr>
              <a:spcAft>
                <a:spcPts val="400"/>
              </a:spcAft>
              <a:defRPr sz="1600"/>
            </a:pPr>
            <a:r>
              <a:t>• 二、新旧对比：2013 vs 2024修订</a:t>
            </a:r>
          </a:p>
          <a:p>
            <a:pPr>
              <a:spcAft>
                <a:spcPts val="400"/>
              </a:spcAft>
              <a:defRPr sz="1600"/>
            </a:pPr>
            <a:r>
              <a:t>• 三、2025年法定假总盘与调休窗口</a:t>
            </a:r>
          </a:p>
          <a:p>
            <a:pPr>
              <a:spcAft>
                <a:spcPts val="400"/>
              </a:spcAft>
              <a:defRPr sz="1600"/>
            </a:pPr>
            <a:r>
              <a:t>• 四、公农历核对：四大关键日期</a:t>
            </a:r>
          </a:p>
          <a:p>
            <a:pPr>
              <a:spcAft>
                <a:spcPts val="400"/>
              </a:spcAft>
              <a:defRPr sz="1600"/>
            </a:pPr>
            <a:r>
              <a:t>• 五、连续工作≤6天新规解读</a:t>
            </a:r>
          </a:p>
          <a:p>
            <a:pPr>
              <a:spcAft>
                <a:spcPts val="400"/>
              </a:spcAft>
              <a:defRPr sz="1600"/>
            </a:pPr>
            <a:r>
              <a:t>• 六、补假规则：全体公民 vs 部分公民</a:t>
            </a:r>
          </a:p>
          <a:p>
            <a:pPr>
              <a:spcAft>
                <a:spcPts val="400"/>
              </a:spcAft>
              <a:defRPr sz="1600"/>
            </a:pPr>
            <a:r>
              <a:t>• 七、不放假的纪念日清单</a:t>
            </a:r>
          </a:p>
          <a:p>
            <a:pPr>
              <a:spcAft>
                <a:spcPts val="400"/>
              </a:spcAft>
              <a:defRPr sz="1600"/>
            </a:pPr>
            <a:r>
              <a:t>• 八、案例实战：三大易错场景</a:t>
            </a:r>
          </a:p>
          <a:p>
            <a:pPr>
              <a:spcAft>
                <a:spcPts val="400"/>
              </a:spcAft>
              <a:defRPr sz="1600"/>
            </a:pPr>
            <a:r>
              <a:t>• 九、互动自测：10题检验掌握程度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一、新规速览：第795号令核心变化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国务院令第795号：《国务院关于修改〈全国年节及纪念日放假办法〉的决定》</a:t>
            </a:r>
          </a:p>
          <a:p>
            <a:pPr>
              <a:spcAft>
                <a:spcPts val="400"/>
              </a:spcAft>
              <a:defRPr sz="1500"/>
            </a:pPr>
            <a:r>
              <a:t>• 签署日期：2024年11月10日（总理李强签署）</a:t>
            </a:r>
          </a:p>
          <a:p>
            <a:pPr>
              <a:spcAft>
                <a:spcPts val="400"/>
              </a:spcAft>
              <a:defRPr sz="1500"/>
            </a:pPr>
            <a:r>
              <a:t>• 施行日期：2025年1月1日起</a:t>
            </a:r>
          </a:p>
          <a:p>
            <a:pPr>
              <a:spcAft>
                <a:spcPts val="400"/>
              </a:spcAft>
              <a:defRPr sz="1500"/>
            </a:pPr>
            <a:r>
              <a:t>• </a:t>
            </a:r>
          </a:p>
          <a:p>
            <a:pPr>
              <a:spcAft>
                <a:spcPts val="400"/>
              </a:spcAft>
              <a:defRPr sz="1500"/>
            </a:pPr>
            <a:r>
              <a:t>• 核心变化一：全体公民放假假日增加2天</a:t>
            </a:r>
          </a:p>
          <a:p>
            <a:pPr>
              <a:spcAft>
                <a:spcPts val="400"/>
              </a:spcAft>
              <a:defRPr sz="1500"/>
            </a:pPr>
            <a:r>
              <a:t>•   • 春节：由3天增至4天（新增除夕为法定假）</a:t>
            </a:r>
          </a:p>
          <a:p>
            <a:pPr>
              <a:spcAft>
                <a:spcPts val="400"/>
              </a:spcAft>
              <a:defRPr sz="1500"/>
            </a:pPr>
            <a:r>
              <a:t>•   • 劳动节：由1天增至2天（新增5月2日为法定假）</a:t>
            </a:r>
          </a:p>
          <a:p>
            <a:pPr>
              <a:spcAft>
                <a:spcPts val="400"/>
              </a:spcAft>
              <a:defRPr sz="1500"/>
            </a:pPr>
            <a:r>
              <a:t>• </a:t>
            </a:r>
          </a:p>
          <a:p>
            <a:pPr>
              <a:spcAft>
                <a:spcPts val="400"/>
              </a:spcAft>
              <a:defRPr sz="1500"/>
            </a:pPr>
            <a:r>
              <a:t>• 核心变化二：新增第七条 — 连续工作限制</a:t>
            </a:r>
          </a:p>
          <a:p>
            <a:pPr>
              <a:spcAft>
                <a:spcPts val="400"/>
              </a:spcAft>
              <a:defRPr sz="1500"/>
            </a:pPr>
            <a:r>
              <a:t>•   • "全体公民放假的假日，可合理安排统一放假调休，</a:t>
            </a:r>
          </a:p>
          <a:p>
            <a:pPr>
              <a:spcAft>
                <a:spcPts val="400"/>
              </a:spcAft>
              <a:defRPr sz="1500"/>
            </a:pPr>
            <a:r>
              <a:t>•     结合落实带薪年休假等制度，实际形成较长假期。"</a:t>
            </a:r>
          </a:p>
          <a:p>
            <a:pPr>
              <a:spcAft>
                <a:spcPts val="400"/>
              </a:spcAft>
              <a:defRPr sz="1500"/>
            </a:pPr>
            <a:r>
              <a:t>•   • "除个别特殊情形外，法定节假日假期前后连续工作一般不超过6天。"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二、新旧对比：2013旧办法 vs 2024新修订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2013旧办法（第644号令）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2024新修订（第795号令）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春节法定假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3天：正月初一、初二、初三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4天：除夕、正月初一至初三</a:t>
                      </a:r>
                    </a:p>
                    <a:p>
                      <a:pPr>
                        <a:defRPr sz="1000"/>
                      </a:pPr>
                      <a:r>
                        <a:t>（新增除夕，由腊月廿九起算）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劳动节法定假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1天：5月1日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2天：5月1日、5月2日</a:t>
                      </a:r>
                    </a:p>
                    <a:p>
                      <a:pPr>
                        <a:defRPr sz="1000"/>
                      </a:pPr>
                      <a:r>
                        <a:t>（新增5月2日）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其他法定假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元旦1天、清明1天、端午1天</a:t>
                      </a:r>
                    </a:p>
                    <a:p>
                      <a:pPr>
                        <a:defRPr sz="1000"/>
                      </a:pPr>
                      <a:r>
                        <a:t>中秋1天、国庆3天（不变）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元旦1天、清明1天、端午1天</a:t>
                      </a:r>
                    </a:p>
                    <a:p>
                      <a:pPr>
                        <a:defRPr sz="1000"/>
                      </a:pPr>
                      <a:r>
                        <a:t>中秋1天、国庆3天（不变）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全体公民法定假</a:t>
                      </a:r>
                    </a:p>
                    <a:p>
                      <a:pPr>
                        <a:defRPr sz="1000"/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13天（增加2天）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连续工作限制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无明文规定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新增第七条：</a:t>
                      </a:r>
                    </a:p>
                    <a:p>
                      <a:pPr>
                        <a:defRPr sz="1000"/>
                      </a:pPr>
                      <a:r>
                        <a:t>一般不超过6天</a:t>
                      </a:r>
                    </a:p>
                    <a:p>
                      <a:pPr>
                        <a:defRPr sz="1000"/>
                      </a:pPr>
                      <a:r>
                        <a:t>可结合带薪年休假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施行日期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2014年1月1日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2025年1月1日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0000"/>
                </a:solidFill>
              </a:defRPr>
            </a:pPr>
            <a:r>
              <a:t>⚠ 严禁将2013旧办法规则（如春节3天、除夕非法定假）作为2025年受理依据！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三、2025年法定假总盘与调休窗口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节日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法定假天数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法定假日期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调休窗口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总天数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调休上班日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元旦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1月1日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1月1日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春节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1.28除夕</a:t>
                      </a:r>
                    </a:p>
                    <a:p>
                      <a:pPr>
                        <a:defRPr sz="1000"/>
                      </a:pPr>
                      <a:r>
                        <a:t>1.29-1.31</a:t>
                      </a:r>
                    </a:p>
                    <a:p>
                      <a:pPr>
                        <a:defRPr sz="1000"/>
                      </a:pPr>
                      <a:r>
                        <a:t>初一至初三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1.28-2.4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1.26（周日）</a:t>
                      </a:r>
                    </a:p>
                    <a:p>
                      <a:pPr>
                        <a:defRPr sz="1000"/>
                      </a:pPr>
                      <a:r>
                        <a:t>2.8（周六）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清明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4月4日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4.4-4.6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劳动节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5月1日</a:t>
                      </a:r>
                    </a:p>
                    <a:p>
                      <a:pPr>
                        <a:defRPr sz="1000"/>
                      </a:pPr>
                      <a:r>
                        <a:t>5月2日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5.1-5.5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4.27（周日）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端午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5月31日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5.31-6.2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国庆+中秋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10.1-10.3国庆</a:t>
                      </a:r>
                    </a:p>
                    <a:p>
                      <a:pPr>
                        <a:defRPr sz="1000"/>
                      </a:pPr>
                      <a:r>
                        <a:t>10.6中秋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10.1-10.8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9.28（周日）</a:t>
                      </a:r>
                    </a:p>
                    <a:p>
                      <a:pPr>
                        <a:defRPr sz="1000"/>
                      </a:pPr>
                      <a:r>
                        <a:t>10.11（周六）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全年法定假合计13天 ｜ 调休窗口6个 ｜ 调休上班日5个（1.26、2.8、4.27、9.28、10.11）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四、公农历核对：四大关键日期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节日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公历日期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农历/节气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易错点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除夕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1月28日（周二）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腊月廿九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腊月只有29天，除夕是廿九不是三十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清明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4月4日（周五）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清明（节气）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部分APP显示4月5日，以国办通知为准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端午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5月31日（周六）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五月初五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不是6月1日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中秋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10月6日（周一）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八月十五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与国庆合并，不是10月1日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核对依据：S12公农历核对表（香港天文台2025年公历与农历日期对照表）</a:t>
            </a:r>
          </a:p>
          <a:p>
            <a:pPr>
              <a:spcAft>
                <a:spcPts val="400"/>
              </a:spcAft>
              <a:defRPr sz="1400"/>
            </a:pPr>
            <a:r>
              <a:t>• 交叉验证：与国办发明电〔2024〕12号通知日期比对</a:t>
            </a:r>
          </a:p>
          <a:p>
            <a:pPr>
              <a:spcAft>
                <a:spcPts val="400"/>
              </a:spcAft>
              <a:defRPr sz="1400"/>
            </a:pPr>
            <a:r>
              <a:t>• 严禁使用第三方日历APP作为受理依据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五、连续工作≤6天新规解读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法规原文（第795号令新增第七条）：</a:t>
            </a:r>
          </a:p>
          <a:p>
            <a:pPr>
              <a:spcAft>
                <a:spcPts val="400"/>
              </a:spcAft>
              <a:defRPr sz="1400"/>
            </a:pPr>
            <a:r>
              <a:t>• "全体公民放假的假日，可合理安排统一放假调休，结合落实带薪年休假等制度，实际形成较长假期。</a:t>
            </a:r>
          </a:p>
          <a:p>
            <a:pPr>
              <a:spcAft>
                <a:spcPts val="400"/>
              </a:spcAft>
              <a:defRPr sz="1400"/>
            </a:pPr>
            <a:r>
              <a:t>• 除个别特殊情形外，法定节假日假期前后连续工作一般不超过6天。"</a:t>
            </a:r>
          </a:p>
          <a:p>
            <a:pPr>
              <a:spcAft>
                <a:spcPts val="400"/>
              </a:spcAft>
              <a:defRPr sz="1400"/>
            </a:pPr>
            <a:r>
              <a:t>• </a:t>
            </a:r>
          </a:p>
          <a:p>
            <a:pPr>
              <a:spcAft>
                <a:spcPts val="400"/>
              </a:spcAft>
              <a:defRPr sz="1400"/>
            </a:pPr>
            <a:r>
              <a:t>• 关键解读：</a:t>
            </a:r>
          </a:p>
          <a:p>
            <a:pPr>
              <a:spcAft>
                <a:spcPts val="400"/>
              </a:spcAft>
              <a:defRPr sz="1400"/>
            </a:pPr>
            <a:r>
              <a:t>• • "一般不超过6天" = 原则上限6天，非绝对禁止</a:t>
            </a:r>
          </a:p>
          <a:p>
            <a:pPr>
              <a:spcAft>
                <a:spcPts val="400"/>
              </a:spcAft>
              <a:defRPr sz="1400"/>
            </a:pPr>
            <a:r>
              <a:t>• • "除个别特殊情形外" = 允许例外，但须审批</a:t>
            </a:r>
          </a:p>
          <a:p>
            <a:pPr>
              <a:spcAft>
                <a:spcPts val="400"/>
              </a:spcAft>
              <a:defRPr sz="1400"/>
            </a:pPr>
            <a:r>
              <a:t>• • "结合落实带薪年休假" = 鼓励用年假填充，减少连续工作</a:t>
            </a:r>
          </a:p>
          <a:p>
            <a:pPr>
              <a:spcAft>
                <a:spcPts val="400"/>
              </a:spcAft>
              <a:defRPr sz="1400"/>
            </a:pPr>
            <a:r>
              <a:t>• • 适用时点 = "法定节假日假期前后"，非全年所有时段</a:t>
            </a:r>
          </a:p>
          <a:p>
            <a:pPr>
              <a:spcAft>
                <a:spcPts val="400"/>
              </a:spcAft>
              <a:defRPr sz="1400"/>
            </a:pPr>
            <a:r>
              <a:t>• </a:t>
            </a:r>
          </a:p>
          <a:p>
            <a:pPr>
              <a:spcAft>
                <a:spcPts val="400"/>
              </a:spcAft>
              <a:defRPr sz="1400"/>
            </a:pPr>
            <a:r>
              <a:t>• SSC-HA受理要点：</a:t>
            </a:r>
          </a:p>
          <a:p>
            <a:pPr>
              <a:spcAft>
                <a:spcPts val="400"/>
              </a:spcAft>
              <a:defRPr sz="1400"/>
            </a:pPr>
            <a:r>
              <a:t>• • 系统自动预警连续工作≥6天 → HOL_EXCEP</a:t>
            </a:r>
          </a:p>
          <a:p>
            <a:pPr>
              <a:spcAft>
                <a:spcPts val="400"/>
              </a:spcAft>
              <a:defRPr sz="1400"/>
            </a:pPr>
            <a:r>
              <a:t>• • 2级主管须在24小时内确认是否需要调整排班</a:t>
            </a:r>
          </a:p>
          <a:p>
            <a:pPr>
              <a:spcAft>
                <a:spcPts val="400"/>
              </a:spcAft>
              <a:defRPr sz="1400"/>
            </a:pPr>
            <a:r>
              <a:t>• • 如部门主张"特殊情形"豁免 → 升级至3级HRBP审批</a:t>
            </a:r>
          </a:p>
          <a:p>
            <a:pPr>
              <a:spcAft>
                <a:spcPts val="400"/>
              </a:spcAft>
              <a:defRPr sz="1400"/>
            </a:pPr>
            <a:r>
              <a:t>• • 所有豁免须保留书面审批记录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六、补假规则：全体公民 vs 部分公民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【全体公民放假】（第二条）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规则（第六条）：</a:t>
            </a:r>
          </a:p>
          <a:p>
            <a:pPr>
              <a:spcAft>
                <a:spcPts val="400"/>
              </a:spcAft>
              <a:defRPr sz="1300"/>
            </a:pPr>
            <a:r>
              <a:t>• 全体公民放假的假日，如果</a:t>
            </a:r>
          </a:p>
          <a:p>
            <a:pPr>
              <a:spcAft>
                <a:spcPts val="400"/>
              </a:spcAft>
              <a:defRPr sz="1300"/>
            </a:pPr>
            <a:r>
              <a:t>• 适逢星期六、星期日，应当</a:t>
            </a:r>
          </a:p>
          <a:p>
            <a:pPr>
              <a:spcAft>
                <a:spcPts val="400"/>
              </a:spcAft>
              <a:defRPr sz="1300"/>
            </a:pPr>
            <a:r>
              <a:t>• 在工作日补假。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适用节日：</a:t>
            </a:r>
          </a:p>
          <a:p>
            <a:pPr>
              <a:spcAft>
                <a:spcPts val="400"/>
              </a:spcAft>
              <a:defRPr sz="1300"/>
            </a:pPr>
            <a:r>
              <a:t>• • 元旦、春节、清明、</a:t>
            </a:r>
          </a:p>
          <a:p>
            <a:pPr>
              <a:spcAft>
                <a:spcPts val="400"/>
              </a:spcAft>
              <a:defRPr sz="1300"/>
            </a:pPr>
            <a:r>
              <a:t>•   劳动节、端午、中秋、国庆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示例：2025年端午节5月31日</a:t>
            </a:r>
          </a:p>
          <a:p>
            <a:pPr>
              <a:spcAft>
                <a:spcPts val="400"/>
              </a:spcAft>
              <a:defRPr sz="1300"/>
            </a:pPr>
            <a:r>
              <a:t>• （周六），6月1日（周日），</a:t>
            </a:r>
          </a:p>
          <a:p>
            <a:pPr>
              <a:spcAft>
                <a:spcPts val="400"/>
              </a:spcAft>
              <a:defRPr sz="1300"/>
            </a:pPr>
            <a:r>
              <a:t>• 6月2日（周一）补假。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【部分公民放假】（第三条）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规则（第六条）：</a:t>
            </a:r>
          </a:p>
          <a:p>
            <a:pPr>
              <a:spcAft>
                <a:spcPts val="400"/>
              </a:spcAft>
              <a:defRPr sz="1300"/>
            </a:pPr>
            <a:r>
              <a:t>• 部分公民放假的假日，如果</a:t>
            </a:r>
          </a:p>
          <a:p>
            <a:pPr>
              <a:spcAft>
                <a:spcPts val="400"/>
              </a:spcAft>
              <a:defRPr sz="1300"/>
            </a:pPr>
            <a:r>
              <a:t>• 适逢星期六、星期日，则不补假。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适用节日：</a:t>
            </a:r>
          </a:p>
          <a:p>
            <a:pPr>
              <a:spcAft>
                <a:spcPts val="400"/>
              </a:spcAft>
              <a:defRPr sz="1300"/>
            </a:pPr>
            <a:r>
              <a:t>• • 妇女节（3月8日）— 妇女半天</a:t>
            </a:r>
          </a:p>
          <a:p>
            <a:pPr>
              <a:spcAft>
                <a:spcPts val="400"/>
              </a:spcAft>
              <a:defRPr sz="1300"/>
            </a:pPr>
            <a:r>
              <a:t>• • 青年节（5月4日）— 14岁以上</a:t>
            </a:r>
          </a:p>
          <a:p>
            <a:pPr>
              <a:spcAft>
                <a:spcPts val="400"/>
              </a:spcAft>
              <a:defRPr sz="1300"/>
            </a:pPr>
            <a:r>
              <a:t>•   青年半天</a:t>
            </a:r>
          </a:p>
          <a:p>
            <a:pPr>
              <a:spcAft>
                <a:spcPts val="400"/>
              </a:spcAft>
              <a:defRPr sz="1300"/>
            </a:pPr>
            <a:r>
              <a:t>• • 儿童节（6月1日）— 不满14岁</a:t>
            </a:r>
          </a:p>
          <a:p>
            <a:pPr>
              <a:spcAft>
                <a:spcPts val="400"/>
              </a:spcAft>
              <a:defRPr sz="1300"/>
            </a:pPr>
            <a:r>
              <a:t>•   1天</a:t>
            </a:r>
          </a:p>
          <a:p>
            <a:pPr>
              <a:spcAft>
                <a:spcPts val="400"/>
              </a:spcAft>
              <a:defRPr sz="1300"/>
            </a:pPr>
            <a:r>
              <a:t>• • 建军节（8月1日）— 现役军人</a:t>
            </a:r>
          </a:p>
          <a:p>
            <a:pPr>
              <a:spcAft>
                <a:spcPts val="400"/>
              </a:spcAft>
              <a:defRPr sz="1300"/>
            </a:pPr>
            <a:r>
              <a:t>•   半天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七、不放假的纪念日清单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依据《全国年节及纪念日放假办法》第五条：</a:t>
            </a:r>
          </a:p>
          <a:p>
            <a:pPr>
              <a:spcAft>
                <a:spcPts val="400"/>
              </a:spcAft>
              <a:defRPr sz="1400"/>
            </a:pPr>
            <a:r>
              <a:t>• </a:t>
            </a:r>
          </a:p>
          <a:p>
            <a:pPr>
              <a:spcAft>
                <a:spcPts val="400"/>
              </a:spcAft>
              <a:defRPr sz="1400"/>
            </a:pPr>
            <a:r>
              <a:t>• 以下纪念日/节日均不放假：</a:t>
            </a:r>
          </a:p>
          <a:p>
            <a:pPr>
              <a:spcAft>
                <a:spcPts val="400"/>
              </a:spcAft>
              <a:defRPr sz="1400"/>
            </a:pPr>
            <a:r>
              <a:t>• • 二七纪念日（2月7日）</a:t>
            </a:r>
          </a:p>
          <a:p>
            <a:pPr>
              <a:spcAft>
                <a:spcPts val="400"/>
              </a:spcAft>
              <a:defRPr sz="1400"/>
            </a:pPr>
            <a:r>
              <a:t>• • 五卅纪念日（5月30日）</a:t>
            </a:r>
          </a:p>
          <a:p>
            <a:pPr>
              <a:spcAft>
                <a:spcPts val="400"/>
              </a:spcAft>
              <a:defRPr sz="1400"/>
            </a:pPr>
            <a:r>
              <a:t>• • 七七抗战纪念日（7月7日）</a:t>
            </a:r>
          </a:p>
          <a:p>
            <a:pPr>
              <a:spcAft>
                <a:spcPts val="400"/>
              </a:spcAft>
              <a:defRPr sz="1400"/>
            </a:pPr>
            <a:r>
              <a:t>• • 九三抗战胜利纪念日（9月3日）</a:t>
            </a:r>
          </a:p>
          <a:p>
            <a:pPr>
              <a:spcAft>
                <a:spcPts val="400"/>
              </a:spcAft>
              <a:defRPr sz="1400"/>
            </a:pPr>
            <a:r>
              <a:t>• • 九一八纪念日（9月18日）</a:t>
            </a:r>
          </a:p>
          <a:p>
            <a:pPr>
              <a:spcAft>
                <a:spcPts val="400"/>
              </a:spcAft>
              <a:defRPr sz="1400"/>
            </a:pPr>
            <a:r>
              <a:t>• • 教师节（9月10日）</a:t>
            </a:r>
          </a:p>
          <a:p>
            <a:pPr>
              <a:spcAft>
                <a:spcPts val="400"/>
              </a:spcAft>
              <a:defRPr sz="1400"/>
            </a:pPr>
            <a:r>
              <a:t>• • 护士节（5月12日）</a:t>
            </a:r>
          </a:p>
          <a:p>
            <a:pPr>
              <a:spcAft>
                <a:spcPts val="400"/>
              </a:spcAft>
              <a:defRPr sz="1400"/>
            </a:pPr>
            <a:r>
              <a:t>• • 记者节（11月8日）</a:t>
            </a:r>
          </a:p>
          <a:p>
            <a:pPr>
              <a:spcAft>
                <a:spcPts val="400"/>
              </a:spcAft>
              <a:defRPr sz="1400"/>
            </a:pPr>
            <a:r>
              <a:t>• • 植树节（3月12日）</a:t>
            </a:r>
          </a:p>
          <a:p>
            <a:pPr>
              <a:spcAft>
                <a:spcPts val="400"/>
              </a:spcAft>
              <a:defRPr sz="1400"/>
            </a:pPr>
            <a:r>
              <a:t>• </a:t>
            </a:r>
          </a:p>
          <a:p>
            <a:pPr>
              <a:spcAft>
                <a:spcPts val="400"/>
              </a:spcAft>
              <a:defRPr sz="1400"/>
            </a:pPr>
            <a:r>
              <a:t>• ⚠ 受理提醒：如有员工以上述纪念日为由申请放假，应明确告知这些日期不放假。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补充：少数民族习惯节日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依据《全国年节及纪念日放假办法》第四条：</a:t>
            </a:r>
          </a:p>
          <a:p>
            <a:pPr>
              <a:spcAft>
                <a:spcPts val="400"/>
              </a:spcAft>
              <a:defRPr sz="1500"/>
            </a:pPr>
            <a:r>
              <a:t>• </a:t>
            </a:r>
          </a:p>
          <a:p>
            <a:pPr>
              <a:spcAft>
                <a:spcPts val="400"/>
              </a:spcAft>
              <a:defRPr sz="1500"/>
            </a:pPr>
            <a:r>
              <a:t>• "少数民族习惯的节日，由各少数民族聚居地区的地方人民政府，</a:t>
            </a:r>
          </a:p>
          <a:p>
            <a:pPr>
              <a:spcAft>
                <a:spcPts val="400"/>
              </a:spcAft>
              <a:defRPr sz="1500"/>
            </a:pPr>
            <a:r>
              <a:t>• 按照各该民族习惯，规定放假日期。"</a:t>
            </a:r>
          </a:p>
          <a:p>
            <a:pPr>
              <a:spcAft>
                <a:spcPts val="400"/>
              </a:spcAft>
              <a:defRPr sz="1500"/>
            </a:pPr>
            <a:r>
              <a:t>• </a:t>
            </a:r>
          </a:p>
          <a:p>
            <a:pPr>
              <a:spcAft>
                <a:spcPts val="400"/>
              </a:spcAft>
              <a:defRPr sz="1500"/>
            </a:pPr>
            <a:r>
              <a:t>• SSC-HA受理要点：</a:t>
            </a:r>
          </a:p>
          <a:p>
            <a:pPr>
              <a:spcAft>
                <a:spcPts val="400"/>
              </a:spcAft>
              <a:defRPr sz="1500"/>
            </a:pPr>
            <a:r>
              <a:t>• • 少数民族员工申请民族节日放假，须确认其所在地区地方政府是否有放假规定</a:t>
            </a:r>
          </a:p>
          <a:p>
            <a:pPr>
              <a:spcAft>
                <a:spcPts val="400"/>
              </a:spcAft>
              <a:defRPr sz="1500"/>
            </a:pPr>
            <a:r>
              <a:t>• • SSC-HA不自行决定少数民族节日放假安排</a:t>
            </a:r>
          </a:p>
          <a:p>
            <a:pPr>
              <a:spcAft>
                <a:spcPts val="400"/>
              </a:spcAft>
              <a:defRPr sz="1500"/>
            </a:pPr>
            <a:r>
              <a:t>• • 如涉及跨地区用工，须分别核实各地规定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八、案例实战：案例A — 除夕日期认知冲突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场景：生产主管将1月28日标记为"正常工作日"，安排员工值班。</a:t>
            </a:r>
          </a:p>
          <a:p>
            <a:pPr>
              <a:spcAft>
                <a:spcPts val="400"/>
              </a:spcAft>
              <a:defRPr sz="1300"/>
            </a:pPr>
            <a:r>
              <a:t>•         主管依据：2013旧办法（除夕非法定假）。</a:t>
            </a:r>
          </a:p>
          <a:p>
            <a:pPr>
              <a:spcAft>
                <a:spcPts val="400"/>
              </a:spcAft>
              <a:defRPr sz="1300"/>
            </a:pPr>
            <a:r>
              <a:t>• 员工诉求：1月28日为法定假（除夕），要求按3倍工资核算。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❌ 错误做法：按旧规接受主管排班</a:t>
            </a:r>
          </a:p>
          <a:p>
            <a:pPr>
              <a:spcAft>
                <a:spcPts val="400"/>
              </a:spcAft>
              <a:defRPr sz="1300"/>
            </a:pPr>
            <a:r>
              <a:t>• ✓ 正确做法：</a:t>
            </a:r>
          </a:p>
          <a:p>
            <a:pPr>
              <a:spcAft>
                <a:spcPts val="400"/>
              </a:spcAft>
              <a:defRPr sz="1300"/>
            </a:pPr>
            <a:r>
              <a:t>•   1. 依据第795号令，2025年春节法定假4天，含除夕（1月28日/腊月廿九）</a:t>
            </a:r>
          </a:p>
          <a:p>
            <a:pPr>
              <a:spcAft>
                <a:spcPts val="400"/>
              </a:spcAft>
              <a:defRPr sz="1300"/>
            </a:pPr>
            <a:r>
              <a:t>•   2. 拦截主管排班：1月28日须标记为HOL_STAT（法定节假日）</a:t>
            </a:r>
          </a:p>
          <a:p>
            <a:pPr>
              <a:spcAft>
                <a:spcPts val="400"/>
              </a:spcAft>
              <a:defRPr sz="1300"/>
            </a:pPr>
            <a:r>
              <a:t>•   3. 纠正系统记录：将1月28日从"正常工作日"改为"法定假"</a:t>
            </a:r>
          </a:p>
          <a:p>
            <a:pPr>
              <a:spcAft>
                <a:spcPts val="400"/>
              </a:spcAft>
              <a:defRPr sz="1300"/>
            </a:pPr>
            <a:r>
              <a:t>•   4. 核算标准：如员工当日值班，按不低于工资300%支付加班费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标准回应话术：</a:t>
            </a:r>
          </a:p>
          <a:p>
            <a:pPr>
              <a:spcAft>
                <a:spcPts val="400"/>
              </a:spcAft>
              <a:defRPr sz="1300"/>
            </a:pPr>
            <a:r>
              <a:t>•   "根据2025年新规（第795号令，2025年1月1日起施行），春节法定假已</a:t>
            </a:r>
          </a:p>
          <a:p>
            <a:pPr>
              <a:spcAft>
                <a:spcPts val="400"/>
              </a:spcAft>
              <a:defRPr sz="1300"/>
            </a:pPr>
            <a:r>
              <a:t>•   增至4天，包含除夕（1月28日）。当日为法定假，不能按工作日排班。</a:t>
            </a:r>
          </a:p>
          <a:p>
            <a:pPr>
              <a:spcAft>
                <a:spcPts val="400"/>
              </a:spcAft>
              <a:defRPr sz="1300"/>
            </a:pPr>
            <a:r>
              <a:t>•   如确需值班，加班费按法定假标准（3倍）核算。"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案例实战：案例B — 连续工作超6天红线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场景：技术团队排班1月20日-27日连续8天工作（含1.26调休上班日），</a:t>
            </a:r>
          </a:p>
          <a:p>
            <a:pPr>
              <a:spcAft>
                <a:spcPts val="400"/>
              </a:spcAft>
              <a:defRPr sz="1300"/>
            </a:pPr>
            <a:r>
              <a:t>•         然后1.28-2.4放假。员工质疑连续工作超过6天。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❌ 错误做法：接受部门"项目紧急"理由，不做干预</a:t>
            </a:r>
          </a:p>
          <a:p>
            <a:pPr>
              <a:spcAft>
                <a:spcPts val="400"/>
              </a:spcAft>
              <a:defRPr sz="1300"/>
            </a:pPr>
            <a:r>
              <a:t>• ✓ 正确做法：</a:t>
            </a:r>
          </a:p>
          <a:p>
            <a:pPr>
              <a:spcAft>
                <a:spcPts val="400"/>
              </a:spcAft>
              <a:defRPr sz="1300"/>
            </a:pPr>
            <a:r>
              <a:t>•   1. 系统自动检测连续工作8天，标记HOL_EXCEP红色预警</a:t>
            </a:r>
          </a:p>
          <a:p>
            <a:pPr>
              <a:spcAft>
                <a:spcPts val="400"/>
              </a:spcAft>
              <a:defRPr sz="1300"/>
            </a:pPr>
            <a:r>
              <a:t>•   2. 1级专员核实后升级至2级主管</a:t>
            </a:r>
          </a:p>
          <a:p>
            <a:pPr>
              <a:spcAft>
                <a:spcPts val="400"/>
              </a:spcAft>
              <a:defRPr sz="1300"/>
            </a:pPr>
            <a:r>
              <a:t>•   3. 2级主管联系部门要求调整排班（确保连续工作≤6天）</a:t>
            </a:r>
          </a:p>
          <a:p>
            <a:pPr>
              <a:spcAft>
                <a:spcPts val="400"/>
              </a:spcAft>
              <a:defRPr sz="1300"/>
            </a:pPr>
            <a:r>
              <a:t>•   4. 如部门主张"特殊情形"豁免：</a:t>
            </a:r>
          </a:p>
          <a:p>
            <a:pPr>
              <a:spcAft>
                <a:spcPts val="400"/>
              </a:spcAft>
              <a:defRPr sz="1300"/>
            </a:pPr>
            <a:r>
              <a:t>•      → 2级填写HOL_EXCEP升级工单，说明理由</a:t>
            </a:r>
          </a:p>
          <a:p>
            <a:pPr>
              <a:spcAft>
                <a:spcPts val="400"/>
              </a:spcAft>
              <a:defRPr sz="1300"/>
            </a:pPr>
            <a:r>
              <a:t>•      → 升级至3级HRBP审批</a:t>
            </a:r>
          </a:p>
          <a:p>
            <a:pPr>
              <a:spcAft>
                <a:spcPts val="400"/>
              </a:spcAft>
              <a:defRPr sz="1300"/>
            </a:pPr>
            <a:r>
              <a:t>•   5. 未经HRBP审批，不得允许连续工作超过6天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关键提醒：</a:t>
            </a:r>
          </a:p>
          <a:p>
            <a:pPr>
              <a:spcAft>
                <a:spcPts val="400"/>
              </a:spcAft>
              <a:defRPr sz="1300"/>
            </a:pPr>
            <a:r>
              <a:t>•   "除个别特殊情形外"= 例外须审批，非部门自行决定</a:t>
            </a:r>
          </a:p>
          <a:p>
            <a:pPr>
              <a:spcAft>
                <a:spcPts val="400"/>
              </a:spcAft>
              <a:defRPr sz="1300"/>
            </a:pPr>
            <a:r>
              <a:t>•   可建议部门结合带薪年休假安排，减少连续工作天数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案例实战：案例C — 清明节气日期误解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场景：部门助理将4月5日（周六）标为"清明法定假"，4月4日标为"正常工作日"。</a:t>
            </a:r>
          </a:p>
          <a:p>
            <a:pPr>
              <a:spcAft>
                <a:spcPts val="400"/>
              </a:spcAft>
              <a:defRPr sz="1300"/>
            </a:pPr>
            <a:r>
              <a:t>•         原因：手机日历APP显示"清明"为4月5日。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❌ 错误做法：按第三方APP日期标记系统</a:t>
            </a:r>
          </a:p>
          <a:p>
            <a:pPr>
              <a:spcAft>
                <a:spcPts val="400"/>
              </a:spcAft>
              <a:defRPr sz="1300"/>
            </a:pPr>
            <a:r>
              <a:t>• ✓ 正确做法：</a:t>
            </a:r>
          </a:p>
          <a:p>
            <a:pPr>
              <a:spcAft>
                <a:spcPts val="400"/>
              </a:spcAft>
              <a:defRPr sz="1300"/>
            </a:pPr>
            <a:r>
              <a:t>•   1. 依据S12核对表：2025年清明节气对应公历4月4日</a:t>
            </a:r>
          </a:p>
          <a:p>
            <a:pPr>
              <a:spcAft>
                <a:spcPts val="400"/>
              </a:spcAft>
              <a:defRPr sz="1300"/>
            </a:pPr>
            <a:r>
              <a:t>•   2. 法定假当日为4月4日（周五）→ 标记HOL_STAT</a:t>
            </a:r>
          </a:p>
          <a:p>
            <a:pPr>
              <a:spcAft>
                <a:spcPts val="400"/>
              </a:spcAft>
              <a:defRPr sz="1300"/>
            </a:pPr>
            <a:r>
              <a:t>•   3. 4月5日（周六）、4月6日（周日）为正常周末休息日</a:t>
            </a:r>
          </a:p>
          <a:p>
            <a:pPr>
              <a:spcAft>
                <a:spcPts val="400"/>
              </a:spcAft>
              <a:defRPr sz="1300"/>
            </a:pPr>
            <a:r>
              <a:t>•   4. 纠正系统：将4月4日改为法定假，4月5日恢复为休息日</a:t>
            </a:r>
          </a:p>
          <a:p>
            <a:pPr>
              <a:spcAft>
                <a:spcPts val="400"/>
              </a:spcAft>
              <a:defRPr sz="1300"/>
            </a:pPr>
            <a:r>
              <a:t>•   5. 如4月4日有员工值班，按法定假3倍核算</a:t>
            </a:r>
          </a:p>
          <a:p>
            <a:pPr>
              <a:spcAft>
                <a:spcPts val="400"/>
              </a:spcAft>
              <a:defRPr sz="1300"/>
            </a:pPr>
            <a:r>
              <a:t>• </a:t>
            </a:r>
          </a:p>
          <a:p>
            <a:pPr>
              <a:spcAft>
                <a:spcPts val="400"/>
              </a:spcAft>
              <a:defRPr sz="1300"/>
            </a:pPr>
            <a:r>
              <a:t>• 关键提醒：</a:t>
            </a:r>
          </a:p>
          <a:p>
            <a:pPr>
              <a:spcAft>
                <a:spcPts val="400"/>
              </a:spcAft>
              <a:defRPr sz="1300"/>
            </a:pPr>
            <a:r>
              <a:t>•   • 清明法定假仅1天（4月4日），非3天全为法定假</a:t>
            </a:r>
          </a:p>
          <a:p>
            <a:pPr>
              <a:spcAft>
                <a:spcPts val="400"/>
              </a:spcAft>
              <a:defRPr sz="1300"/>
            </a:pPr>
            <a:r>
              <a:t>•   • 系统标记须以国办通知和S12核对表为准</a:t>
            </a:r>
          </a:p>
          <a:p>
            <a:pPr>
              <a:spcAft>
                <a:spcPts val="400"/>
              </a:spcAft>
              <a:defRPr sz="1300"/>
            </a:pPr>
            <a:r>
              <a:t>•   • 不采纳第三方日历APP数据作为受理依据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九、互动自测（第1-5题）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Q1. 第795号令自何时起施行？</a:t>
            </a:r>
          </a:p>
          <a:p>
            <a:pPr>
              <a:spcAft>
                <a:spcPts val="400"/>
              </a:spcAft>
              <a:defRPr sz="1200"/>
            </a:pPr>
            <a:r>
              <a:t>•    A. 2024年11月10日  B. 2024年11月12日  C. 2025年1月1日  D. 2025年2月1日</a:t>
            </a:r>
          </a:p>
          <a:p>
            <a:pPr>
              <a:spcAft>
                <a:spcPts val="400"/>
              </a:spcAft>
              <a:defRPr sz="1200"/>
            </a:pPr>
            <a:r>
              <a:t>•    答案：C</a:t>
            </a:r>
          </a:p>
          <a:p>
            <a:pPr>
              <a:spcAft>
                <a:spcPts val="400"/>
              </a:spcAft>
              <a:defRPr sz="1200"/>
            </a:pPr>
            <a:r>
              <a:t>• </a:t>
            </a:r>
          </a:p>
          <a:p>
            <a:pPr>
              <a:spcAft>
                <a:spcPts val="400"/>
              </a:spcAft>
              <a:defRPr sz="1200"/>
            </a:pPr>
            <a:r>
              <a:t>• Q2. 2025年春节法定假共几天？包含哪些日期？</a:t>
            </a:r>
          </a:p>
          <a:p>
            <a:pPr>
              <a:spcAft>
                <a:spcPts val="400"/>
              </a:spcAft>
              <a:defRPr sz="1200"/>
            </a:pPr>
            <a:r>
              <a:t>•    A. 3天（初一至初三）  B. 4天（除夕至初三）  C. 7天  D. 8天</a:t>
            </a:r>
          </a:p>
          <a:p>
            <a:pPr>
              <a:spcAft>
                <a:spcPts val="400"/>
              </a:spcAft>
              <a:defRPr sz="1200"/>
            </a:pPr>
            <a:r>
              <a:t>•    答案：B（4天：1月28日除夕、1月29日初一、1月30日初二、1月31日初三）</a:t>
            </a:r>
          </a:p>
          <a:p>
            <a:pPr>
              <a:spcAft>
                <a:spcPts val="400"/>
              </a:spcAft>
              <a:defRPr sz="1200"/>
            </a:pPr>
            <a:r>
              <a:t>• </a:t>
            </a:r>
          </a:p>
          <a:p>
            <a:pPr>
              <a:spcAft>
                <a:spcPts val="400"/>
              </a:spcAft>
              <a:defRPr sz="1200"/>
            </a:pPr>
            <a:r>
              <a:t>• Q3. 2025年除夕的农历日期是？</a:t>
            </a:r>
          </a:p>
          <a:p>
            <a:pPr>
              <a:spcAft>
                <a:spcPts val="400"/>
              </a:spcAft>
              <a:defRPr sz="1200"/>
            </a:pPr>
            <a:r>
              <a:t>•    A. 腊月三十  B. 腊月廿九  C. 正月初一  D. 腊月初八</a:t>
            </a:r>
          </a:p>
          <a:p>
            <a:pPr>
              <a:spcAft>
                <a:spcPts val="400"/>
              </a:spcAft>
              <a:defRPr sz="1200"/>
            </a:pPr>
            <a:r>
              <a:t>•    答案：B（腊月廿九，2025年农历腊月只有29天）</a:t>
            </a:r>
          </a:p>
          <a:p>
            <a:pPr>
              <a:spcAft>
                <a:spcPts val="400"/>
              </a:spcAft>
              <a:defRPr sz="1200"/>
            </a:pPr>
            <a:r>
              <a:t>• </a:t>
            </a:r>
          </a:p>
          <a:p>
            <a:pPr>
              <a:spcAft>
                <a:spcPts val="400"/>
              </a:spcAft>
              <a:defRPr sz="1200"/>
            </a:pPr>
            <a:r>
              <a:t>• Q4. 2025年劳动节法定假为几天？</a:t>
            </a:r>
          </a:p>
          <a:p>
            <a:pPr>
              <a:spcAft>
                <a:spcPts val="400"/>
              </a:spcAft>
              <a:defRPr sz="1200"/>
            </a:pPr>
            <a:r>
              <a:t>•    A. 1天（5月1日）  B. 2天（5月1日、2日）  C. 3天  D. 5天</a:t>
            </a:r>
          </a:p>
          <a:p>
            <a:pPr>
              <a:spcAft>
                <a:spcPts val="400"/>
              </a:spcAft>
              <a:defRPr sz="1200"/>
            </a:pPr>
            <a:r>
              <a:t>•    答案：B（5月1日和5月2日，共2天）</a:t>
            </a:r>
          </a:p>
          <a:p>
            <a:pPr>
              <a:spcAft>
                <a:spcPts val="400"/>
              </a:spcAft>
              <a:defRPr sz="1200"/>
            </a:pPr>
            <a:r>
              <a:t>• </a:t>
            </a:r>
          </a:p>
          <a:p>
            <a:pPr>
              <a:spcAft>
                <a:spcPts val="400"/>
              </a:spcAft>
              <a:defRPr sz="1200"/>
            </a:pPr>
            <a:r>
              <a:t>• Q5. 2025年共有几个调休上班日？分别是哪些日期？</a:t>
            </a:r>
          </a:p>
          <a:p>
            <a:pPr>
              <a:spcAft>
                <a:spcPts val="400"/>
              </a:spcAft>
              <a:defRPr sz="1200"/>
            </a:pPr>
            <a:r>
              <a:t>•    A. 3个  B. 5个（1.26、2.8、4.27、9.28、10.11）  C. 7个  D. 8个</a:t>
            </a:r>
          </a:p>
          <a:p>
            <a:pPr>
              <a:spcAft>
                <a:spcPts val="400"/>
              </a:spcAft>
              <a:defRPr sz="1200"/>
            </a:pPr>
            <a:r>
              <a:t>•    答案：B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互动自测（第6-10题）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Q6. 新规第七条关于连续工作的规定是什么？</a:t>
            </a:r>
          </a:p>
          <a:p>
            <a:pPr>
              <a:spcAft>
                <a:spcPts val="400"/>
              </a:spcAft>
              <a:defRPr sz="1200"/>
            </a:pPr>
            <a:r>
              <a:t>•    A. 绝对禁止连续工作超过6天</a:t>
            </a:r>
          </a:p>
          <a:p>
            <a:pPr>
              <a:spcAft>
                <a:spcPts val="400"/>
              </a:spcAft>
              <a:defRPr sz="1200"/>
            </a:pPr>
            <a:r>
              <a:t>•    B. 一般不超过6天，个别特殊情形除外</a:t>
            </a:r>
          </a:p>
          <a:p>
            <a:pPr>
              <a:spcAft>
                <a:spcPts val="400"/>
              </a:spcAft>
              <a:defRPr sz="1200"/>
            </a:pPr>
            <a:r>
              <a:t>•    C. 一般不超过7天</a:t>
            </a:r>
          </a:p>
          <a:p>
            <a:pPr>
              <a:spcAft>
                <a:spcPts val="400"/>
              </a:spcAft>
              <a:defRPr sz="1200"/>
            </a:pPr>
            <a:r>
              <a:t>•    D. 没有明文规定</a:t>
            </a:r>
          </a:p>
          <a:p>
            <a:pPr>
              <a:spcAft>
                <a:spcPts val="400"/>
              </a:spcAft>
              <a:defRPr sz="1200"/>
            </a:pPr>
            <a:r>
              <a:t>•    答案：B</a:t>
            </a:r>
          </a:p>
          <a:p>
            <a:pPr>
              <a:spcAft>
                <a:spcPts val="400"/>
              </a:spcAft>
              <a:defRPr sz="1200"/>
            </a:pPr>
            <a:r>
              <a:t>• </a:t>
            </a:r>
          </a:p>
          <a:p>
            <a:pPr>
              <a:spcAft>
                <a:spcPts val="400"/>
              </a:spcAft>
              <a:defRPr sz="1200"/>
            </a:pPr>
            <a:r>
              <a:t>• Q7. 全体公民放假适逢周末时，应如何处理？</a:t>
            </a:r>
          </a:p>
          <a:p>
            <a:pPr>
              <a:spcAft>
                <a:spcPts val="400"/>
              </a:spcAft>
              <a:defRPr sz="1200"/>
            </a:pPr>
            <a:r>
              <a:t>•    A. 不补假  B. 在工作日补假  C. 顺延至下周一  D. 由单位自行决定</a:t>
            </a:r>
          </a:p>
          <a:p>
            <a:pPr>
              <a:spcAft>
                <a:spcPts val="400"/>
              </a:spcAft>
              <a:defRPr sz="1200"/>
            </a:pPr>
            <a:r>
              <a:t>•    答案：B（应当在工作日补假）</a:t>
            </a:r>
          </a:p>
          <a:p>
            <a:pPr>
              <a:spcAft>
                <a:spcPts val="400"/>
              </a:spcAft>
              <a:defRPr sz="1200"/>
            </a:pPr>
            <a:r>
              <a:t>• </a:t>
            </a:r>
          </a:p>
          <a:p>
            <a:pPr>
              <a:spcAft>
                <a:spcPts val="400"/>
              </a:spcAft>
              <a:defRPr sz="1200"/>
            </a:pPr>
            <a:r>
              <a:t>• Q8. 部分公民放假（如妇女节）适逢周末时，应如何处理？</a:t>
            </a:r>
          </a:p>
          <a:p>
            <a:pPr>
              <a:spcAft>
                <a:spcPts val="400"/>
              </a:spcAft>
              <a:defRPr sz="1200"/>
            </a:pPr>
            <a:r>
              <a:t>•    A. 在工作日补假  B. 不补假  C. 顺延  D. 由单位决定</a:t>
            </a:r>
          </a:p>
          <a:p>
            <a:pPr>
              <a:spcAft>
                <a:spcPts val="400"/>
              </a:spcAft>
              <a:defRPr sz="1200"/>
            </a:pPr>
            <a:r>
              <a:t>•    答案：B（则不补假）</a:t>
            </a:r>
          </a:p>
          <a:p>
            <a:pPr>
              <a:spcAft>
                <a:spcPts val="400"/>
              </a:spcAft>
              <a:defRPr sz="1200"/>
            </a:pPr>
            <a:r>
              <a:t>• </a:t>
            </a:r>
          </a:p>
          <a:p>
            <a:pPr>
              <a:spcAft>
                <a:spcPts val="400"/>
              </a:spcAft>
              <a:defRPr sz="1200"/>
            </a:pPr>
            <a:r>
              <a:t>• Q9. 2025年端午节法定当日对应农历几月几日？</a:t>
            </a:r>
          </a:p>
          <a:p>
            <a:pPr>
              <a:spcAft>
                <a:spcPts val="400"/>
              </a:spcAft>
              <a:defRPr sz="1200"/>
            </a:pPr>
            <a:r>
              <a:t>•    A. 五月初四  B. 五月初五  C. 六月初一  D. 四月十五</a:t>
            </a:r>
          </a:p>
          <a:p>
            <a:pPr>
              <a:spcAft>
                <a:spcPts val="400"/>
              </a:spcAft>
              <a:defRPr sz="1200"/>
            </a:pPr>
            <a:r>
              <a:t>•    答案：B（五月初五，公历5月31日）</a:t>
            </a:r>
          </a:p>
          <a:p>
            <a:pPr>
              <a:spcAft>
                <a:spcPts val="400"/>
              </a:spcAft>
              <a:defRPr sz="1200"/>
            </a:pPr>
            <a:r>
              <a:t>• </a:t>
            </a:r>
          </a:p>
          <a:p>
            <a:pPr>
              <a:spcAft>
                <a:spcPts val="400"/>
              </a:spcAft>
              <a:defRPr sz="1200"/>
            </a:pPr>
            <a:r>
              <a:t>• Q10. 以下哪个节日不放假？</a:t>
            </a:r>
          </a:p>
          <a:p>
            <a:pPr>
              <a:spcAft>
                <a:spcPts val="400"/>
              </a:spcAft>
              <a:defRPr sz="1200"/>
            </a:pPr>
            <a:r>
              <a:t>•    A. 中秋节  B. 教师节  C. 端午节  D. 清明节</a:t>
            </a:r>
          </a:p>
          <a:p>
            <a:pPr>
              <a:spcAft>
                <a:spcPts val="400"/>
              </a:spcAft>
              <a:defRPr sz="1200"/>
            </a:pPr>
            <a:r>
              <a:t>•    答案：B（教师节属于第五条规定的"均不放假"纪念日）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总结：核心记忆点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1. 新规2025年1月1日施行（第795号令）</a:t>
            </a:r>
          </a:p>
          <a:p>
            <a:pPr>
              <a:spcAft>
                <a:spcPts val="400"/>
              </a:spcAft>
              <a:defRPr sz="1500"/>
            </a:pPr>
            <a:r>
              <a:t>• 2. 法定假增至13天：春节4天（含除夕）、劳动节2天（5.1-5.2）</a:t>
            </a:r>
          </a:p>
          <a:p>
            <a:pPr>
              <a:spcAft>
                <a:spcPts val="400"/>
              </a:spcAft>
              <a:defRPr sz="1500"/>
            </a:pPr>
            <a:r>
              <a:t>• 3. 除夕 = 1月28日 = 腊月廿九（非腊月三十）</a:t>
            </a:r>
          </a:p>
          <a:p>
            <a:pPr>
              <a:spcAft>
                <a:spcPts val="400"/>
              </a:spcAft>
              <a:defRPr sz="1500"/>
            </a:pPr>
            <a:r>
              <a:t>• 4. 清明 = 4月4日（节气，非4月5日）</a:t>
            </a:r>
          </a:p>
          <a:p>
            <a:pPr>
              <a:spcAft>
                <a:spcPts val="400"/>
              </a:spcAft>
              <a:defRPr sz="1500"/>
            </a:pPr>
            <a:r>
              <a:t>• 5. 端午 = 5月31日 = 五月初五</a:t>
            </a:r>
          </a:p>
          <a:p>
            <a:pPr>
              <a:spcAft>
                <a:spcPts val="400"/>
              </a:spcAft>
              <a:defRPr sz="1500"/>
            </a:pPr>
            <a:r>
              <a:t>• 6. 中秋 = 10月6日 = 八月十五</a:t>
            </a:r>
          </a:p>
          <a:p>
            <a:pPr>
              <a:spcAft>
                <a:spcPts val="400"/>
              </a:spcAft>
              <a:defRPr sz="1500"/>
            </a:pPr>
            <a:r>
              <a:t>• 7. 5个调休上班日：1.26、2.8、4.27、9.28、10.11</a:t>
            </a:r>
          </a:p>
          <a:p>
            <a:pPr>
              <a:spcAft>
                <a:spcPts val="400"/>
              </a:spcAft>
              <a:defRPr sz="1500"/>
            </a:pPr>
            <a:r>
              <a:t>• 8. 连续工作一般≤6天（第七条），特殊情形须HRBP审批</a:t>
            </a:r>
          </a:p>
          <a:p>
            <a:pPr>
              <a:spcAft>
                <a:spcPts val="400"/>
              </a:spcAft>
              <a:defRPr sz="1500"/>
            </a:pPr>
            <a:r>
              <a:t>• 9. 法定假（HOL_STAT）刚性不可抵扣，调休日（HOL_ADJ）可弹性</a:t>
            </a:r>
          </a:p>
          <a:p>
            <a:pPr>
              <a:spcAft>
                <a:spcPts val="400"/>
              </a:spcAft>
              <a:defRPr sz="1500"/>
            </a:pPr>
            <a:r>
              <a:t>• 10. 全体公民放假补假，部分公民放假不补假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4E79"/>
                </a:solidFill>
              </a:defRPr>
            </a:pPr>
            <a:r>
              <a:t>培训完成 · 请完成自测题后确认掌握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</a:defRPr>
            </a:pPr>
            <a:r>
              <a:t>编制依据：国务院第795号令、国办发明电〔2024〕12号、S12公农历核对表</a:t>
            </a:r>
            <a:br/>
            <a:r>
              <a:t>取证时间：2026-10-20</a:t>
            </a:r>
            <a:br/>
            <a:r>
              <a:t>适用期间：2025年度</a:t>
            </a:r>
            <a:br/>
            <a:r>
              <a:t>本讲义仅供SSC-HA组内部培训使用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