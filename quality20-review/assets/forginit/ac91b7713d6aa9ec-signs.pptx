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216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S01 Visual proof only; matte sample and site review required. Baseline and viewing distances are installation facts, not artwork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S02 Visual proof only; matte sample and site review required. Baseline and viewing distances are installation facts, not artwork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 Visual proof only; matte sample and site review required. Baseline and viewing distances are installation facts, not artwork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S04 HOLD: visual proof only; tactile sample and site approval absent. Baseline and viewing distances are installation facts, not artwork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S05 Visual proof only; matte sample and site review required. Baseline and viewing distances are installation facts, not artwork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 Visual proof only; matte sample and site review required. Baseline and viewing distances are installation facts, not artwork coordinates.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01-label"/>
          <p:cNvSpPr txBox="1"/>
          <p:nvPr/>
        </p:nvSpPr>
        <p:spPr>
          <a:xfrm>
            <a:off x="1080000" y="3600000"/>
            <a:ext cx="17640000" cy="57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3609" b="0" kern="400000">
                <a:solidFill>
                  <a:srgbClr val="173F35"/>
                </a:solidFill>
                <a:latin typeface="DejaVu Sans"/>
              </a:defRPr>
            </a:pPr>
            <a:r>
              <a:rPr spc="655"/>
              <a:t>R</a:t>
            </a:r>
            <a:r>
              <a:rPr spc="628"/>
              <a:t>E</a:t>
            </a:r>
            <a:r>
              <a:rPr spc="1636"/>
              <a:t>S</a:t>
            </a:r>
            <a:r>
              <a:rPr spc="1131"/>
              <a:t>T</a:t>
            </a:r>
            <a:r>
              <a:rPr spc="1227"/>
              <a:t>R</a:t>
            </a:r>
            <a:r>
              <a:rPr spc="855"/>
              <a:t>O</a:t>
            </a:r>
            <a:r>
              <a:rPr spc="284"/>
              <a:t>O</a:t>
            </a:r>
            <a:r>
              <a:rPr spc="179"/>
              <a:t>M</a:t>
            </a:r>
            <a:r>
              <a:rPr spc="0"/>
              <a:t>S</a:t>
            </a:r>
          </a:p>
        </p:txBody>
      </p:sp>
      <p:sp>
        <p:nvSpPr>
          <p:cNvPr id="3" name="S01-direction"/>
          <p:cNvSpPr/>
          <p:nvPr/>
        </p:nvSpPr>
        <p:spPr>
          <a:xfrm>
            <a:off x="19080000" y="3753360"/>
            <a:ext cx="1800000" cy="1800000"/>
          </a:xfrm>
          <a:prstGeom prst="rightArrow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02-label"/>
          <p:cNvSpPr txBox="1"/>
          <p:nvPr/>
        </p:nvSpPr>
        <p:spPr>
          <a:xfrm>
            <a:off x="1080000" y="3600000"/>
            <a:ext cx="17640000" cy="57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9721" b="0" kern="400000">
                <a:solidFill>
                  <a:srgbClr val="173F35"/>
                </a:solidFill>
                <a:latin typeface="DejaVu Sans"/>
              </a:defRPr>
            </a:pPr>
            <a:r>
              <a:rPr spc="-204"/>
              <a:t>I</a:t>
            </a:r>
            <a:r>
              <a:rPr spc="-205"/>
              <a:t>N</a:t>
            </a:r>
            <a:r>
              <a:rPr spc="600"/>
              <a:t>F</a:t>
            </a:r>
            <a:r>
              <a:rPr spc="203"/>
              <a:t>O</a:t>
            </a:r>
            <a:r>
              <a:rPr spc="468"/>
              <a:t>R</a:t>
            </a:r>
            <a:r>
              <a:rPr spc="692"/>
              <a:t>M</a:t>
            </a:r>
            <a:r>
              <a:rPr spc="1622"/>
              <a:t>A</a:t>
            </a:r>
            <a:r>
              <a:rPr spc="808"/>
              <a:t>T</a:t>
            </a:r>
            <a:r>
              <a:rPr spc="205"/>
              <a:t>I</a:t>
            </a:r>
            <a:r>
              <a:rPr spc="203"/>
              <a:t>O</a:t>
            </a:r>
            <a:r>
              <a:rPr spc="0"/>
              <a:t>N</a:t>
            </a:r>
          </a:p>
        </p:txBody>
      </p:sp>
      <p:sp>
        <p:nvSpPr>
          <p:cNvPr id="3" name="S02-direction"/>
          <p:cNvSpPr/>
          <p:nvPr/>
        </p:nvSpPr>
        <p:spPr>
          <a:xfrm>
            <a:off x="19080000" y="3452400"/>
            <a:ext cx="1800000" cy="1800000"/>
          </a:xfrm>
          <a:prstGeom prst="leftArrow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03-label"/>
          <p:cNvSpPr txBox="1"/>
          <p:nvPr/>
        </p:nvSpPr>
        <p:spPr>
          <a:xfrm>
            <a:off x="1080000" y="3600000"/>
            <a:ext cx="17640000" cy="57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23330" b="0" kern="400000">
                <a:solidFill>
                  <a:srgbClr val="173F35"/>
                </a:solidFill>
                <a:latin typeface="DejaVu Sans"/>
              </a:defRPr>
            </a:pPr>
            <a:r>
              <a:rPr spc="2008"/>
              <a:t>G</a:t>
            </a:r>
            <a:r>
              <a:rPr spc="1607"/>
              <a:t>A</a:t>
            </a:r>
            <a:r>
              <a:rPr spc="1676"/>
              <a:t>L</a:t>
            </a:r>
            <a:r>
              <a:rPr spc="1676"/>
              <a:t>L</a:t>
            </a:r>
            <a:r>
              <a:rPr spc="306"/>
              <a:t>E</a:t>
            </a:r>
            <a:r>
              <a:rPr spc="3409"/>
              <a:t>R</a:t>
            </a:r>
            <a:r>
              <a:rPr spc="0"/>
              <a:t>Y</a:t>
            </a:r>
            <a:r>
              <a:rPr spc="0"/>
              <a:t> </a:t>
            </a:r>
            <a:r>
              <a:rPr spc="0"/>
              <a:t>2</a:t>
            </a:r>
          </a:p>
        </p:txBody>
      </p:sp>
      <p:sp>
        <p:nvSpPr>
          <p:cNvPr id="3" name="S03-direction"/>
          <p:cNvSpPr/>
          <p:nvPr/>
        </p:nvSpPr>
        <p:spPr>
          <a:xfrm>
            <a:off x="19080000" y="4505760"/>
            <a:ext cx="1800000" cy="1800000"/>
          </a:xfrm>
          <a:prstGeom prst="upArrow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04-label"/>
          <p:cNvSpPr txBox="1"/>
          <p:nvPr/>
        </p:nvSpPr>
        <p:spPr>
          <a:xfrm>
            <a:off x="1080000" y="3600000"/>
            <a:ext cx="17640000" cy="57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9721" b="0" kern="400000">
                <a:solidFill>
                  <a:srgbClr val="173F35"/>
                </a:solidFill>
                <a:latin typeface="DejaVu Sans"/>
              </a:defRPr>
            </a:pPr>
            <a:r>
              <a:rPr spc="848"/>
              <a:t>W</a:t>
            </a:r>
            <a:r>
              <a:rPr spc="203"/>
              <a:t>O</a:t>
            </a:r>
            <a:r>
              <a:rPr spc="468"/>
              <a:t>R</a:t>
            </a:r>
            <a:r>
              <a:rPr spc="1275"/>
              <a:t>K</a:t>
            </a:r>
            <a:r>
              <a:rPr spc="216"/>
              <a:t>S</a:t>
            </a:r>
            <a:r>
              <a:rPr spc="204"/>
              <a:t>H</a:t>
            </a:r>
            <a:r>
              <a:rPr spc="203"/>
              <a:t>O</a:t>
            </a:r>
            <a:r>
              <a:rPr spc="0"/>
              <a:t>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05-label"/>
          <p:cNvSpPr txBox="1"/>
          <p:nvPr/>
        </p:nvSpPr>
        <p:spPr>
          <a:xfrm>
            <a:off x="1080000" y="3600000"/>
            <a:ext cx="17640000" cy="57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3609" b="0" kern="400000">
                <a:solidFill>
                  <a:srgbClr val="173F35"/>
                </a:solidFill>
                <a:latin typeface="DejaVu Sans"/>
              </a:defRPr>
            </a:pPr>
            <a:r>
              <a:rPr spc="584"/>
              <a:t>P</a:t>
            </a:r>
            <a:r>
              <a:rPr spc="655"/>
              <a:t>R</a:t>
            </a:r>
            <a:r>
              <a:rPr spc="1417"/>
              <a:t>E</a:t>
            </a:r>
            <a:r>
              <a:rPr spc="937"/>
              <a:t>V</a:t>
            </a:r>
            <a:r>
              <a:rPr spc="-285"/>
              <a:t>I</a:t>
            </a:r>
            <a:r>
              <a:rPr spc="1063"/>
              <a:t>E</a:t>
            </a:r>
            <a:r>
              <a:rPr spc="0"/>
              <a:t>W</a:t>
            </a:r>
          </a:p>
        </p:txBody>
      </p:sp>
      <p:sp>
        <p:nvSpPr>
          <p:cNvPr id="3" name="S05-direction"/>
          <p:cNvSpPr/>
          <p:nvPr/>
        </p:nvSpPr>
        <p:spPr>
          <a:xfrm>
            <a:off x="19080000" y="3753360"/>
            <a:ext cx="1800000" cy="1800000"/>
          </a:xfrm>
          <a:prstGeom prst="leftArrow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06-label"/>
          <p:cNvSpPr txBox="1"/>
          <p:nvPr/>
        </p:nvSpPr>
        <p:spPr>
          <a:xfrm>
            <a:off x="1080000" y="3600000"/>
            <a:ext cx="17640000" cy="57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33051" b="0" kern="400000">
                <a:solidFill>
                  <a:srgbClr val="173F35"/>
                </a:solidFill>
                <a:latin typeface="DejaVu Sans"/>
              </a:defRPr>
            </a:pPr>
            <a:r>
              <a:rPr spc="3791"/>
              <a:t>C</a:t>
            </a:r>
            <a:r>
              <a:rPr spc="2277"/>
              <a:t>A</a:t>
            </a:r>
            <a:r>
              <a:rPr spc="653"/>
              <a:t>F</a:t>
            </a:r>
            <a:r>
              <a:rPr spc="0"/>
              <a:t>E</a:t>
            </a:r>
          </a:p>
        </p:txBody>
      </p:sp>
      <p:sp>
        <p:nvSpPr>
          <p:cNvPr id="3" name="S06-direction"/>
          <p:cNvSpPr/>
          <p:nvPr/>
        </p:nvSpPr>
        <p:spPr>
          <a:xfrm>
            <a:off x="19080000" y="5258160"/>
            <a:ext cx="1800000" cy="1800000"/>
          </a:xfrm>
          <a:prstGeom prst="upArrow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六块博物馆标识重做：字多大、箭头往哪、哪些还不能制作？</dc:title>
  <dc:subject/>
  <dc:creator>forginit-author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